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P0</c:v>
                </c:pt>
              </c:strCache>
            </c:strRef>
          </c:tx>
          <c:spPr>
            <a:solidFill>
              <a:srgbClr val="A0AEC0"/>
            </a:solidFill>
          </c:spPr>
          <c:invertIfNegative val="1"/>
          <c:cat>
            <c:strRef>
              <c:f>Sheet1!$A$2:$A$4</c:f>
              <c:strCache>
                <c:ptCount val="3"/>
                <c:pt idx="0">
                  <c:v>Precision</c:v>
                </c:pt>
                <c:pt idx="1">
                  <c:v>Recall</c:v>
                </c:pt>
                <c:pt idx="2">
                  <c:v>F1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77.209999999999994</c:v>
                </c:pt>
                <c:pt idx="1">
                  <c:v>56.36</c:v>
                </c:pt>
                <c:pt idx="2">
                  <c:v>63.22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031B-5747-A43C-4F7E334F250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P1</c:v>
                </c:pt>
              </c:strCache>
            </c:strRef>
          </c:tx>
          <c:spPr>
            <a:solidFill>
              <a:srgbClr val="258F7A"/>
            </a:solidFill>
          </c:spPr>
          <c:invertIfNegative val="1"/>
          <c:cat>
            <c:strRef>
              <c:f>Sheet1!$A$2:$A$4</c:f>
              <c:strCache>
                <c:ptCount val="3"/>
                <c:pt idx="0">
                  <c:v>Precision</c:v>
                </c:pt>
                <c:pt idx="1">
                  <c:v>Recall</c:v>
                </c:pt>
                <c:pt idx="2">
                  <c:v>F1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77.540000000000006</c:v>
                </c:pt>
                <c:pt idx="1">
                  <c:v>98.18</c:v>
                </c:pt>
                <c:pt idx="2">
                  <c:v>86.64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031B-5747-A43C-4F7E334F250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0"/>
          <c:min val="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  <a:endParaRPr lang="en-US"/>
          </a:p>
        </c:txPr>
        <c:crossAx val="-2068027336"/>
        <c:crosses val="autoZero"/>
        <c:crossBetween val="between"/>
        <c:majorUnit val="20"/>
      </c:valAx>
    </c:plotArea>
    <c:legend>
      <c:legendPos val="b"/>
      <c:overlay val="1"/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875520" y="731520"/>
            <a:ext cx="1188720" cy="1188720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789920" y="1645920"/>
            <a:ext cx="685800" cy="685800"/>
          </a:xfrm>
          <a:prstGeom prst="ellipse">
            <a:avLst/>
          </a:prstGeom>
          <a:solidFill>
            <a:srgbClr val="37A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235440" y="2194560"/>
            <a:ext cx="502920" cy="502920"/>
          </a:xfrm>
          <a:prstGeom prst="ellipse">
            <a:avLst/>
          </a:prstGeom>
          <a:solidFill>
            <a:srgbClr val="258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149840" y="2834640"/>
            <a:ext cx="1554480" cy="1554480"/>
          </a:xfrm>
          <a:prstGeom prst="ellipse">
            <a:avLst/>
          </a:prstGeom>
          <a:solidFill>
            <a:srgbClr val="1F3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234440"/>
            <a:ext cx="8412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ptos Display"/>
              </a:defRPr>
            </a:pPr>
            <a:r>
              <a:t>Evolutionary Prompt Optimization</a:t>
            </a:r>
          </a:p>
          <a:p>
            <a:pPr>
              <a:defRPr sz="2400">
                <a:solidFill>
                  <a:srgbClr val="BED3EB"/>
                </a:solidFill>
                <a:latin typeface="Aptos"/>
              </a:defRPr>
            </a:pPr>
            <a:r>
              <a:t>Domain-Specific Phrase Identification with AUM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251960"/>
            <a:ext cx="8046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CSE 5320 • Team Project 1</a:t>
            </a:r>
          </a:p>
          <a:p>
            <a:pPr>
              <a:defRPr sz="1400">
                <a:solidFill>
                  <a:srgbClr val="BED3EB"/>
                </a:solidFill>
              </a:defRPr>
            </a:pPr>
            <a:r>
              <a:t>Prompt → AI Output → Evaluation → Error Analysis → Revised Prompt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07E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037"/>
                </a:solidFill>
                <a:latin typeface="Aptos Display"/>
              </a:defRPr>
            </a:pPr>
            <a:r>
              <a:t>Problem &amp; Optimization Objective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34290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F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1417320"/>
            <a:ext cx="73152" cy="4297680"/>
          </a:xfrm>
          <a:prstGeom prst="rect">
            <a:avLst/>
          </a:prstGeom>
          <a:solidFill>
            <a:srgbClr val="C54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581912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2037"/>
                </a:solidFill>
              </a:defRPr>
            </a:pPr>
            <a:r>
              <a:t>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52D37"/>
                </a:solidFill>
              </a:defRPr>
            </a:pPr>
            <a:r>
              <a:t>Natural-language domain descriptions contain many possible phrases, but only a subset are useful for AUM domain modeling. A vague prompt can miss important phrases or return too many extras.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17320"/>
            <a:ext cx="34290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F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89120" y="1417320"/>
            <a:ext cx="73152" cy="4297680"/>
          </a:xfrm>
          <a:prstGeom prst="rect">
            <a:avLst/>
          </a:prstGeom>
          <a:solidFill>
            <a:srgbClr val="E28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17720" y="1581912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2037"/>
                </a:solidFill>
              </a:defRPr>
            </a:pPr>
            <a:r>
              <a:t>Challenge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01168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52D37"/>
                </a:solidFill>
              </a:defRPr>
            </a:pPr>
            <a:r>
              <a:t>Balance recall and precision while keeping the prompt generic enough to work across different domains.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417320"/>
            <a:ext cx="34290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F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092440" y="1417320"/>
            <a:ext cx="73152" cy="4297680"/>
          </a:xfrm>
          <a:prstGeom prst="rect">
            <a:avLst/>
          </a:prstGeom>
          <a:solidFill>
            <a:srgbClr val="258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21040" y="1581912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2037"/>
                </a:solidFill>
              </a:defRPr>
            </a:pPr>
            <a:r>
              <a:t>Objective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01168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52D37"/>
                </a:solidFill>
              </a:defRPr>
            </a:pPr>
            <a:r>
              <a:t>Optimize a generic prompt that enables an LLM to accurately identify domain-specific phrases using the Agile Unified Methodology (AUM), maximizing Precision, Recall, and F1.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07E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8708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037"/>
                </a:solidFill>
                <a:latin typeface="Aptos Display"/>
              </a:defRPr>
            </a:pPr>
            <a:r>
              <a:t>P0 — Baseline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107899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07E"/>
                </a:solidFill>
                <a:latin typeface="Aptos"/>
              </a:defRPr>
            </a:pPr>
            <a:r>
              <a:t>Library domain • 3 independent runs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029200" cy="1920240"/>
          </a:xfrm>
          <a:prstGeom prst="roundRect">
            <a:avLst/>
          </a:prstGeom>
          <a:solidFill>
            <a:srgbClr val="F5F7FA"/>
          </a:solidFill>
          <a:ln>
            <a:solidFill>
              <a:srgbClr val="DF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719072"/>
            <a:ext cx="4417235" cy="9694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i="1">
                <a:solidFill>
                  <a:srgbClr val="142037"/>
                </a:solidFill>
              </a:defRPr>
            </a:pPr>
            <a:r>
              <a:rPr dirty="0"/>
              <a:t>“Identify all domain-specific phrases in the </a:t>
            </a:r>
            <a:endParaRPr lang="en-US" dirty="0"/>
          </a:p>
          <a:p>
            <a:pPr>
              <a:defRPr sz="1900" i="1">
                <a:solidFill>
                  <a:srgbClr val="142037"/>
                </a:solidFill>
              </a:defRPr>
            </a:pPr>
            <a:r>
              <a:rPr dirty="0"/>
              <a:t>provided domain description. Return the </a:t>
            </a:r>
            <a:endParaRPr lang="en-US" dirty="0"/>
          </a:p>
          <a:p>
            <a:pPr>
              <a:defRPr sz="1900" i="1">
                <a:solidFill>
                  <a:srgbClr val="142037"/>
                </a:solidFill>
              </a:defRPr>
            </a:pPr>
            <a:r>
              <a:rPr dirty="0"/>
              <a:t>identified phrases as a list.”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80760" y="1417320"/>
            <a:ext cx="16459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F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080760" y="1417320"/>
            <a:ext cx="73152" cy="192024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09360" y="1581912"/>
            <a:ext cx="1234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2037"/>
                </a:solidFill>
              </a:defRPr>
            </a:pPr>
            <a:r>
              <a:t>Precision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2011680"/>
            <a:ext cx="1234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B6CB0"/>
                </a:solidFill>
              </a:defRPr>
            </a:pPr>
            <a:r>
              <a:t>77.21%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09560" y="1417320"/>
            <a:ext cx="16459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F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909560" y="1417320"/>
            <a:ext cx="73152" cy="1920240"/>
          </a:xfrm>
          <a:prstGeom prst="rect">
            <a:avLst/>
          </a:prstGeom>
          <a:solidFill>
            <a:srgbClr val="E28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38160" y="1581912"/>
            <a:ext cx="1234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2037"/>
                </a:solidFill>
              </a:defRPr>
            </a:pPr>
            <a:r>
              <a:t>Recall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011680"/>
            <a:ext cx="1234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E28B37"/>
                </a:solidFill>
              </a:defRPr>
            </a:pPr>
            <a:r>
              <a:t>56.36%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738360" y="1417320"/>
            <a:ext cx="16459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F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9738360" y="1417320"/>
            <a:ext cx="73152" cy="1920240"/>
          </a:xfrm>
          <a:prstGeom prst="rect">
            <a:avLst/>
          </a:prstGeom>
          <a:solidFill>
            <a:srgbClr val="C54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966960" y="1581912"/>
            <a:ext cx="1234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2037"/>
                </a:solidFill>
              </a:defRPr>
            </a:pPr>
            <a:r>
              <a:t>F1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66960" y="2011680"/>
            <a:ext cx="1234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C54848"/>
                </a:solidFill>
              </a:defRPr>
            </a:pPr>
            <a:r>
              <a:t>63.22%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840480"/>
            <a:ext cx="52120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F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31520" y="3840480"/>
            <a:ext cx="73152" cy="1508760"/>
          </a:xfrm>
          <a:prstGeom prst="rect">
            <a:avLst/>
          </a:prstGeom>
          <a:solidFill>
            <a:srgbClr val="C54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60120" y="4005072"/>
            <a:ext cx="4800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2037"/>
                </a:solidFill>
              </a:defRPr>
            </a:pPr>
            <a:r>
              <a:t>Error Analysis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4434840"/>
            <a:ext cx="4800600" cy="777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52D37"/>
                </a:solidFill>
              </a:defRPr>
            </a:pPr>
            <a:r>
              <a:t>The prompt never defined what counts as a domain-specific phrase. Results varied substantially between runs, especially in recall.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3840480"/>
            <a:ext cx="51663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F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217920" y="3840480"/>
            <a:ext cx="73152" cy="1508760"/>
          </a:xfrm>
          <a:prstGeom prst="rect">
            <a:avLst/>
          </a:prstGeom>
          <a:solidFill>
            <a:srgbClr val="258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46520" y="4005072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2037"/>
                </a:solidFill>
              </a:defRPr>
            </a:pPr>
            <a:r>
              <a:t>H1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4434840"/>
            <a:ext cx="4754880" cy="777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52D37"/>
                </a:solidFill>
              </a:defRPr>
            </a:pPr>
            <a:r>
              <a:t>Providing the AUM brainstorming methodology should improve recall and consistency by explicitly defining the phrase types.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07E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037"/>
                </a:solidFill>
                <a:latin typeface="Aptos Display"/>
              </a:defRPr>
            </a:pPr>
            <a:r>
              <a:t>P1 — Add the AUM Brainstorming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107899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07E"/>
                </a:solidFill>
                <a:latin typeface="Aptos"/>
              </a:defRPr>
            </a:pPr>
            <a:r>
              <a:t>Major change: explicitly list the nine AUM phrase types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329184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F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73152" cy="173736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581912"/>
            <a:ext cx="2880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2037"/>
                </a:solidFill>
              </a:defRPr>
            </a:pPr>
            <a:r>
              <a:t>Precision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011680"/>
            <a:ext cx="2880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B6CB0"/>
                </a:solidFill>
              </a:defRPr>
            </a:pPr>
            <a:r>
              <a:t>77.54%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651760"/>
            <a:ext cx="288036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52D37"/>
                </a:solidFill>
              </a:defRPr>
            </a:pPr>
            <a:r>
              <a:t>+0.33 points vs P0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417320"/>
            <a:ext cx="329184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F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34840" y="1417320"/>
            <a:ext cx="73152" cy="1737360"/>
          </a:xfrm>
          <a:prstGeom prst="rect">
            <a:avLst/>
          </a:prstGeom>
          <a:solidFill>
            <a:srgbClr val="369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63440" y="1581912"/>
            <a:ext cx="2880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2037"/>
                </a:solidFill>
              </a:defRPr>
            </a:pPr>
            <a:r>
              <a:t>Recall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011680"/>
            <a:ext cx="2880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369153"/>
                </a:solidFill>
              </a:defRPr>
            </a:pPr>
            <a:r>
              <a:t>98.18%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651760"/>
            <a:ext cx="288036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52D37"/>
                </a:solidFill>
              </a:defRPr>
            </a:pPr>
            <a:r>
              <a:t>+41.82 points vs P0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417320"/>
            <a:ext cx="329184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F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38160" y="1417320"/>
            <a:ext cx="73152" cy="1737360"/>
          </a:xfrm>
          <a:prstGeom prst="rect">
            <a:avLst/>
          </a:prstGeom>
          <a:solidFill>
            <a:srgbClr val="258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66760" y="1581912"/>
            <a:ext cx="2880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2037"/>
                </a:solidFill>
              </a:defRPr>
            </a:pPr>
            <a:r>
              <a:t>F1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2011680"/>
            <a:ext cx="2880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58F7A"/>
                </a:solidFill>
              </a:defRPr>
            </a:pPr>
            <a:r>
              <a:t>86.64%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651760"/>
            <a:ext cx="288036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52D37"/>
                </a:solidFill>
              </a:defRPr>
            </a:pPr>
            <a:r>
              <a:t>+23.42 points vs P0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657600"/>
            <a:ext cx="516636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F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31520" y="3657600"/>
            <a:ext cx="73152" cy="1645920"/>
          </a:xfrm>
          <a:prstGeom prst="rect">
            <a:avLst/>
          </a:prstGeom>
          <a:solidFill>
            <a:srgbClr val="369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60120" y="3822191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2037"/>
                </a:solidFill>
              </a:defRPr>
            </a:pPr>
            <a:r>
              <a:t>What Worked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4251960"/>
            <a:ext cx="4754880" cy="914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52D37"/>
                </a:solidFill>
              </a:defRPr>
            </a:pPr>
            <a:r>
              <a:t>AUM dramatically reduced missed phrases. The model now knows what categories to search for.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3657600"/>
            <a:ext cx="516636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F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263640" y="3657600"/>
            <a:ext cx="73152" cy="1645920"/>
          </a:xfrm>
          <a:prstGeom prst="rect">
            <a:avLst/>
          </a:prstGeom>
          <a:solidFill>
            <a:srgbClr val="E28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92240" y="3822191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2037"/>
                </a:solidFill>
              </a:defRPr>
            </a:pPr>
            <a:r>
              <a:t>Remaining Problem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4251960"/>
            <a:ext cx="4754880" cy="914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52D37"/>
                </a:solidFill>
              </a:defRPr>
            </a:pPr>
            <a:r>
              <a:t>Precision barely changed. The model often inferred, reworded, or constructed phrases that were not in the expert solution.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07E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037"/>
                </a:solidFill>
                <a:latin typeface="Aptos Display"/>
              </a:defRPr>
            </a:pPr>
            <a:r>
              <a:t>P0 → P1: The Main Gain Was Recall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822960" y="1417320"/>
          <a:ext cx="676656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001000" y="1554480"/>
            <a:ext cx="34290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F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001000" y="1554480"/>
            <a:ext cx="73152" cy="1463040"/>
          </a:xfrm>
          <a:prstGeom prst="rect">
            <a:avLst/>
          </a:prstGeom>
          <a:solidFill>
            <a:srgbClr val="369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0" y="1719072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2037"/>
                </a:solidFill>
              </a:defRPr>
            </a:pPr>
            <a:r>
              <a:t>Recall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2148840"/>
            <a:ext cx="301752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52D37"/>
                </a:solidFill>
              </a:defRPr>
            </a:pPr>
            <a:r>
              <a:t>56.36% → 98.18%</a:t>
            </a:r>
            <a:br/>
            <a:r>
              <a:t>The model stopped missing most expected phrases.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01000" y="3246120"/>
            <a:ext cx="34290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F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001000" y="3246120"/>
            <a:ext cx="73152" cy="1463040"/>
          </a:xfrm>
          <a:prstGeom prst="rect">
            <a:avLst/>
          </a:prstGeom>
          <a:solidFill>
            <a:srgbClr val="E28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0" y="3410712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2037"/>
                </a:solidFill>
              </a:defRPr>
            </a:pPr>
            <a:r>
              <a:t>Precision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3840480"/>
            <a:ext cx="301752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52D37"/>
                </a:solidFill>
              </a:defRPr>
            </a:pPr>
            <a:r>
              <a:t>77.21% → 77.54%</a:t>
            </a:r>
            <a:br/>
            <a:r>
              <a:t>Almost unchanged; extra phrases remain.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07E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037"/>
                </a:solidFill>
                <a:latin typeface="Aptos Display"/>
              </a:defRPr>
            </a:pPr>
            <a:r>
              <a:t>How We Score the LLM Output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8328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DF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73152" cy="4160520"/>
          </a:xfrm>
          <a:prstGeom prst="rect">
            <a:avLst/>
          </a:prstGeom>
          <a:solidFill>
            <a:srgbClr val="369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627632"/>
            <a:ext cx="2971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2037"/>
                </a:solidFill>
              </a:defRPr>
            </a:pPr>
            <a:r>
              <a:t>True Positive (TP)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057400"/>
            <a:ext cx="29718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52D37"/>
                </a:solidFill>
              </a:defRPr>
            </a:pPr>
            <a:r>
              <a:t>AI phrase matches the expert ground truth.</a:t>
            </a:r>
            <a:br/>
            <a:br/>
            <a:r>
              <a:t>Examples:</a:t>
            </a:r>
            <a:br/>
            <a:r>
              <a:t>• vehicles → vehicle</a:t>
            </a:r>
            <a:br/>
            <a:r>
              <a:t>• manufacturers → manufacturer</a:t>
            </a:r>
            <a:br/>
            <a:r>
              <a:t>• rental prices → rental price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63040"/>
            <a:ext cx="338328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DF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89120" y="1463040"/>
            <a:ext cx="73152" cy="4160520"/>
          </a:xfrm>
          <a:prstGeom prst="rect">
            <a:avLst/>
          </a:prstGeom>
          <a:solidFill>
            <a:srgbClr val="C54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17720" y="1627632"/>
            <a:ext cx="2971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2037"/>
                </a:solidFill>
              </a:defRPr>
            </a:pPr>
            <a:r>
              <a:t>False Positive (FP)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057400"/>
            <a:ext cx="29718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52D37"/>
                </a:solidFill>
              </a:defRPr>
            </a:pPr>
            <a:r>
              <a:t>AI outputs a phrase that has no ground-truth match.</a:t>
            </a:r>
            <a:br/>
            <a:br/>
            <a:r>
              <a:t>Examples from Car Rental:</a:t>
            </a:r>
            <a:br/>
            <a:r>
              <a:t>• metropolitan area</a:t>
            </a:r>
            <a:br/>
            <a:r>
              <a:t>• reservation system</a:t>
            </a:r>
            <a:br/>
            <a:r>
              <a:t>• rental fleet</a:t>
            </a:r>
            <a:br/>
            <a:r>
              <a:t>• message</a:t>
            </a:r>
            <a:br/>
            <a:r>
              <a:t>• deposit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463040"/>
            <a:ext cx="338328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DF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046720" y="1463040"/>
            <a:ext cx="73152" cy="4160520"/>
          </a:xfrm>
          <a:prstGeom prst="rect">
            <a:avLst/>
          </a:prstGeom>
          <a:solidFill>
            <a:srgbClr val="E28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75320" y="1627632"/>
            <a:ext cx="2971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2037"/>
                </a:solidFill>
              </a:defRPr>
            </a:pPr>
            <a:r>
              <a:t>False Negative (FN)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2057400"/>
            <a:ext cx="29718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52D37"/>
                </a:solidFill>
              </a:defRPr>
            </a:pPr>
            <a:r>
              <a:t>The expert expects a phrase, but the AI misses it.</a:t>
            </a:r>
            <a:br/>
            <a:br/>
            <a:r>
              <a:t>Examples from preliminary Car Rental mapping:</a:t>
            </a:r>
            <a:br/>
            <a:r>
              <a:t>• transmission</a:t>
            </a:r>
            <a:br/>
            <a:r>
              <a:t>• not available</a:t>
            </a:r>
            <a:br/>
            <a:r>
              <a:t>• opened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07E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037"/>
                </a:solidFill>
                <a:latin typeface="Aptos Display"/>
              </a:defRPr>
            </a:pPr>
            <a:r>
              <a:t>Preliminary Car Rental Check — Why Precision Still Matters</a:t>
            </a:r>
          </a:p>
        </p:txBody>
      </p:sp>
      <p:sp>
        <p:nvSpPr>
          <p:cNvPr id="4" name="Oval 3"/>
          <p:cNvSpPr/>
          <p:nvPr/>
        </p:nvSpPr>
        <p:spPr>
          <a:xfrm>
            <a:off x="1005840" y="1554480"/>
            <a:ext cx="4572000" cy="3840480"/>
          </a:xfrm>
          <a:prstGeom prst="ellipse">
            <a:avLst/>
          </a:prstGeom>
          <a:solidFill>
            <a:srgbClr val="DCF4E5"/>
          </a:solidFill>
          <a:ln>
            <a:solidFill>
              <a:srgbClr val="369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3840480" y="1554480"/>
            <a:ext cx="4572000" cy="3840480"/>
          </a:xfrm>
          <a:prstGeom prst="ellipse">
            <a:avLst/>
          </a:prstGeom>
          <a:solidFill>
            <a:srgbClr val="FCE4E4"/>
          </a:solidFill>
          <a:ln>
            <a:solidFill>
              <a:srgbClr val="C54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508760" y="1874519"/>
            <a:ext cx="1920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69153"/>
                </a:solidFill>
              </a:defRPr>
            </a:pPr>
            <a:r>
              <a:t>Expert Ground Truth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1874519"/>
            <a:ext cx="1554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C54848"/>
                </a:solidFill>
              </a:defRPr>
            </a:pPr>
            <a:r>
              <a:t>AI Output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2743200"/>
            <a:ext cx="1920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142037"/>
                </a:solidFill>
              </a:defRPr>
            </a:pPr>
            <a:r>
              <a:t>Many correct</a:t>
            </a:r>
            <a:br/>
            <a:r>
              <a:t>matches</a:t>
            </a:r>
            <a:br/>
            <a:r>
              <a:t>→ high recall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32520" y="1508760"/>
            <a:ext cx="2514600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DF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732520" y="1508760"/>
            <a:ext cx="73152" cy="3931920"/>
          </a:xfrm>
          <a:prstGeom prst="rect">
            <a:avLst/>
          </a:prstGeom>
          <a:solidFill>
            <a:srgbClr val="E28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61120" y="1673351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2037"/>
                </a:solidFill>
              </a:defRPr>
            </a:pPr>
            <a:r>
              <a:t>Observed issue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0" y="2103120"/>
            <a:ext cx="2103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52D37"/>
                </a:solidFill>
              </a:defRPr>
            </a:pPr>
            <a:r>
              <a:t>The P1 prompt also generated many extra or inferred phrases.</a:t>
            </a:r>
            <a:br/>
            <a:br/>
            <a:r>
              <a:t>Examples:</a:t>
            </a:r>
            <a:br/>
            <a:r>
              <a:t>• metropolitan area</a:t>
            </a:r>
            <a:br/>
            <a:r>
              <a:t>• reservation system</a:t>
            </a:r>
            <a:br/>
            <a:r>
              <a:t>• containment constructions</a:t>
            </a:r>
            <a:br/>
            <a:r>
              <a:t>• X-is-a-Y constructions</a:t>
            </a:r>
            <a:br/>
            <a:br/>
            <a:r>
              <a:t>This motivates P2.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07E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037"/>
                </a:solidFill>
                <a:latin typeface="Aptos Display"/>
              </a:defRPr>
            </a:pPr>
            <a:r>
              <a:t>P2 — Planned Precision-Focused Revision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107899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07E"/>
                </a:solidFill>
                <a:latin typeface="Aptos"/>
              </a:defRPr>
            </a:pPr>
            <a:r>
              <a:t>Status: ready to test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2120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F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73152" cy="1508760"/>
          </a:xfrm>
          <a:prstGeom prst="rect">
            <a:avLst/>
          </a:prstGeom>
          <a:solidFill>
            <a:srgbClr val="258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581912"/>
            <a:ext cx="4800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2037"/>
                </a:solidFill>
              </a:defRPr>
            </a:pPr>
            <a:r>
              <a:t>H2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011680"/>
            <a:ext cx="4800600" cy="777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52D37"/>
                </a:solidFill>
              </a:defRPr>
            </a:pPr>
            <a:r>
              <a:t>Adding explicit extraction constraints should improve precision while maintaining the high recall achieved by P1.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52120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F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7920" y="1417320"/>
            <a:ext cx="73152" cy="150876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1581912"/>
            <a:ext cx="4800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2037"/>
                </a:solidFill>
              </a:defRPr>
            </a:pPr>
            <a:r>
              <a:t>Major Change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011680"/>
            <a:ext cx="4800600" cy="777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52D37"/>
                </a:solidFill>
              </a:defRPr>
            </a:pPr>
            <a:r>
              <a:t>Keep the AUM methodology, but explicitly prohibit inference, invention, rewording, and construction of new phrases.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88720" y="3383280"/>
            <a:ext cx="9784080" cy="1600200"/>
          </a:xfrm>
          <a:prstGeom prst="roundRect">
            <a:avLst/>
          </a:prstGeom>
          <a:solidFill>
            <a:srgbClr val="F5F7FA"/>
          </a:solidFill>
          <a:ln>
            <a:solidFill>
              <a:srgbClr val="258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508760" y="3657600"/>
            <a:ext cx="91440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i="1">
                <a:solidFill>
                  <a:srgbClr val="142037"/>
                </a:solidFill>
              </a:defRPr>
            </a:pPr>
            <a:r>
              <a:t>“Only identify phrases explicitly supported by the domain description. Do not infer, invent, reword, or construct new phrases. Preserve the wording as closely as possible.”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07E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037"/>
                </a:solidFill>
                <a:latin typeface="Aptos Display"/>
              </a:defRPr>
            </a:pPr>
            <a:r>
              <a:t>Experiment Log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417320"/>
            <a:ext cx="914400" cy="566928"/>
          </a:xfrm>
          <a:prstGeom prst="rect">
            <a:avLst/>
          </a:prstGeom>
          <a:solidFill>
            <a:srgbClr val="14203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1527048"/>
            <a:ext cx="85953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Version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508760" y="1417320"/>
            <a:ext cx="3246120" cy="566928"/>
          </a:xfrm>
          <a:prstGeom prst="rect">
            <a:avLst/>
          </a:prstGeom>
          <a:solidFill>
            <a:srgbClr val="14203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536192" y="1527048"/>
            <a:ext cx="319125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Major Change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79" y="1417320"/>
            <a:ext cx="1417320" cy="566928"/>
          </a:xfrm>
          <a:prstGeom prst="rect">
            <a:avLst/>
          </a:prstGeom>
          <a:solidFill>
            <a:srgbClr val="14203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82312" y="1527048"/>
            <a:ext cx="136245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Precision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199" y="1417320"/>
            <a:ext cx="1417320" cy="566928"/>
          </a:xfrm>
          <a:prstGeom prst="rect">
            <a:avLst/>
          </a:prstGeom>
          <a:solidFill>
            <a:srgbClr val="14203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199631" y="1527048"/>
            <a:ext cx="136245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Recall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19" y="1417320"/>
            <a:ext cx="1417320" cy="566928"/>
          </a:xfrm>
          <a:prstGeom prst="rect">
            <a:avLst/>
          </a:prstGeom>
          <a:solidFill>
            <a:srgbClr val="14203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616951" y="1527048"/>
            <a:ext cx="136245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F1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06840" y="1417320"/>
            <a:ext cx="1965960" cy="566928"/>
          </a:xfrm>
          <a:prstGeom prst="rect">
            <a:avLst/>
          </a:prstGeom>
          <a:solidFill>
            <a:srgbClr val="14203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034272" y="1527048"/>
            <a:ext cx="1911095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Decision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1984248"/>
            <a:ext cx="91440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F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2093976"/>
            <a:ext cx="822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 b="1">
                <a:solidFill>
                  <a:srgbClr val="252D37"/>
                </a:solidFill>
              </a:defRPr>
            </a:pPr>
            <a:r>
              <a:t>P0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508760" y="1984248"/>
            <a:ext cx="324612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F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554480" y="2093976"/>
            <a:ext cx="315467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50">
                <a:solidFill>
                  <a:srgbClr val="252D37"/>
                </a:solidFill>
              </a:defRPr>
            </a:pPr>
            <a:r>
              <a:t>Baseline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54879" y="1984248"/>
            <a:ext cx="141732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F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800599" y="2093976"/>
            <a:ext cx="1325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52D37"/>
                </a:solidFill>
              </a:defRPr>
            </a:pPr>
            <a:r>
              <a:t>77.21%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199" y="1984248"/>
            <a:ext cx="141732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F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217919" y="2093976"/>
            <a:ext cx="1325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52D37"/>
                </a:solidFill>
              </a:defRPr>
            </a:pPr>
            <a:r>
              <a:t>56.36%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89519" y="1984248"/>
            <a:ext cx="141732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F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635240" y="2093976"/>
            <a:ext cx="1325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52D37"/>
                </a:solidFill>
              </a:defRPr>
            </a:pPr>
            <a:r>
              <a:t>63.22%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06840" y="1984248"/>
            <a:ext cx="196596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F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052560" y="2093976"/>
            <a:ext cx="187451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52D37"/>
                </a:solidFill>
              </a:defRPr>
            </a:pPr>
            <a:r>
              <a:t>Revise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" y="2734056"/>
            <a:ext cx="914400" cy="749808"/>
          </a:xfrm>
          <a:prstGeom prst="rect">
            <a:avLst/>
          </a:prstGeom>
          <a:solidFill>
            <a:srgbClr val="F5F7FA"/>
          </a:solidFill>
          <a:ln>
            <a:solidFill>
              <a:srgbClr val="DF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0080" y="2843784"/>
            <a:ext cx="822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 b="1">
                <a:solidFill>
                  <a:srgbClr val="252D37"/>
                </a:solidFill>
              </a:defRPr>
            </a:pPr>
            <a:r>
              <a:t>P1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508760" y="2734056"/>
            <a:ext cx="3246120" cy="749808"/>
          </a:xfrm>
          <a:prstGeom prst="rect">
            <a:avLst/>
          </a:prstGeom>
          <a:solidFill>
            <a:srgbClr val="F5F7FA"/>
          </a:solidFill>
          <a:ln>
            <a:solidFill>
              <a:srgbClr val="DF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554480" y="2843784"/>
            <a:ext cx="315467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50">
                <a:solidFill>
                  <a:srgbClr val="252D37"/>
                </a:solidFill>
              </a:defRPr>
            </a:pPr>
            <a:r>
              <a:t>Add AUM methodology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754879" y="2734056"/>
            <a:ext cx="1417320" cy="749808"/>
          </a:xfrm>
          <a:prstGeom prst="rect">
            <a:avLst/>
          </a:prstGeom>
          <a:solidFill>
            <a:srgbClr val="F5F7FA"/>
          </a:solidFill>
          <a:ln>
            <a:solidFill>
              <a:srgbClr val="DF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800599" y="2843784"/>
            <a:ext cx="1325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52D37"/>
                </a:solidFill>
              </a:defRPr>
            </a:pPr>
            <a:r>
              <a:t>77.54%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72199" y="2734056"/>
            <a:ext cx="1417320" cy="749808"/>
          </a:xfrm>
          <a:prstGeom prst="rect">
            <a:avLst/>
          </a:prstGeom>
          <a:solidFill>
            <a:srgbClr val="F5F7FA"/>
          </a:solidFill>
          <a:ln>
            <a:solidFill>
              <a:srgbClr val="DF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217919" y="2843784"/>
            <a:ext cx="1325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52D37"/>
                </a:solidFill>
              </a:defRPr>
            </a:pPr>
            <a:r>
              <a:t>98.18%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89519" y="2734056"/>
            <a:ext cx="1417320" cy="749808"/>
          </a:xfrm>
          <a:prstGeom prst="rect">
            <a:avLst/>
          </a:prstGeom>
          <a:solidFill>
            <a:srgbClr val="F5F7FA"/>
          </a:solidFill>
          <a:ln>
            <a:solidFill>
              <a:srgbClr val="DF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635240" y="2843784"/>
            <a:ext cx="1325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52D37"/>
                </a:solidFill>
              </a:defRPr>
            </a:pPr>
            <a:r>
              <a:t>86.64%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006840" y="2734056"/>
            <a:ext cx="1965960" cy="749808"/>
          </a:xfrm>
          <a:prstGeom prst="rect">
            <a:avLst/>
          </a:prstGeom>
          <a:solidFill>
            <a:srgbClr val="F5F7FA"/>
          </a:solidFill>
          <a:ln>
            <a:solidFill>
              <a:srgbClr val="DF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052560" y="2843784"/>
            <a:ext cx="187451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52D37"/>
                </a:solidFill>
              </a:defRPr>
            </a:pPr>
            <a:r>
              <a:t>Keep + revise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4360" y="3483863"/>
            <a:ext cx="91440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F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40080" y="3593591"/>
            <a:ext cx="822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 b="1">
                <a:solidFill>
                  <a:srgbClr val="252D37"/>
                </a:solidFill>
              </a:defRPr>
            </a:pPr>
            <a:r>
              <a:t>P2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508760" y="3483863"/>
            <a:ext cx="324612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F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554480" y="3593591"/>
            <a:ext cx="315467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50">
                <a:solidFill>
                  <a:srgbClr val="252D37"/>
                </a:solidFill>
              </a:defRPr>
            </a:pPr>
            <a:r>
              <a:t>Add extraction constraints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754879" y="3483863"/>
            <a:ext cx="141732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F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800599" y="3593591"/>
            <a:ext cx="1325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52D37"/>
                </a:solidFill>
              </a:defRPr>
            </a:pPr>
            <a:r>
              <a:t>TBD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72199" y="3483863"/>
            <a:ext cx="141732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F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217919" y="3593591"/>
            <a:ext cx="1325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52D37"/>
                </a:solidFill>
              </a:defRPr>
            </a:pPr>
            <a:r>
              <a:t>TBD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89519" y="3483863"/>
            <a:ext cx="141732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F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635240" y="3593591"/>
            <a:ext cx="1325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52D37"/>
                </a:solidFill>
              </a:defRPr>
            </a:pPr>
            <a:r>
              <a:t>TBD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006840" y="3483863"/>
            <a:ext cx="196596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F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052560" y="3593591"/>
            <a:ext cx="187451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52D37"/>
                </a:solidFill>
              </a:defRPr>
            </a:pPr>
            <a:r>
              <a:t>Pending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94360" y="4233672"/>
            <a:ext cx="914400" cy="749808"/>
          </a:xfrm>
          <a:prstGeom prst="rect">
            <a:avLst/>
          </a:prstGeom>
          <a:solidFill>
            <a:srgbClr val="F5F7FA"/>
          </a:solidFill>
          <a:ln>
            <a:solidFill>
              <a:srgbClr val="DF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40080" y="4343400"/>
            <a:ext cx="822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 b="1">
                <a:solidFill>
                  <a:srgbClr val="252D37"/>
                </a:solidFill>
              </a:defRPr>
            </a:pPr>
            <a:r>
              <a:t>P3+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508760" y="4233672"/>
            <a:ext cx="3246120" cy="749808"/>
          </a:xfrm>
          <a:prstGeom prst="rect">
            <a:avLst/>
          </a:prstGeom>
          <a:solidFill>
            <a:srgbClr val="F5F7FA"/>
          </a:solidFill>
          <a:ln>
            <a:solidFill>
              <a:srgbClr val="DF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554480" y="4343400"/>
            <a:ext cx="315467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50">
                <a:solidFill>
                  <a:srgbClr val="252D37"/>
                </a:solidFill>
              </a:defRPr>
            </a:pPr>
            <a:r>
              <a:t>Driven by error analysis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754879" y="4233672"/>
            <a:ext cx="1417320" cy="749808"/>
          </a:xfrm>
          <a:prstGeom prst="rect">
            <a:avLst/>
          </a:prstGeom>
          <a:solidFill>
            <a:srgbClr val="F5F7FA"/>
          </a:solidFill>
          <a:ln>
            <a:solidFill>
              <a:srgbClr val="DF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4800599" y="4343400"/>
            <a:ext cx="1325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52D37"/>
                </a:solidFill>
              </a:defRPr>
            </a:pPr>
            <a:r>
              <a:t>TBD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172199" y="4233672"/>
            <a:ext cx="1417320" cy="749808"/>
          </a:xfrm>
          <a:prstGeom prst="rect">
            <a:avLst/>
          </a:prstGeom>
          <a:solidFill>
            <a:srgbClr val="F5F7FA"/>
          </a:solidFill>
          <a:ln>
            <a:solidFill>
              <a:srgbClr val="DF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217919" y="4343400"/>
            <a:ext cx="1325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52D37"/>
                </a:solidFill>
              </a:defRPr>
            </a:pPr>
            <a:r>
              <a:t>TBD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589519" y="4233672"/>
            <a:ext cx="1417320" cy="749808"/>
          </a:xfrm>
          <a:prstGeom prst="rect">
            <a:avLst/>
          </a:prstGeom>
          <a:solidFill>
            <a:srgbClr val="F5F7FA"/>
          </a:solidFill>
          <a:ln>
            <a:solidFill>
              <a:srgbClr val="DF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7635240" y="4343400"/>
            <a:ext cx="1325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52D37"/>
                </a:solidFill>
              </a:defRPr>
            </a:pPr>
            <a:r>
              <a:t>TBD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006840" y="4233672"/>
            <a:ext cx="1965960" cy="749808"/>
          </a:xfrm>
          <a:prstGeom prst="rect">
            <a:avLst/>
          </a:prstGeom>
          <a:solidFill>
            <a:srgbClr val="F5F7FA"/>
          </a:solidFill>
          <a:ln>
            <a:solidFill>
              <a:srgbClr val="DF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9052560" y="4343400"/>
            <a:ext cx="187451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52D37"/>
                </a:solidFill>
              </a:defRPr>
            </a:pPr>
            <a:r>
              <a:t>Pending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94360" y="4983479"/>
            <a:ext cx="91440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F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640080" y="5093207"/>
            <a:ext cx="822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 b="1">
                <a:solidFill>
                  <a:srgbClr val="252D37"/>
                </a:solidFill>
              </a:defRPr>
            </a:pPr>
            <a:r>
              <a:t>Pn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508760" y="4983479"/>
            <a:ext cx="324612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F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1554480" y="5093207"/>
            <a:ext cx="315467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50">
                <a:solidFill>
                  <a:srgbClr val="252D37"/>
                </a:solidFill>
              </a:defRPr>
            </a:pPr>
            <a:r>
              <a:t>Final optimized prompt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754879" y="4983479"/>
            <a:ext cx="141732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F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4800599" y="5093207"/>
            <a:ext cx="1325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52D37"/>
                </a:solidFill>
              </a:defRPr>
            </a:pPr>
            <a:r>
              <a:t>TBD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172199" y="4983479"/>
            <a:ext cx="141732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F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6217919" y="5093207"/>
            <a:ext cx="1325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52D37"/>
                </a:solidFill>
              </a:defRPr>
            </a:pPr>
            <a:r>
              <a:t>TBD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589519" y="4983479"/>
            <a:ext cx="141732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F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7635240" y="5093207"/>
            <a:ext cx="1325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52D37"/>
                </a:solidFill>
              </a:defRPr>
            </a:pPr>
            <a:r>
              <a:t>TBD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006840" y="4983479"/>
            <a:ext cx="196596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F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9052560" y="5093207"/>
            <a:ext cx="187451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52D37"/>
                </a:solidFill>
              </a:defRPr>
            </a:pPr>
            <a:r>
              <a:t>Generalization test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07E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ptos Display"/>
              </a:defRPr>
            </a:pPr>
            <a:r>
              <a:t>Current Conclusion &amp; Next Steps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4290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F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73152" cy="4297680"/>
          </a:xfrm>
          <a:prstGeom prst="rect">
            <a:avLst/>
          </a:prstGeom>
          <a:solidFill>
            <a:srgbClr val="258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627632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2037"/>
                </a:solidFill>
              </a:defRPr>
            </a:pPr>
            <a:r>
              <a:t>1. What We Learned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05740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52D37"/>
                </a:solidFill>
              </a:defRPr>
            </a:pPr>
            <a:r>
              <a:t>A vague baseline produced inconsistent recall. Adding AUM gave the model a clear methodology and raised Library F1 from 63.22% to 86.64%.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63040"/>
            <a:ext cx="34290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F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89120" y="1463040"/>
            <a:ext cx="73152" cy="4297680"/>
          </a:xfrm>
          <a:prstGeom prst="rect">
            <a:avLst/>
          </a:prstGeom>
          <a:solidFill>
            <a:srgbClr val="E28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17720" y="1627632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2037"/>
                </a:solidFill>
              </a:defRPr>
            </a:pPr>
            <a:r>
              <a:t>2. What Still Fails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05740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52D37"/>
                </a:solidFill>
              </a:defRPr>
            </a:pPr>
            <a:r>
              <a:t>The model can over-generate: inferred phrases, reworded relationships, and categories that are not present in the expert solution reduce precision.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463040"/>
            <a:ext cx="34290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F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046720" y="1463040"/>
            <a:ext cx="73152" cy="429768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75320" y="1627632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2037"/>
                </a:solidFill>
              </a:defRPr>
            </a:pPr>
            <a:r>
              <a:t>3. Next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205740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52D37"/>
                </a:solidFill>
              </a:defRPr>
            </a:pPr>
            <a:r>
              <a:t>Run P2 three times on Library, score TP/FP/FN, perform error analysis, continue evolving until the prompt is stable, then test Pn unchanged on Library, Car Rental, and NTSS.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07E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742</Words>
  <Application>Microsoft Macintosh PowerPoint</Application>
  <PresentationFormat>Widescreen</PresentationFormat>
  <Paragraphs>120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Evolutionary Prompt Optimization for Domain Modeling</dc:title>
  <dc:subject>CSE 5320 Team Project 1</dc:subject>
  <dc:creator>Marvin Wellington and Team</dc:creator>
  <cp:keywords/>
  <dc:description>generated using python-pptx</dc:description>
  <cp:lastModifiedBy>Marvin Wellington</cp:lastModifiedBy>
  <cp:revision>2</cp:revision>
  <dcterms:created xsi:type="dcterms:W3CDTF">2013-01-27T09:14:16Z</dcterms:created>
  <dcterms:modified xsi:type="dcterms:W3CDTF">2026-09-27T19:34:52Z</dcterms:modified>
  <cp:category/>
</cp:coreProperties>
</file>