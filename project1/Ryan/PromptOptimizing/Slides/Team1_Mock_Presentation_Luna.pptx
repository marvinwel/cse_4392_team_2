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2A44"/>
                </a:solidFill>
                <a:latin typeface="Arial"/>
              </a:defRPr>
            </a:pPr>
            <a:r>
              <a:rPr sz="1400" b="0" i="0" u="none" strike="noStrike">
                <a:solidFill>
                  <a:srgbClr val="1F2A44"/>
                </a:solidFill>
                <a:latin typeface="Arial"/>
              </a:rPr>
              <a:t>Precision / Recall / F1 (%) by prompt version (GPT-5.6 Luna)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Precision</c:v>
                </c:pt>
              </c:strCache>
            </c:strRef>
          </c:tx>
          <c:spPr>
            <a:solidFill>
              <a:srgbClr val="E9A23B"/>
            </a:solidFill>
            <a:ln w="31750" cap="flat">
              <a:solidFill>
                <a:srgbClr val="E9A23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E9A23B"/>
              </a:solidFill>
              <a:ln w="9525" cap="flat">
                <a:solidFill>
                  <a:srgbClr val="E9A23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P0</c:v>
                  </c:pt>
                  <c:pt idx="1">
                    <c:v>P1</c:v>
                  </c:pt>
                  <c:pt idx="2">
                    <c:v>P2</c:v>
                  </c:pt>
                  <c:pt idx="3">
                    <c:v>P3</c:v>
                  </c:pt>
                  <c:pt idx="4">
                    <c:v>P4</c:v>
                  </c:pt>
                  <c:pt idx="5">
                    <c:v>P5</c:v>
                  </c:pt>
                  <c:pt idx="6">
                    <c:v>P6</c:v>
                  </c:pt>
                  <c:pt idx="7">
                    <c:v>P8</c:v>
                  </c:pt>
                  <c:pt idx="8">
                    <c:v>P9</c:v>
                  </c:pt>
                  <c:pt idx="9">
                    <c:v>P10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40.85</c:v>
                </c:pt>
                <c:pt idx="1">
                  <c:v>61.82</c:v>
                </c:pt>
                <c:pt idx="2">
                  <c:v>85.71</c:v>
                </c:pt>
                <c:pt idx="3">
                  <c:v>73.58</c:v>
                </c:pt>
                <c:pt idx="4">
                  <c:v>59.26</c:v>
                </c:pt>
                <c:pt idx="5">
                  <c:v>72.09</c:v>
                </c:pt>
                <c:pt idx="6">
                  <c:v>63.27</c:v>
                </c:pt>
                <c:pt idx="7">
                  <c:v>82.46</c:v>
                </c:pt>
                <c:pt idx="8">
                  <c:v>82.81</c:v>
                </c:pt>
                <c:pt idx="9">
                  <c:v>86.21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Recall</c:v>
                </c:pt>
              </c:strCache>
            </c:strRef>
          </c:tx>
          <c:spPr>
            <a:solidFill>
              <a:srgbClr val="3B4A68"/>
            </a:solidFill>
            <a:ln w="31750" cap="flat">
              <a:solidFill>
                <a:srgbClr val="3B4A6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3B4A68"/>
              </a:solidFill>
              <a:ln w="9525" cap="flat">
                <a:solidFill>
                  <a:srgbClr val="3B4A6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P0</c:v>
                  </c:pt>
                  <c:pt idx="1">
                    <c:v>P1</c:v>
                  </c:pt>
                  <c:pt idx="2">
                    <c:v>P2</c:v>
                  </c:pt>
                  <c:pt idx="3">
                    <c:v>P3</c:v>
                  </c:pt>
                  <c:pt idx="4">
                    <c:v>P4</c:v>
                  </c:pt>
                  <c:pt idx="5">
                    <c:v>P5</c:v>
                  </c:pt>
                  <c:pt idx="6">
                    <c:v>P6</c:v>
                  </c:pt>
                  <c:pt idx="7">
                    <c:v>P8</c:v>
                  </c:pt>
                  <c:pt idx="8">
                    <c:v>P9</c:v>
                  </c:pt>
                  <c:pt idx="9">
                    <c:v>P10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51.79</c:v>
                </c:pt>
                <c:pt idx="1">
                  <c:v>61.82</c:v>
                </c:pt>
                <c:pt idx="2">
                  <c:v>85.71</c:v>
                </c:pt>
                <c:pt idx="3">
                  <c:v>69.64</c:v>
                </c:pt>
                <c:pt idx="4">
                  <c:v>58.18</c:v>
                </c:pt>
                <c:pt idx="5">
                  <c:v>56.36</c:v>
                </c:pt>
                <c:pt idx="6">
                  <c:v>54.39</c:v>
                </c:pt>
                <c:pt idx="7">
                  <c:v>83.93</c:v>
                </c:pt>
                <c:pt idx="8">
                  <c:v>94.64</c:v>
                </c:pt>
                <c:pt idx="9">
                  <c:v>89.29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F1</c:v>
                </c:pt>
              </c:strCache>
            </c:strRef>
          </c:tx>
          <c:spPr>
            <a:solidFill>
              <a:srgbClr val="2A9D8F"/>
            </a:solidFill>
            <a:ln w="31750" cap="flat">
              <a:solidFill>
                <a:srgbClr val="2A9D8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2A9D8F"/>
              </a:solidFill>
              <a:ln w="9525" cap="flat">
                <a:solidFill>
                  <a:srgbClr val="2A9D8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P0</c:v>
                  </c:pt>
                  <c:pt idx="1">
                    <c:v>P1</c:v>
                  </c:pt>
                  <c:pt idx="2">
                    <c:v>P2</c:v>
                  </c:pt>
                  <c:pt idx="3">
                    <c:v>P3</c:v>
                  </c:pt>
                  <c:pt idx="4">
                    <c:v>P4</c:v>
                  </c:pt>
                  <c:pt idx="5">
                    <c:v>P5</c:v>
                  </c:pt>
                  <c:pt idx="6">
                    <c:v>P6</c:v>
                  </c:pt>
                  <c:pt idx="7">
                    <c:v>P8</c:v>
                  </c:pt>
                  <c:pt idx="8">
                    <c:v>P9</c:v>
                  </c:pt>
                  <c:pt idx="9">
                    <c:v>P10</c:v>
                  </c:pt>
                </c:lvl>
              </c:multiLvlStrCache>
            </c:multiLvl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45.67</c:v>
                </c:pt>
                <c:pt idx="1">
                  <c:v>61.82</c:v>
                </c:pt>
                <c:pt idx="2">
                  <c:v>85.71</c:v>
                </c:pt>
                <c:pt idx="3">
                  <c:v>71.56</c:v>
                </c:pt>
                <c:pt idx="4">
                  <c:v>58.72</c:v>
                </c:pt>
                <c:pt idx="5">
                  <c:v>63.27</c:v>
                </c:pt>
                <c:pt idx="6">
                  <c:v>58.49</c:v>
                </c:pt>
                <c:pt idx="7">
                  <c:v>83.19</c:v>
                </c:pt>
                <c:pt idx="8">
                  <c:v>88.33</c:v>
                </c:pt>
                <c:pt idx="9">
                  <c:v>87.72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F6B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40"/>
        </c:scaling>
        <c:delete val="0"/>
        <c:axPos val="l"/>
        <c:majorGridlines>
          <c:spPr>
            <a:ln w="6350" cap="flat">
              <a:solidFill>
                <a:srgbClr val="E1E6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F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Luna version of the mock deck. All numbers are GPT-5.6 Luna runs: L-R3 to L-R11 (Meta-era, per team record), L-R18, L-R19b, and classification L-C1 to L-C3. Luna cannot be selected in a Temporary chat on our plan, so no Luna run is memory-free.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P0 = L-R3 in the Library Working Log. L-R1 and L-R2 contained ground truth and cannot be the baseline under the zero-ground-truth rule.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Mapping to the Library Working Log: P0=L-R3, P1=L-R4, P2=L-R5, P3=L-R6, P4=L-R7, P5=L-R8, P6=L-R9, P7=L-R10 (contaminated), P8=L-R11, P9=L-R18 (L-R13 prompt), P10=L-R19b (L-R19 prompt). Excluded: L-R1, L-R2 (ground truth in prompt), L-R10, L-R19 run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P9 = the L-R13 prompt (Library Working Log), run on Luna as L-R18.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554480"/>
            <a:ext cx="1051560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Evolutionary Prompt Optimization for Domain Modeling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063240"/>
            <a:ext cx="105156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 4392/5320 — Software Engineering with Generative AI — Team Project 1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023360"/>
            <a:ext cx="27432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3474720" y="4023360"/>
            <a:ext cx="77724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[TEAM: names]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4526280"/>
            <a:ext cx="27432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platform / model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3474720" y="4526280"/>
            <a:ext cx="77724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— GPT-5.6 Luna (desktop app; Temporary chat not available for Luna)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5029200"/>
            <a:ext cx="27432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474720" y="5029200"/>
            <a:ext cx="77724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09/27/2026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1155680" y="384048"/>
            <a:ext cx="548640" cy="548640"/>
          </a:xfrm>
          <a:prstGeom prst="ellipse">
            <a:avLst/>
          </a:prstGeom>
          <a:solidFill>
            <a:srgbClr val="1F2A4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1155680" y="3840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5394960" cy="2148840"/>
          </a:xfrm>
          <a:prstGeom prst="rect">
            <a:avLst/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463040"/>
            <a:ext cx="384048" cy="384048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234440" y="1444752"/>
            <a:ext cx="45262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1965960"/>
            <a:ext cx="4983480" cy="1325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a business description, an LLM must (1) identify the domain-specific phrases in 8 groups (nouns, X of Y, transitive verbs, adjectives, numeric, possession, consist/part, X is a Y) and (2) classify them into classes, attributes, relationships and association classes.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280160"/>
            <a:ext cx="5394960" cy="2148840"/>
          </a:xfrm>
          <a:prstGeom prst="rect">
            <a:avLst/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0" y="1463040"/>
            <a:ext cx="384048" cy="384048"/>
          </a:xfrm>
          <a:prstGeom prst="ellipse">
            <a:avLst/>
          </a:prstGeom>
          <a:solidFill>
            <a:srgbClr val="E9A23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903720" y="1444752"/>
            <a:ext cx="45262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is challenging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446520" y="1965960"/>
            <a:ext cx="4983480" cy="1325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keys demand exact phrase forms ("issues / issued", "8 / maximum of 8"); the three keys follow different conventions; the prompt may contain no answer-key phrases; runs of the same prompt vary by several F1 points.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611880"/>
            <a:ext cx="5394960" cy="1600200"/>
          </a:xfrm>
          <a:prstGeom prst="rect">
            <a:avLst/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3794760"/>
            <a:ext cx="384048" cy="384048"/>
          </a:xfrm>
          <a:prstGeom prst="ellipse">
            <a:avLst/>
          </a:prstGeom>
          <a:solidFill>
            <a:srgbClr val="3B4A6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234440" y="3776472"/>
            <a:ext cx="45262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"improvement" means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4297680"/>
            <a:ext cx="498348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F1 against the expert solution, measured by one fixed scoring prompt. Goal: F1 ≥ 97% on the optimization description (Library).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17920" y="3611880"/>
            <a:ext cx="5394960" cy="1600200"/>
          </a:xfrm>
          <a:prstGeom prst="rect">
            <a:avLst/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0" y="3794760"/>
            <a:ext cx="384048" cy="384048"/>
          </a:xfrm>
          <a:prstGeom prst="ellipse">
            <a:avLst/>
          </a:prstGeom>
          <a:solidFill>
            <a:srgbClr val="3B4A6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903720" y="3776472"/>
            <a:ext cx="45262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AI must do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446520" y="4297680"/>
            <a:ext cx="498348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our methodology to an uploaded description, output the phrase lists, then compute P / R / F1 against the expert key.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5440680"/>
            <a:ext cx="11064240" cy="86868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77240" y="5486400"/>
            <a:ext cx="1060704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objective is to optimize a prompt so that an LLM, given only a business description, identifies and classifies domain-specific phrases with F1 ≥ 97% against the expert solution — without any expert answers in the prompt.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Initial Prompt (P0)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1155680" y="384048"/>
            <a:ext cx="548640" cy="548640"/>
          </a:xfrm>
          <a:prstGeom prst="ellipse">
            <a:avLst/>
          </a:prstGeom>
          <a:solidFill>
            <a:srgbClr val="1F2A4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1155680" y="3840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6766560" cy="4526280"/>
          </a:xfrm>
          <a:prstGeom prst="rect">
            <a:avLst/>
          </a:prstGeom>
          <a:solidFill>
            <a:srgbClr val="F4F6F8"/>
          </a:solidFill>
          <a:ln w="12700">
            <a:solidFill>
              <a:srgbClr val="C9D1D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371600"/>
            <a:ext cx="64008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 = zero-shot version (L-R3)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1783080"/>
            <a:ext cx="6400800" cy="3840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prompt with no answer-key phrases (claimed; text not recovered).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Task: identify domain phrases from the uploaded library description in 8 groups.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abstract rules for exact forms, no example.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earlier prompts (98.41%, 91.07%) are excluded: they used Library answer-key phrases as a few-shot example.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680960" y="1280160"/>
            <a:ext cx="393192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on Library (Luna)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680960" y="1691640"/>
            <a:ext cx="393192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45.67%</a:t>
            </a:r>
            <a:endParaRPr lang="en-US" sz="6000" dirty="0"/>
          </a:p>
        </p:txBody>
      </p:sp>
      <p:sp>
        <p:nvSpPr>
          <p:cNvPr id="10" name="Text 8"/>
          <p:cNvSpPr txBox="1"/>
          <p:nvPr/>
        </p:nvSpPr>
        <p:spPr>
          <a:xfrm>
            <a:off x="7680960" y="2697480"/>
            <a:ext cx="393192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(TP 29 / FP 42 / FN 27)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680960" y="3200400"/>
            <a:ext cx="3931920" cy="1737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Mostly format errors, not concept errors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Singular/plural output separately instead of "A / B"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Verbs kept auxiliaries and objects ("is issued", "must be kept")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5074920"/>
            <a:ext cx="11064240" cy="731520"/>
          </a:xfrm>
          <a:prstGeom prst="rect">
            <a:avLst/>
          </a:prstGeom>
          <a:solidFill>
            <a:srgbClr val="FFF1D6"/>
          </a:solidFill>
          <a:ln w="19050">
            <a:solidFill>
              <a:srgbClr val="E9A23B"/>
            </a:solidFill>
            <a:prstDash val="dash"/>
          </a:ln>
        </p:spPr>
      </p:sp>
      <p:sp>
        <p:nvSpPr>
          <p:cNvPr id="13" name="Text 11"/>
          <p:cNvSpPr txBox="1"/>
          <p:nvPr/>
        </p:nvSpPr>
        <p:spPr>
          <a:xfrm>
            <a:off x="685800" y="5148072"/>
            <a:ext cx="10789920" cy="5852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0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TO FILL: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the exact P0 prompt text (from the Meta AI / ChatGPT history). The graders expect the real prompt here.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Evolution of the Prompt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1155680" y="384048"/>
            <a:ext cx="548640" cy="548640"/>
          </a:xfrm>
          <a:prstGeom prst="ellipse">
            <a:avLst/>
          </a:prstGeom>
          <a:solidFill>
            <a:srgbClr val="1F2A4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1155680" y="3840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011680"/>
                <a:gridCol w="3840480"/>
                <a:gridCol w="33832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 (zero-shot)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Luna prompt (P9)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it changed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needed; rules carried the behavior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 &amp; requirements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groups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groups, output only lists for the uploaded file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 drift between runs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 to AI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 file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 file, new chat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(Codex) mode read earlier answer keys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Methodology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Implicit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Rules 1–10: slash merging, exact verb forms, X of Y, numeric, possession, adjectives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Luna lemmatized verbs, split slash entries, kept auxiliaries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Constraints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"Zero ground truth" (claimed)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Abstract rules, no domain words; leak check vs all keys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Earlier prompts leaked key phrases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Worked example (P8 on Sol) not yet run on Luna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Free-form groups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labeled groups, one line each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Consistent scoring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Criteria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1155680" y="384048"/>
            <a:ext cx="548640" cy="548640"/>
          </a:xfrm>
          <a:prstGeom prst="ellipse">
            <a:avLst/>
          </a:prstGeom>
          <a:solidFill>
            <a:srgbClr val="1F2A4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1155680" y="3840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3566160" cy="2377440"/>
          </a:xfrm>
          <a:prstGeom prst="rect">
            <a:avLst/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463040"/>
            <a:ext cx="384048" cy="384048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234440" y="1444752"/>
            <a:ext cx="26974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solutions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1965960"/>
            <a:ext cx="3154680" cy="1554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Library: Library-domain-phrases (56 entries), library-expert (27). Car Rental: 64 phrases from 4392-crclassified. NTSS: 93 phrases from ntss-underlined. Used only as scoring references, never as prompt input.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97680" y="1280160"/>
            <a:ext cx="3566160" cy="2377440"/>
          </a:xfrm>
          <a:prstGeom prst="rect">
            <a:avLst/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80560" y="1463040"/>
            <a:ext cx="384048" cy="384048"/>
          </a:xfrm>
          <a:prstGeom prst="ellipse">
            <a:avLst/>
          </a:prstGeom>
          <a:solidFill>
            <a:srgbClr val="3B4A6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983480" y="1444752"/>
            <a:ext cx="26974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526280" y="1965960"/>
            <a:ext cx="3154680" cy="1554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= TP / (TP + FP)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= TP / (TP + FN)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= 2PR / (P + R)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 by Luna in the same chat (assignment step 3c).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46720" y="1280160"/>
            <a:ext cx="3566160" cy="2377440"/>
          </a:xfrm>
          <a:prstGeom prst="rect">
            <a:avLst/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0" y="1463040"/>
            <a:ext cx="384048" cy="384048"/>
          </a:xfrm>
          <a:prstGeom prst="ellipse">
            <a:avLst/>
          </a:prstGeom>
          <a:solidFill>
            <a:srgbClr val="E9A23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732520" y="1444752"/>
            <a:ext cx="26974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fixed scoring prompt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275320" y="1965960"/>
            <a:ext cx="3154680" cy="1554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by rule group; singular = plural; "A / B" = one entry; no lemmatizing or synonyms; the scorer must print both lists and pass count checks.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3931920"/>
            <a:ext cx="109728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verified the scores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343400"/>
            <a:ext cx="11064240" cy="1920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P0–P8 were scored by prompts that let the model pick its own matching rules (ground-truth counts of 55–63). P9–P10 use the fixed scorer. The early numbers are not directly comparable.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score was recounted independently; Luna’s scorer failed its own count check on one run (reported 97.30%).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in agent mode or with the project folder attached are marked contaminated and left out of the results.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Evolutionary Prompt Optimization (Luna)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1155680" y="384048"/>
            <a:ext cx="548640" cy="548640"/>
          </a:xfrm>
          <a:prstGeom prst="ellipse">
            <a:avLst/>
          </a:prstGeom>
          <a:solidFill>
            <a:srgbClr val="1F2A4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1155680" y="3840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2057400"/>
            <a:ext cx="10515600" cy="0"/>
          </a:xfrm>
          <a:prstGeom prst="line">
            <a:avLst/>
          </a:prstGeom>
          <a:noFill/>
          <a:ln w="38100">
            <a:solidFill>
              <a:srgbClr val="C9D1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1755648"/>
            <a:ext cx="603504" cy="603504"/>
          </a:xfrm>
          <a:prstGeom prst="ellipse">
            <a:avLst/>
          </a:prstGeom>
          <a:solidFill>
            <a:srgbClr val="E9A23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49808" y="175564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514600"/>
            <a:ext cx="100584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45.67%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2926080"/>
            <a:ext cx="969264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755648" y="1755648"/>
            <a:ext cx="603504" cy="603504"/>
          </a:xfrm>
          <a:prstGeom prst="ellipse">
            <a:avLst/>
          </a:prstGeom>
          <a:solidFill>
            <a:srgbClr val="E9A23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755648" y="175564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554480" y="2514600"/>
            <a:ext cx="100584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61.82%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1572768" y="2926080"/>
            <a:ext cx="969264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"Zero GT" rules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61488" y="1755648"/>
            <a:ext cx="603504" cy="603504"/>
          </a:xfrm>
          <a:prstGeom prst="ellipse">
            <a:avLst/>
          </a:prstGeom>
          <a:solidFill>
            <a:srgbClr val="3B4A6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2761488" y="175564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2560320" y="2514600"/>
            <a:ext cx="100584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85.71%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2578608" y="2926080"/>
            <a:ext cx="969264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Span-boundary fixes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767328" y="1755648"/>
            <a:ext cx="603504" cy="603504"/>
          </a:xfrm>
          <a:prstGeom prst="ellipse">
            <a:avLst/>
          </a:prstGeom>
          <a:solidFill>
            <a:srgbClr val="E9A23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3767328" y="175564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3566160" y="2514600"/>
            <a:ext cx="100584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71.56%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3584448" y="2926080"/>
            <a:ext cx="969264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cross-doc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773168" y="1755648"/>
            <a:ext cx="603504" cy="603504"/>
          </a:xfrm>
          <a:prstGeom prst="ellipse">
            <a:avLst/>
          </a:prstGeom>
          <a:solidFill>
            <a:srgbClr val="E9A23B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773168" y="175564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0" y="2514600"/>
            <a:ext cx="100584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58.72%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4590288" y="2926080"/>
            <a:ext cx="969264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V6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779008" y="1755648"/>
            <a:ext cx="603504" cy="603504"/>
          </a:xfrm>
          <a:prstGeom prst="ellipse">
            <a:avLst/>
          </a:prstGeom>
          <a:solidFill>
            <a:srgbClr val="E9A23B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5779008" y="175564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5577840" y="2514600"/>
            <a:ext cx="100584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63.27%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5596128" y="2926080"/>
            <a:ext cx="969264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V7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784848" y="1755648"/>
            <a:ext cx="603504" cy="603504"/>
          </a:xfrm>
          <a:prstGeom prst="ellipse">
            <a:avLst/>
          </a:prstGeom>
          <a:solidFill>
            <a:srgbClr val="E9A23B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784848" y="175564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P6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6583680" y="2514600"/>
            <a:ext cx="100584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58.49%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6601968" y="2926080"/>
            <a:ext cx="969264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V8: lemmatizing back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7790688" y="1755648"/>
            <a:ext cx="603504" cy="603504"/>
          </a:xfrm>
          <a:prstGeom prst="ellipse">
            <a:avLst/>
          </a:prstGeom>
          <a:solidFill>
            <a:srgbClr val="5F6B7A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7790688" y="175564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P7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7589520" y="2514600"/>
            <a:ext cx="100584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250" b="1" strike="sngStrike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99.20%†</a:t>
            </a:r>
            <a:endParaRPr lang="en-US" sz="1250" dirty="0"/>
          </a:p>
        </p:txBody>
      </p:sp>
      <p:sp>
        <p:nvSpPr>
          <p:cNvPr id="37" name="Text 35"/>
          <p:cNvSpPr txBox="1"/>
          <p:nvPr/>
        </p:nvSpPr>
        <p:spPr>
          <a:xfrm>
            <a:off x="7607808" y="2926080"/>
            <a:ext cx="969264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9 rules (Codex)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8796528" y="1755648"/>
            <a:ext cx="603504" cy="603504"/>
          </a:xfrm>
          <a:prstGeom prst="ellipse">
            <a:avLst/>
          </a:prstGeom>
          <a:solidFill>
            <a:srgbClr val="E9A23B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8796528" y="175564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P8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8595360" y="2514600"/>
            <a:ext cx="100584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83.19%</a:t>
            </a:r>
            <a:endParaRPr lang="en-US" sz="1250" dirty="0"/>
          </a:p>
        </p:txBody>
      </p:sp>
      <p:sp>
        <p:nvSpPr>
          <p:cNvPr id="41" name="Text 39"/>
          <p:cNvSpPr txBox="1"/>
          <p:nvPr/>
        </p:nvSpPr>
        <p:spPr>
          <a:xfrm>
            <a:off x="8613648" y="2926080"/>
            <a:ext cx="969264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dual-output rule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9802368" y="1755648"/>
            <a:ext cx="603504" cy="603504"/>
          </a:xfrm>
          <a:prstGeom prst="ellipse">
            <a:avLst/>
          </a:prstGeom>
          <a:solidFill>
            <a:srgbClr val="3B4A68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9802368" y="175564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9601200" y="2514600"/>
            <a:ext cx="100584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88.33%</a:t>
            </a:r>
            <a:endParaRPr lang="en-US" sz="1250" dirty="0"/>
          </a:p>
        </p:txBody>
      </p:sp>
      <p:sp>
        <p:nvSpPr>
          <p:cNvPr id="45" name="Text 43"/>
          <p:cNvSpPr txBox="1"/>
          <p:nvPr/>
        </p:nvSpPr>
        <p:spPr>
          <a:xfrm>
            <a:off x="9619488" y="2926080"/>
            <a:ext cx="969264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1–10 (from Sol loop)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10808208" y="1755648"/>
            <a:ext cx="603504" cy="603504"/>
          </a:xfrm>
          <a:prstGeom prst="ellipse">
            <a:avLst/>
          </a:prstGeom>
          <a:solidFill>
            <a:srgbClr val="3B4A68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10808208" y="175564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P10</a:t>
            </a:r>
            <a:endParaRPr lang="en-US" sz="1200" dirty="0"/>
          </a:p>
        </p:txBody>
      </p:sp>
      <p:sp>
        <p:nvSpPr>
          <p:cNvPr id="48" name="Text 46"/>
          <p:cNvSpPr txBox="1"/>
          <p:nvPr/>
        </p:nvSpPr>
        <p:spPr>
          <a:xfrm>
            <a:off x="10607040" y="2514600"/>
            <a:ext cx="100584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87.72%</a:t>
            </a:r>
            <a:endParaRPr lang="en-US" sz="1250" dirty="0"/>
          </a:p>
        </p:txBody>
      </p:sp>
      <p:sp>
        <p:nvSpPr>
          <p:cNvPr id="49" name="Text 47"/>
          <p:cNvSpPr txBox="1"/>
          <p:nvPr/>
        </p:nvSpPr>
        <p:spPr>
          <a:xfrm>
            <a:off x="10625328" y="2926080"/>
            <a:ext cx="969264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Luna format fixes</a:t>
            </a:r>
            <a:endParaRPr lang="en-US" sz="1050" dirty="0"/>
          </a:p>
        </p:txBody>
      </p:sp>
      <p:sp>
        <p:nvSpPr>
          <p:cNvPr id="50" name="Text 48"/>
          <p:cNvSpPr txBox="1"/>
          <p:nvPr/>
        </p:nvSpPr>
        <p:spPr>
          <a:xfrm>
            <a:off x="548640" y="4069080"/>
            <a:ext cx="1106424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on Library identification, GPT-5.6 Luna. None of the counted runs meets the 97% goal. †P7 ran in the Codex agent, which read saved memory and an earlier scoring session containing the answer key; excluded. A repeat of P10 that printed the project-folder path and matched the key’s order (99.10%) is also excluded.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548640" y="5029200"/>
            <a:ext cx="11064240" cy="822960"/>
          </a:xfrm>
          <a:prstGeom prst="rect">
            <a:avLst/>
          </a:prstGeom>
          <a:solidFill>
            <a:srgbClr val="EEF2F6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777240" y="5074920"/>
            <a:ext cx="1060704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clean Luna result: 88.33% (P9). The identical prompt scored 97.35% on GPT-5.6 Sol.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Evolutionary Optimization Experiments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1155680" y="384048"/>
            <a:ext cx="548640" cy="548640"/>
          </a:xfrm>
          <a:prstGeom prst="ellipse">
            <a:avLst/>
          </a:prstGeom>
          <a:solidFill>
            <a:srgbClr val="1F2A4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1155680" y="3840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97280"/>
            <a:ext cx="1106424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→ AI → Output → Scoring → Error analysis → AI + team suggestions → Revised prompt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5440680" cy="2194560"/>
          </a:xfrm>
          <a:prstGeom prst="rect">
            <a:avLst/>
          </a:prstGeom>
          <a:solidFill>
            <a:srgbClr val="EEF2F6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1783080"/>
            <a:ext cx="384048" cy="384048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234440" y="1737360"/>
            <a:ext cx="457200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H1: Luna fails on form, not on concepts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331720"/>
            <a:ext cx="50292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Modification: </a:t>
            </a:r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P0→P2: rules for "A / B" entries, verbs without auxiliaries, span boundaries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</a:t>
            </a:r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45.67% → 85.71%; remaining errors were numeric normalization and parenthetical text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72200" y="1600200"/>
            <a:ext cx="5440680" cy="2194560"/>
          </a:xfrm>
          <a:prstGeom prst="rect">
            <a:avLst/>
          </a:prstGeom>
          <a:solidFill>
            <a:srgbClr val="EEF2F6"/>
          </a:solidFill>
          <a:ln/>
        </p:spPr>
      </p:sp>
      <p:sp>
        <p:nvSpPr>
          <p:cNvPr id="11" name="Shape 9"/>
          <p:cNvSpPr/>
          <p:nvPr/>
        </p:nvSpPr>
        <p:spPr>
          <a:xfrm>
            <a:off x="6355080" y="1783080"/>
            <a:ext cx="384048" cy="38404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858000" y="1737360"/>
            <a:ext cx="457200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H2: Adding domain-specific patches keeps helping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0" y="2331720"/>
            <a:ext cx="50292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Modification: </a:t>
            </a:r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P3–P6: versions V6–V8 patched the errors of the previous run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</a:t>
            </a:r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Went backwards (58–71%): lemmatizing and split slash entries returned. Rebuilt as abstract rules.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977640"/>
            <a:ext cx="5440680" cy="2194560"/>
          </a:xfrm>
          <a:prstGeom prst="rect">
            <a:avLst/>
          </a:prstGeom>
          <a:solidFill>
            <a:srgbClr val="EEF2F6"/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" y="4160520"/>
            <a:ext cx="384048" cy="38404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234440" y="4114800"/>
            <a:ext cx="457200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H3: Listing an attribute under two groups recovers "date of birth"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4709160"/>
            <a:ext cx="50292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Modification: </a:t>
            </a:r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P7→P8: dual-output rule (X of Y under Nouns too)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</a:t>
            </a:r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Luna split compounds into single tokens; F1 83.19%. Reverted.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172200" y="3977640"/>
            <a:ext cx="5440680" cy="2194560"/>
          </a:xfrm>
          <a:prstGeom prst="rect">
            <a:avLst/>
          </a:prstGeom>
          <a:solidFill>
            <a:srgbClr val="EEF2F6"/>
          </a:solidFill>
          <a:ln/>
        </p:spPr>
      </p:sp>
      <p:sp>
        <p:nvSpPr>
          <p:cNvPr id="19" name="Shape 17"/>
          <p:cNvSpPr/>
          <p:nvPr/>
        </p:nvSpPr>
        <p:spPr>
          <a:xfrm>
            <a:off x="6355080" y="4160520"/>
            <a:ext cx="384048" cy="384048"/>
          </a:xfrm>
          <a:prstGeom prst="ellipse">
            <a:avLst/>
          </a:prstGeom>
          <a:solidFill>
            <a:srgbClr val="E9A23B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858000" y="4114800"/>
            <a:ext cx="457200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H4: Rules tuned on Sol transfer to Luna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0" y="4709160"/>
            <a:ext cx="50292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Modification: </a:t>
            </a:r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P9: final Sol rule set (Rules 1–10); P10: added Luna format fixes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</a:t>
            </a:r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88.33% and 87.72%. Luna ignored slash merging and invented possession phrases; ~9 points below Sol.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Optimization Results — Library Identification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1155680" y="384048"/>
            <a:ext cx="548640" cy="548640"/>
          </a:xfrm>
          <a:prstGeom prst="ellipse">
            <a:avLst/>
          </a:prstGeom>
          <a:solidFill>
            <a:srgbClr val="1F2A4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1155680" y="3840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234440"/>
          <a:ext cx="758952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8412480" y="1234440"/>
            <a:ext cx="3200400" cy="2286000"/>
          </a:xfrm>
          <a:prstGeom prst="rect">
            <a:avLst/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595360" y="1417320"/>
            <a:ext cx="384048" cy="384048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9098280" y="1399032"/>
            <a:ext cx="233172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Biggest gains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641080" y="1920240"/>
            <a:ext cx="278892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P0→P2 (+40): exact-form rules.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P6→P8 (+25): rebuilt as abstract rules.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P9: best clean result, 88.33%.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8412480" y="3657600"/>
            <a:ext cx="3200400" cy="2240280"/>
          </a:xfrm>
          <a:prstGeom prst="rect">
            <a:avLst/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595360" y="3840480"/>
            <a:ext cx="384048" cy="38404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9098280" y="3822192"/>
            <a:ext cx="233172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Drops and why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641080" y="4343400"/>
            <a:ext cx="2788920" cy="1417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P3–P6: patching the last run’s errors brought old errors back.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P9→P10: fixes aimed at Luna did not raise F1.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48640" y="5989320"/>
            <a:ext cx="11064240" cy="502920"/>
          </a:xfrm>
          <a:prstGeom prst="rect">
            <a:avLst/>
          </a:prstGeom>
          <a:solidFill>
            <a:srgbClr val="FBE9E7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85800" y="6007608"/>
            <a:ext cx="1078992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P0–P8 were scored with self-chosen matching rules; P9–P10 with the fixed scorer. P7 (contaminated) is left off.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and Human in the Loop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1155680" y="384048"/>
            <a:ext cx="548640" cy="548640"/>
          </a:xfrm>
          <a:prstGeom prst="ellipse">
            <a:avLst/>
          </a:prstGeom>
          <a:solidFill>
            <a:srgbClr val="1F2A4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1155680" y="3840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2606040"/>
                <a:gridCol w="2926080"/>
                <a:gridCol w="26060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Suggested by AI (Meta AI / Claude)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Effect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Suggested by team (Ryan)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Effect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Few-shot with Library key phrases (Meta)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98.41%, but breaks the zero-GT rule; discarded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 answer-key phrases in any prompt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Restarted from zero-shot P0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Patch each run’s errors (V6–V8, Meta)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58–71%; old errors returned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Flagged that results were moving backwards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Rebuilt as abstract rules: 83–88%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Dual-output rule for "date of birth"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Split compounds; 83.19%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 contaminated results (paths, key order)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Excluded P7 and a 99.10% run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Rules 1–10 from the Sol loop (Claude)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clean Luna result, 88.33%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scoring prompt for all domains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Comparable scores from P9 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Luna format fixes (Claude)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87.72% (no gain)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Separate answer-key files per domain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Stopped classification columns leaking into scoring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669280"/>
            <a:ext cx="11064240" cy="548640"/>
          </a:xfrm>
          <a:prstGeom prst="rect">
            <a:avLst/>
          </a:prstGeom>
          <a:solidFill>
            <a:srgbClr val="FFF1D6"/>
          </a:solidFill>
          <a:ln w="19050">
            <a:solidFill>
              <a:srgbClr val="E9A23B"/>
            </a:solidFill>
            <a:prstDash val="dash"/>
          </a:ln>
        </p:spPr>
      </p:sp>
      <p:sp>
        <p:nvSpPr>
          <p:cNvPr id="7" name="Text 4"/>
          <p:cNvSpPr txBox="1"/>
          <p:nvPr/>
        </p:nvSpPr>
        <p:spPr>
          <a:xfrm>
            <a:off x="685800" y="5742432"/>
            <a:ext cx="10789920" cy="4023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0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TO FILL: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teammates’ suggestions and their effects.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Baseline vs. Optimized Prompt (Luna)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1155680" y="384048"/>
            <a:ext cx="548640" cy="548640"/>
          </a:xfrm>
          <a:prstGeom prst="ellipse">
            <a:avLst/>
          </a:prstGeom>
          <a:solidFill>
            <a:srgbClr val="1F2A4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1155680" y="3840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743200"/>
                <a:gridCol w="3108960"/>
                <a:gridCol w="28346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Library identification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P0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clean P9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40.85%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82.81%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86.21%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51.79%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94.64%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89.29%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45.67%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88.33%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87.72%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Errors (FP + FN)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 remaining errors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Separate singular/plural entries; auxiliaries on verbs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Invented "has" phrases; split "current loan"; kept support, facility, unique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Split slash entries; missed member, details, French, "known as"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4572000"/>
            <a:ext cx="1106424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Luna improved by 42.66 F1 points but stayed about 9 points below the goal. Its errors are rules it skipped (slash merging, the adjective rule), not rules that are missing.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5989320"/>
            <a:ext cx="11064240" cy="502920"/>
          </a:xfrm>
          <a:prstGeom prst="rect">
            <a:avLst/>
          </a:prstGeom>
          <a:solidFill>
            <a:srgbClr val="FBE9E7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85800" y="6007608"/>
            <a:ext cx="1078992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and optimized were scored with different matching rules (see slide 5).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Luna Prompt (P9)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1155680" y="384048"/>
            <a:ext cx="548640" cy="548640"/>
          </a:xfrm>
          <a:prstGeom prst="ellipse">
            <a:avLst/>
          </a:prstGeom>
          <a:solidFill>
            <a:srgbClr val="1F2A4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1155680" y="3840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2468880" cy="621792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280160"/>
            <a:ext cx="2286000" cy="6217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&amp; requirements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017520" y="1280160"/>
            <a:ext cx="8595360" cy="621792"/>
          </a:xfrm>
          <a:prstGeom prst="rect">
            <a:avLst/>
          </a:prstGeom>
          <a:solidFill>
            <a:srgbClr val="EEF2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154680" y="1280160"/>
            <a:ext cx="8366760" cy="6217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domain phrases into 8 groups; output only the lists for the uploaded file.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011680"/>
            <a:ext cx="2468880" cy="621792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2011680"/>
            <a:ext cx="2286000" cy="6217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017520" y="2011680"/>
            <a:ext cx="8595360" cy="621792"/>
          </a:xfrm>
          <a:prstGeom prst="rect">
            <a:avLst/>
          </a:prstGeom>
          <a:solidFill>
            <a:srgbClr val="EEF2F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154680" y="2011680"/>
            <a:ext cx="8366760" cy="6217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uploaded description file, new chat.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2743200"/>
            <a:ext cx="2468880" cy="621792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2743200"/>
            <a:ext cx="2286000" cy="6217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017520" y="2743200"/>
            <a:ext cx="8595360" cy="621792"/>
          </a:xfrm>
          <a:prstGeom prst="rect">
            <a:avLst/>
          </a:prstGeom>
          <a:solidFill>
            <a:srgbClr val="EEF2F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154680" y="2743200"/>
            <a:ext cx="8366760" cy="6217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rules only, no domain words; leak-checked against all answer keys.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474720"/>
            <a:ext cx="2468880" cy="621792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0080" y="3474720"/>
            <a:ext cx="2286000" cy="6217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017520" y="3474720"/>
            <a:ext cx="8595360" cy="621792"/>
          </a:xfrm>
          <a:prstGeom prst="rect">
            <a:avLst/>
          </a:prstGeom>
          <a:solidFill>
            <a:srgbClr val="EEF2F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3154680" y="3474720"/>
            <a:ext cx="8366760" cy="6217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1–10: slash merging, nouns &amp; compounds, X of Y, exact verb forms, generic filter, numeric, possession, consist, X is a Y, adjectives/enumeration.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4206240"/>
            <a:ext cx="2468880" cy="621792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0080" y="4206240"/>
            <a:ext cx="2286000" cy="6217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017520" y="4206240"/>
            <a:ext cx="8595360" cy="621792"/>
          </a:xfrm>
          <a:prstGeom prst="rect">
            <a:avLst/>
          </a:prstGeom>
          <a:solidFill>
            <a:srgbClr val="EEF2F6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3154680" y="4206240"/>
            <a:ext cx="8366760" cy="6217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(the invented worked example has not been run on Luna).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48640" y="4937760"/>
            <a:ext cx="2468880" cy="621792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40080" y="4937760"/>
            <a:ext cx="2286000" cy="6217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format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017520" y="4937760"/>
            <a:ext cx="8595360" cy="621792"/>
          </a:xfrm>
          <a:prstGeom prst="rect">
            <a:avLst/>
          </a:prstGeom>
          <a:solidFill>
            <a:srgbClr val="EEF2F6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3154680" y="4937760"/>
            <a:ext cx="8366760" cy="6217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Nouns: …; X of Y: …; Transitive Verbs: … (8 lines, "; " separated).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48640" y="5760720"/>
            <a:ext cx="11064240" cy="640080"/>
          </a:xfrm>
          <a:prstGeom prst="rect">
            <a:avLst/>
          </a:prstGeom>
          <a:solidFill>
            <a:srgbClr val="FFF1D6"/>
          </a:solidFill>
          <a:ln w="19050">
            <a:solidFill>
              <a:srgbClr val="E9A23B"/>
            </a:solidFill>
            <a:prstDash val="dash"/>
          </a:ln>
        </p:spPr>
      </p:sp>
      <p:sp>
        <p:nvSpPr>
          <p:cNvPr id="30" name="Text 28"/>
          <p:cNvSpPr txBox="1"/>
          <p:nvPr/>
        </p:nvSpPr>
        <p:spPr>
          <a:xfrm>
            <a:off x="685800" y="5833872"/>
            <a:ext cx="10789920" cy="4937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0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TO FILL: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final Sol prompt (L-R21, with the worked example) on Luna twice. If it passes 97%, it replaces P9 here.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 Generalization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1155680" y="384048"/>
            <a:ext cx="548640" cy="548640"/>
          </a:xfrm>
          <a:prstGeom prst="ellipse">
            <a:avLst/>
          </a:prstGeom>
          <a:solidFill>
            <a:srgbClr val="1F2A4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1155680" y="3840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834640"/>
                <a:gridCol w="2834640"/>
                <a:gridCol w="28346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Luna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Library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 Rental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National Trade Show Service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P7-era abstract rules (CR-R1)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82.81%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40.23%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A06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[teammate]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D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94.64%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54.69%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A06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[teammate]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D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88.33%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46.36%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A06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[teammate]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D6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3611880"/>
            <a:ext cx="5394960" cy="2286000"/>
          </a:xfrm>
          <a:prstGeom prst="rect">
            <a:avLst/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31520" y="3794760"/>
            <a:ext cx="384048" cy="384048"/>
          </a:xfrm>
          <a:prstGeom prst="ellipse">
            <a:avLst/>
          </a:prstGeom>
          <a:solidFill>
            <a:srgbClr val="E9A23B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234440" y="3776472"/>
            <a:ext cx="45262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Rental note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4297680"/>
            <a:ext cx="498348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CR-R1 ran in the Codex agent with an older prompt. Luna reported 40.51% against a Meta AI key that had dropped and added entries; recounted against the original key with the fixed scorer: 46.36% (TP 35 / FP 52 / FN 29).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17920" y="3611880"/>
            <a:ext cx="5394960" cy="2286000"/>
          </a:xfrm>
          <a:prstGeom prst="rect">
            <a:avLst/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00800" y="3794760"/>
            <a:ext cx="384048" cy="384048"/>
          </a:xfrm>
          <a:prstGeom prst="ellipse">
            <a:avLst/>
          </a:prstGeom>
          <a:solidFill>
            <a:srgbClr val="3B4A68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903720" y="3776472"/>
            <a:ext cx="45262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limits the test descriptions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6446520" y="4297680"/>
            <a:ext cx="498348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keys disagree on the same wording: "denoted by" → denoted (Library) vs "reviewed by" (NTSS); "each" is wrong in Library, right in NTSS. Car Rental’s key also uses words not in its text ("weekend savings plan", "by phone").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48640" y="6035040"/>
            <a:ext cx="11064240" cy="457200"/>
          </a:xfrm>
          <a:prstGeom prst="rect">
            <a:avLst/>
          </a:prstGeom>
          <a:solidFill>
            <a:srgbClr val="FFF1D6"/>
          </a:solidFill>
          <a:ln w="19050">
            <a:solidFill>
              <a:srgbClr val="E9A23B"/>
            </a:solidFill>
            <a:prstDash val="dash"/>
          </a:ln>
        </p:spPr>
      </p:sp>
      <p:sp>
        <p:nvSpPr>
          <p:cNvPr id="15" name="Text 12"/>
          <p:cNvSpPr txBox="1"/>
          <p:nvPr/>
        </p:nvSpPr>
        <p:spPr>
          <a:xfrm>
            <a:off x="685800" y="6108192"/>
            <a:ext cx="1078992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0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TO FILL: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P9 (or the final prompt) on Car Rental and NTSS on Luna.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Classification Results (Library)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1155680" y="384048"/>
            <a:ext cx="548640" cy="548640"/>
          </a:xfrm>
          <a:prstGeom prst="ellipse">
            <a:avLst/>
          </a:prstGeom>
          <a:solidFill>
            <a:srgbClr val="1F2A4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1155680" y="3840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576072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097280"/>
                <a:gridCol w="17373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 (GPT-5.6 Luna)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C1 (course rules + additional rules + example)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53.57%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Best; final classification prompt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C2 (naming change)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40.00%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"item" instead of "loan item" — 6 matches lost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C3 (passive-agent rule)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50.00%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Scorer reported 56.67%; recounted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C1 re-run (step 3e)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42.42%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Scorer reported 47.76%; recounted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3931920"/>
            <a:ext cx="576072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runs on GPT-5.6 Luna in new chats (Temporary chat not available for Luna). Input: description + identification phrase list.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6583680" y="1280160"/>
            <a:ext cx="5029200" cy="4846320"/>
          </a:xfrm>
          <a:prstGeom prst="rect">
            <a:avLst/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766560" y="1463040"/>
            <a:ext cx="384048" cy="38404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269480" y="1444752"/>
            <a:ext cx="416052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97% is not reachable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6812280" y="1965960"/>
            <a:ext cx="4617720" cy="4023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key items. About 18–19 can come from general rules.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stated in the text: book.subject, membership card.id, as(hold, section, loan item).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choice: borrow and the association class use "book"; the text says customers borrow "items" (5 items depend on this).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Ceiling with zero extras ≈ 82%; realistic ≈ 65–70%.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48640" y="4572000"/>
            <a:ext cx="5760720" cy="731520"/>
          </a:xfrm>
          <a:prstGeom prst="rect">
            <a:avLst/>
          </a:prstGeom>
          <a:solidFill>
            <a:srgbClr val="FFF1D6"/>
          </a:solidFill>
          <a:ln w="19050">
            <a:solidFill>
              <a:srgbClr val="E9A23B"/>
            </a:solidFill>
            <a:prstDash val="dash"/>
          </a:ln>
        </p:spPr>
      </p:sp>
      <p:sp>
        <p:nvSpPr>
          <p:cNvPr id="12" name="Text 9"/>
          <p:cNvSpPr txBox="1"/>
          <p:nvPr/>
        </p:nvSpPr>
        <p:spPr>
          <a:xfrm>
            <a:off x="685800" y="4645152"/>
            <a:ext cx="5486400" cy="5852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0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TO FILL: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C1 using the model’s own identification output as input (professor: expert solutions are references, not prompt inputs).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48640" y="5440680"/>
            <a:ext cx="5760720" cy="685800"/>
          </a:xfrm>
          <a:prstGeom prst="rect">
            <a:avLst/>
          </a:prstGeom>
          <a:solidFill>
            <a:srgbClr val="FFF1D6"/>
          </a:solidFill>
          <a:ln w="19050">
            <a:solidFill>
              <a:srgbClr val="E9A23B"/>
            </a:solidFill>
            <a:prstDash val="dash"/>
          </a:ln>
        </p:spPr>
      </p:sp>
      <p:sp>
        <p:nvSpPr>
          <p:cNvPr id="14" name="Text 11"/>
          <p:cNvSpPr txBox="1"/>
          <p:nvPr/>
        </p:nvSpPr>
        <p:spPr>
          <a:xfrm>
            <a:off x="685800" y="5513832"/>
            <a:ext cx="5486400" cy="5394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0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TO FILL: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Rental / NTSS classification and CoT results.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Lessons Learned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1155680" y="384048"/>
            <a:ext cx="548640" cy="548640"/>
          </a:xfrm>
          <a:prstGeom prst="ellipse">
            <a:avLst/>
          </a:prstGeom>
          <a:solidFill>
            <a:srgbClr val="1F2A4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1155680" y="3840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548640" cy="54864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234440"/>
            <a:ext cx="1033272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Patching the last run’s errors backfires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1600200"/>
            <a:ext cx="1033272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V6–V8 fixed specific misses and brought old ones back (58–71%). Abstract, general rules were the turning point.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313432"/>
            <a:ext cx="548640" cy="54864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23134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2221992"/>
            <a:ext cx="1033272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keys leak in quietly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2587752"/>
            <a:ext cx="1033272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 examples from the key gave 98.41%; the Codex agent read memory with the key and hit 99.20%. Neither counts.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300984"/>
            <a:ext cx="548640" cy="54864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33009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3209544"/>
            <a:ext cx="1033272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matters as much as the prompt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280160" y="3575304"/>
            <a:ext cx="1033272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prompt: 97.35% on Sol, 88.33% on Luna. Luna skipped rules Sol followed (slash merging, adjectives).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4288536"/>
            <a:ext cx="548640" cy="54864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48640" y="428853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4197096"/>
            <a:ext cx="1033272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scorer needs checking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280160" y="4562856"/>
            <a:ext cx="1033272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Luna’s scorer failed its own count check (reported 97.30%); early scorers counted the key as 55–63 entries.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5276088"/>
            <a:ext cx="548640" cy="54864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48640" y="52760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280160" y="5184648"/>
            <a:ext cx="1033272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runs need the right mode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1280160" y="5550408"/>
            <a:ext cx="1033272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Luna is not offered in Temporary chat on our plan, so every Luna run, classification included, had memory or files in reach.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57200"/>
            <a:ext cx="1051560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Future Work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554480"/>
            <a:ext cx="34747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E9A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88.33%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514600"/>
            <a:ext cx="347472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clean Library identification F1 on Luna (goal 97% not met)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434840" y="1554480"/>
            <a:ext cx="34747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E9A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+42.66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4434840" y="2514600"/>
            <a:ext cx="347472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points over the zero-shot baseline (45.67%)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138160" y="1554480"/>
            <a:ext cx="34747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E9A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53.57%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8138160" y="2514600"/>
            <a:ext cx="347472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Library classification F1 on Luna (key-limited)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566160"/>
            <a:ext cx="10698480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Abstract, zero-ground-truth rules took Luna from 45.67% to 88.33%; the remaining gap is Luna not following rules it was given.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rules met the goal on Sol (97.35% / 98.21%), so the methodology works; the model limits Luna.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on Luna peaked at 53.57%; the expert key includes items the text does not state, so the ceiling is about 82%.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run the final prompt with the worked example on Luna, test Car Rental and NTSS, and run CoT.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31520" y="5760720"/>
            <a:ext cx="10698480" cy="640080"/>
          </a:xfrm>
          <a:prstGeom prst="rect">
            <a:avLst/>
          </a:prstGeom>
          <a:solidFill>
            <a:srgbClr val="FFF1D6"/>
          </a:solidFill>
          <a:ln w="12700">
            <a:solidFill>
              <a:srgbClr val="E9A23B"/>
            </a:solidFill>
            <a:prstDash val="dash"/>
          </a:ln>
        </p:spPr>
      </p:sp>
      <p:sp>
        <p:nvSpPr>
          <p:cNvPr id="11" name="Text 9"/>
          <p:cNvSpPr txBox="1"/>
          <p:nvPr/>
        </p:nvSpPr>
        <p:spPr>
          <a:xfrm>
            <a:off x="868680" y="5788152"/>
            <a:ext cx="10424160" cy="5852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0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TO FILL: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Luna generalization, Car Rental / NTSS classification and CoT results.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Backup: Same Prompts on Sol vs Luna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1155680" y="384048"/>
            <a:ext cx="548640" cy="548640"/>
          </a:xfrm>
          <a:prstGeom prst="ellipse">
            <a:avLst/>
          </a:prstGeom>
          <a:solidFill>
            <a:srgbClr val="1F2A4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1155680" y="3840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4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3246120"/>
                <a:gridCol w="3246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 (Library)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GPT-5.6 Sol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GPT-5.6 Luna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Rules 1–10 (L-R13 / P9)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97.35%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88.33%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Luna format fixes (L-R19 / P10)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rgbClr val="5F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run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87.72%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worked example (L-R20)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98.21% / 95.58%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rgbClr val="5F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run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(L-R21)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97.35% / 98.21%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A06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[run twice]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D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Classification C1 (Library)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rgbClr val="5F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run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53.57% / 42.42%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Temporary chat (no memory) available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4572000"/>
            <a:ext cx="1106424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this slide if the class asks why the team’s model did not reach 97%. Option for the team: present Sol as the final model and Luna as the comparison.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Evolutionary Prompt Optimization for Domain Modeling</dc:title>
  <dc:subject>PptxGenJS Presentation</dc:subject>
  <dc:creator>PptxGenJS</dc:creator>
  <cp:lastModifiedBy>PptxGenJS</cp:lastModifiedBy>
  <cp:revision>1</cp:revision>
  <dcterms:created xsi:type="dcterms:W3CDTF">2026-09-28T00:55:46Z</dcterms:created>
  <dcterms:modified xsi:type="dcterms:W3CDTF">2026-09-28T00:55:46Z</dcterms:modified>
</cp:coreProperties>
</file>