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Arial"/>
              </a:rPr>
              <a:t>Precision / Recall / F1 (%) by prompt version (GPT-5.6 Sol)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E9A23B"/>
            </a:solidFill>
            <a:ln w="3175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  <c:pt idx="4">
                    <c:v>P4</c:v>
                  </c:pt>
                  <c:pt idx="5">
                    <c:v>P5</c:v>
                  </c:pt>
                  <c:pt idx="6">
                    <c:v>P7</c:v>
                  </c:pt>
                  <c:pt idx="7">
                    <c:v>P8-A</c:v>
                  </c:pt>
                  <c:pt idx="8">
                    <c:v>P8-B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92.86</c:v>
                </c:pt>
                <c:pt idx="1">
                  <c:v>96.49</c:v>
                </c:pt>
                <c:pt idx="2">
                  <c:v>93.1</c:v>
                </c:pt>
                <c:pt idx="3">
                  <c:v>96.49</c:v>
                </c:pt>
                <c:pt idx="4">
                  <c:v>94.64</c:v>
                </c:pt>
                <c:pt idx="5">
                  <c:v>90.16</c:v>
                </c:pt>
                <c:pt idx="6">
                  <c:v>98.21</c:v>
                </c:pt>
                <c:pt idx="7">
                  <c:v>96.49</c:v>
                </c:pt>
                <c:pt idx="8">
                  <c:v>98.21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B4A68"/>
            </a:solidFill>
            <a:ln w="31750" cap="flat">
              <a:solidFill>
                <a:srgbClr val="3B4A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B4A68"/>
              </a:solidFill>
              <a:ln w="9525" cap="flat">
                <a:solidFill>
                  <a:srgbClr val="3B4A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  <c:pt idx="4">
                    <c:v>P4</c:v>
                  </c:pt>
                  <c:pt idx="5">
                    <c:v>P5</c:v>
                  </c:pt>
                  <c:pt idx="6">
                    <c:v>P7</c:v>
                  </c:pt>
                  <c:pt idx="7">
                    <c:v>P8-A</c:v>
                  </c:pt>
                  <c:pt idx="8">
                    <c:v>P8-B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92.86</c:v>
                </c:pt>
                <c:pt idx="1">
                  <c:v>98.21</c:v>
                </c:pt>
                <c:pt idx="2">
                  <c:v>96.43</c:v>
                </c:pt>
                <c:pt idx="3">
                  <c:v>98.21</c:v>
                </c:pt>
                <c:pt idx="4">
                  <c:v>94.64</c:v>
                </c:pt>
                <c:pt idx="5">
                  <c:v>98.21</c:v>
                </c:pt>
                <c:pt idx="6">
                  <c:v>98.21</c:v>
                </c:pt>
                <c:pt idx="7">
                  <c:v>98.21</c:v>
                </c:pt>
                <c:pt idx="8">
                  <c:v>98.21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  <c:pt idx="4">
                    <c:v>P4</c:v>
                  </c:pt>
                  <c:pt idx="5">
                    <c:v>P5</c:v>
                  </c:pt>
                  <c:pt idx="6">
                    <c:v>P7</c:v>
                  </c:pt>
                  <c:pt idx="7">
                    <c:v>P8-A</c:v>
                  </c:pt>
                  <c:pt idx="8">
                    <c:v>P8-B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92.86</c:v>
                </c:pt>
                <c:pt idx="1">
                  <c:v>97.35</c:v>
                </c:pt>
                <c:pt idx="2">
                  <c:v>94.74</c:v>
                </c:pt>
                <c:pt idx="3">
                  <c:v>97.35</c:v>
                </c:pt>
                <c:pt idx="4">
                  <c:v>94.64</c:v>
                </c:pt>
                <c:pt idx="5">
                  <c:v>94.02</c:v>
                </c:pt>
                <c:pt idx="6">
                  <c:v>98.21</c:v>
                </c:pt>
                <c:pt idx="7">
                  <c:v>97.35</c:v>
                </c:pt>
                <c:pt idx="8">
                  <c:v>98.21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E1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team names. Model: identification runs used GPT-5.6 Sol in Temporary chats; classification runs (slide 13) used GPT-5.6 Luna in new chats. Say this explicitly because model choice changed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 here = L-R12 in the Library Working Log (first version with full text and a clean score). Earlier Meta-era runs contained answer-key phrases or ran with memory on, so they are excluded from the optimization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Mapping to the Library Working Log: P0=L-R12, P1=L-R13, P2=L-R14, P3=L-R15, P4=L-R16, P5=L-R17, P6=L-R19b (Luna), P7=L-R20, P8=L-R21 (runs A and 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P6 (Luna, 87.72%) is left off this chart because it used a different model; mention it on slide 15. Same-prompt variation: P7 scored 98.21% and 95.58% on two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105156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Evolutionary Prompt Optimization for Domain Modeling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4392/5320 — Software Engineering with Generative AI — Team Project 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4023360"/>
            <a:ext cx="7772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[TEAM: names]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/ model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4526280"/>
            <a:ext cx="7772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GPT-5.6 Sol (identification, Temporary chat); GPT-5.6 Luna (classification)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5029200"/>
            <a:ext cx="7772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09/27/2026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94960" cy="21488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144475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49834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business description, an LLM must (1) identify the domain-specific phrases in 8 groups (nouns, X of Y, transitive verbs, adjectives, numeric, possession, consist/part, X is a Y) and (2) classify them into classes, attributes, relationships and association classes.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94960" cy="21488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46304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03720" y="144475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challenging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965960"/>
            <a:ext cx="49834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keys demand exact phrase forms ("issues / issued", "8 / maximum of 8"); the three keys follow different conventions; the prompt may contain no answer-key phrases; runs of the same prompt vary by several F1 points.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394960" cy="16002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794760"/>
            <a:ext cx="384048" cy="384048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34440" y="377647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"improvement" means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297680"/>
            <a:ext cx="4983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F1 against the expert solution, measured by one fixed scoring prompt. Goal: F1 ≥ 97% on the optimization description (Library).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11880"/>
            <a:ext cx="5394960" cy="16002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794760"/>
            <a:ext cx="384048" cy="384048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377647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must do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297680"/>
            <a:ext cx="49834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our methodology to an uploaded description, output the phrase lists, then compute P / R / F1 against the expert key.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6424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 is to optimize a prompt so that an LLM, given only a business description, identifies and classifies domain-specific phrases with F1 ≥ 97% against the expert solution — without any expert answers in the prompt.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Prompt (P0)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766560" cy="4846320"/>
          </a:xfrm>
          <a:prstGeom prst="rect">
            <a:avLst/>
          </a:prstGeom>
          <a:solidFill>
            <a:srgbClr val="F4F6F8"/>
          </a:solidFill>
          <a:ln w="12700">
            <a:solidFill>
              <a:srgbClr val="C9D1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(first fully documented version, abbreviated)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640080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have a file uploaded: library-1.docx. Use ONLY that file.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 Identify domain phrases into 8 groups: Nouns, X of Y, Transitive Verbs, Adjectives, Numeric, Possession, Consist/Part, X is a Y.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RULES - NO DOMAIN WORDS: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NOUN SLASH …  2. NOUN SINGLE AND COMPOUND …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X OF Y …  4. VERB CORE EXACT …  5. FILTER GENERIC …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NUMERIC …  7. POSSESSION …  8. CONSIST …  9. X IS A Y …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file: library-1.docx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Library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1691640"/>
            <a:ext cx="39319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92.86%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(TP 52 / FP 4 / FN 4)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200400"/>
            <a:ext cx="393192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abstract rules, no adjective rule, no example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Missed: details, book bar code, "has a title, and author(s)"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unique, not reserved, Each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5029200"/>
            <a:ext cx="3931920" cy="1097280"/>
          </a:xfrm>
          <a:prstGeom prst="rect">
            <a:avLst/>
          </a:prstGeom>
          <a:solidFill>
            <a:srgbClr val="FFF1D6"/>
          </a:solidFill>
          <a:ln w="19050">
            <a:solidFill>
              <a:srgbClr val="E9A23B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818120" y="5102352"/>
            <a:ext cx="3657600" cy="9509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P0. Earlier exploratory runs (45.67–91.07%) lost their prompt text; recover from ChatGPT history or keep this as P0.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the Prompt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393192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(P8)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needed; rules carried the behavior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&amp; requirements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groups + "output only lists for the uploaded file"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began copying the 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file, Temporary chat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/ agent modes let the model see earlier answer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1–9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1–10 (+ adjective rule, merged forms, list nouns, possession lists, adverbs)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analysis of each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domain words"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0: every entry copied verbatim; leak check vs all 6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invented phrases; prompts leaked key shapes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Invented gym description + correct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 errors on the weaker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labeled groups, one line each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scoring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Criteria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23774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1444752"/>
            <a:ext cx="2697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solutions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31546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Library-domain-phrases (56 entries), library-expert (27). Car Rental: 64 phrases from 4392-crclassified. NTSS: 93 phrases from ntss-underlined. Used only as scoring references, never as prompt input.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463040"/>
            <a:ext cx="384048" cy="384048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83480" y="1444752"/>
            <a:ext cx="2697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1965960"/>
            <a:ext cx="31546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TP / (TP + FP)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TP / (TP + FN)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2PR / (P + 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by the same LLM in the same chat (assignment step 3c).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66160" cy="23774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46304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732520" y="1444752"/>
            <a:ext cx="2697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scoring prompt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1965960"/>
            <a:ext cx="31546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by rule group; singular = plural; "A / B" = one entry; no lemmatizing or synonyms; the scorer must print both lists and pass count checks.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verified the scores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110642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was recounted independently from the scorer’s own numbered lists; ChatGPT mis-scored 4 runs (wrong key counts, near-miss names counted as matches).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leak-check script searched every prompt for all 341 entries of the six answer keys (identification + classification), including 2-word fragments.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clean Temporary-chat runs count: memory and agent modes had access to earlier chats containing the keys.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Evolutionary Prompt Optimization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15600" cy="0"/>
          </a:xfrm>
          <a:prstGeom prst="line">
            <a:avLst/>
          </a:prstGeom>
          <a:noFill/>
          <a:ln w="38100">
            <a:solidFill>
              <a:srgbClr val="C9D1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3280" y="173736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32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514600"/>
            <a:ext cx="119278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92.86%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71800"/>
            <a:ext cx="11927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rules, key strings removed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72640" y="173736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72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796288" y="2514600"/>
            <a:ext cx="119278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97.35%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796288" y="2971800"/>
            <a:ext cx="11927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rule; list nouns; possession lists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02000" y="173736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020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25648" y="2514600"/>
            <a:ext cx="119278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94.74%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25648" y="2971800"/>
            <a:ext cx="11927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rules (particles, -ing, names)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31360" y="173736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313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255008" y="2514600"/>
            <a:ext cx="119278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97.35%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55008" y="2971800"/>
            <a:ext cx="11927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merge rule; split new verb rule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60720" y="173736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60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4368" y="2514600"/>
            <a:ext cx="119278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94.64%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4368" y="2971800"/>
            <a:ext cx="11927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adverbs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990080" y="173736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9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13728" y="2514600"/>
            <a:ext cx="119278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94.02%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13728" y="2971800"/>
            <a:ext cx="11927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"Final check" line (split X of Y)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19440" y="1737360"/>
            <a:ext cx="640080" cy="640080"/>
          </a:xfrm>
          <a:prstGeom prst="ellipse">
            <a:avLst/>
          </a:prstGeom>
          <a:solidFill>
            <a:srgbClr val="5F6B7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194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43088" y="2514600"/>
            <a:ext cx="119278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87.72%*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943088" y="2971800"/>
            <a:ext cx="11927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0 evidence, no compound splitting (Luna)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448800" y="173736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488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9172448" y="2514600"/>
            <a:ext cx="119278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98.21%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172448" y="2971800"/>
            <a:ext cx="11927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worked example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678160" y="173736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6781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401808" y="2514600"/>
            <a:ext cx="1192784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97.35 / 98.21%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401808" y="2971800"/>
            <a:ext cx="1192784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HEAD entries, no adverbs; leak-tightened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on Library identification. Green = meets the 97% goal. *P6 was run on GPT-5.6 Luna; all others on GPT-5.6 Sol. P0–P5 ran in regular chats, P7–P8 in Temporary chats (no memory).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77240" y="5166360"/>
            <a:ext cx="106070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prompt P8 met the goal on two independent runs (steps 3c and 3e): 97.35% and 98.21%.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Evolutionary Optimization Experiments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AI → Output → Scoring → Error analysis → AI + team suggestions → Revised prompt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21945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1737360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A missing adjective rule causes guessing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P0→P1: added rule 10 (values, states, examples in parentheses; no identity adjectives)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"unique" removed; details and book bar code recovered; F1 92.86% → 97.35%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440680" cy="21945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78308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0" y="1737360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One extra instruction at the end forces a re-check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P4→P5: added a "final check" line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split X of Y phrases into single nouns (date, birth, number, update); F1 94.64% → 94.02%. Reverted.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40680" cy="21945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16052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A worked example fixes format errors better than more rules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09160"/>
            <a:ext cx="5029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P6→P7: added an invented gym text with its correct output (no key words)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merging and X-is-a-Y format stable; F1 98.21% on the first clean run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977640"/>
            <a:ext cx="5440680" cy="219456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5080" y="416052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H4: The step 3e misses are general, not Library-specific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709160"/>
            <a:ext cx="50292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P7→P8: compound plural / HEAD covers later HEAD mentions; drop adverbs before adjectives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"items / item" and "still valid" gone; 97.35% and 98.21% on two runs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Results — Library Identification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75895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234440"/>
            <a:ext cx="3200400" cy="23317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0" y="141732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098280" y="1399032"/>
            <a:ext cx="2331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1920240"/>
            <a:ext cx="27889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P0→P1 (+4.49): adjective rule and list nouns.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P6→P7 (to 98.21): invented worked example.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0" y="3749040"/>
            <a:ext cx="3200400" cy="24231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0" y="393192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098280" y="3913632"/>
            <a:ext cx="2331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and why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4434840"/>
            <a:ext cx="27889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and P4: new clauses made other rules fail (merged verbs split, records dropped).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"final check" split X of Y phrases.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and Human in the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06040"/>
                <a:gridCol w="2926080"/>
                <a:gridCol w="2606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by AI (Claude)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Suggested by team (Ryan)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 rules instead of key 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prompt zero-GT; 92.86% start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answer-key phrases in any prompt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general rules; basis of all versions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Invented worked example (gym)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98.21%; stable 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Re-check every prompt for leaks before running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check found "a number of", "attend", "less than N"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Adjective rule + adverb 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unique / still / manually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scoring prompt for all domains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scores across runs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"Final check"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Hurt: split X of Y (94.02%)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contaminated results (paths, key order)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to Temporary chats; clean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Generalization rules for Car Rental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Hurt Library (94.74%) until restructured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answer-key files per domain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Stopped classification columns leaking into scoring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FFF1D6"/>
          </a:solidFill>
          <a:ln w="19050">
            <a:solidFill>
              <a:srgbClr val="E9A23B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85800" y="5742432"/>
            <a:ext cx="1078992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teammates’ suggestions and their effects.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Optimized Prompt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identification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P0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P8 (run A / run 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96.49% / 98.21%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98.21% / 98.21%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97.35% / 98.21%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(FP + FN)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errors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details, book bar code, possession list, unique, not reserved, Each…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"date of birth" under Nouns (key lists it twice); "not reserved" (example value like "French")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0624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remaining errors cannot be fixed by a general rule without hurting another domain’s key, so they are left as known limits.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Optimized Prompt (P8)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468880" cy="67665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228600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&amp; requirements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280160"/>
            <a:ext cx="8595360" cy="67665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54680" y="1280160"/>
            <a:ext cx="836676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domain phrases into 8 groups; output only the lists for the uploaded file.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66544"/>
            <a:ext cx="2468880" cy="67665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066544"/>
            <a:ext cx="228600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2066544"/>
            <a:ext cx="8595360" cy="67665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54680" y="2066544"/>
            <a:ext cx="836676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uploaded description file; Temporary chat (no memory, no other files).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52928"/>
            <a:ext cx="2468880" cy="67665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852928"/>
            <a:ext cx="228600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17520" y="2852928"/>
            <a:ext cx="8595360" cy="67665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54680" y="2852928"/>
            <a:ext cx="836676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0: every entry copied verbatim as one continuous span (exceptions: " / " joins, NUMBER normalization, bracketed linking verb). No domain words.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2468880" cy="67665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639312"/>
            <a:ext cx="228600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17520" y="3639312"/>
            <a:ext cx="8595360" cy="67665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154680" y="3639312"/>
            <a:ext cx="836676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1–10: slash merging, nouns &amp; compounds, X of Y, exact verb forms, generic filter, numeric, possession, consist, X is a Y, adjectives/enumeration.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25696"/>
            <a:ext cx="2468880" cy="67665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4425696"/>
            <a:ext cx="228600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17520" y="4425696"/>
            <a:ext cx="8595360" cy="67665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154680" y="4425696"/>
            <a:ext cx="836676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gym description with its correct 8-group output and notes on why.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212080"/>
            <a:ext cx="2468880" cy="676656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212080"/>
            <a:ext cx="228600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17520" y="5212080"/>
            <a:ext cx="8595360" cy="676656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54680" y="5212080"/>
            <a:ext cx="836676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Nouns: …; X of Y: …; Transitive Verbs: … (8 lines, "; " separated).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prompt text: Library Working Log, run L-R21 (attach as a backup slide or appendix).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Generalization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prompt P8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 Rental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Trade Show Service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96.49% / 98.21%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0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[teammate]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0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[teammate]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98.21% / 98.21%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0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[teammate]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0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[teammate]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97.35% / 98.21%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0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[teammate]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A0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[teammate]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91840"/>
            <a:ext cx="5394960" cy="21945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3474720"/>
            <a:ext cx="384048" cy="38404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34440" y="345643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limits the test descriptions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77640"/>
            <a:ext cx="4983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keys disagree on the same wording: "denoted by" → denoted (Library) vs "reviewed by" (NTSS); "each" is wrong in Library, right in NTSS; Library keeps "has a title", Car Rental lists no possession. Car Rental’s key also uses words not in its text ("weekend savings plan", "by phone").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3291840"/>
            <a:ext cx="5394960" cy="21945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0" y="3474720"/>
            <a:ext cx="384048" cy="384048"/>
          </a:xfrm>
          <a:prstGeom prst="ellipse">
            <a:avLst/>
          </a:prstGeom>
          <a:solidFill>
            <a:srgbClr val="3B4A6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903720" y="3456432"/>
            <a:ext cx="4526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reference point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3977640"/>
            <a:ext cx="4983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Library prompt (P1) scored 49.41% on Car Rental (TP 42 / FP 64 / FN 22). P2–P8 added general rules aimed at those errors (verb particles, -ing verbs, proper names, determiners).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Results (Library, GPT-5.6 Luna)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760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(all on Luna)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(course rules + additional rules + example)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Best; final classification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(naming change)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"item" instead of "loan item" — 6 matches lost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(passive-agent rule)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Scorer reported 56.67%; recounted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re-run (step 3e)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Scorer reported 47.76%; recounted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280160"/>
            <a:ext cx="5029200" cy="48463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46304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69480" y="1444752"/>
            <a:ext cx="4160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97% is not reachable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1965960"/>
            <a:ext cx="4617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key items. About 18–19 can come from general rules.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stated in the text: book.subject, membership card.id, as(hold, section, loan item).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choice: borrow and the association class use "book"; the text says customers borrow "items" (5 items depend on this).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with zero extras ≈ 82%; realistic ≈ 65–70%.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5760720" cy="1005840"/>
          </a:xfrm>
          <a:prstGeom prst="rect">
            <a:avLst/>
          </a:prstGeom>
          <a:solidFill>
            <a:srgbClr val="FFF1D6"/>
          </a:solidFill>
          <a:ln w="19050">
            <a:solidFill>
              <a:srgbClr val="E9A23B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85800" y="4233672"/>
            <a:ext cx="5486400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C1 using the model’s own identification output as input (professor: expert solutions are references, not prompt inputs).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5303520"/>
            <a:ext cx="5760720" cy="822960"/>
          </a:xfrm>
          <a:prstGeom prst="rect">
            <a:avLst/>
          </a:prstGeom>
          <a:solidFill>
            <a:srgbClr val="FFF1D6"/>
          </a:solidFill>
          <a:ln w="19050">
            <a:solidFill>
              <a:srgbClr val="E9A23B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685800" y="5376672"/>
            <a:ext cx="548640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/ NTSS classification and CoT results.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155680" y="384048"/>
            <a:ext cx="548640" cy="54864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55680" y="384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234440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keys leak in quietly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00200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scoring 99% contained key phrases or their exact shape ("less than NUMBER"). A script checking all six keys was the only reliable guard.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13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21992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runs matters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87752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chats with memory and agent modes read earlier chats and files; outputs followed the key’s order. Only Temporary chats gave clean results.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09544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scorer needs checking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575304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our scoring runs were wrong (key counted as 55, 63 or 28; near-miss names matched). Independent recounts caught every 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288536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288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197096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 beat more rules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562856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invented worked example stabilized format; adding a "final check" instruction lowered F1.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76088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276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184648"/>
            <a:ext cx="10332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run variance are large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5550408"/>
            <a:ext cx="10332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identification prompt: 97–98% on Sol vs ~88% on Luna; two Sol runs differed by 2.6 points; two Luna classification runs of C1 differed by 11 points.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97.35 / 98.21%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3474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identification F1, final prompt, two clean runs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43484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+4.49 / +5.35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2514600"/>
            <a:ext cx="3474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points over the baseline prompt (92.86%), runs A / B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53.57%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514600"/>
            <a:ext cx="34747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Library classification F1 on Luna (key-limited)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66160"/>
            <a:ext cx="106984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met for Library identification with zero answer-key content in the prompt, reproduced on a second run.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bounded by expert-key items the description does not state; we documented the ceiling instead of fitting the key.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test on Car Rental and NTSS, combine both steps with CoT, and reduce run-to-run variance (e.g. majority vote over several runs).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solidFill>
            <a:srgbClr val="FFF1D6"/>
          </a:solidFill>
          <a:ln w="12700">
            <a:solidFill>
              <a:srgbClr val="E9A23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68680" y="5788152"/>
            <a:ext cx="1042416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 FILL: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results and CoT outcome.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Prompt Optimization for Domain Modeling</dc:title>
  <dc:subject>PptxGenJS Presentation</dc:subject>
  <dc:creator>PptxGenJS</dc:creator>
  <cp:lastModifiedBy>PptxGenJS</cp:lastModifiedBy>
  <cp:revision>1</cp:revision>
  <dcterms:created xsi:type="dcterms:W3CDTF">2026-09-28T00:55:46Z</dcterms:created>
  <dcterms:modified xsi:type="dcterms:W3CDTF">2026-09-28T00:55:46Z</dcterms:modified>
</cp:coreProperties>
</file>