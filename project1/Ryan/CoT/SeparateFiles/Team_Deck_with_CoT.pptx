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82" r:id="rId36"/>
    <p:sldId id="283" r:id="rId37"/>
    <p:sldId id="284" r:id="rId38"/>
    <p:sldId id="285" r:id="rId39"/>
    <p:sldId id="277" r:id="rId28"/>
    <p:sldId id="278" r:id="rId29"/>
    <p:sldId id="279" r:id="rId30"/>
    <p:sldId id="280" r:id="rId31"/>
    <p:sldId id="281" r:id="rId32"/>
  </p:sldIdLst>
  <p:sldSz cy="6858000" cx="12192000"/>
  <p:notesSz cx="6858000" cy="9144000"/>
  <p:embeddedFontLst>
    <p:embeddedFont>
      <p:font typeface="Play"/>
      <p:regular r:id="rId33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5" roundtripDataSignature="AMtx7mhPV2BtBfokaX1uQFOWUDlC7NcS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6483CDE-F300-47D0-B6BB-31BF91A4DD58}">
  <a:tblStyle styleId="{66483CDE-F300-47D0-B6BB-31BF91A4DD5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font" Target="fonts/Play-regular.fntdata"/><Relationship Id="rId34" Type="http://schemas.openxmlformats.org/officeDocument/2006/relationships/font" Target="fonts/Play-bold.fntdata"/><Relationship Id="rId35" Type="http://customschemas.google.com/relationships/presentationmetadata" Target="metadata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h14e70d5490eb447_5_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h14e70d5490eb447_5_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h14e70d5490eb447_5_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14e70d5490eb447_5_4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h14e70d5490eb447_5_4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h14e70d5490eb447_5_4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h14e70d5490eb447_5_61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h14e70d5490eb447_5_61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h14e70d5490eb447_5_61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h14e70d5490eb447_5_10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h14e70d5490eb447_5_10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h14e70d5490eb447_5_10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h14e70d5490eb447_5_13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h14e70d5490eb447_5_13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h14e70d5490eb447_5_13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h14e70d5490eb447_5_15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h14e70d5490eb447_5_15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h14e70d5490eb447_5_15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h14e70d5490eb447_5_176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h14e70d5490eb447_5_176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h14e70d5490eb447_5_176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h14e70d5490eb447_5_19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h14e70d5490eb447_5_19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h14e70d5490eb447_5_19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h14e70d5490eb447_5_21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h14e70d5490eb447_5_21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h14e70d5490eb447_5_21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h14e70d5490eb447_5_23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h14e70d5490eb447_5_23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h14e70d5490eb447_5_23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h14e70d5490eb447_5_29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h14e70d5490eb447_5_29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h14e70d5490eb447_5_29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h14e70d5490eb447_5_26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h14e70d5490eb447_5_26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h14e70d5490eb447_5_26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h14e70d5490eb447_11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h14e70d5490eb447_1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h14e70d5490eb447_11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h14e70d5490eb447_1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h14e70d5490eb447_11_1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h14e70d5490eb447_11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h14e70d5490eb447_11_1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h14e70d5490eb447_11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h14e70d5490eb447_11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h14e70d5490eb447_1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h14e70d5490eb447_11_1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h14e70d5490eb447_11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h14e70d5490eb447_5_31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6" name="Google Shape;546;h14e70d5490eb447_5_31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h14e70d5490eb447_5_31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h14e70d5490eb447_5_33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5" name="Google Shape;565;h14e70d5490eb447_5_33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h14e70d5490eb447_5_33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h14e70d5490eb447_5_34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7" name="Google Shape;577;h14e70d5490eb447_5_34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h14e70d5490eb447_5_34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h14e70d5490eb447_5_35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9" name="Google Shape;589;h14e70d5490eb447_5_35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h14e70d5490eb447_5_35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h14e70d5490eb447_5_36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1" name="Google Shape;601;h14e70d5490eb447_5_36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h14e70d5490eb447_5_36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9875520" y="731520"/>
            <a:ext cx="1188720" cy="1188720"/>
          </a:xfrm>
          <a:prstGeom prst="ellipse">
            <a:avLst/>
          </a:prstGeom>
          <a:solidFill>
            <a:srgbClr val="2B6CB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10789920" y="1645920"/>
            <a:ext cx="685800" cy="685800"/>
          </a:xfrm>
          <a:prstGeom prst="ellipse">
            <a:avLst/>
          </a:prstGeom>
          <a:solidFill>
            <a:srgbClr val="37AAC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9235440" y="2194560"/>
            <a:ext cx="502920" cy="502920"/>
          </a:xfrm>
          <a:prstGeom prst="ellipse">
            <a:avLst/>
          </a:prstGeom>
          <a:solidFill>
            <a:srgbClr val="258F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10149840" y="2834640"/>
            <a:ext cx="1554480" cy="1554480"/>
          </a:xfrm>
          <a:prstGeom prst="ellipse">
            <a:avLst/>
          </a:prstGeom>
          <a:solidFill>
            <a:srgbClr val="1F345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731520" y="1234440"/>
            <a:ext cx="84124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Evolutionary Prompt Optimization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BED3EB"/>
                </a:solidFill>
                <a:latin typeface="Arial"/>
                <a:ea typeface="Arial"/>
                <a:cs typeface="Arial"/>
                <a:sym typeface="Arial"/>
              </a:rPr>
              <a:t>Domain-Specific Phrase Identification with AUM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4251960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CSE 5320 • Team Project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ED3EB"/>
                </a:solidFill>
                <a:latin typeface="Calibri"/>
                <a:ea typeface="Calibri"/>
                <a:cs typeface="Calibri"/>
                <a:sym typeface="Calibri"/>
              </a:rPr>
              <a:t>Prompt → AI Output → Evaluation → Error Analysis → Revised Prompt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07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Problem &amp; Optimization Objective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685800" y="1417320"/>
            <a:ext cx="3429000" cy="4297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685800" y="1417320"/>
            <a:ext cx="73152" cy="4297680"/>
          </a:xfrm>
          <a:prstGeom prst="rect">
            <a:avLst/>
          </a:prstGeom>
          <a:solidFill>
            <a:srgbClr val="C5484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914400" y="1581912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037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914400" y="2011680"/>
            <a:ext cx="301752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52D37"/>
                </a:solidFill>
                <a:latin typeface="Calibri"/>
                <a:ea typeface="Calibri"/>
                <a:cs typeface="Calibri"/>
                <a:sym typeface="Calibri"/>
              </a:rPr>
              <a:t>Natural-language domain descriptions contain many possible phrases, but only a subset are useful for AUM domain modeling. A vague prompt can miss important phrases or return too many extras.</a:t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4389120" y="1417320"/>
            <a:ext cx="3429000" cy="4297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4389120" y="1417320"/>
            <a:ext cx="73152" cy="4297680"/>
          </a:xfrm>
          <a:prstGeom prst="rect">
            <a:avLst/>
          </a:prstGeom>
          <a:solidFill>
            <a:srgbClr val="E28B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4617720" y="1581912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037"/>
                </a:solidFill>
                <a:latin typeface="Calibri"/>
                <a:ea typeface="Calibri"/>
                <a:cs typeface="Calibri"/>
                <a:sym typeface="Calibri"/>
              </a:rPr>
              <a:t>Challenge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4617720" y="2011680"/>
            <a:ext cx="301752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52D37"/>
                </a:solidFill>
                <a:latin typeface="Calibri"/>
                <a:ea typeface="Calibri"/>
                <a:cs typeface="Calibri"/>
                <a:sym typeface="Calibri"/>
              </a:rPr>
              <a:t>Balance recall and precision while keeping the prompt generic enough to work across different domains.</a:t>
            </a: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8092440" y="1417320"/>
            <a:ext cx="3429000" cy="4297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8092440" y="1417320"/>
            <a:ext cx="73152" cy="4297680"/>
          </a:xfrm>
          <a:prstGeom prst="rect">
            <a:avLst/>
          </a:prstGeom>
          <a:solidFill>
            <a:srgbClr val="258F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8321040" y="1581912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037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8321040" y="2011680"/>
            <a:ext cx="301752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52D37"/>
                </a:solidFill>
                <a:latin typeface="Calibri"/>
                <a:ea typeface="Calibri"/>
                <a:cs typeface="Calibri"/>
                <a:sym typeface="Calibri"/>
              </a:rPr>
              <a:t>Optimize a generic prompt that enables an LLM to accurately identify domain-specific phrases using the Agile Unified Methodology (AUM), maximizing Precision, Recall, and F1.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07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h14e70d5490eb447_5_2"/>
          <p:cNvSpPr txBox="1"/>
          <p:nvPr/>
        </p:nvSpPr>
        <p:spPr>
          <a:xfrm>
            <a:off x="640080" y="411480"/>
            <a:ext cx="10881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P0 — Initial Prompt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h14e70d5490eb447_5_2"/>
          <p:cNvSpPr txBox="1"/>
          <p:nvPr/>
        </p:nvSpPr>
        <p:spPr>
          <a:xfrm>
            <a:off x="658368" y="1005840"/>
            <a:ext cx="10789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Library domain • 3 independent runs • Ruleset 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h14e70d5490eb447_5_2"/>
          <p:cNvSpPr txBox="1"/>
          <p:nvPr/>
        </p:nvSpPr>
        <p:spPr>
          <a:xfrm>
            <a:off x="10881360" y="6473952"/>
            <a:ext cx="64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h14e70d5490eb447_5_2"/>
          <p:cNvSpPr/>
          <p:nvPr/>
        </p:nvSpPr>
        <p:spPr>
          <a:xfrm>
            <a:off x="731520" y="1463040"/>
            <a:ext cx="5898000" cy="4617600"/>
          </a:xfrm>
          <a:prstGeom prst="roundRect">
            <a:avLst>
              <a:gd fmla="val 2376" name="adj"/>
            </a:avLst>
          </a:prstGeom>
          <a:solidFill>
            <a:srgbClr val="F5F7FA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h14e70d5490eb447_5_2"/>
          <p:cNvSpPr txBox="1"/>
          <p:nvPr/>
        </p:nvSpPr>
        <p:spPr>
          <a:xfrm>
            <a:off x="914400" y="1572768"/>
            <a:ext cx="55779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You are an Agile Unified Methodology specialist. We need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you to extract the Domain phrases given from the document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provided. This is an identification step.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The domain phrases are: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Noun / noun phrases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X of Y Expressions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Transitive verbs (do not include the object)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Adjectives, enumeration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Numeric, Quantity (includes singular numbers)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Possession Expressions: &lt;has/have/possess&gt; X, Y, Z, etc.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Consist of / Part of Expressions: &lt;consist of/part of&gt;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X is a Y generalization / specialization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Output format: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&lt;phrase type&gt;: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&lt;phrase&gt;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Rules: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Do not prioritize your own linguistic interpretation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over these rules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Extract only phrases explicitly present in the document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Do not infer, paraphrase, generalize, or add phrases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Preserve the phrase's original wording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Treat singular/plural and grammatical variants as 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Assign each phrase to exactly one category; no duplicates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Nouns can overlap with other categories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Adjectives should not overlap with possession;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possession takes priority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Return only the requested output format, no explanations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h14e70d5490eb447_5_2"/>
          <p:cNvSpPr/>
          <p:nvPr/>
        </p:nvSpPr>
        <p:spPr>
          <a:xfrm>
            <a:off x="6858000" y="1463040"/>
            <a:ext cx="1417200" cy="1828800"/>
          </a:xfrm>
          <a:prstGeom prst="roundRect">
            <a:avLst>
              <a:gd fmla="val 7742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h14e70d5490eb447_5_2"/>
          <p:cNvSpPr/>
          <p:nvPr/>
        </p:nvSpPr>
        <p:spPr>
          <a:xfrm>
            <a:off x="6858000" y="1517904"/>
            <a:ext cx="73200" cy="1719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h14e70d5490eb447_5_2"/>
          <p:cNvSpPr txBox="1"/>
          <p:nvPr/>
        </p:nvSpPr>
        <p:spPr>
          <a:xfrm>
            <a:off x="7086600" y="1627632"/>
            <a:ext cx="1051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Precision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h14e70d5490eb447_5_2"/>
          <p:cNvSpPr txBox="1"/>
          <p:nvPr/>
        </p:nvSpPr>
        <p:spPr>
          <a:xfrm>
            <a:off x="7059168" y="2029968"/>
            <a:ext cx="1143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rPr>
              <a:t>81.5%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h14e70d5490eb447_5_2"/>
          <p:cNvSpPr/>
          <p:nvPr/>
        </p:nvSpPr>
        <p:spPr>
          <a:xfrm>
            <a:off x="8458200" y="1463040"/>
            <a:ext cx="1417200" cy="1828800"/>
          </a:xfrm>
          <a:prstGeom prst="roundRect">
            <a:avLst>
              <a:gd fmla="val 7742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h14e70d5490eb447_5_2"/>
          <p:cNvSpPr/>
          <p:nvPr/>
        </p:nvSpPr>
        <p:spPr>
          <a:xfrm>
            <a:off x="8458200" y="1517904"/>
            <a:ext cx="73200" cy="1719000"/>
          </a:xfrm>
          <a:prstGeom prst="rect">
            <a:avLst/>
          </a:prstGeom>
          <a:solidFill>
            <a:srgbClr val="E28B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h14e70d5490eb447_5_2"/>
          <p:cNvSpPr txBox="1"/>
          <p:nvPr/>
        </p:nvSpPr>
        <p:spPr>
          <a:xfrm>
            <a:off x="8686800" y="1627632"/>
            <a:ext cx="1051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h14e70d5490eb447_5_2"/>
          <p:cNvSpPr txBox="1"/>
          <p:nvPr/>
        </p:nvSpPr>
        <p:spPr>
          <a:xfrm>
            <a:off x="8659368" y="2029968"/>
            <a:ext cx="1143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8B37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28B37"/>
                </a:solidFill>
                <a:latin typeface="Arial"/>
                <a:ea typeface="Arial"/>
                <a:cs typeface="Arial"/>
                <a:sym typeface="Arial"/>
              </a:rPr>
              <a:t>88.1%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h14e70d5490eb447_5_2"/>
          <p:cNvSpPr/>
          <p:nvPr/>
        </p:nvSpPr>
        <p:spPr>
          <a:xfrm>
            <a:off x="10058400" y="1463040"/>
            <a:ext cx="1417200" cy="1828800"/>
          </a:xfrm>
          <a:prstGeom prst="roundRect">
            <a:avLst>
              <a:gd fmla="val 7742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h14e70d5490eb447_5_2"/>
          <p:cNvSpPr/>
          <p:nvPr/>
        </p:nvSpPr>
        <p:spPr>
          <a:xfrm>
            <a:off x="10058400" y="1517904"/>
            <a:ext cx="73200" cy="1719000"/>
          </a:xfrm>
          <a:prstGeom prst="rect">
            <a:avLst/>
          </a:prstGeom>
          <a:solidFill>
            <a:srgbClr val="C548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h14e70d5490eb447_5_2"/>
          <p:cNvSpPr txBox="1"/>
          <p:nvPr/>
        </p:nvSpPr>
        <p:spPr>
          <a:xfrm>
            <a:off x="10287000" y="1627632"/>
            <a:ext cx="1051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h14e70d5490eb447_5_2"/>
          <p:cNvSpPr txBox="1"/>
          <p:nvPr/>
        </p:nvSpPr>
        <p:spPr>
          <a:xfrm>
            <a:off x="10259568" y="2029968"/>
            <a:ext cx="1143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4848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54848"/>
                </a:solidFill>
                <a:latin typeface="Arial"/>
                <a:ea typeface="Arial"/>
                <a:cs typeface="Arial"/>
                <a:sym typeface="Arial"/>
              </a:rPr>
              <a:t>84.6%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h14e70d5490eb447_5_2"/>
          <p:cNvSpPr txBox="1"/>
          <p:nvPr/>
        </p:nvSpPr>
        <p:spPr>
          <a:xfrm>
            <a:off x="10287000" y="2724912"/>
            <a:ext cx="105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runs 82.6 / 84.3 / 87.0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h14e70d5490eb447_5_2"/>
          <p:cNvSpPr/>
          <p:nvPr/>
        </p:nvSpPr>
        <p:spPr>
          <a:xfrm>
            <a:off x="6858000" y="3520440"/>
            <a:ext cx="4617600" cy="123450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h14e70d5490eb447_5_2"/>
          <p:cNvSpPr/>
          <p:nvPr/>
        </p:nvSpPr>
        <p:spPr>
          <a:xfrm>
            <a:off x="6858000" y="3575304"/>
            <a:ext cx="73200" cy="1124700"/>
          </a:xfrm>
          <a:prstGeom prst="rect">
            <a:avLst/>
          </a:prstGeom>
          <a:solidFill>
            <a:srgbClr val="C548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h14e70d5490eb447_5_2"/>
          <p:cNvSpPr txBox="1"/>
          <p:nvPr/>
        </p:nvSpPr>
        <p:spPr>
          <a:xfrm>
            <a:off x="7086600" y="3685032"/>
            <a:ext cx="4206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Error analysis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h14e70d5490eb447_5_2"/>
          <p:cNvSpPr txBox="1"/>
          <p:nvPr/>
        </p:nvSpPr>
        <p:spPr>
          <a:xfrm>
            <a:off x="7086600" y="4114800"/>
            <a:ext cx="4206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D3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Modifiers and verbs filed as adjectives (unique, other, current, reserved); French and beginner missed.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h14e70d5490eb447_5_2"/>
          <p:cNvSpPr/>
          <p:nvPr/>
        </p:nvSpPr>
        <p:spPr>
          <a:xfrm>
            <a:off x="6858000" y="4892040"/>
            <a:ext cx="4617600" cy="1188600"/>
          </a:xfrm>
          <a:prstGeom prst="roundRect">
            <a:avLst>
              <a:gd fmla="val 9231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h14e70d5490eb447_5_2"/>
          <p:cNvSpPr/>
          <p:nvPr/>
        </p:nvSpPr>
        <p:spPr>
          <a:xfrm>
            <a:off x="6858000" y="4946904"/>
            <a:ext cx="73200" cy="1079100"/>
          </a:xfrm>
          <a:prstGeom prst="rect">
            <a:avLst/>
          </a:prstGeom>
          <a:solidFill>
            <a:srgbClr val="258F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h14e70d5490eb447_5_2"/>
          <p:cNvSpPr txBox="1"/>
          <p:nvPr/>
        </p:nvSpPr>
        <p:spPr>
          <a:xfrm>
            <a:off x="7086600" y="5056632"/>
            <a:ext cx="4206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P1: same content, restructured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h14e70d5490eb447_5_2"/>
          <p:cNvSpPr txBox="1"/>
          <p:nvPr/>
        </p:nvSpPr>
        <p:spPr>
          <a:xfrm>
            <a:off x="7086600" y="5486400"/>
            <a:ext cx="4206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D3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Numbered into 13 general rules → 85.2% (1 run). Per-category rules came next (P3).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h14e70d5490eb447_5_40"/>
          <p:cNvSpPr txBox="1"/>
          <p:nvPr/>
        </p:nvSpPr>
        <p:spPr>
          <a:xfrm>
            <a:off x="640080" y="411480"/>
            <a:ext cx="10881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Evaluation Criteria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h14e70d5490eb447_5_40"/>
          <p:cNvSpPr txBox="1"/>
          <p:nvPr/>
        </p:nvSpPr>
        <p:spPr>
          <a:xfrm>
            <a:off x="658368" y="1005840"/>
            <a:ext cx="10789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Expert solutions + precision, recall and F1, scored by script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h14e70d5490eb447_5_40"/>
          <p:cNvSpPr txBox="1"/>
          <p:nvPr/>
        </p:nvSpPr>
        <p:spPr>
          <a:xfrm>
            <a:off x="10881360" y="6473952"/>
            <a:ext cx="64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h14e70d5490eb447_5_40"/>
          <p:cNvSpPr/>
          <p:nvPr/>
        </p:nvSpPr>
        <p:spPr>
          <a:xfrm>
            <a:off x="731520" y="1508760"/>
            <a:ext cx="3429000" cy="27432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h14e70d5490eb447_5_40"/>
          <p:cNvSpPr/>
          <p:nvPr/>
        </p:nvSpPr>
        <p:spPr>
          <a:xfrm>
            <a:off x="731520" y="1563624"/>
            <a:ext cx="73200" cy="26334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h14e70d5490eb447_5_40"/>
          <p:cNvSpPr txBox="1"/>
          <p:nvPr/>
        </p:nvSpPr>
        <p:spPr>
          <a:xfrm>
            <a:off x="960120" y="1673352"/>
            <a:ext cx="301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Expert solutions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h14e70d5490eb447_5_40"/>
          <p:cNvSpPr txBox="1"/>
          <p:nvPr/>
        </p:nvSpPr>
        <p:spPr>
          <a:xfrm>
            <a:off x="960120" y="2103120"/>
            <a:ext cx="30174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52D37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Library: 55 phrases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252D37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NTSS: 85 underlined phrases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252D37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Car rental: 64 (Brainstorming List)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Char char="•"/>
            </a:pPr>
            <a:r>
              <a:rPr b="0" i="1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Evaluation references only; never given to the model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h14e70d5490eb447_5_40"/>
          <p:cNvSpPr/>
          <p:nvPr/>
        </p:nvSpPr>
        <p:spPr>
          <a:xfrm>
            <a:off x="4389120" y="1508760"/>
            <a:ext cx="3429000" cy="27432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h14e70d5490eb447_5_40"/>
          <p:cNvSpPr/>
          <p:nvPr/>
        </p:nvSpPr>
        <p:spPr>
          <a:xfrm>
            <a:off x="4389120" y="1563624"/>
            <a:ext cx="73200" cy="2633400"/>
          </a:xfrm>
          <a:prstGeom prst="rect">
            <a:avLst/>
          </a:prstGeom>
          <a:solidFill>
            <a:srgbClr val="E28B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h14e70d5490eb447_5_40"/>
          <p:cNvSpPr txBox="1"/>
          <p:nvPr/>
        </p:nvSpPr>
        <p:spPr>
          <a:xfrm>
            <a:off x="4617720" y="1673352"/>
            <a:ext cx="301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Matching: Ruleset 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h14e70d5490eb447_5_40"/>
          <p:cNvSpPr txBox="1"/>
          <p:nvPr/>
        </p:nvSpPr>
        <p:spPr>
          <a:xfrm>
            <a:off x="4617720" y="2103120"/>
            <a:ext cx="30174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52D37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Both sides normalized: lowercase, singular, base verb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252D37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An expert phrase counts if it appears inside an output phrase of the same category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252D37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Containment approved by the professor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h14e70d5490eb447_5_40"/>
          <p:cNvSpPr/>
          <p:nvPr/>
        </p:nvSpPr>
        <p:spPr>
          <a:xfrm>
            <a:off x="8046720" y="1508760"/>
            <a:ext cx="3429000" cy="27432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h14e70d5490eb447_5_40"/>
          <p:cNvSpPr/>
          <p:nvPr/>
        </p:nvSpPr>
        <p:spPr>
          <a:xfrm>
            <a:off x="8046720" y="1563624"/>
            <a:ext cx="73200" cy="2633400"/>
          </a:xfrm>
          <a:prstGeom prst="rect">
            <a:avLst/>
          </a:prstGeom>
          <a:solidFill>
            <a:srgbClr val="258F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h14e70d5490eb447_5_40"/>
          <p:cNvSpPr txBox="1"/>
          <p:nvPr/>
        </p:nvSpPr>
        <p:spPr>
          <a:xfrm>
            <a:off x="8275320" y="1673352"/>
            <a:ext cx="301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Protocol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h14e70d5490eb447_5_40"/>
          <p:cNvSpPr txBox="1"/>
          <p:nvPr/>
        </p:nvSpPr>
        <p:spPr>
          <a:xfrm>
            <a:off x="8275320" y="2103120"/>
            <a:ext cx="30174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52D37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3 fresh chats per version per domain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252D37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Prompt attached as a file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252D37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Mean of runs; the script decides, not LLM self-scores (+9 pts high)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h14e70d5490eb447_5_40"/>
          <p:cNvSpPr txBox="1"/>
          <p:nvPr/>
        </p:nvSpPr>
        <p:spPr>
          <a:xfrm>
            <a:off x="731520" y="4480560"/>
            <a:ext cx="10698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Side note: final prompt (P12) F1 under the other rulesets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4" name="Google Shape;164;h14e70d5490eb447_5_40"/>
          <p:cNvGraphicFramePr/>
          <p:nvPr/>
        </p:nvGraphicFramePr>
        <p:xfrm>
          <a:off x="731520" y="480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{66483CDE-F300-47D0-B6BB-31BF91A4DD58}</a:tableStyleId>
              </a:tblPr>
              <a:tblGrid>
                <a:gridCol w="4709150"/>
                <a:gridCol w="2011675"/>
                <a:gridCol w="2011675"/>
                <a:gridCol w="2011675"/>
              </a:tblGrid>
              <a:tr h="246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Ruleset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0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Library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0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 rental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0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NTSS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037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D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252D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A: exact match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D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252D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74.3%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D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252D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48.0%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D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252D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62.6%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D37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52D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B: containment by category (reported)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D37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52D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90.6%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D37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52D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55.6%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D37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52D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78.9%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D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252D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C: containment, categories ignored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D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252D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88.4%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D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252D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55.2%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D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252D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78.2%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D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252D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D: containment for rules 6, 7, 9 only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D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252D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83.1%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D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252D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48.0%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D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252D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65.6%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FE5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h14e70d5490eb447_5_61"/>
          <p:cNvSpPr txBox="1"/>
          <p:nvPr/>
        </p:nvSpPr>
        <p:spPr>
          <a:xfrm>
            <a:off x="640080" y="411480"/>
            <a:ext cx="10881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Evolutionary Prompt Optimization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h14e70d5490eb447_5_61"/>
          <p:cNvSpPr txBox="1"/>
          <p:nvPr/>
        </p:nvSpPr>
        <p:spPr>
          <a:xfrm>
            <a:off x="658368" y="1005840"/>
            <a:ext cx="10789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P0 → Pn: the major change in each kept version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h14e70d5490eb447_5_61"/>
          <p:cNvSpPr txBox="1"/>
          <p:nvPr/>
        </p:nvSpPr>
        <p:spPr>
          <a:xfrm>
            <a:off x="10881360" y="6473952"/>
            <a:ext cx="64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h14e70d5490eb447_5_61"/>
          <p:cNvCxnSpPr/>
          <p:nvPr/>
        </p:nvCxnSpPr>
        <p:spPr>
          <a:xfrm>
            <a:off x="1051560" y="2514600"/>
            <a:ext cx="10040100" cy="0"/>
          </a:xfrm>
          <a:prstGeom prst="straightConnector1">
            <a:avLst/>
          </a:prstGeom>
          <a:noFill/>
          <a:ln cap="flat" cmpd="sng" w="38100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h14e70d5490eb447_5_61"/>
          <p:cNvSpPr txBox="1"/>
          <p:nvPr/>
        </p:nvSpPr>
        <p:spPr>
          <a:xfrm>
            <a:off x="320040" y="1481328"/>
            <a:ext cx="1463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P0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v00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h14e70d5490eb447_5_61"/>
          <p:cNvSpPr/>
          <p:nvPr/>
        </p:nvSpPr>
        <p:spPr>
          <a:xfrm>
            <a:off x="850392" y="2313432"/>
            <a:ext cx="402300" cy="402300"/>
          </a:xfrm>
          <a:prstGeom prst="ellipse">
            <a:avLst/>
          </a:prstGeom>
          <a:solidFill>
            <a:srgbClr val="2B6CB0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h14e70d5490eb447_5_61"/>
          <p:cNvSpPr txBox="1"/>
          <p:nvPr/>
        </p:nvSpPr>
        <p:spPr>
          <a:xfrm>
            <a:off x="274320" y="2880360"/>
            <a:ext cx="1554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D3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Unstructured baseline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h14e70d5490eb447_5_61"/>
          <p:cNvSpPr txBox="1"/>
          <p:nvPr/>
        </p:nvSpPr>
        <p:spPr>
          <a:xfrm>
            <a:off x="228600" y="3931920"/>
            <a:ext cx="164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rPr>
              <a:t>84.6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LIB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h14e70d5490eb447_5_61"/>
          <p:cNvSpPr txBox="1"/>
          <p:nvPr/>
        </p:nvSpPr>
        <p:spPr>
          <a:xfrm>
            <a:off x="1993392" y="1481328"/>
            <a:ext cx="1463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v01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h14e70d5490eb447_5_61"/>
          <p:cNvSpPr/>
          <p:nvPr/>
        </p:nvSpPr>
        <p:spPr>
          <a:xfrm>
            <a:off x="2523744" y="2313432"/>
            <a:ext cx="402300" cy="402300"/>
          </a:xfrm>
          <a:prstGeom prst="ellipse">
            <a:avLst/>
          </a:prstGeom>
          <a:solidFill>
            <a:srgbClr val="2B6CB0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h14e70d5490eb447_5_61"/>
          <p:cNvSpPr txBox="1"/>
          <p:nvPr/>
        </p:nvSpPr>
        <p:spPr>
          <a:xfrm>
            <a:off x="1947672" y="2880360"/>
            <a:ext cx="1554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D3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Role + 9 AUM phrase types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h14e70d5490eb447_5_61"/>
          <p:cNvSpPr txBox="1"/>
          <p:nvPr/>
        </p:nvSpPr>
        <p:spPr>
          <a:xfrm>
            <a:off x="1901952" y="3931920"/>
            <a:ext cx="164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rPr>
              <a:t>85.2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LIB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h14e70d5490eb447_5_61"/>
          <p:cNvSpPr txBox="1"/>
          <p:nvPr/>
        </p:nvSpPr>
        <p:spPr>
          <a:xfrm>
            <a:off x="3666744" y="1481328"/>
            <a:ext cx="1463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v03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h14e70d5490eb447_5_61"/>
          <p:cNvSpPr/>
          <p:nvPr/>
        </p:nvSpPr>
        <p:spPr>
          <a:xfrm>
            <a:off x="4197096" y="2313432"/>
            <a:ext cx="402300" cy="402300"/>
          </a:xfrm>
          <a:prstGeom prst="ellipse">
            <a:avLst/>
          </a:prstGeom>
          <a:solidFill>
            <a:srgbClr val="2B6CB0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h14e70d5490eb447_5_61"/>
          <p:cNvSpPr txBox="1"/>
          <p:nvPr/>
        </p:nvSpPr>
        <p:spPr>
          <a:xfrm>
            <a:off x="3621024" y="2880360"/>
            <a:ext cx="1554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D3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Per-category rules + analysis step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h14e70d5490eb447_5_61"/>
          <p:cNvSpPr txBox="1"/>
          <p:nvPr/>
        </p:nvSpPr>
        <p:spPr>
          <a:xfrm>
            <a:off x="3575304" y="3931920"/>
            <a:ext cx="164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rPr>
              <a:t>91.3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LIB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h14e70d5490eb447_5_61"/>
          <p:cNvSpPr txBox="1"/>
          <p:nvPr/>
        </p:nvSpPr>
        <p:spPr>
          <a:xfrm>
            <a:off x="5340096" y="1481328"/>
            <a:ext cx="1463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v05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h14e70d5490eb447_5_61"/>
          <p:cNvSpPr/>
          <p:nvPr/>
        </p:nvSpPr>
        <p:spPr>
          <a:xfrm>
            <a:off x="5870448" y="2313432"/>
            <a:ext cx="402300" cy="402300"/>
          </a:xfrm>
          <a:prstGeom prst="ellipse">
            <a:avLst/>
          </a:prstGeom>
          <a:solidFill>
            <a:srgbClr val="2B6CB0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h14e70d5490eb447_5_61"/>
          <p:cNvSpPr txBox="1"/>
          <p:nvPr/>
        </p:nvSpPr>
        <p:spPr>
          <a:xfrm>
            <a:off x="5294376" y="2880360"/>
            <a:ext cx="1554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D3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Priority rules, full example, file delivery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h14e70d5490eb447_5_61"/>
          <p:cNvSpPr txBox="1"/>
          <p:nvPr/>
        </p:nvSpPr>
        <p:spPr>
          <a:xfrm>
            <a:off x="5248656" y="3931920"/>
            <a:ext cx="164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rPr>
              <a:t>93.6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LIB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h14e70d5490eb447_5_61"/>
          <p:cNvSpPr txBox="1"/>
          <p:nvPr/>
        </p:nvSpPr>
        <p:spPr>
          <a:xfrm>
            <a:off x="7013448" y="1481328"/>
            <a:ext cx="1463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P8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v5.2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h14e70d5490eb447_5_61"/>
          <p:cNvSpPr/>
          <p:nvPr/>
        </p:nvSpPr>
        <p:spPr>
          <a:xfrm>
            <a:off x="7543800" y="2313432"/>
            <a:ext cx="402300" cy="402300"/>
          </a:xfrm>
          <a:prstGeom prst="ellipse">
            <a:avLst/>
          </a:prstGeom>
          <a:solidFill>
            <a:srgbClr val="E28B37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h14e70d5490eb447_5_61"/>
          <p:cNvSpPr txBox="1"/>
          <p:nvPr/>
        </p:nvSpPr>
        <p:spPr>
          <a:xfrm>
            <a:off x="6967728" y="2880360"/>
            <a:ext cx="1554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D3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Relevance + proper-name filters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h14e70d5490eb447_5_61"/>
          <p:cNvSpPr txBox="1"/>
          <p:nvPr/>
        </p:nvSpPr>
        <p:spPr>
          <a:xfrm>
            <a:off x="6922008" y="3931920"/>
            <a:ext cx="164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8B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28B37"/>
                </a:solidFill>
                <a:latin typeface="Arial"/>
                <a:ea typeface="Arial"/>
                <a:cs typeface="Arial"/>
                <a:sym typeface="Arial"/>
              </a:rPr>
              <a:t>72.9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NTSS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h14e70d5490eb447_5_61"/>
          <p:cNvSpPr txBox="1"/>
          <p:nvPr/>
        </p:nvSpPr>
        <p:spPr>
          <a:xfrm>
            <a:off x="8686800" y="1481328"/>
            <a:ext cx="1463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P10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v5.4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h14e70d5490eb447_5_61"/>
          <p:cNvSpPr/>
          <p:nvPr/>
        </p:nvSpPr>
        <p:spPr>
          <a:xfrm>
            <a:off x="9217152" y="2313432"/>
            <a:ext cx="402300" cy="402300"/>
          </a:xfrm>
          <a:prstGeom prst="ellipse">
            <a:avLst/>
          </a:prstGeom>
          <a:solidFill>
            <a:srgbClr val="E28B37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h14e70d5490eb447_5_61"/>
          <p:cNvSpPr txBox="1"/>
          <p:nvPr/>
        </p:nvSpPr>
        <p:spPr>
          <a:xfrm>
            <a:off x="8641080" y="2880360"/>
            <a:ext cx="1554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D3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Value lists, passive "by", action nouns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h14e70d5490eb447_5_61"/>
          <p:cNvSpPr txBox="1"/>
          <p:nvPr/>
        </p:nvSpPr>
        <p:spPr>
          <a:xfrm>
            <a:off x="8595360" y="3931920"/>
            <a:ext cx="164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8B3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28B37"/>
                </a:solidFill>
                <a:latin typeface="Arial"/>
                <a:ea typeface="Arial"/>
                <a:cs typeface="Arial"/>
                <a:sym typeface="Arial"/>
              </a:rPr>
              <a:t>77.6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NTSS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h14e70d5490eb447_5_61"/>
          <p:cNvSpPr txBox="1"/>
          <p:nvPr/>
        </p:nvSpPr>
        <p:spPr>
          <a:xfrm>
            <a:off x="10360152" y="1481328"/>
            <a:ext cx="1463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P12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v5.6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h14e70d5490eb447_5_61"/>
          <p:cNvSpPr/>
          <p:nvPr/>
        </p:nvSpPr>
        <p:spPr>
          <a:xfrm>
            <a:off x="10890504" y="2313432"/>
            <a:ext cx="402300" cy="402300"/>
          </a:xfrm>
          <a:prstGeom prst="ellipse">
            <a:avLst/>
          </a:prstGeom>
          <a:solidFill>
            <a:srgbClr val="142037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h14e70d5490eb447_5_61"/>
          <p:cNvSpPr txBox="1"/>
          <p:nvPr/>
        </p:nvSpPr>
        <p:spPr>
          <a:xfrm>
            <a:off x="10314432" y="2880360"/>
            <a:ext cx="1554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D3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Verb → next-word step (final)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h14e70d5490eb447_5_61"/>
          <p:cNvSpPr txBox="1"/>
          <p:nvPr/>
        </p:nvSpPr>
        <p:spPr>
          <a:xfrm>
            <a:off x="10268712" y="3931920"/>
            <a:ext cx="164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8F7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58F7A"/>
                </a:solidFill>
                <a:latin typeface="Arial"/>
                <a:ea typeface="Arial"/>
                <a:cs typeface="Arial"/>
                <a:sym typeface="Arial"/>
              </a:rPr>
              <a:t>90.6 · 78.9 · 55.6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LIB · NTSS · CAR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h14e70d5490eb447_5_61"/>
          <p:cNvSpPr/>
          <p:nvPr/>
        </p:nvSpPr>
        <p:spPr>
          <a:xfrm>
            <a:off x="777240" y="4828032"/>
            <a:ext cx="183000" cy="18300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h14e70d5490eb447_5_61"/>
          <p:cNvSpPr txBox="1"/>
          <p:nvPr/>
        </p:nvSpPr>
        <p:spPr>
          <a:xfrm>
            <a:off x="1024128" y="4754880"/>
            <a:ext cx="265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Tuned on library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h14e70d5490eb447_5_61"/>
          <p:cNvSpPr/>
          <p:nvPr/>
        </p:nvSpPr>
        <p:spPr>
          <a:xfrm>
            <a:off x="3703320" y="4828032"/>
            <a:ext cx="183000" cy="183000"/>
          </a:xfrm>
          <a:prstGeom prst="ellipse">
            <a:avLst/>
          </a:prstGeom>
          <a:solidFill>
            <a:srgbClr val="E28B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h14e70d5490eb447_5_61"/>
          <p:cNvSpPr txBox="1"/>
          <p:nvPr/>
        </p:nvSpPr>
        <p:spPr>
          <a:xfrm>
            <a:off x="3950208" y="4754880"/>
            <a:ext cx="265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Tuned on NTSS &amp; car rental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h14e70d5490eb447_5_61"/>
          <p:cNvSpPr/>
          <p:nvPr/>
        </p:nvSpPr>
        <p:spPr>
          <a:xfrm>
            <a:off x="6629400" y="4828032"/>
            <a:ext cx="183000" cy="183000"/>
          </a:xfrm>
          <a:prstGeom prst="ellipse">
            <a:avLst/>
          </a:prstGeom>
          <a:solidFill>
            <a:srgbClr val="1420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h14e70d5490eb447_5_61"/>
          <p:cNvSpPr txBox="1"/>
          <p:nvPr/>
        </p:nvSpPr>
        <p:spPr>
          <a:xfrm>
            <a:off x="6876288" y="4754880"/>
            <a:ext cx="265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Final prompt (Pn)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h14e70d5490eb447_5_61"/>
          <p:cNvSpPr/>
          <p:nvPr/>
        </p:nvSpPr>
        <p:spPr>
          <a:xfrm>
            <a:off x="731520" y="5257800"/>
            <a:ext cx="10744200" cy="731400"/>
          </a:xfrm>
          <a:prstGeom prst="roundRect">
            <a:avLst>
              <a:gd fmla="val 15000" name="adj"/>
            </a:avLst>
          </a:prstGeom>
          <a:solidFill>
            <a:srgbClr val="F5F7FA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h14e70d5490eb447_5_61"/>
          <p:cNvSpPr txBox="1"/>
          <p:nvPr/>
        </p:nvSpPr>
        <p:spPr>
          <a:xfrm>
            <a:off x="960120" y="5303520"/>
            <a:ext cx="10332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D3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Also tried: </a:t>
            </a:r>
            <a:r>
              <a:rPr b="0" i="0" lang="en-US" sz="12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P2 excluded (quoted library answers) • P4 invalid (paste stripped placeholders) • P5, P7, P9, P11 intermediate • P13 rejected (car rental 55.6 → 50.3)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h14e70d5490eb447_5_105"/>
          <p:cNvSpPr txBox="1"/>
          <p:nvPr/>
        </p:nvSpPr>
        <p:spPr>
          <a:xfrm>
            <a:off x="640080" y="411480"/>
            <a:ext cx="10881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Evolutionary Optimization Experiments (1/2)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h14e70d5490eb447_5_105"/>
          <p:cNvSpPr txBox="1"/>
          <p:nvPr/>
        </p:nvSpPr>
        <p:spPr>
          <a:xfrm>
            <a:off x="658368" y="1005840"/>
            <a:ext cx="10789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Prompt → AI → Output → Evaluation → Error analysis → AI + team suggestions → Revised prompt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h14e70d5490eb447_5_105"/>
          <p:cNvSpPr txBox="1"/>
          <p:nvPr/>
        </p:nvSpPr>
        <p:spPr>
          <a:xfrm>
            <a:off x="10881360" y="6473952"/>
            <a:ext cx="64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h14e70d5490eb447_5_105"/>
          <p:cNvSpPr/>
          <p:nvPr/>
        </p:nvSpPr>
        <p:spPr>
          <a:xfrm>
            <a:off x="731520" y="1554480"/>
            <a:ext cx="10744200" cy="1326000"/>
          </a:xfrm>
          <a:prstGeom prst="roundRect">
            <a:avLst>
              <a:gd fmla="val 8276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h14e70d5490eb447_5_105"/>
          <p:cNvSpPr/>
          <p:nvPr/>
        </p:nvSpPr>
        <p:spPr>
          <a:xfrm>
            <a:off x="731520" y="1609344"/>
            <a:ext cx="73200" cy="1216200"/>
          </a:xfrm>
          <a:prstGeom prst="rect">
            <a:avLst/>
          </a:prstGeom>
          <a:solidFill>
            <a:srgbClr val="3691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h14e70d5490eb447_5_105"/>
          <p:cNvSpPr txBox="1"/>
          <p:nvPr/>
        </p:nvSpPr>
        <p:spPr>
          <a:xfrm>
            <a:off x="960120" y="1645920"/>
            <a:ext cx="1234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P1 → P3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h14e70d5490eb447_5_105"/>
          <p:cNvSpPr txBox="1"/>
          <p:nvPr/>
        </p:nvSpPr>
        <p:spPr>
          <a:xfrm>
            <a:off x="2286000" y="1691640"/>
            <a:ext cx="34290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HYPOTHESIS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252D3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Per-category definitions and a visible analysis step will stop words landing in the wrong category.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h14e70d5490eb447_5_105"/>
          <p:cNvSpPr txBox="1"/>
          <p:nvPr/>
        </p:nvSpPr>
        <p:spPr>
          <a:xfrm>
            <a:off x="5897880" y="1691640"/>
            <a:ext cx="29718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MODIFICATION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252D3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Rules per category, &lt;analysis&gt;/&lt;answer&gt; split, adjective value test, hotel example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h14e70d5490eb447_5_105"/>
          <p:cNvSpPr txBox="1"/>
          <p:nvPr/>
        </p:nvSpPr>
        <p:spPr>
          <a:xfrm>
            <a:off x="9052560" y="1691640"/>
            <a:ext cx="22860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369153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369153"/>
                </a:solidFill>
                <a:latin typeface="Arial"/>
                <a:ea typeface="Arial"/>
                <a:cs typeface="Arial"/>
                <a:sym typeface="Arial"/>
              </a:rPr>
              <a:t>Library 85.2 → 91.3 (+6.1)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h14e70d5490eb447_5_105"/>
          <p:cNvSpPr/>
          <p:nvPr/>
        </p:nvSpPr>
        <p:spPr>
          <a:xfrm>
            <a:off x="731520" y="3063240"/>
            <a:ext cx="10744200" cy="1326000"/>
          </a:xfrm>
          <a:prstGeom prst="roundRect">
            <a:avLst>
              <a:gd fmla="val 8276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h14e70d5490eb447_5_105"/>
          <p:cNvSpPr/>
          <p:nvPr/>
        </p:nvSpPr>
        <p:spPr>
          <a:xfrm>
            <a:off x="731520" y="3118104"/>
            <a:ext cx="73200" cy="1216200"/>
          </a:xfrm>
          <a:prstGeom prst="rect">
            <a:avLst/>
          </a:prstGeom>
          <a:solidFill>
            <a:srgbClr val="3691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h14e70d5490eb447_5_105"/>
          <p:cNvSpPr txBox="1"/>
          <p:nvPr/>
        </p:nvSpPr>
        <p:spPr>
          <a:xfrm>
            <a:off x="960120" y="3154680"/>
            <a:ext cx="1234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P3 → P6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h14e70d5490eb447_5_105"/>
          <p:cNvSpPr txBox="1"/>
          <p:nvPr/>
        </p:nvSpPr>
        <p:spPr>
          <a:xfrm>
            <a:off x="2286000" y="3200400"/>
            <a:ext cx="34290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HYPOTHESIS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252D3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Priority rules and a full worked example, delivered as a file, will make runs consistent.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h14e70d5490eb447_5_105"/>
          <p:cNvSpPr txBox="1"/>
          <p:nvPr/>
        </p:nvSpPr>
        <p:spPr>
          <a:xfrm>
            <a:off x="5897880" y="3200400"/>
            <a:ext cx="29718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MODIFICATION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252D3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Verb-over-adjective priority, literal verb forms, full example answer; attached as .md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h14e70d5490eb447_5_105"/>
          <p:cNvSpPr txBox="1"/>
          <p:nvPr/>
        </p:nvSpPr>
        <p:spPr>
          <a:xfrm>
            <a:off x="9052560" y="3200400"/>
            <a:ext cx="22860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369153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369153"/>
                </a:solidFill>
                <a:latin typeface="Arial"/>
                <a:ea typeface="Arial"/>
                <a:cs typeface="Arial"/>
                <a:sym typeface="Arial"/>
              </a:rPr>
              <a:t>Library 91.3 → 93.6; run spread 6.7 → 0.5 pts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h14e70d5490eb447_5_105"/>
          <p:cNvSpPr/>
          <p:nvPr/>
        </p:nvSpPr>
        <p:spPr>
          <a:xfrm>
            <a:off x="731520" y="4572000"/>
            <a:ext cx="10744200" cy="1326000"/>
          </a:xfrm>
          <a:prstGeom prst="roundRect">
            <a:avLst>
              <a:gd fmla="val 8276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h14e70d5490eb447_5_105"/>
          <p:cNvSpPr/>
          <p:nvPr/>
        </p:nvSpPr>
        <p:spPr>
          <a:xfrm>
            <a:off x="731520" y="4626864"/>
            <a:ext cx="73200" cy="1216200"/>
          </a:xfrm>
          <a:prstGeom prst="rect">
            <a:avLst/>
          </a:prstGeom>
          <a:solidFill>
            <a:srgbClr val="3691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h14e70d5490eb447_5_105"/>
          <p:cNvSpPr txBox="1"/>
          <p:nvPr/>
        </p:nvSpPr>
        <p:spPr>
          <a:xfrm>
            <a:off x="960120" y="4663440"/>
            <a:ext cx="1234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P6 → P8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h14e70d5490eb447_5_105"/>
          <p:cNvSpPr txBox="1"/>
          <p:nvPr/>
        </p:nvSpPr>
        <p:spPr>
          <a:xfrm>
            <a:off x="2286000" y="4709160"/>
            <a:ext cx="34290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HYPOTHESIS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252D3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Extra phrases on NTSS and car rental are background text and proper names.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h14e70d5490eb447_5_105"/>
          <p:cNvSpPr txBox="1"/>
          <p:nvPr/>
        </p:nvSpPr>
        <p:spPr>
          <a:xfrm>
            <a:off x="5897880" y="4709160"/>
            <a:ext cx="29718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MODIFICATION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252D3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Relevance filter + proper-name rule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h14e70d5490eb447_5_105"/>
          <p:cNvSpPr txBox="1"/>
          <p:nvPr/>
        </p:nvSpPr>
        <p:spPr>
          <a:xfrm>
            <a:off x="9052560" y="4709160"/>
            <a:ext cx="22860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369153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369153"/>
                </a:solidFill>
                <a:latin typeface="Arial"/>
                <a:ea typeface="Arial"/>
                <a:cs typeface="Arial"/>
                <a:sym typeface="Arial"/>
              </a:rPr>
              <a:t>NTSS 69.2 → 72.9; Toyota, Corolla gone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h14e70d5490eb447_5_130"/>
          <p:cNvSpPr txBox="1"/>
          <p:nvPr/>
        </p:nvSpPr>
        <p:spPr>
          <a:xfrm>
            <a:off x="640080" y="411480"/>
            <a:ext cx="10881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Evolutionary Optimization Experiments (2/2)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h14e70d5490eb447_5_130"/>
          <p:cNvSpPr txBox="1"/>
          <p:nvPr/>
        </p:nvSpPr>
        <p:spPr>
          <a:xfrm>
            <a:off x="658368" y="1005840"/>
            <a:ext cx="10789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Each change targets errors found in the previous version's runs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h14e70d5490eb447_5_130"/>
          <p:cNvSpPr txBox="1"/>
          <p:nvPr/>
        </p:nvSpPr>
        <p:spPr>
          <a:xfrm>
            <a:off x="10881360" y="6473952"/>
            <a:ext cx="64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h14e70d5490eb447_5_130"/>
          <p:cNvSpPr/>
          <p:nvPr/>
        </p:nvSpPr>
        <p:spPr>
          <a:xfrm>
            <a:off x="731520" y="1554480"/>
            <a:ext cx="10744200" cy="1326000"/>
          </a:xfrm>
          <a:prstGeom prst="roundRect">
            <a:avLst>
              <a:gd fmla="val 8276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h14e70d5490eb447_5_130"/>
          <p:cNvSpPr/>
          <p:nvPr/>
        </p:nvSpPr>
        <p:spPr>
          <a:xfrm>
            <a:off x="731520" y="1609344"/>
            <a:ext cx="73200" cy="1216200"/>
          </a:xfrm>
          <a:prstGeom prst="rect">
            <a:avLst/>
          </a:prstGeom>
          <a:solidFill>
            <a:srgbClr val="3691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h14e70d5490eb447_5_130"/>
          <p:cNvSpPr txBox="1"/>
          <p:nvPr/>
        </p:nvSpPr>
        <p:spPr>
          <a:xfrm>
            <a:off x="960120" y="1645920"/>
            <a:ext cx="1234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P9 → P10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h14e70d5490eb447_5_130"/>
          <p:cNvSpPr txBox="1"/>
          <p:nvPr/>
        </p:nvSpPr>
        <p:spPr>
          <a:xfrm>
            <a:off x="2286000" y="1691640"/>
            <a:ext cx="34290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HYPOTHESIS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252D3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NTSS loses on split value lists, passive verbs without "by", and action nouns.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h14e70d5490eb447_5_130"/>
          <p:cNvSpPr txBox="1"/>
          <p:nvPr/>
        </p:nvSpPr>
        <p:spPr>
          <a:xfrm>
            <a:off x="5897880" y="1691640"/>
            <a:ext cx="29718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MODIFICATION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252D3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Value lists as one line; passive verbs keep "by"; action nouns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h14e70d5490eb447_5_130"/>
          <p:cNvSpPr txBox="1"/>
          <p:nvPr/>
        </p:nvSpPr>
        <p:spPr>
          <a:xfrm>
            <a:off x="9052560" y="1691640"/>
            <a:ext cx="22860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369153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369153"/>
                </a:solidFill>
                <a:latin typeface="Arial"/>
                <a:ea typeface="Arial"/>
                <a:cs typeface="Arial"/>
                <a:sym typeface="Arial"/>
              </a:rPr>
              <a:t>NTSS 75.0 → 77.6; attended by / reviewed by found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h14e70d5490eb447_5_130"/>
          <p:cNvSpPr/>
          <p:nvPr/>
        </p:nvSpPr>
        <p:spPr>
          <a:xfrm>
            <a:off x="731520" y="3063240"/>
            <a:ext cx="10744200" cy="1326000"/>
          </a:xfrm>
          <a:prstGeom prst="roundRect">
            <a:avLst>
              <a:gd fmla="val 8276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h14e70d5490eb447_5_130"/>
          <p:cNvSpPr/>
          <p:nvPr/>
        </p:nvSpPr>
        <p:spPr>
          <a:xfrm>
            <a:off x="731520" y="3118104"/>
            <a:ext cx="73200" cy="1216200"/>
          </a:xfrm>
          <a:prstGeom prst="rect">
            <a:avLst/>
          </a:prstGeom>
          <a:solidFill>
            <a:srgbClr val="3691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h14e70d5490eb447_5_130"/>
          <p:cNvSpPr txBox="1"/>
          <p:nvPr/>
        </p:nvSpPr>
        <p:spPr>
          <a:xfrm>
            <a:off x="960120" y="3154680"/>
            <a:ext cx="1234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P11 → P12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h14e70d5490eb447_5_130"/>
          <p:cNvSpPr txBox="1"/>
          <p:nvPr/>
        </p:nvSpPr>
        <p:spPr>
          <a:xfrm>
            <a:off x="2286000" y="3200400"/>
            <a:ext cx="34290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HYPOTHESIS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252D3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Writing each verb's next word will make the model keep prepositions.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h14e70d5490eb447_5_130"/>
          <p:cNvSpPr txBox="1"/>
          <p:nvPr/>
        </p:nvSpPr>
        <p:spPr>
          <a:xfrm>
            <a:off x="5897880" y="3200400"/>
            <a:ext cx="29718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MODIFICATION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252D3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"verb → next word → phrase" analysis step; numbers go to Numeric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h14e70d5490eb447_5_130"/>
          <p:cNvSpPr txBox="1"/>
          <p:nvPr/>
        </p:nvSpPr>
        <p:spPr>
          <a:xfrm>
            <a:off x="9052560" y="3200400"/>
            <a:ext cx="22860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369153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369153"/>
                </a:solidFill>
                <a:latin typeface="Arial"/>
                <a:ea typeface="Arial"/>
                <a:cs typeface="Arial"/>
                <a:sym typeface="Arial"/>
              </a:rPr>
              <a:t>Car rental 49.4 → 55.6 (+6.2)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h14e70d5490eb447_5_130"/>
          <p:cNvSpPr/>
          <p:nvPr/>
        </p:nvSpPr>
        <p:spPr>
          <a:xfrm>
            <a:off x="731520" y="4572000"/>
            <a:ext cx="10744200" cy="1326000"/>
          </a:xfrm>
          <a:prstGeom prst="roundRect">
            <a:avLst>
              <a:gd fmla="val 8276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h14e70d5490eb447_5_130"/>
          <p:cNvSpPr/>
          <p:nvPr/>
        </p:nvSpPr>
        <p:spPr>
          <a:xfrm>
            <a:off x="731520" y="4626864"/>
            <a:ext cx="73200" cy="1216200"/>
          </a:xfrm>
          <a:prstGeom prst="rect">
            <a:avLst/>
          </a:prstGeom>
          <a:solidFill>
            <a:srgbClr val="C548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h14e70d5490eb447_5_130"/>
          <p:cNvSpPr txBox="1"/>
          <p:nvPr/>
        </p:nvSpPr>
        <p:spPr>
          <a:xfrm>
            <a:off x="960120" y="4663440"/>
            <a:ext cx="1234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P12 → P13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h14e70d5490eb447_5_130"/>
          <p:cNvSpPr txBox="1"/>
          <p:nvPr/>
        </p:nvSpPr>
        <p:spPr>
          <a:xfrm>
            <a:off x="2286000" y="4709160"/>
            <a:ext cx="34290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HYPOTHESIS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252D3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Listing every "of" will raise X of 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h14e70d5490eb447_5_130"/>
          <p:cNvSpPr txBox="1"/>
          <p:nvPr/>
        </p:nvSpPr>
        <p:spPr>
          <a:xfrm>
            <a:off x="5897880" y="4709160"/>
            <a:ext cx="29718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MODIFICATION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252D3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Enumerate every "of" in the analysis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h14e70d5490eb447_5_130"/>
          <p:cNvSpPr txBox="1"/>
          <p:nvPr/>
        </p:nvSpPr>
        <p:spPr>
          <a:xfrm>
            <a:off x="9052560" y="4709160"/>
            <a:ext cx="22860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C54848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C54848"/>
                </a:solidFill>
                <a:latin typeface="Arial"/>
                <a:ea typeface="Arial"/>
                <a:cs typeface="Arial"/>
                <a:sym typeface="Arial"/>
              </a:rPr>
              <a:t>X of Y up, but car rental 55.6 → 50.3: rejected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h14e70d5490eb447_5_155"/>
          <p:cNvSpPr txBox="1"/>
          <p:nvPr/>
        </p:nvSpPr>
        <p:spPr>
          <a:xfrm>
            <a:off x="640080" y="411480"/>
            <a:ext cx="10881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Optimization Results: Library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h14e70d5490eb447_5_155"/>
          <p:cNvSpPr txBox="1"/>
          <p:nvPr/>
        </p:nvSpPr>
        <p:spPr>
          <a:xfrm>
            <a:off x="658368" y="1005840"/>
            <a:ext cx="10789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Precision, recall and F1 across prompt versions (Ruleset B, mean of runs)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h14e70d5490eb447_5_155"/>
          <p:cNvSpPr txBox="1"/>
          <p:nvPr/>
        </p:nvSpPr>
        <p:spPr>
          <a:xfrm>
            <a:off x="10881360" y="6473952"/>
            <a:ext cx="64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h14e70d5490eb447_5_155"/>
          <p:cNvSpPr/>
          <p:nvPr/>
        </p:nvSpPr>
        <p:spPr>
          <a:xfrm>
            <a:off x="8229600" y="1463040"/>
            <a:ext cx="3246000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h14e70d5490eb447_5_155"/>
          <p:cNvSpPr/>
          <p:nvPr/>
        </p:nvSpPr>
        <p:spPr>
          <a:xfrm>
            <a:off x="8229600" y="1517904"/>
            <a:ext cx="73200" cy="1261800"/>
          </a:xfrm>
          <a:prstGeom prst="rect">
            <a:avLst/>
          </a:prstGeom>
          <a:solidFill>
            <a:srgbClr val="3691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h14e70d5490eb447_5_155"/>
          <p:cNvSpPr txBox="1"/>
          <p:nvPr/>
        </p:nvSpPr>
        <p:spPr>
          <a:xfrm>
            <a:off x="8458200" y="1627632"/>
            <a:ext cx="2834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P1 → P3: +6.1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h14e70d5490eb447_5_155"/>
          <p:cNvSpPr txBox="1"/>
          <p:nvPr/>
        </p:nvSpPr>
        <p:spPr>
          <a:xfrm>
            <a:off x="8458200" y="2057400"/>
            <a:ext cx="2834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D3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Per-category rules and the analysis step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h14e70d5490eb447_5_155"/>
          <p:cNvSpPr/>
          <p:nvPr/>
        </p:nvSpPr>
        <p:spPr>
          <a:xfrm>
            <a:off x="8229600" y="2990088"/>
            <a:ext cx="3246000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h14e70d5490eb447_5_155"/>
          <p:cNvSpPr/>
          <p:nvPr/>
        </p:nvSpPr>
        <p:spPr>
          <a:xfrm>
            <a:off x="8229600" y="3044952"/>
            <a:ext cx="73200" cy="1261800"/>
          </a:xfrm>
          <a:prstGeom prst="rect">
            <a:avLst/>
          </a:prstGeom>
          <a:solidFill>
            <a:srgbClr val="3691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h14e70d5490eb447_5_155"/>
          <p:cNvSpPr txBox="1"/>
          <p:nvPr/>
        </p:nvSpPr>
        <p:spPr>
          <a:xfrm>
            <a:off x="8458200" y="3154680"/>
            <a:ext cx="2834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P5 → P6: +6.9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h14e70d5490eb447_5_155"/>
          <p:cNvSpPr txBox="1"/>
          <p:nvPr/>
        </p:nvSpPr>
        <p:spPr>
          <a:xfrm>
            <a:off x="8458200" y="3584448"/>
            <a:ext cx="2834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D3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File delivery and a full example; run spread 0.5 pts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h14e70d5490eb447_5_155"/>
          <p:cNvSpPr/>
          <p:nvPr/>
        </p:nvSpPr>
        <p:spPr>
          <a:xfrm>
            <a:off x="8229600" y="4517136"/>
            <a:ext cx="3246000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h14e70d5490eb447_5_155"/>
          <p:cNvSpPr/>
          <p:nvPr/>
        </p:nvSpPr>
        <p:spPr>
          <a:xfrm>
            <a:off x="8229600" y="4572000"/>
            <a:ext cx="73200" cy="1261800"/>
          </a:xfrm>
          <a:prstGeom prst="rect">
            <a:avLst/>
          </a:prstGeom>
          <a:solidFill>
            <a:srgbClr val="C548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h14e70d5490eb447_5_155"/>
          <p:cNvSpPr txBox="1"/>
          <p:nvPr/>
        </p:nvSpPr>
        <p:spPr>
          <a:xfrm>
            <a:off x="8458200" y="4681728"/>
            <a:ext cx="2834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P6 → P12: −3.0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h14e70d5490eb447_5_155"/>
          <p:cNvSpPr txBox="1"/>
          <p:nvPr/>
        </p:nvSpPr>
        <p:spPr>
          <a:xfrm>
            <a:off x="8458200" y="5111496"/>
            <a:ext cx="2834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D3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NTSS and car rental rules cost library: "two" dropped, action nouns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h14e70d5490eb447_5_155"/>
          <p:cNvSpPr txBox="1"/>
          <p:nvPr/>
        </p:nvSpPr>
        <p:spPr>
          <a:xfrm>
            <a:off x="731520" y="6053328"/>
            <a:ext cx="10698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* 1 run. P2 (excluded, leakage) and P4 (invalid run) omitted. P8–P11 were tuned on NTSS and car rental and not run on library.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h14e70d5490eb447_5_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3940"/>
            <a:ext cx="7215777" cy="4376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h14e70d5490eb447_5_176"/>
          <p:cNvSpPr txBox="1"/>
          <p:nvPr/>
        </p:nvSpPr>
        <p:spPr>
          <a:xfrm>
            <a:off x="640080" y="411480"/>
            <a:ext cx="10881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Optimization Results: All Three Domains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h14e70d5490eb447_5_176"/>
          <p:cNvSpPr txBox="1"/>
          <p:nvPr/>
        </p:nvSpPr>
        <p:spPr>
          <a:xfrm>
            <a:off x="658368" y="1005840"/>
            <a:ext cx="10789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F1 from P6 onward (Ruleset B, mean of runs)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h14e70d5490eb447_5_176"/>
          <p:cNvSpPr txBox="1"/>
          <p:nvPr/>
        </p:nvSpPr>
        <p:spPr>
          <a:xfrm>
            <a:off x="10881360" y="6473952"/>
            <a:ext cx="64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h14e70d5490eb447_5_176"/>
          <p:cNvSpPr/>
          <p:nvPr/>
        </p:nvSpPr>
        <p:spPr>
          <a:xfrm>
            <a:off x="8229600" y="1463040"/>
            <a:ext cx="3246000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h14e70d5490eb447_5_176"/>
          <p:cNvSpPr/>
          <p:nvPr/>
        </p:nvSpPr>
        <p:spPr>
          <a:xfrm>
            <a:off x="8229600" y="1517904"/>
            <a:ext cx="73200" cy="1261800"/>
          </a:xfrm>
          <a:prstGeom prst="rect">
            <a:avLst/>
          </a:prstGeom>
          <a:solidFill>
            <a:srgbClr val="E28B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h14e70d5490eb447_5_176"/>
          <p:cNvSpPr txBox="1"/>
          <p:nvPr/>
        </p:nvSpPr>
        <p:spPr>
          <a:xfrm>
            <a:off x="8458200" y="1627632"/>
            <a:ext cx="2880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NTSS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h14e70d5490eb447_5_176"/>
          <p:cNvSpPr txBox="1"/>
          <p:nvPr/>
        </p:nvSpPr>
        <p:spPr>
          <a:xfrm>
            <a:off x="8430768" y="2029968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8B37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E28B37"/>
                </a:solidFill>
                <a:latin typeface="Arial"/>
                <a:ea typeface="Arial"/>
                <a:cs typeface="Arial"/>
                <a:sym typeface="Arial"/>
              </a:rPr>
              <a:t>+9.7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h14e70d5490eb447_5_176"/>
          <p:cNvSpPr/>
          <p:nvPr/>
        </p:nvSpPr>
        <p:spPr>
          <a:xfrm>
            <a:off x="8229600" y="2990088"/>
            <a:ext cx="3246000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h14e70d5490eb447_5_176"/>
          <p:cNvSpPr/>
          <p:nvPr/>
        </p:nvSpPr>
        <p:spPr>
          <a:xfrm>
            <a:off x="8229600" y="3044952"/>
            <a:ext cx="73200" cy="1261800"/>
          </a:xfrm>
          <a:prstGeom prst="rect">
            <a:avLst/>
          </a:prstGeom>
          <a:solidFill>
            <a:srgbClr val="258F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h14e70d5490eb447_5_176"/>
          <p:cNvSpPr txBox="1"/>
          <p:nvPr/>
        </p:nvSpPr>
        <p:spPr>
          <a:xfrm>
            <a:off x="8458200" y="3154680"/>
            <a:ext cx="2880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Car rental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h14e70d5490eb447_5_176"/>
          <p:cNvSpPr txBox="1"/>
          <p:nvPr/>
        </p:nvSpPr>
        <p:spPr>
          <a:xfrm>
            <a:off x="8430768" y="3557016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8F7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258F7A"/>
                </a:solidFill>
                <a:latin typeface="Arial"/>
                <a:ea typeface="Arial"/>
                <a:cs typeface="Arial"/>
                <a:sym typeface="Arial"/>
              </a:rPr>
              <a:t>+14.8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h14e70d5490eb447_5_176"/>
          <p:cNvSpPr/>
          <p:nvPr/>
        </p:nvSpPr>
        <p:spPr>
          <a:xfrm>
            <a:off x="8229600" y="4517136"/>
            <a:ext cx="3246000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h14e70d5490eb447_5_176"/>
          <p:cNvSpPr/>
          <p:nvPr/>
        </p:nvSpPr>
        <p:spPr>
          <a:xfrm>
            <a:off x="8229600" y="4572000"/>
            <a:ext cx="73200" cy="12618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h14e70d5490eb447_5_176"/>
          <p:cNvSpPr txBox="1"/>
          <p:nvPr/>
        </p:nvSpPr>
        <p:spPr>
          <a:xfrm>
            <a:off x="8458200" y="4681728"/>
            <a:ext cx="2880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Library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h14e70d5490eb447_5_176"/>
          <p:cNvSpPr txBox="1"/>
          <p:nvPr/>
        </p:nvSpPr>
        <p:spPr>
          <a:xfrm>
            <a:off x="8430768" y="5084064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rPr>
              <a:t>−3.0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h14e70d5490eb447_5_176"/>
          <p:cNvSpPr txBox="1"/>
          <p:nvPr/>
        </p:nvSpPr>
        <p:spPr>
          <a:xfrm>
            <a:off x="9784080" y="1645920"/>
            <a:ext cx="160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change P6 → P12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h14e70d5490eb447_5_176"/>
          <p:cNvSpPr txBox="1"/>
          <p:nvPr/>
        </p:nvSpPr>
        <p:spPr>
          <a:xfrm>
            <a:off x="731520" y="6053328"/>
            <a:ext cx="10698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Lines skip versions that were not run on that domain. Car rental P6 = 1 run; all other points 3–4 runs.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6" name="Google Shape;306;h14e70d5490eb447_5_1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3940"/>
            <a:ext cx="7215777" cy="4376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h14e70d5490eb447_5_198"/>
          <p:cNvSpPr txBox="1"/>
          <p:nvPr/>
        </p:nvSpPr>
        <p:spPr>
          <a:xfrm>
            <a:off x="640080" y="411480"/>
            <a:ext cx="10881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AI and Human in the Loop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h14e70d5490eb447_5_198"/>
          <p:cNvSpPr txBox="1"/>
          <p:nvPr/>
        </p:nvSpPr>
        <p:spPr>
          <a:xfrm>
            <a:off x="658368" y="1005840"/>
            <a:ext cx="10789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Which suggestions improved response quality (✔) and which did not (✘)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h14e70d5490eb447_5_198"/>
          <p:cNvSpPr txBox="1"/>
          <p:nvPr/>
        </p:nvSpPr>
        <p:spPr>
          <a:xfrm>
            <a:off x="10881360" y="6473952"/>
            <a:ext cx="64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h14e70d5490eb447_5_198"/>
          <p:cNvSpPr/>
          <p:nvPr/>
        </p:nvSpPr>
        <p:spPr>
          <a:xfrm>
            <a:off x="731520" y="1508760"/>
            <a:ext cx="5257800" cy="4389000"/>
          </a:xfrm>
          <a:prstGeom prst="roundRect">
            <a:avLst>
              <a:gd fmla="val 2500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h14e70d5490eb447_5_198"/>
          <p:cNvSpPr/>
          <p:nvPr/>
        </p:nvSpPr>
        <p:spPr>
          <a:xfrm>
            <a:off x="731520" y="1563624"/>
            <a:ext cx="73200" cy="42795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h14e70d5490eb447_5_198"/>
          <p:cNvSpPr txBox="1"/>
          <p:nvPr/>
        </p:nvSpPr>
        <p:spPr>
          <a:xfrm>
            <a:off x="960120" y="1673352"/>
            <a:ext cx="484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Suggested by AI (Claude), reviewed by team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h14e70d5490eb447_5_198"/>
          <p:cNvSpPr txBox="1"/>
          <p:nvPr/>
        </p:nvSpPr>
        <p:spPr>
          <a:xfrm>
            <a:off x="960120" y="2194560"/>
            <a:ext cx="4892100" cy="3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69153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369153"/>
                </a:solidFill>
                <a:latin typeface="Arial"/>
                <a:ea typeface="Arial"/>
                <a:cs typeface="Arial"/>
                <a:sym typeface="Arial"/>
              </a:rPr>
              <a:t>✔  </a:t>
            </a:r>
            <a:r>
              <a:rPr b="0" i="0" lang="en-US" sz="145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Per-category rules + analysis step (P3)</a:t>
            </a:r>
            <a:r>
              <a:rPr b="1" i="0" lang="en-US" sz="1450" u="none" cap="none" strike="noStrike">
                <a:solidFill>
                  <a:srgbClr val="369153"/>
                </a:solidFill>
                <a:latin typeface="Arial"/>
                <a:ea typeface="Arial"/>
                <a:cs typeface="Arial"/>
                <a:sym typeface="Arial"/>
              </a:rPr>
              <a:t>  +6.1 LIB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Clr>
                <a:srgbClr val="369153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369153"/>
                </a:solidFill>
                <a:latin typeface="Arial"/>
                <a:ea typeface="Arial"/>
                <a:cs typeface="Arial"/>
                <a:sym typeface="Arial"/>
              </a:rPr>
              <a:t>✔  </a:t>
            </a:r>
            <a:r>
              <a:rPr b="0" i="0" lang="en-US" sz="145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Relevance + proper-name filters (P8)</a:t>
            </a:r>
            <a:r>
              <a:rPr b="1" i="0" lang="en-US" sz="1450" u="none" cap="none" strike="noStrike">
                <a:solidFill>
                  <a:srgbClr val="369153"/>
                </a:solidFill>
                <a:latin typeface="Arial"/>
                <a:ea typeface="Arial"/>
                <a:cs typeface="Arial"/>
                <a:sym typeface="Arial"/>
              </a:rPr>
              <a:t>  +3.7 NTSS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Clr>
                <a:srgbClr val="369153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369153"/>
                </a:solidFill>
                <a:latin typeface="Arial"/>
                <a:ea typeface="Arial"/>
                <a:cs typeface="Arial"/>
                <a:sym typeface="Arial"/>
              </a:rPr>
              <a:t>✔  </a:t>
            </a:r>
            <a:r>
              <a:rPr b="0" i="0" lang="en-US" sz="145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Value lists, passive "by" (P10)</a:t>
            </a:r>
            <a:r>
              <a:rPr b="1" i="0" lang="en-US" sz="1450" u="none" cap="none" strike="noStrike">
                <a:solidFill>
                  <a:srgbClr val="369153"/>
                </a:solidFill>
                <a:latin typeface="Arial"/>
                <a:ea typeface="Arial"/>
                <a:cs typeface="Arial"/>
                <a:sym typeface="Arial"/>
              </a:rPr>
              <a:t>  +2.6 NTSS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Clr>
                <a:srgbClr val="369153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369153"/>
                </a:solidFill>
                <a:latin typeface="Arial"/>
                <a:ea typeface="Arial"/>
                <a:cs typeface="Arial"/>
                <a:sym typeface="Arial"/>
              </a:rPr>
              <a:t>✔  </a:t>
            </a:r>
            <a:r>
              <a:rPr b="0" i="0" lang="en-US" sz="145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Verb → next-word step (P12)</a:t>
            </a:r>
            <a:r>
              <a:rPr b="1" i="0" lang="en-US" sz="1450" u="none" cap="none" strike="noStrike">
                <a:solidFill>
                  <a:srgbClr val="369153"/>
                </a:solidFill>
                <a:latin typeface="Arial"/>
                <a:ea typeface="Arial"/>
                <a:cs typeface="Arial"/>
                <a:sym typeface="Arial"/>
              </a:rPr>
              <a:t>  +6.2 CAR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Clr>
                <a:srgbClr val="C54848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C54848"/>
                </a:solidFill>
                <a:latin typeface="Arial"/>
                <a:ea typeface="Arial"/>
                <a:cs typeface="Arial"/>
                <a:sym typeface="Arial"/>
              </a:rPr>
              <a:t>✘  </a:t>
            </a:r>
            <a:r>
              <a:rPr b="0" i="0" lang="en-US" sz="145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"Transitive verbs only" rule (P10): ignored by the model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Clr>
                <a:srgbClr val="C54848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C54848"/>
                </a:solidFill>
                <a:latin typeface="Arial"/>
                <a:ea typeface="Arial"/>
                <a:cs typeface="Arial"/>
                <a:sym typeface="Arial"/>
              </a:rPr>
              <a:t>✘  </a:t>
            </a:r>
            <a:r>
              <a:rPr b="0" i="0" lang="en-US" sz="145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List every "of" (P13)</a:t>
            </a:r>
            <a:r>
              <a:rPr b="1" i="0" lang="en-US" sz="1450" u="none" cap="none" strike="noStrike">
                <a:solidFill>
                  <a:srgbClr val="C54848"/>
                </a:solidFill>
                <a:latin typeface="Arial"/>
                <a:ea typeface="Arial"/>
                <a:cs typeface="Arial"/>
                <a:sym typeface="Arial"/>
              </a:rPr>
              <a:t>  −5.3 CAR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h14e70d5490eb447_5_198"/>
          <p:cNvSpPr/>
          <p:nvPr/>
        </p:nvSpPr>
        <p:spPr>
          <a:xfrm>
            <a:off x="6217920" y="1508760"/>
            <a:ext cx="5257800" cy="4389000"/>
          </a:xfrm>
          <a:prstGeom prst="roundRect">
            <a:avLst>
              <a:gd fmla="val 2500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h14e70d5490eb447_5_198"/>
          <p:cNvSpPr/>
          <p:nvPr/>
        </p:nvSpPr>
        <p:spPr>
          <a:xfrm>
            <a:off x="6217920" y="1563624"/>
            <a:ext cx="73200" cy="4279500"/>
          </a:xfrm>
          <a:prstGeom prst="rect">
            <a:avLst/>
          </a:prstGeom>
          <a:solidFill>
            <a:srgbClr val="258F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h14e70d5490eb447_5_198"/>
          <p:cNvSpPr txBox="1"/>
          <p:nvPr/>
        </p:nvSpPr>
        <p:spPr>
          <a:xfrm>
            <a:off x="6446520" y="1673352"/>
            <a:ext cx="484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Suggested / decided by team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h14e70d5490eb447_5_198"/>
          <p:cNvSpPr txBox="1"/>
          <p:nvPr/>
        </p:nvSpPr>
        <p:spPr>
          <a:xfrm>
            <a:off x="6446520" y="2194560"/>
            <a:ext cx="4892100" cy="3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69153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369153"/>
                </a:solidFill>
                <a:latin typeface="Arial"/>
                <a:ea typeface="Arial"/>
                <a:cs typeface="Arial"/>
                <a:sym typeface="Arial"/>
              </a:rPr>
              <a:t>✔  </a:t>
            </a:r>
            <a:r>
              <a:rPr b="0" i="0" lang="en-US" sz="145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Baseline and the 9 AUM phrase types (P0, P1)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Clr>
                <a:srgbClr val="369153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369153"/>
                </a:solidFill>
                <a:latin typeface="Arial"/>
                <a:ea typeface="Arial"/>
                <a:cs typeface="Arial"/>
                <a:sym typeface="Arial"/>
              </a:rPr>
              <a:t>✔  </a:t>
            </a:r>
            <a:r>
              <a:rPr b="0" i="0" lang="en-US" sz="145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Caught leakage in P2; rebuilt with hotel examples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Clr>
                <a:srgbClr val="369153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369153"/>
                </a:solidFill>
                <a:latin typeface="Arial"/>
                <a:ea typeface="Arial"/>
                <a:cs typeface="Arial"/>
                <a:sym typeface="Arial"/>
              </a:rPr>
              <a:t>✔  </a:t>
            </a:r>
            <a:r>
              <a:rPr b="0" i="0" lang="en-US" sz="145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Attach prompts as files, never paste (fixed P4/P5)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Clr>
                <a:srgbClr val="369153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369153"/>
                </a:solidFill>
                <a:latin typeface="Arial"/>
                <a:ea typeface="Arial"/>
                <a:cs typeface="Arial"/>
                <a:sym typeface="Arial"/>
              </a:rPr>
              <a:t>✔  </a:t>
            </a:r>
            <a:r>
              <a:rPr b="0" i="0" lang="en-US" sz="145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3 fresh chats per version; the script score decides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Clr>
                <a:srgbClr val="369153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369153"/>
                </a:solidFill>
                <a:latin typeface="Arial"/>
                <a:ea typeface="Arial"/>
                <a:cs typeface="Arial"/>
                <a:sym typeface="Arial"/>
              </a:rPr>
              <a:t>✔  </a:t>
            </a:r>
            <a:r>
              <a:rPr b="0" i="0" lang="en-US" sz="145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Containment matching approved by the professor; chose Ruleset B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Clr>
                <a:srgbClr val="C54848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C54848"/>
                </a:solidFill>
                <a:latin typeface="Arial"/>
                <a:ea typeface="Arial"/>
                <a:cs typeface="Arial"/>
                <a:sym typeface="Arial"/>
              </a:rPr>
              <a:t>✘  </a:t>
            </a:r>
            <a:r>
              <a:rPr b="0" i="0" lang="en-US" sz="145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LLM-run strict scoring prompt: reviewed, not adopted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h14e70d5490eb447_5_213"/>
          <p:cNvSpPr txBox="1"/>
          <p:nvPr/>
        </p:nvSpPr>
        <p:spPr>
          <a:xfrm>
            <a:off x="640080" y="411480"/>
            <a:ext cx="10881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Comparison: Baseline vs. Optimized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h14e70d5490eb447_5_213"/>
          <p:cNvSpPr txBox="1"/>
          <p:nvPr/>
        </p:nvSpPr>
        <p:spPr>
          <a:xfrm>
            <a:off x="658368" y="1005840"/>
            <a:ext cx="10789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Library, 3 runs each, Ruleset 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h14e70d5490eb447_5_213"/>
          <p:cNvSpPr txBox="1"/>
          <p:nvPr/>
        </p:nvSpPr>
        <p:spPr>
          <a:xfrm>
            <a:off x="10881360" y="6473952"/>
            <a:ext cx="64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h14e70d5490eb447_5_213"/>
          <p:cNvSpPr/>
          <p:nvPr/>
        </p:nvSpPr>
        <p:spPr>
          <a:xfrm>
            <a:off x="731520" y="1508760"/>
            <a:ext cx="4892100" cy="4343400"/>
          </a:xfrm>
          <a:prstGeom prst="roundRect">
            <a:avLst>
              <a:gd fmla="val 2526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h14e70d5490eb447_5_213"/>
          <p:cNvSpPr/>
          <p:nvPr/>
        </p:nvSpPr>
        <p:spPr>
          <a:xfrm>
            <a:off x="731520" y="1563624"/>
            <a:ext cx="73200" cy="4233600"/>
          </a:xfrm>
          <a:prstGeom prst="rect">
            <a:avLst/>
          </a:prstGeom>
          <a:solidFill>
            <a:srgbClr val="647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h14e70d5490eb447_5_213"/>
          <p:cNvSpPr txBox="1"/>
          <p:nvPr/>
        </p:nvSpPr>
        <p:spPr>
          <a:xfrm>
            <a:off x="1005840" y="1673352"/>
            <a:ext cx="4480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P0: Baseline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h14e70d5490eb447_5_213"/>
          <p:cNvSpPr txBox="1"/>
          <p:nvPr/>
        </p:nvSpPr>
        <p:spPr>
          <a:xfrm>
            <a:off x="1005840" y="2148840"/>
            <a:ext cx="14631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D37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81.5%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Precision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h14e70d5490eb447_5_213"/>
          <p:cNvSpPr txBox="1"/>
          <p:nvPr/>
        </p:nvSpPr>
        <p:spPr>
          <a:xfrm>
            <a:off x="2487168" y="2148840"/>
            <a:ext cx="14631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D37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88.1%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h14e70d5490eb447_5_213"/>
          <p:cNvSpPr txBox="1"/>
          <p:nvPr/>
        </p:nvSpPr>
        <p:spPr>
          <a:xfrm>
            <a:off x="3968496" y="2148840"/>
            <a:ext cx="14631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484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C54848"/>
                </a:solidFill>
                <a:latin typeface="Arial"/>
                <a:ea typeface="Arial"/>
                <a:cs typeface="Arial"/>
                <a:sym typeface="Arial"/>
              </a:rPr>
              <a:t>84.6%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h14e70d5490eb447_5_213"/>
          <p:cNvSpPr txBox="1"/>
          <p:nvPr/>
        </p:nvSpPr>
        <p:spPr>
          <a:xfrm>
            <a:off x="1005840" y="3429000"/>
            <a:ext cx="4480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Typical output errors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h14e70d5490eb447_5_213"/>
          <p:cNvSpPr txBox="1"/>
          <p:nvPr/>
        </p:nvSpPr>
        <p:spPr>
          <a:xfrm>
            <a:off x="1005840" y="3794760"/>
            <a:ext cx="44349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52D37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Modifiers filed as adjectives: unique, other, current, subject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252D37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reserved / renewed misfiled or missed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252D37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Adjectives F1 0.38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h14e70d5490eb447_5_213"/>
          <p:cNvSpPr/>
          <p:nvPr/>
        </p:nvSpPr>
        <p:spPr>
          <a:xfrm>
            <a:off x="5760720" y="3291840"/>
            <a:ext cx="640200" cy="502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420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h14e70d5490eb447_5_213"/>
          <p:cNvSpPr/>
          <p:nvPr/>
        </p:nvSpPr>
        <p:spPr>
          <a:xfrm>
            <a:off x="6583680" y="1508760"/>
            <a:ext cx="4892100" cy="4343400"/>
          </a:xfrm>
          <a:prstGeom prst="roundRect">
            <a:avLst>
              <a:gd fmla="val 2526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h14e70d5490eb447_5_213"/>
          <p:cNvSpPr/>
          <p:nvPr/>
        </p:nvSpPr>
        <p:spPr>
          <a:xfrm>
            <a:off x="6583680" y="1563624"/>
            <a:ext cx="73200" cy="4233600"/>
          </a:xfrm>
          <a:prstGeom prst="rect">
            <a:avLst/>
          </a:prstGeom>
          <a:solidFill>
            <a:srgbClr val="258F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h14e70d5490eb447_5_213"/>
          <p:cNvSpPr txBox="1"/>
          <p:nvPr/>
        </p:nvSpPr>
        <p:spPr>
          <a:xfrm>
            <a:off x="6858000" y="1673352"/>
            <a:ext cx="4480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P12: Final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h14e70d5490eb447_5_213"/>
          <p:cNvSpPr txBox="1"/>
          <p:nvPr/>
        </p:nvSpPr>
        <p:spPr>
          <a:xfrm>
            <a:off x="6858000" y="2148840"/>
            <a:ext cx="14631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D37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88.4%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Precision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h14e70d5490eb447_5_213"/>
          <p:cNvSpPr txBox="1"/>
          <p:nvPr/>
        </p:nvSpPr>
        <p:spPr>
          <a:xfrm>
            <a:off x="8339328" y="2148840"/>
            <a:ext cx="14631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D37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92.9%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h14e70d5490eb447_5_213"/>
          <p:cNvSpPr txBox="1"/>
          <p:nvPr/>
        </p:nvSpPr>
        <p:spPr>
          <a:xfrm>
            <a:off x="9820656" y="2148840"/>
            <a:ext cx="14631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8F7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58F7A"/>
                </a:solidFill>
                <a:latin typeface="Arial"/>
                <a:ea typeface="Arial"/>
                <a:cs typeface="Arial"/>
                <a:sym typeface="Arial"/>
              </a:rPr>
              <a:t>90.6%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h14e70d5490eb447_5_213"/>
          <p:cNvSpPr txBox="1"/>
          <p:nvPr/>
        </p:nvSpPr>
        <p:spPr>
          <a:xfrm>
            <a:off x="6858000" y="3429000"/>
            <a:ext cx="4480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Typical output errors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h14e70d5490eb447_5_213"/>
          <p:cNvSpPr txBox="1"/>
          <p:nvPr/>
        </p:nvSpPr>
        <p:spPr>
          <a:xfrm>
            <a:off x="6858000" y="3794760"/>
            <a:ext cx="44349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52D37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Adjectives: only real values (French, beginner, valid, daily)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252D37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Verbs F1 0.97; X of Y F1 0.97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252D37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Still missed: book bar code; "two" in the X is a Y sentence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h14e70d5490eb447_5_213"/>
          <p:cNvSpPr txBox="1"/>
          <p:nvPr/>
        </p:nvSpPr>
        <p:spPr>
          <a:xfrm>
            <a:off x="731520" y="6053328"/>
            <a:ext cx="10698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Peak library F1 was 93.6% at P6. P12 trades 3 points on library for +9.7 on NTSS and +14.8 on car rental.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h14e70d5490eb447_5_238"/>
          <p:cNvSpPr txBox="1"/>
          <p:nvPr/>
        </p:nvSpPr>
        <p:spPr>
          <a:xfrm>
            <a:off x="640080" y="411480"/>
            <a:ext cx="10881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Final Optimized Prompt (P12 = v5.6)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h14e70d5490eb447_5_238"/>
          <p:cNvSpPr txBox="1"/>
          <p:nvPr/>
        </p:nvSpPr>
        <p:spPr>
          <a:xfrm>
            <a:off x="658368" y="1005840"/>
            <a:ext cx="10789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Structure of the prompt • complete text in Appendix (slides 18–21) and domain_phrase_prompt_v5.6.md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h14e70d5490eb447_5_238"/>
          <p:cNvSpPr txBox="1"/>
          <p:nvPr/>
        </p:nvSpPr>
        <p:spPr>
          <a:xfrm>
            <a:off x="10881360" y="6473952"/>
            <a:ext cx="64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h14e70d5490eb447_5_238"/>
          <p:cNvSpPr/>
          <p:nvPr/>
        </p:nvSpPr>
        <p:spPr>
          <a:xfrm>
            <a:off x="731520" y="1508760"/>
            <a:ext cx="3429000" cy="2011800"/>
          </a:xfrm>
          <a:prstGeom prst="roundRect">
            <a:avLst>
              <a:gd fmla="val 5455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h14e70d5490eb447_5_238"/>
          <p:cNvSpPr/>
          <p:nvPr/>
        </p:nvSpPr>
        <p:spPr>
          <a:xfrm>
            <a:off x="731520" y="1563624"/>
            <a:ext cx="73200" cy="1902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h14e70d5490eb447_5_238"/>
          <p:cNvSpPr txBox="1"/>
          <p:nvPr/>
        </p:nvSpPr>
        <p:spPr>
          <a:xfrm>
            <a:off x="960120" y="1673352"/>
            <a:ext cx="301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Role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h14e70d5490eb447_5_238"/>
          <p:cNvSpPr txBox="1"/>
          <p:nvPr/>
        </p:nvSpPr>
        <p:spPr>
          <a:xfrm>
            <a:off x="960120" y="2103120"/>
            <a:ext cx="30174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D37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AUM specialist; follow the rules exactly, not your own linguistic judgment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h14e70d5490eb447_5_238"/>
          <p:cNvSpPr/>
          <p:nvPr/>
        </p:nvSpPr>
        <p:spPr>
          <a:xfrm>
            <a:off x="4389120" y="1508760"/>
            <a:ext cx="3429000" cy="2011800"/>
          </a:xfrm>
          <a:prstGeom prst="roundRect">
            <a:avLst>
              <a:gd fmla="val 5455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h14e70d5490eb447_5_238"/>
          <p:cNvSpPr/>
          <p:nvPr/>
        </p:nvSpPr>
        <p:spPr>
          <a:xfrm>
            <a:off x="4389120" y="1563624"/>
            <a:ext cx="73200" cy="1902000"/>
          </a:xfrm>
          <a:prstGeom prst="rect">
            <a:avLst/>
          </a:prstGeom>
          <a:solidFill>
            <a:srgbClr val="E28B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h14e70d5490eb447_5_238"/>
          <p:cNvSpPr txBox="1"/>
          <p:nvPr/>
        </p:nvSpPr>
        <p:spPr>
          <a:xfrm>
            <a:off x="4617720" y="1673352"/>
            <a:ext cx="301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Constraints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h14e70d5490eb447_5_238"/>
          <p:cNvSpPr txBox="1"/>
          <p:nvPr/>
        </p:nvSpPr>
        <p:spPr>
          <a:xfrm>
            <a:off x="4617720" y="2103120"/>
            <a:ext cx="30174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D37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Only phrases in the text • no paraphrase • skip background • no proper names except the system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h14e70d5490eb447_5_238"/>
          <p:cNvSpPr/>
          <p:nvPr/>
        </p:nvSpPr>
        <p:spPr>
          <a:xfrm>
            <a:off x="8046720" y="1508760"/>
            <a:ext cx="3429000" cy="2011800"/>
          </a:xfrm>
          <a:prstGeom prst="roundRect">
            <a:avLst>
              <a:gd fmla="val 5455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h14e70d5490eb447_5_238"/>
          <p:cNvSpPr/>
          <p:nvPr/>
        </p:nvSpPr>
        <p:spPr>
          <a:xfrm>
            <a:off x="8046720" y="1563624"/>
            <a:ext cx="73200" cy="1902000"/>
          </a:xfrm>
          <a:prstGeom prst="rect">
            <a:avLst/>
          </a:prstGeom>
          <a:solidFill>
            <a:srgbClr val="258F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h14e70d5490eb447_5_238"/>
          <p:cNvSpPr txBox="1"/>
          <p:nvPr/>
        </p:nvSpPr>
        <p:spPr>
          <a:xfrm>
            <a:off x="8275320" y="1673352"/>
            <a:ext cx="301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h14e70d5490eb447_5_238"/>
          <p:cNvSpPr txBox="1"/>
          <p:nvPr/>
        </p:nvSpPr>
        <p:spPr>
          <a:xfrm>
            <a:off x="8275320" y="2103120"/>
            <a:ext cx="30174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D37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One rule block per AUM phrase type (9 types), each with inclusion and exclusion tests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h14e70d5490eb447_5_238"/>
          <p:cNvSpPr/>
          <p:nvPr/>
        </p:nvSpPr>
        <p:spPr>
          <a:xfrm>
            <a:off x="731520" y="3749040"/>
            <a:ext cx="3429000" cy="2011800"/>
          </a:xfrm>
          <a:prstGeom prst="roundRect">
            <a:avLst>
              <a:gd fmla="val 5455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h14e70d5490eb447_5_238"/>
          <p:cNvSpPr/>
          <p:nvPr/>
        </p:nvSpPr>
        <p:spPr>
          <a:xfrm>
            <a:off x="731520" y="3803904"/>
            <a:ext cx="73200" cy="1902000"/>
          </a:xfrm>
          <a:prstGeom prst="rect">
            <a:avLst/>
          </a:prstGeom>
          <a:solidFill>
            <a:srgbClr val="C548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h14e70d5490eb447_5_238"/>
          <p:cNvSpPr txBox="1"/>
          <p:nvPr/>
        </p:nvSpPr>
        <p:spPr>
          <a:xfrm>
            <a:off x="960120" y="3913632"/>
            <a:ext cx="301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Reasoning steps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h14e70d5490eb447_5_238"/>
          <p:cNvSpPr txBox="1"/>
          <p:nvPr/>
        </p:nvSpPr>
        <p:spPr>
          <a:xfrm>
            <a:off x="960120" y="4343400"/>
            <a:ext cx="30174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D37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&lt;analysis&gt; first: adjective table (word | class | attribute | alternative value), then verb → next word → phrase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h14e70d5490eb447_5_238"/>
          <p:cNvSpPr/>
          <p:nvPr/>
        </p:nvSpPr>
        <p:spPr>
          <a:xfrm>
            <a:off x="4389120" y="3749040"/>
            <a:ext cx="3429000" cy="2011800"/>
          </a:xfrm>
          <a:prstGeom prst="roundRect">
            <a:avLst>
              <a:gd fmla="val 5455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h14e70d5490eb447_5_238"/>
          <p:cNvSpPr/>
          <p:nvPr/>
        </p:nvSpPr>
        <p:spPr>
          <a:xfrm>
            <a:off x="4389120" y="3803904"/>
            <a:ext cx="73200" cy="1902000"/>
          </a:xfrm>
          <a:prstGeom prst="rect">
            <a:avLst/>
          </a:prstGeom>
          <a:solidFill>
            <a:srgbClr val="3691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h14e70d5490eb447_5_238"/>
          <p:cNvSpPr txBox="1"/>
          <p:nvPr/>
        </p:nvSpPr>
        <p:spPr>
          <a:xfrm>
            <a:off x="4617720" y="3913632"/>
            <a:ext cx="301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Output format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h14e70d5490eb447_5_238"/>
          <p:cNvSpPr txBox="1"/>
          <p:nvPr/>
        </p:nvSpPr>
        <p:spPr>
          <a:xfrm>
            <a:off x="4617720" y="4343400"/>
            <a:ext cx="30174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D37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Fixed category headers inside &lt;answer&gt;, one phrase per line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h14e70d5490eb447_5_238"/>
          <p:cNvSpPr/>
          <p:nvPr/>
        </p:nvSpPr>
        <p:spPr>
          <a:xfrm>
            <a:off x="8046720" y="3749040"/>
            <a:ext cx="3429000" cy="2011800"/>
          </a:xfrm>
          <a:prstGeom prst="roundRect">
            <a:avLst>
              <a:gd fmla="val 5455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h14e70d5490eb447_5_238"/>
          <p:cNvSpPr/>
          <p:nvPr/>
        </p:nvSpPr>
        <p:spPr>
          <a:xfrm>
            <a:off x="8046720" y="3803904"/>
            <a:ext cx="73200" cy="1902000"/>
          </a:xfrm>
          <a:prstGeom prst="rect">
            <a:avLst/>
          </a:prstGeom>
          <a:solidFill>
            <a:srgbClr val="1420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h14e70d5490eb447_5_238"/>
          <p:cNvSpPr txBox="1"/>
          <p:nvPr/>
        </p:nvSpPr>
        <p:spPr>
          <a:xfrm>
            <a:off x="8275320" y="3913632"/>
            <a:ext cx="301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h14e70d5490eb447_5_238"/>
          <p:cNvSpPr txBox="1"/>
          <p:nvPr/>
        </p:nvSpPr>
        <p:spPr>
          <a:xfrm>
            <a:off x="8275320" y="4343400"/>
            <a:ext cx="30174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D37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One hotel-domain example that exercises every rule; no test-domain wording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h14e70d5490eb447_5_292"/>
          <p:cNvSpPr txBox="1"/>
          <p:nvPr/>
        </p:nvSpPr>
        <p:spPr>
          <a:xfrm>
            <a:off x="640080" y="411480"/>
            <a:ext cx="10881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Lessons Learned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h14e70d5490eb447_5_292"/>
          <p:cNvSpPr txBox="1"/>
          <p:nvPr/>
        </p:nvSpPr>
        <p:spPr>
          <a:xfrm>
            <a:off x="658368" y="1005840"/>
            <a:ext cx="10789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Findings from this project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h14e70d5490eb447_5_292"/>
          <p:cNvSpPr txBox="1"/>
          <p:nvPr/>
        </p:nvSpPr>
        <p:spPr>
          <a:xfrm>
            <a:off x="10881360" y="6473952"/>
            <a:ext cx="64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h14e70d5490eb447_5_292"/>
          <p:cNvSpPr/>
          <p:nvPr/>
        </p:nvSpPr>
        <p:spPr>
          <a:xfrm>
            <a:off x="777240" y="1618488"/>
            <a:ext cx="457200" cy="45720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h14e70d5490eb447_5_292"/>
          <p:cNvSpPr txBox="1"/>
          <p:nvPr/>
        </p:nvSpPr>
        <p:spPr>
          <a:xfrm>
            <a:off x="777240" y="16184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h14e70d5490eb447_5_292"/>
          <p:cNvSpPr txBox="1"/>
          <p:nvPr/>
        </p:nvSpPr>
        <p:spPr>
          <a:xfrm>
            <a:off x="1463040" y="1481328"/>
            <a:ext cx="9966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The expert keys disagree, which caps any single prompt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252D3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Library and NTSS mark everything that fits a rule; car rental keeps only what reaches the model. 3 car rental answers are not in the document.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h14e70d5490eb447_5_292"/>
          <p:cNvSpPr/>
          <p:nvPr/>
        </p:nvSpPr>
        <p:spPr>
          <a:xfrm>
            <a:off x="777240" y="2532888"/>
            <a:ext cx="457200" cy="457200"/>
          </a:xfrm>
          <a:prstGeom prst="ellipse">
            <a:avLst/>
          </a:prstGeom>
          <a:solidFill>
            <a:srgbClr val="E28B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h14e70d5490eb447_5_292"/>
          <p:cNvSpPr txBox="1"/>
          <p:nvPr/>
        </p:nvSpPr>
        <p:spPr>
          <a:xfrm>
            <a:off x="777240" y="25328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h14e70d5490eb447_5_292"/>
          <p:cNvSpPr txBox="1"/>
          <p:nvPr/>
        </p:nvSpPr>
        <p:spPr>
          <a:xfrm>
            <a:off x="1463040" y="2395728"/>
            <a:ext cx="9966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Improving one domain moved another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252D3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NTSS and car rental rules cost library 3 points. P13 raised X of Y but cut car rental 5.3, so we kept the best version, not the newest.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h14e70d5490eb447_5_292"/>
          <p:cNvSpPr/>
          <p:nvPr/>
        </p:nvSpPr>
        <p:spPr>
          <a:xfrm>
            <a:off x="777240" y="3447288"/>
            <a:ext cx="457200" cy="457200"/>
          </a:xfrm>
          <a:prstGeom prst="ellipse">
            <a:avLst/>
          </a:prstGeom>
          <a:solidFill>
            <a:srgbClr val="258F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h14e70d5490eb447_5_292"/>
          <p:cNvSpPr txBox="1"/>
          <p:nvPr/>
        </p:nvSpPr>
        <p:spPr>
          <a:xfrm>
            <a:off x="777240" y="34472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h14e70d5490eb447_5_292"/>
          <p:cNvSpPr txBox="1"/>
          <p:nvPr/>
        </p:nvSpPr>
        <p:spPr>
          <a:xfrm>
            <a:off x="1463040" y="3310128"/>
            <a:ext cx="9966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Making a rule an analysis step beat stating it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252D3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"Transitive verbs only" was ignored. "Write each verb's next word" fixed prepositions: car rental +6.2.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h14e70d5490eb447_5_292"/>
          <p:cNvSpPr/>
          <p:nvPr/>
        </p:nvSpPr>
        <p:spPr>
          <a:xfrm>
            <a:off x="777240" y="4361688"/>
            <a:ext cx="457200" cy="457200"/>
          </a:xfrm>
          <a:prstGeom prst="ellipse">
            <a:avLst/>
          </a:prstGeom>
          <a:solidFill>
            <a:srgbClr val="C548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h14e70d5490eb447_5_292"/>
          <p:cNvSpPr txBox="1"/>
          <p:nvPr/>
        </p:nvSpPr>
        <p:spPr>
          <a:xfrm>
            <a:off x="777240" y="43616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h14e70d5490eb447_5_292"/>
          <p:cNvSpPr txBox="1"/>
          <p:nvPr/>
        </p:nvSpPr>
        <p:spPr>
          <a:xfrm>
            <a:off x="1463040" y="4224528"/>
            <a:ext cx="9966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How the prompt is delivered matters as much as its content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252D3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Pasting stripped placeholders (P4 invalid, P5 −4.6). Attaching as a file cut run spread from 6.7 to 0.5 points.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h14e70d5490eb447_5_292"/>
          <p:cNvSpPr/>
          <p:nvPr/>
        </p:nvSpPr>
        <p:spPr>
          <a:xfrm>
            <a:off x="777240" y="5276088"/>
            <a:ext cx="457200" cy="457200"/>
          </a:xfrm>
          <a:prstGeom prst="ellipse">
            <a:avLst/>
          </a:prstGeom>
          <a:solidFill>
            <a:srgbClr val="3691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h14e70d5490eb447_5_292"/>
          <p:cNvSpPr txBox="1"/>
          <p:nvPr/>
        </p:nvSpPr>
        <p:spPr>
          <a:xfrm>
            <a:off x="777240" y="52760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h14e70d5490eb447_5_292"/>
          <p:cNvSpPr txBox="1"/>
          <p:nvPr/>
        </p:nvSpPr>
        <p:spPr>
          <a:xfrm>
            <a:off x="1463040" y="5138928"/>
            <a:ext cx="9966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Scoring choices change conclusions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252D3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A mislabeled key category capped a perfect answer at 98.2%. LLM self-scores ran ~9 points high. Exact vs. containment: 74.3% vs. 90.6%.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h14e70d5490eb447_5_269"/>
          <p:cNvSpPr txBox="1"/>
          <p:nvPr/>
        </p:nvSpPr>
        <p:spPr>
          <a:xfrm>
            <a:off x="640080" y="411480"/>
            <a:ext cx="10881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Result Generalization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h14e70d5490eb447_5_269"/>
          <p:cNvSpPr txBox="1"/>
          <p:nvPr/>
        </p:nvSpPr>
        <p:spPr>
          <a:xfrm>
            <a:off x="658368" y="1005840"/>
            <a:ext cx="10789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Final prompt (P12) tested unchanged on all three inputs • 3 fresh runs each • Ruleset 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h14e70d5490eb447_5_269"/>
          <p:cNvSpPr txBox="1"/>
          <p:nvPr/>
        </p:nvSpPr>
        <p:spPr>
          <a:xfrm>
            <a:off x="10881360" y="6473952"/>
            <a:ext cx="64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h14e70d5490eb447_5_269"/>
          <p:cNvSpPr/>
          <p:nvPr/>
        </p:nvSpPr>
        <p:spPr>
          <a:xfrm>
            <a:off x="731520" y="1554480"/>
            <a:ext cx="3429000" cy="39318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h14e70d5490eb447_5_269"/>
          <p:cNvSpPr/>
          <p:nvPr/>
        </p:nvSpPr>
        <p:spPr>
          <a:xfrm>
            <a:off x="731520" y="1609344"/>
            <a:ext cx="73200" cy="38223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h14e70d5490eb447_5_269"/>
          <p:cNvSpPr txBox="1"/>
          <p:nvPr/>
        </p:nvSpPr>
        <p:spPr>
          <a:xfrm>
            <a:off x="1005840" y="1737360"/>
            <a:ext cx="301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Library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h14e70d5490eb447_5_269"/>
          <p:cNvSpPr txBox="1"/>
          <p:nvPr/>
        </p:nvSpPr>
        <p:spPr>
          <a:xfrm>
            <a:off x="1005840" y="2240280"/>
            <a:ext cx="30174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rPr>
              <a:t>90.6%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h14e70d5490eb447_5_269"/>
          <p:cNvSpPr txBox="1"/>
          <p:nvPr/>
        </p:nvSpPr>
        <p:spPr>
          <a:xfrm>
            <a:off x="1005840" y="3657600"/>
            <a:ext cx="30174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Precision  </a:t>
            </a:r>
            <a:r>
              <a:rPr b="1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88.4%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Recall  </a:t>
            </a:r>
            <a:r>
              <a:rPr b="1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92.9%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Runs  </a:t>
            </a:r>
            <a:r>
              <a:rPr b="0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88.5 / 90.9 / 92.3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h14e70d5490eb447_5_269"/>
          <p:cNvSpPr/>
          <p:nvPr/>
        </p:nvSpPr>
        <p:spPr>
          <a:xfrm>
            <a:off x="4389120" y="1554480"/>
            <a:ext cx="3429000" cy="39318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h14e70d5490eb447_5_269"/>
          <p:cNvSpPr/>
          <p:nvPr/>
        </p:nvSpPr>
        <p:spPr>
          <a:xfrm>
            <a:off x="4389120" y="1609344"/>
            <a:ext cx="73200" cy="3822300"/>
          </a:xfrm>
          <a:prstGeom prst="rect">
            <a:avLst/>
          </a:prstGeom>
          <a:solidFill>
            <a:srgbClr val="258F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h14e70d5490eb447_5_269"/>
          <p:cNvSpPr txBox="1"/>
          <p:nvPr/>
        </p:nvSpPr>
        <p:spPr>
          <a:xfrm>
            <a:off x="4663440" y="1737360"/>
            <a:ext cx="301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Car Rental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h14e70d5490eb447_5_269"/>
          <p:cNvSpPr txBox="1"/>
          <p:nvPr/>
        </p:nvSpPr>
        <p:spPr>
          <a:xfrm>
            <a:off x="4663440" y="2240280"/>
            <a:ext cx="30174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8F7A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258F7A"/>
                </a:solidFill>
                <a:latin typeface="Arial"/>
                <a:ea typeface="Arial"/>
                <a:cs typeface="Arial"/>
                <a:sym typeface="Arial"/>
              </a:rPr>
              <a:t>55.6%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h14e70d5490eb447_5_269"/>
          <p:cNvSpPr txBox="1"/>
          <p:nvPr/>
        </p:nvSpPr>
        <p:spPr>
          <a:xfrm>
            <a:off x="4663440" y="3657600"/>
            <a:ext cx="30174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Precision  </a:t>
            </a:r>
            <a:r>
              <a:rPr b="1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46.9%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Recall  </a:t>
            </a:r>
            <a:r>
              <a:rPr b="1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68.2%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Runs  </a:t>
            </a:r>
            <a:r>
              <a:rPr b="0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55.1 / 54.6 / 57.0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h14e70d5490eb447_5_269"/>
          <p:cNvSpPr/>
          <p:nvPr/>
        </p:nvSpPr>
        <p:spPr>
          <a:xfrm>
            <a:off x="8046720" y="1554480"/>
            <a:ext cx="3429000" cy="39318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h14e70d5490eb447_5_269"/>
          <p:cNvSpPr/>
          <p:nvPr/>
        </p:nvSpPr>
        <p:spPr>
          <a:xfrm>
            <a:off x="8046720" y="1609344"/>
            <a:ext cx="73200" cy="3822300"/>
          </a:xfrm>
          <a:prstGeom prst="rect">
            <a:avLst/>
          </a:prstGeom>
          <a:solidFill>
            <a:srgbClr val="E28B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h14e70d5490eb447_5_269"/>
          <p:cNvSpPr txBox="1"/>
          <p:nvPr/>
        </p:nvSpPr>
        <p:spPr>
          <a:xfrm>
            <a:off x="8321040" y="1737360"/>
            <a:ext cx="301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National Trade Show Service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h14e70d5490eb447_5_269"/>
          <p:cNvSpPr txBox="1"/>
          <p:nvPr/>
        </p:nvSpPr>
        <p:spPr>
          <a:xfrm>
            <a:off x="8321040" y="2240280"/>
            <a:ext cx="30174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8B37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E28B37"/>
                </a:solidFill>
                <a:latin typeface="Arial"/>
                <a:ea typeface="Arial"/>
                <a:cs typeface="Arial"/>
                <a:sym typeface="Arial"/>
              </a:rPr>
              <a:t>78.9%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h14e70d5490eb447_5_269"/>
          <p:cNvSpPr txBox="1"/>
          <p:nvPr/>
        </p:nvSpPr>
        <p:spPr>
          <a:xfrm>
            <a:off x="8321040" y="3657600"/>
            <a:ext cx="30174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Precision  </a:t>
            </a:r>
            <a:r>
              <a:rPr b="1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70.0%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Recall  </a:t>
            </a:r>
            <a:r>
              <a:rPr b="1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90.6%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Runs  </a:t>
            </a:r>
            <a:r>
              <a:rPr b="0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78.0 / 76.7 / 82.1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h14e70d5490eb447_5_269"/>
          <p:cNvSpPr txBox="1"/>
          <p:nvPr/>
        </p:nvSpPr>
        <p:spPr>
          <a:xfrm>
            <a:off x="731520" y="5760720"/>
            <a:ext cx="10698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The 97% goal was not reached on any domain. Car rental's key is curated, and 3 of its 64 answers do not appear in the document.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h14e70d5490eb447_11_30"/>
          <p:cNvSpPr txBox="1"/>
          <p:nvPr/>
        </p:nvSpPr>
        <p:spPr>
          <a:xfrm>
            <a:off x="640080" y="411480"/>
            <a:ext cx="10881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C</a:t>
            </a:r>
            <a:r>
              <a:rPr b="1" i="0" lang="en-US" sz="2800" u="none" cap="none" strike="noStrike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0 — Initial </a:t>
            </a:r>
            <a:r>
              <a:rPr b="1" lang="en-US" sz="2800">
                <a:solidFill>
                  <a:srgbClr val="13233D"/>
                </a:solidFill>
              </a:rPr>
              <a:t>Classification</a:t>
            </a:r>
            <a:r>
              <a:rPr lang="en-US" sz="1100">
                <a:solidFill>
                  <a:schemeClr val="dk1"/>
                </a:solidFill>
              </a:rPr>
              <a:t> </a:t>
            </a:r>
            <a:r>
              <a:rPr b="1" i="0" lang="en-US" sz="2800" u="none" cap="none" strike="noStrike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Prompt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h14e70d5490eb447_11_30"/>
          <p:cNvSpPr txBox="1"/>
          <p:nvPr/>
        </p:nvSpPr>
        <p:spPr>
          <a:xfrm>
            <a:off x="658368" y="1005840"/>
            <a:ext cx="10789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Library domain • 3 independent runs •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h14e70d5490eb447_11_30"/>
          <p:cNvSpPr txBox="1"/>
          <p:nvPr/>
        </p:nvSpPr>
        <p:spPr>
          <a:xfrm>
            <a:off x="10881360" y="6473952"/>
            <a:ext cx="64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h14e70d5490eb447_11_30"/>
          <p:cNvSpPr/>
          <p:nvPr/>
        </p:nvSpPr>
        <p:spPr>
          <a:xfrm>
            <a:off x="731520" y="1463040"/>
            <a:ext cx="5898000" cy="4617600"/>
          </a:xfrm>
          <a:prstGeom prst="roundRect">
            <a:avLst>
              <a:gd fmla="val 2376" name="adj"/>
            </a:avLst>
          </a:prstGeom>
          <a:solidFill>
            <a:srgbClr val="F5F7FA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h14e70d5490eb447_11_30"/>
          <p:cNvSpPr txBox="1"/>
          <p:nvPr/>
        </p:nvSpPr>
        <p:spPr>
          <a:xfrm>
            <a:off x="914400" y="1572768"/>
            <a:ext cx="55779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Your task is to classify the domain-specific phrases</a:t>
            </a:r>
            <a:b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provided below into an object-oriented domain model structure.</a:t>
            </a:r>
            <a:b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Use the attached "Domain Description" and</a:t>
            </a:r>
            <a:b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"Classification Rules" files when performing the classification.</a:t>
            </a:r>
            <a:b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&lt;domain_specific_phrases&gt;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CLASSIFICATION TARGETS</a:t>
            </a:r>
            <a:b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Classes: &lt;class&gt;</a:t>
            </a:r>
            <a:b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Attributes: &lt;class&gt;.&lt;attribute&gt;</a:t>
            </a:r>
            <a:b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Relationships:</a:t>
            </a:r>
            <a:b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* Association: as(&lt;label&gt;, &lt;classA&gt;, &lt;classB&gt;)</a:t>
            </a:r>
            <a:b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* Generalization: isa(&lt;child&gt;, &lt;parent&gt;)</a:t>
            </a:r>
            <a:b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* Aggregation: ag(&lt;whole&gt;, &lt;part&gt;)</a:t>
            </a:r>
            <a:b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Association Classes: &lt;name&gt;(&lt;classA&gt;, &lt;classB&gt;)</a:t>
            </a:r>
            <a:b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STRICT OUTPUT FORMAT</a:t>
            </a:r>
            <a:b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CLASSES:</a:t>
            </a:r>
            <a:b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ATTRIBUTES:</a:t>
            </a:r>
            <a:b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RELATIONSHIPS:</a:t>
            </a:r>
            <a:b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ASSOCIATION CLASSES:</a:t>
            </a:r>
            <a:b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 not include explanations, reasoning, notes,</a:t>
            </a:r>
            <a:b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 additional commentary.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900"/>
              <a:buFont typeface="Courier New"/>
              <a:buNone/>
            </a:pPr>
            <a:r>
              <a:t/>
            </a:r>
            <a:endParaRPr sz="900">
              <a:solidFill>
                <a:srgbClr val="14203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7" name="Google Shape;437;h14e70d5490eb447_11_30"/>
          <p:cNvSpPr/>
          <p:nvPr/>
        </p:nvSpPr>
        <p:spPr>
          <a:xfrm>
            <a:off x="6858000" y="1463040"/>
            <a:ext cx="1417200" cy="1828800"/>
          </a:xfrm>
          <a:prstGeom prst="roundRect">
            <a:avLst>
              <a:gd fmla="val 7742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h14e70d5490eb447_11_30"/>
          <p:cNvSpPr/>
          <p:nvPr/>
        </p:nvSpPr>
        <p:spPr>
          <a:xfrm>
            <a:off x="6858000" y="1517904"/>
            <a:ext cx="73200" cy="1719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h14e70d5490eb447_11_30"/>
          <p:cNvSpPr txBox="1"/>
          <p:nvPr/>
        </p:nvSpPr>
        <p:spPr>
          <a:xfrm>
            <a:off x="7086600" y="1627632"/>
            <a:ext cx="1051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Precision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h14e70d5490eb447_11_30"/>
          <p:cNvSpPr txBox="1"/>
          <p:nvPr/>
        </p:nvSpPr>
        <p:spPr>
          <a:xfrm>
            <a:off x="7059168" y="2029968"/>
            <a:ext cx="1143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2B6CB0"/>
                </a:solidFill>
              </a:rPr>
              <a:t>35</a:t>
            </a:r>
            <a:r>
              <a:rPr b="1" i="0" lang="en-US" sz="2400" u="none" cap="none" strike="noStrike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1" lang="en-US" sz="2400">
                <a:solidFill>
                  <a:srgbClr val="2B6CB0"/>
                </a:solidFill>
              </a:rPr>
              <a:t>82</a:t>
            </a:r>
            <a:r>
              <a:rPr b="1" i="0" lang="en-US" sz="2400" u="none" cap="none" strike="noStrike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h14e70d5490eb447_11_30"/>
          <p:cNvSpPr/>
          <p:nvPr/>
        </p:nvSpPr>
        <p:spPr>
          <a:xfrm>
            <a:off x="8458200" y="1463040"/>
            <a:ext cx="1417200" cy="1828800"/>
          </a:xfrm>
          <a:prstGeom prst="roundRect">
            <a:avLst>
              <a:gd fmla="val 7742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h14e70d5490eb447_11_30"/>
          <p:cNvSpPr/>
          <p:nvPr/>
        </p:nvSpPr>
        <p:spPr>
          <a:xfrm>
            <a:off x="8458200" y="1517904"/>
            <a:ext cx="73200" cy="1719000"/>
          </a:xfrm>
          <a:prstGeom prst="rect">
            <a:avLst/>
          </a:prstGeom>
          <a:solidFill>
            <a:srgbClr val="E28B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h14e70d5490eb447_11_30"/>
          <p:cNvSpPr txBox="1"/>
          <p:nvPr/>
        </p:nvSpPr>
        <p:spPr>
          <a:xfrm>
            <a:off x="8686800" y="1627632"/>
            <a:ext cx="1051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h14e70d5490eb447_11_30"/>
          <p:cNvSpPr txBox="1"/>
          <p:nvPr/>
        </p:nvSpPr>
        <p:spPr>
          <a:xfrm>
            <a:off x="8659368" y="2029968"/>
            <a:ext cx="1143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8B37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E28B37"/>
                </a:solidFill>
              </a:rPr>
              <a:t>51</a:t>
            </a:r>
            <a:r>
              <a:rPr b="1" i="0" lang="en-US" sz="2400" u="none" cap="none" strike="noStrike">
                <a:solidFill>
                  <a:srgbClr val="E28B37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1" lang="en-US" sz="2400">
                <a:solidFill>
                  <a:srgbClr val="E28B37"/>
                </a:solidFill>
              </a:rPr>
              <a:t>85</a:t>
            </a:r>
            <a:r>
              <a:rPr b="1" i="0" lang="en-US" sz="2400" u="none" cap="none" strike="noStrike">
                <a:solidFill>
                  <a:srgbClr val="E28B37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h14e70d5490eb447_11_30"/>
          <p:cNvSpPr/>
          <p:nvPr/>
        </p:nvSpPr>
        <p:spPr>
          <a:xfrm>
            <a:off x="10058400" y="1463040"/>
            <a:ext cx="1417200" cy="1828800"/>
          </a:xfrm>
          <a:prstGeom prst="roundRect">
            <a:avLst>
              <a:gd fmla="val 7742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h14e70d5490eb447_11_30"/>
          <p:cNvSpPr/>
          <p:nvPr/>
        </p:nvSpPr>
        <p:spPr>
          <a:xfrm>
            <a:off x="10058400" y="1517904"/>
            <a:ext cx="73200" cy="1719000"/>
          </a:xfrm>
          <a:prstGeom prst="rect">
            <a:avLst/>
          </a:prstGeom>
          <a:solidFill>
            <a:srgbClr val="C548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h14e70d5490eb447_11_30"/>
          <p:cNvSpPr txBox="1"/>
          <p:nvPr/>
        </p:nvSpPr>
        <p:spPr>
          <a:xfrm>
            <a:off x="10287000" y="1627632"/>
            <a:ext cx="1051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h14e70d5490eb447_11_30"/>
          <p:cNvSpPr txBox="1"/>
          <p:nvPr/>
        </p:nvSpPr>
        <p:spPr>
          <a:xfrm>
            <a:off x="10259568" y="2029968"/>
            <a:ext cx="1143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4848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54848"/>
                </a:solidFill>
                <a:latin typeface="Arial"/>
                <a:ea typeface="Arial"/>
                <a:cs typeface="Arial"/>
                <a:sym typeface="Arial"/>
              </a:rPr>
              <a:t>41.</a:t>
            </a:r>
            <a:r>
              <a:rPr b="1" lang="en-US" sz="2400">
                <a:solidFill>
                  <a:srgbClr val="C54848"/>
                </a:solidFill>
              </a:rPr>
              <a:t>87</a:t>
            </a:r>
            <a:r>
              <a:rPr b="1" i="0" lang="en-US" sz="2400" u="none" cap="none" strike="noStrike">
                <a:solidFill>
                  <a:srgbClr val="C54848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h14e70d5490eb447_11_30"/>
          <p:cNvSpPr txBox="1"/>
          <p:nvPr/>
        </p:nvSpPr>
        <p:spPr>
          <a:xfrm>
            <a:off x="10287000" y="2724912"/>
            <a:ext cx="105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runs </a:t>
            </a:r>
            <a:r>
              <a:rPr lang="en-US" sz="1100">
                <a:solidFill>
                  <a:srgbClr val="64707E"/>
                </a:solidFill>
              </a:rPr>
              <a:t>35</a:t>
            </a:r>
            <a:r>
              <a:rPr b="0" i="0" lang="en-US" sz="11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1100">
                <a:solidFill>
                  <a:srgbClr val="64707E"/>
                </a:solidFill>
              </a:rPr>
              <a:t>9</a:t>
            </a:r>
            <a:r>
              <a:rPr b="0" i="0" lang="en-US" sz="11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en-US" sz="1100">
                <a:solidFill>
                  <a:srgbClr val="64707E"/>
                </a:solidFill>
              </a:rPr>
              <a:t>40</a:t>
            </a:r>
            <a:r>
              <a:rPr b="0" i="0" lang="en-US" sz="11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1100">
                <a:solidFill>
                  <a:srgbClr val="64707E"/>
                </a:solidFill>
              </a:rPr>
              <a:t>58</a:t>
            </a:r>
            <a:r>
              <a:rPr b="0" i="0" lang="en-US" sz="11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en-US" sz="1100">
                <a:solidFill>
                  <a:srgbClr val="64707E"/>
                </a:solidFill>
              </a:rPr>
              <a:t>49</a:t>
            </a:r>
            <a:r>
              <a:rPr b="0" i="0" lang="en-US" sz="11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1100">
                <a:solidFill>
                  <a:srgbClr val="64707E"/>
                </a:solidFill>
              </a:rPr>
              <a:t>87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h14e70d5490eb447_11_30"/>
          <p:cNvSpPr/>
          <p:nvPr/>
        </p:nvSpPr>
        <p:spPr>
          <a:xfrm>
            <a:off x="6858000" y="3520440"/>
            <a:ext cx="4617600" cy="123450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h14e70d5490eb447_11_30"/>
          <p:cNvSpPr/>
          <p:nvPr/>
        </p:nvSpPr>
        <p:spPr>
          <a:xfrm>
            <a:off x="6858000" y="3575304"/>
            <a:ext cx="73200" cy="1124700"/>
          </a:xfrm>
          <a:prstGeom prst="rect">
            <a:avLst/>
          </a:prstGeom>
          <a:solidFill>
            <a:srgbClr val="C548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h14e70d5490eb447_11_30"/>
          <p:cNvSpPr txBox="1"/>
          <p:nvPr/>
        </p:nvSpPr>
        <p:spPr>
          <a:xfrm>
            <a:off x="7086600" y="3685032"/>
            <a:ext cx="4206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Error analysis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h14e70d5490eb447_11_30"/>
          <p:cNvSpPr txBox="1"/>
          <p:nvPr/>
        </p:nvSpPr>
        <p:spPr>
          <a:xfrm>
            <a:off x="7086600" y="4050725"/>
            <a:ext cx="4206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13233D"/>
                </a:solidFill>
              </a:rPr>
              <a:t>Baseline produced many false positives. The model added extra classes and associations and often chose structures that did not match the expert classification.</a:t>
            </a:r>
            <a:endParaRPr sz="1150">
              <a:solidFill>
                <a:srgbClr val="13233D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D37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252D37"/>
              </a:solidFill>
            </a:endParaRPr>
          </a:p>
        </p:txBody>
      </p:sp>
      <p:sp>
        <p:nvSpPr>
          <p:cNvPr id="454" name="Google Shape;454;h14e70d5490eb447_11_30"/>
          <p:cNvSpPr/>
          <p:nvPr/>
        </p:nvSpPr>
        <p:spPr>
          <a:xfrm>
            <a:off x="6858000" y="4892040"/>
            <a:ext cx="4617600" cy="1188600"/>
          </a:xfrm>
          <a:prstGeom prst="roundRect">
            <a:avLst>
              <a:gd fmla="val 9231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h14e70d5490eb447_11_30"/>
          <p:cNvSpPr/>
          <p:nvPr/>
        </p:nvSpPr>
        <p:spPr>
          <a:xfrm>
            <a:off x="6858000" y="4946904"/>
            <a:ext cx="73200" cy="1079100"/>
          </a:xfrm>
          <a:prstGeom prst="rect">
            <a:avLst/>
          </a:prstGeom>
          <a:solidFill>
            <a:srgbClr val="258F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h14e70d5490eb447_11_30"/>
          <p:cNvSpPr txBox="1"/>
          <p:nvPr/>
        </p:nvSpPr>
        <p:spPr>
          <a:xfrm>
            <a:off x="7086600" y="5056632"/>
            <a:ext cx="4206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42037"/>
                </a:solidFill>
              </a:rPr>
              <a:t>C</a:t>
            </a:r>
            <a:r>
              <a:rPr b="1" i="0" lang="en-US" sz="15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1: </a:t>
            </a:r>
            <a:r>
              <a:rPr b="1" lang="en-US" sz="1500">
                <a:solidFill>
                  <a:srgbClr val="13233D"/>
                </a:solidFill>
              </a:rPr>
              <a:t>Add knowledge grounding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h14e70d5490eb447_11_30"/>
          <p:cNvSpPr txBox="1"/>
          <p:nvPr/>
        </p:nvSpPr>
        <p:spPr>
          <a:xfrm>
            <a:off x="7086600" y="5422325"/>
            <a:ext cx="42063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13233D"/>
                </a:solidFill>
              </a:rPr>
              <a:t>Restrict the model to the Domain Description, Classification Rules, and provided domain-specific phrases. Goal: reduce unsupported classifications.</a:t>
            </a:r>
            <a:endParaRPr sz="1150">
              <a:solidFill>
                <a:srgbClr val="13233D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D37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252D37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h14e70d5490eb447_11_68"/>
          <p:cNvSpPr txBox="1"/>
          <p:nvPr/>
        </p:nvSpPr>
        <p:spPr>
          <a:xfrm>
            <a:off x="640080" y="411480"/>
            <a:ext cx="10881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C1</a:t>
            </a:r>
            <a:r>
              <a:rPr b="1" i="0" lang="en-US" sz="2800" u="none" cap="none" strike="noStrike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 — </a:t>
            </a:r>
            <a:r>
              <a:rPr b="1" lang="en-US" sz="2800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Knowledge Grounding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h14e70d5490eb447_11_68"/>
          <p:cNvSpPr txBox="1"/>
          <p:nvPr/>
        </p:nvSpPr>
        <p:spPr>
          <a:xfrm>
            <a:off x="658368" y="1005840"/>
            <a:ext cx="10789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Library domain • </a:t>
            </a:r>
            <a:r>
              <a:rPr lang="en-US" sz="1300">
                <a:solidFill>
                  <a:srgbClr val="64707E"/>
                </a:solidFill>
              </a:rPr>
              <a:t>isolate the effect of grounding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h14e70d5490eb447_11_68"/>
          <p:cNvSpPr txBox="1"/>
          <p:nvPr/>
        </p:nvSpPr>
        <p:spPr>
          <a:xfrm>
            <a:off x="10881360" y="6473952"/>
            <a:ext cx="64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h14e70d5490eb447_11_68"/>
          <p:cNvSpPr/>
          <p:nvPr/>
        </p:nvSpPr>
        <p:spPr>
          <a:xfrm>
            <a:off x="731520" y="1463040"/>
            <a:ext cx="5898000" cy="4617600"/>
          </a:xfrm>
          <a:prstGeom prst="roundRect">
            <a:avLst>
              <a:gd fmla="val 2376" name="adj"/>
            </a:avLst>
          </a:prstGeom>
          <a:solidFill>
            <a:srgbClr val="F5F7FA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h14e70d5490eb447_11_68"/>
          <p:cNvSpPr txBox="1"/>
          <p:nvPr/>
        </p:nvSpPr>
        <p:spPr>
          <a:xfrm>
            <a:off x="914400" y="1572768"/>
            <a:ext cx="55779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323E52"/>
                </a:solidFill>
                <a:latin typeface="Courier New"/>
                <a:ea typeface="Courier New"/>
                <a:cs typeface="Courier New"/>
                <a:sym typeface="Courier New"/>
              </a:rPr>
              <a:t>KNOWLEDGE GROUNDING</a:t>
            </a:r>
            <a:br>
              <a:rPr lang="en-US" sz="1300">
                <a:solidFill>
                  <a:srgbClr val="323E5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-US" sz="1300">
                <a:solidFill>
                  <a:srgbClr val="323E5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Perform the classification using ONLY:</a:t>
            </a:r>
            <a:b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1. Domain Description</a:t>
            </a:r>
            <a:b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2. Classification Rules</a:t>
            </a:r>
            <a:b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3. DOMAIN-SPECIFIC PHRASES</a:t>
            </a:r>
            <a:b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Treat these as the complete source of knowledge.</a:t>
            </a:r>
            <a:b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 not use external knowledge, general software engineering</a:t>
            </a:r>
            <a:b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assumptions, or inferred concepts not supported by the sources.</a:t>
            </a:r>
            <a:b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Classification targets and strict output format remain unchanged.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900"/>
              <a:buFont typeface="Courier New"/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h14e70d5490eb447_11_68"/>
          <p:cNvSpPr/>
          <p:nvPr/>
        </p:nvSpPr>
        <p:spPr>
          <a:xfrm>
            <a:off x="6858000" y="1371683"/>
            <a:ext cx="4617600" cy="2981400"/>
          </a:xfrm>
          <a:prstGeom prst="roundRect">
            <a:avLst>
              <a:gd fmla="val 7742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h14e70d5490eb447_11_68"/>
          <p:cNvSpPr/>
          <p:nvPr/>
        </p:nvSpPr>
        <p:spPr>
          <a:xfrm>
            <a:off x="6858000" y="1371550"/>
            <a:ext cx="73200" cy="31671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h14e70d5490eb447_11_68"/>
          <p:cNvSpPr txBox="1"/>
          <p:nvPr/>
        </p:nvSpPr>
        <p:spPr>
          <a:xfrm>
            <a:off x="7086600" y="1627625"/>
            <a:ext cx="2981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13233D"/>
                </a:solidFill>
              </a:rPr>
              <a:t>C2 Validation Checklist</a:t>
            </a:r>
            <a:endParaRPr b="1" sz="1800">
              <a:solidFill>
                <a:srgbClr val="13233D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500"/>
              <a:buFont typeface="Arial"/>
              <a:buNone/>
            </a:pPr>
            <a:r>
              <a:t/>
            </a:r>
            <a:endParaRPr b="1" sz="1500">
              <a:solidFill>
                <a:srgbClr val="142037"/>
              </a:solidFill>
            </a:endParaRPr>
          </a:p>
        </p:txBody>
      </p:sp>
      <p:sp>
        <p:nvSpPr>
          <p:cNvPr id="470" name="Google Shape;470;h14e70d5490eb447_11_68"/>
          <p:cNvSpPr txBox="1"/>
          <p:nvPr/>
        </p:nvSpPr>
        <p:spPr>
          <a:xfrm>
            <a:off x="7059200" y="2029975"/>
            <a:ext cx="4099500" cy="22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1323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3233D"/>
                </a:solidFill>
              </a:rPr>
              <a:t>• Supported class</a:t>
            </a:r>
            <a:endParaRPr sz="1200">
              <a:solidFill>
                <a:srgbClr val="1323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3233D"/>
                </a:solidFill>
              </a:rPr>
              <a:t>• Correct attribute owner</a:t>
            </a:r>
            <a:endParaRPr sz="1200">
              <a:solidFill>
                <a:srgbClr val="1323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3233D"/>
                </a:solidFill>
              </a:rPr>
              <a:t>• Correct relationship type</a:t>
            </a:r>
            <a:endParaRPr sz="1200">
              <a:solidFill>
                <a:srgbClr val="1323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3233D"/>
                </a:solidFill>
              </a:rPr>
              <a:t>• Correct endpoints</a:t>
            </a:r>
            <a:endParaRPr sz="1200">
              <a:solidFill>
                <a:srgbClr val="1323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3233D"/>
                </a:solidFill>
              </a:rPr>
              <a:t>• Supported association class</a:t>
            </a:r>
            <a:endParaRPr sz="1200">
              <a:solidFill>
                <a:srgbClr val="1323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3233D"/>
                </a:solidFill>
              </a:rPr>
              <a:t>• No unsupported concepts</a:t>
            </a:r>
            <a:endParaRPr sz="1200">
              <a:solidFill>
                <a:srgbClr val="1323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13233D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2400"/>
              <a:buFont typeface="Arial"/>
              <a:buNone/>
            </a:pPr>
            <a:r>
              <a:t/>
            </a:r>
            <a:endParaRPr b="1" sz="1200">
              <a:solidFill>
                <a:srgbClr val="2B6CB0"/>
              </a:solidFill>
            </a:endParaRPr>
          </a:p>
        </p:txBody>
      </p:sp>
      <p:sp>
        <p:nvSpPr>
          <p:cNvPr id="471" name="Google Shape;471;h14e70d5490eb447_11_68"/>
          <p:cNvSpPr/>
          <p:nvPr/>
        </p:nvSpPr>
        <p:spPr>
          <a:xfrm>
            <a:off x="6858000" y="4892040"/>
            <a:ext cx="4617600" cy="1188600"/>
          </a:xfrm>
          <a:prstGeom prst="roundRect">
            <a:avLst>
              <a:gd fmla="val 9231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h14e70d5490eb447_11_68"/>
          <p:cNvSpPr/>
          <p:nvPr/>
        </p:nvSpPr>
        <p:spPr>
          <a:xfrm>
            <a:off x="6858000" y="4946904"/>
            <a:ext cx="73200" cy="1079100"/>
          </a:xfrm>
          <a:prstGeom prst="rect">
            <a:avLst/>
          </a:prstGeom>
          <a:solidFill>
            <a:srgbClr val="258F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h14e70d5490eb447_11_68"/>
          <p:cNvSpPr txBox="1"/>
          <p:nvPr/>
        </p:nvSpPr>
        <p:spPr>
          <a:xfrm>
            <a:off x="7086600" y="5056632"/>
            <a:ext cx="4206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42037"/>
                </a:solidFill>
              </a:rPr>
              <a:t>Next</a:t>
            </a:r>
            <a:r>
              <a:rPr b="1" i="0" lang="en-US" sz="15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n-US" sz="1500">
                <a:solidFill>
                  <a:srgbClr val="13233D"/>
                </a:solidFill>
              </a:rPr>
              <a:t>C2 Validation</a:t>
            </a:r>
            <a:r>
              <a:rPr lang="en-US" sz="1100">
                <a:solidFill>
                  <a:schemeClr val="dk1"/>
                </a:solidFill>
              </a:rPr>
              <a:t> 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h14e70d5490eb447_11_68"/>
          <p:cNvSpPr txBox="1"/>
          <p:nvPr/>
        </p:nvSpPr>
        <p:spPr>
          <a:xfrm>
            <a:off x="7086600" y="5422325"/>
            <a:ext cx="42063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3233D"/>
                </a:solidFill>
              </a:rPr>
              <a:t>Cross-check each proposed model element before final output.</a:t>
            </a:r>
            <a:endParaRPr sz="1200">
              <a:solidFill>
                <a:srgbClr val="1323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rgbClr val="13233D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D37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252D37"/>
              </a:solidFill>
            </a:endParaRPr>
          </a:p>
        </p:txBody>
      </p:sp>
      <p:sp>
        <p:nvSpPr>
          <p:cNvPr id="475" name="Google Shape;475;h14e70d5490eb447_11_68"/>
          <p:cNvSpPr/>
          <p:nvPr/>
        </p:nvSpPr>
        <p:spPr>
          <a:xfrm>
            <a:off x="6858000" y="4946904"/>
            <a:ext cx="73200" cy="1079100"/>
          </a:xfrm>
          <a:prstGeom prst="rect">
            <a:avLst/>
          </a:prstGeom>
          <a:solidFill>
            <a:srgbClr val="258F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h14e70d5490eb447_11_105"/>
          <p:cNvSpPr txBox="1"/>
          <p:nvPr/>
        </p:nvSpPr>
        <p:spPr>
          <a:xfrm>
            <a:off x="640080" y="411480"/>
            <a:ext cx="10881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C2</a:t>
            </a:r>
            <a:r>
              <a:rPr b="1" i="0" lang="en-US" sz="2800" u="none" cap="none" strike="noStrike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 — </a:t>
            </a:r>
            <a:r>
              <a:rPr b="1" lang="en-US" sz="2800">
                <a:solidFill>
                  <a:srgbClr val="13233D"/>
                </a:solidFill>
              </a:rPr>
              <a:t>Validation Pass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h14e70d5490eb447_11_105"/>
          <p:cNvSpPr txBox="1"/>
          <p:nvPr/>
        </p:nvSpPr>
        <p:spPr>
          <a:xfrm>
            <a:off x="658368" y="1005840"/>
            <a:ext cx="10789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5C69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5C697C"/>
                </a:solidFill>
              </a:rPr>
              <a:t>Final classification prompt modification</a:t>
            </a:r>
            <a:endParaRPr sz="1300">
              <a:solidFill>
                <a:srgbClr val="5C697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300"/>
              <a:buFont typeface="Arial"/>
              <a:buNone/>
            </a:pPr>
            <a:r>
              <a:t/>
            </a:r>
            <a:endParaRPr sz="1300">
              <a:solidFill>
                <a:srgbClr val="64707E"/>
              </a:solidFill>
            </a:endParaRPr>
          </a:p>
        </p:txBody>
      </p:sp>
      <p:sp>
        <p:nvSpPr>
          <p:cNvPr id="482" name="Google Shape;482;h14e70d5490eb447_11_105"/>
          <p:cNvSpPr txBox="1"/>
          <p:nvPr/>
        </p:nvSpPr>
        <p:spPr>
          <a:xfrm>
            <a:off x="10881360" y="6473952"/>
            <a:ext cx="64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h14e70d5490eb447_11_105"/>
          <p:cNvSpPr/>
          <p:nvPr/>
        </p:nvSpPr>
        <p:spPr>
          <a:xfrm>
            <a:off x="731520" y="1463040"/>
            <a:ext cx="5898000" cy="4617600"/>
          </a:xfrm>
          <a:prstGeom prst="roundRect">
            <a:avLst>
              <a:gd fmla="val 2376" name="adj"/>
            </a:avLst>
          </a:prstGeom>
          <a:solidFill>
            <a:srgbClr val="F5F7FA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h14e70d5490eb447_11_105"/>
          <p:cNvSpPr txBox="1"/>
          <p:nvPr/>
        </p:nvSpPr>
        <p:spPr>
          <a:xfrm>
            <a:off x="914400" y="1572768"/>
            <a:ext cx="55779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323E52"/>
                </a:solidFill>
                <a:latin typeface="Courier New"/>
                <a:ea typeface="Courier New"/>
                <a:cs typeface="Courier New"/>
                <a:sym typeface="Courier New"/>
              </a:rPr>
              <a:t>VALIDATION PASS</a:t>
            </a:r>
            <a:br>
              <a:rPr lang="en-US" sz="1100">
                <a:solidFill>
                  <a:srgbClr val="323E5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-US" sz="1100">
                <a:solidFill>
                  <a:srgbClr val="323E5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Before producing the final answer, internally cross-verify every</a:t>
            </a:r>
            <a:b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proposed model element against:</a:t>
            </a:r>
            <a:b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1. Domain Description</a:t>
            </a:r>
            <a:b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2. Classification Rules</a:t>
            </a:r>
            <a:b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3. DOMAIN-SPECIFIC PHRASES</a:t>
            </a:r>
            <a:b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Verify:</a:t>
            </a:r>
            <a:b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each class is supported</a:t>
            </a:r>
            <a:b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each attribute has a supported owner</a:t>
            </a:r>
            <a:b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relationship type and endpoints are supported</a:t>
            </a:r>
            <a:b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association classes and endpoints are supported</a:t>
            </a:r>
            <a:b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no unsupported concepts are introduced</a:t>
            </a:r>
            <a:b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Remove redundant or unsupported classifications.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900"/>
              <a:buFont typeface="Courier New"/>
              <a:buNone/>
            </a:pPr>
            <a:r>
              <a:t/>
            </a:r>
            <a:endParaRPr sz="1300">
              <a:solidFill>
                <a:srgbClr val="323E5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85" name="Google Shape;485;h14e70d5490eb447_11_105"/>
          <p:cNvSpPr/>
          <p:nvPr/>
        </p:nvSpPr>
        <p:spPr>
          <a:xfrm>
            <a:off x="6858000" y="1463050"/>
            <a:ext cx="4617600" cy="1828800"/>
          </a:xfrm>
          <a:prstGeom prst="roundRect">
            <a:avLst>
              <a:gd fmla="val 7742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h14e70d5490eb447_11_105"/>
          <p:cNvSpPr txBox="1"/>
          <p:nvPr/>
        </p:nvSpPr>
        <p:spPr>
          <a:xfrm>
            <a:off x="7086600" y="1627632"/>
            <a:ext cx="1051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42037"/>
                </a:solidFill>
              </a:rPr>
              <a:t>Why C1?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h14e70d5490eb447_11_105"/>
          <p:cNvSpPr txBox="1"/>
          <p:nvPr/>
        </p:nvSpPr>
        <p:spPr>
          <a:xfrm>
            <a:off x="7059193" y="2029975"/>
            <a:ext cx="4099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323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3233D"/>
                </a:solidFill>
              </a:rPr>
              <a:t>C0 allowed the model to consult the materials, but did not explicitly forbid unsupported assumptions.</a:t>
            </a:r>
            <a:endParaRPr sz="1300">
              <a:solidFill>
                <a:srgbClr val="13233D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rgbClr val="2B6CB0"/>
              </a:solidFill>
            </a:endParaRPr>
          </a:p>
        </p:txBody>
      </p:sp>
      <p:sp>
        <p:nvSpPr>
          <p:cNvPr id="488" name="Google Shape;488;h14e70d5490eb447_11_105"/>
          <p:cNvSpPr/>
          <p:nvPr/>
        </p:nvSpPr>
        <p:spPr>
          <a:xfrm>
            <a:off x="6858000" y="3520440"/>
            <a:ext cx="4617600" cy="123450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h14e70d5490eb447_11_105"/>
          <p:cNvSpPr/>
          <p:nvPr/>
        </p:nvSpPr>
        <p:spPr>
          <a:xfrm>
            <a:off x="6858000" y="3575304"/>
            <a:ext cx="73200" cy="1124700"/>
          </a:xfrm>
          <a:prstGeom prst="rect">
            <a:avLst/>
          </a:prstGeom>
          <a:solidFill>
            <a:srgbClr val="C548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h14e70d5490eb447_11_105"/>
          <p:cNvSpPr txBox="1"/>
          <p:nvPr/>
        </p:nvSpPr>
        <p:spPr>
          <a:xfrm>
            <a:off x="7086600" y="3685032"/>
            <a:ext cx="4206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rgbClr val="1323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13233D"/>
                </a:solidFill>
              </a:rPr>
              <a:t>Prompt change</a:t>
            </a:r>
            <a:endParaRPr b="1" sz="1500">
              <a:solidFill>
                <a:srgbClr val="13233D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500"/>
              <a:buFont typeface="Arial"/>
              <a:buNone/>
            </a:pPr>
            <a:r>
              <a:t/>
            </a:r>
            <a:endParaRPr b="1" sz="1500">
              <a:solidFill>
                <a:srgbClr val="142037"/>
              </a:solidFill>
            </a:endParaRPr>
          </a:p>
        </p:txBody>
      </p:sp>
      <p:sp>
        <p:nvSpPr>
          <p:cNvPr id="491" name="Google Shape;491;h14e70d5490eb447_11_105"/>
          <p:cNvSpPr txBox="1"/>
          <p:nvPr/>
        </p:nvSpPr>
        <p:spPr>
          <a:xfrm>
            <a:off x="7086600" y="4050725"/>
            <a:ext cx="4206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3233D"/>
                </a:solidFill>
              </a:rPr>
              <a:t>Explicitly ground every classification in the supplied sources.</a:t>
            </a:r>
            <a:endParaRPr sz="1200">
              <a:solidFill>
                <a:srgbClr val="1323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rgbClr val="13233D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D37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252D37"/>
              </a:solidFill>
            </a:endParaRPr>
          </a:p>
        </p:txBody>
      </p:sp>
      <p:sp>
        <p:nvSpPr>
          <p:cNvPr id="492" name="Google Shape;492;h14e70d5490eb447_11_105"/>
          <p:cNvSpPr/>
          <p:nvPr/>
        </p:nvSpPr>
        <p:spPr>
          <a:xfrm>
            <a:off x="6858000" y="4892040"/>
            <a:ext cx="4617600" cy="1188600"/>
          </a:xfrm>
          <a:prstGeom prst="roundRect">
            <a:avLst>
              <a:gd fmla="val 9231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h14e70d5490eb447_11_105"/>
          <p:cNvSpPr/>
          <p:nvPr/>
        </p:nvSpPr>
        <p:spPr>
          <a:xfrm>
            <a:off x="6858000" y="4946904"/>
            <a:ext cx="73200" cy="1079100"/>
          </a:xfrm>
          <a:prstGeom prst="rect">
            <a:avLst/>
          </a:prstGeom>
          <a:solidFill>
            <a:srgbClr val="258F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h14e70d5490eb447_11_105"/>
          <p:cNvSpPr txBox="1"/>
          <p:nvPr/>
        </p:nvSpPr>
        <p:spPr>
          <a:xfrm>
            <a:off x="7086600" y="5056632"/>
            <a:ext cx="4206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42037"/>
                </a:solidFill>
              </a:rPr>
              <a:t>Next</a:t>
            </a:r>
            <a:r>
              <a:rPr b="1" i="0" lang="en-US" sz="15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n-US" sz="1500">
                <a:solidFill>
                  <a:srgbClr val="13233D"/>
                </a:solidFill>
              </a:rPr>
              <a:t>C2 Validation</a:t>
            </a:r>
            <a:r>
              <a:rPr lang="en-US" sz="1100">
                <a:solidFill>
                  <a:schemeClr val="dk1"/>
                </a:solidFill>
              </a:rPr>
              <a:t> 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h14e70d5490eb447_11_105"/>
          <p:cNvSpPr txBox="1"/>
          <p:nvPr/>
        </p:nvSpPr>
        <p:spPr>
          <a:xfrm>
            <a:off x="7086600" y="5422325"/>
            <a:ext cx="42063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3233D"/>
                </a:solidFill>
              </a:rPr>
              <a:t>Cross-check each proposed model element before final output.</a:t>
            </a:r>
            <a:endParaRPr sz="1200">
              <a:solidFill>
                <a:srgbClr val="1323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rgbClr val="13233D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D37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252D37"/>
              </a:solidFill>
            </a:endParaRPr>
          </a:p>
        </p:txBody>
      </p:sp>
      <p:sp>
        <p:nvSpPr>
          <p:cNvPr id="496" name="Google Shape;496;h14e70d5490eb447_11_105"/>
          <p:cNvSpPr/>
          <p:nvPr/>
        </p:nvSpPr>
        <p:spPr>
          <a:xfrm>
            <a:off x="6858000" y="1371550"/>
            <a:ext cx="73200" cy="1920300"/>
          </a:xfrm>
          <a:prstGeom prst="rect">
            <a:avLst/>
          </a:prstGeom>
          <a:solidFill>
            <a:srgbClr val="258F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" name="Google Shape;501;h14e70d5490eb447_11_1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425" y="238125"/>
            <a:ext cx="11478001" cy="6471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h14e70d5490eb447_11_1"/>
          <p:cNvSpPr txBox="1"/>
          <p:nvPr/>
        </p:nvSpPr>
        <p:spPr>
          <a:xfrm>
            <a:off x="640080" y="411480"/>
            <a:ext cx="10881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Classification </a:t>
            </a:r>
            <a:r>
              <a:rPr b="1" i="0" lang="en-US" sz="2800" u="none" cap="none" strike="noStrike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Result Generalization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h14e70d5490eb447_11_1"/>
          <p:cNvSpPr txBox="1"/>
          <p:nvPr/>
        </p:nvSpPr>
        <p:spPr>
          <a:xfrm>
            <a:off x="658368" y="1005840"/>
            <a:ext cx="10789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5C69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5C697C"/>
                </a:solidFill>
              </a:rPr>
              <a:t>Final classification prompt (C2) tested on all three domains • 3 runs each</a:t>
            </a:r>
            <a:endParaRPr sz="1300">
              <a:solidFill>
                <a:srgbClr val="5C697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300"/>
              <a:buFont typeface="Arial"/>
              <a:buNone/>
            </a:pPr>
            <a:r>
              <a:t/>
            </a:r>
            <a:endParaRPr sz="1300">
              <a:solidFill>
                <a:srgbClr val="64707E"/>
              </a:solidFill>
            </a:endParaRPr>
          </a:p>
        </p:txBody>
      </p:sp>
      <p:sp>
        <p:nvSpPr>
          <p:cNvPr id="508" name="Google Shape;508;h14e70d5490eb447_11_1"/>
          <p:cNvSpPr txBox="1"/>
          <p:nvPr/>
        </p:nvSpPr>
        <p:spPr>
          <a:xfrm>
            <a:off x="10881360" y="6473952"/>
            <a:ext cx="64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h14e70d5490eb447_11_1"/>
          <p:cNvSpPr/>
          <p:nvPr/>
        </p:nvSpPr>
        <p:spPr>
          <a:xfrm>
            <a:off x="731520" y="1554480"/>
            <a:ext cx="3429000" cy="39318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h14e70d5490eb447_11_1"/>
          <p:cNvSpPr/>
          <p:nvPr/>
        </p:nvSpPr>
        <p:spPr>
          <a:xfrm>
            <a:off x="731520" y="1609344"/>
            <a:ext cx="73200" cy="38223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h14e70d5490eb447_11_1"/>
          <p:cNvSpPr txBox="1"/>
          <p:nvPr/>
        </p:nvSpPr>
        <p:spPr>
          <a:xfrm>
            <a:off x="1005840" y="1737360"/>
            <a:ext cx="301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Library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h14e70d5490eb447_11_1"/>
          <p:cNvSpPr txBox="1"/>
          <p:nvPr/>
        </p:nvSpPr>
        <p:spPr>
          <a:xfrm>
            <a:off x="1005840" y="2240280"/>
            <a:ext cx="30174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4400"/>
              <a:buFont typeface="Arial"/>
              <a:buNone/>
            </a:pPr>
            <a:r>
              <a:rPr b="1" lang="en-US" sz="3400">
                <a:solidFill>
                  <a:srgbClr val="2F71B5"/>
                </a:solidFill>
              </a:rPr>
              <a:t>50.03</a:t>
            </a:r>
            <a:r>
              <a:rPr lang="en-US" sz="1100">
                <a:solidFill>
                  <a:schemeClr val="dk1"/>
                </a:solidFill>
              </a:rPr>
              <a:t> </a:t>
            </a:r>
            <a:r>
              <a:rPr b="1" i="0" lang="en-US" sz="4400" u="none" cap="none" strike="noStrike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h14e70d5490eb447_11_1"/>
          <p:cNvSpPr txBox="1"/>
          <p:nvPr/>
        </p:nvSpPr>
        <p:spPr>
          <a:xfrm>
            <a:off x="1005840" y="3657600"/>
            <a:ext cx="30174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Precision  </a:t>
            </a:r>
            <a:r>
              <a:rPr b="1" lang="en-US">
                <a:solidFill>
                  <a:srgbClr val="252D37"/>
                </a:solidFill>
              </a:rPr>
              <a:t>44</a:t>
            </a:r>
            <a:r>
              <a:rPr b="1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1" lang="en-US">
                <a:solidFill>
                  <a:srgbClr val="252D37"/>
                </a:solidFill>
              </a:rPr>
              <a:t>75</a:t>
            </a:r>
            <a:r>
              <a:rPr b="1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Recall  </a:t>
            </a:r>
            <a:r>
              <a:rPr b="1" lang="en-US">
                <a:solidFill>
                  <a:srgbClr val="252D37"/>
                </a:solidFill>
              </a:rPr>
              <a:t>56</a:t>
            </a:r>
            <a:r>
              <a:rPr b="1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.79%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Runs  </a:t>
            </a:r>
            <a:r>
              <a:rPr lang="en-US">
                <a:solidFill>
                  <a:srgbClr val="252D37"/>
                </a:solidFill>
              </a:rPr>
              <a:t>47</a:t>
            </a:r>
            <a:r>
              <a:rPr b="0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>
                <a:solidFill>
                  <a:srgbClr val="252D37"/>
                </a:solidFill>
              </a:rPr>
              <a:t>62</a:t>
            </a:r>
            <a:r>
              <a:rPr b="0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en-US">
                <a:solidFill>
                  <a:srgbClr val="252D37"/>
                </a:solidFill>
              </a:rPr>
              <a:t>50</a:t>
            </a:r>
            <a:r>
              <a:rPr b="0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>
                <a:solidFill>
                  <a:srgbClr val="252D37"/>
                </a:solidFill>
              </a:rPr>
              <a:t>85</a:t>
            </a:r>
            <a:r>
              <a:rPr b="0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en-US">
                <a:solidFill>
                  <a:srgbClr val="252D37"/>
                </a:solidFill>
              </a:rPr>
              <a:t>51.61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h14e70d5490eb447_11_1"/>
          <p:cNvSpPr/>
          <p:nvPr/>
        </p:nvSpPr>
        <p:spPr>
          <a:xfrm>
            <a:off x="4389120" y="1554480"/>
            <a:ext cx="3429000" cy="39318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h14e70d5490eb447_11_1"/>
          <p:cNvSpPr/>
          <p:nvPr/>
        </p:nvSpPr>
        <p:spPr>
          <a:xfrm>
            <a:off x="4389120" y="1609344"/>
            <a:ext cx="73200" cy="3822300"/>
          </a:xfrm>
          <a:prstGeom prst="rect">
            <a:avLst/>
          </a:prstGeom>
          <a:solidFill>
            <a:srgbClr val="258F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h14e70d5490eb447_11_1"/>
          <p:cNvSpPr txBox="1"/>
          <p:nvPr/>
        </p:nvSpPr>
        <p:spPr>
          <a:xfrm>
            <a:off x="4663440" y="1737360"/>
            <a:ext cx="301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Car Rental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h14e70d5490eb447_11_1"/>
          <p:cNvSpPr txBox="1"/>
          <p:nvPr/>
        </p:nvSpPr>
        <p:spPr>
          <a:xfrm>
            <a:off x="4663440" y="2240280"/>
            <a:ext cx="30174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8F7A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258F7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1" lang="en-US" sz="4400">
                <a:solidFill>
                  <a:srgbClr val="258F7A"/>
                </a:solidFill>
              </a:rPr>
              <a:t>2</a:t>
            </a:r>
            <a:r>
              <a:rPr b="1" i="0" lang="en-US" sz="4400" u="none" cap="none" strike="noStrike">
                <a:solidFill>
                  <a:srgbClr val="258F7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1" lang="en-US" sz="4400">
                <a:solidFill>
                  <a:srgbClr val="258F7A"/>
                </a:solidFill>
              </a:rPr>
              <a:t>72</a:t>
            </a:r>
            <a:r>
              <a:rPr b="1" i="0" lang="en-US" sz="4400" u="none" cap="none" strike="noStrike">
                <a:solidFill>
                  <a:srgbClr val="258F7A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h14e70d5490eb447_11_1"/>
          <p:cNvSpPr txBox="1"/>
          <p:nvPr/>
        </p:nvSpPr>
        <p:spPr>
          <a:xfrm>
            <a:off x="4663440" y="3657600"/>
            <a:ext cx="30174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Precision  </a:t>
            </a:r>
            <a:r>
              <a:rPr b="1" lang="en-US">
                <a:solidFill>
                  <a:srgbClr val="252D37"/>
                </a:solidFill>
              </a:rPr>
              <a:t>54.31</a:t>
            </a:r>
            <a:r>
              <a:rPr b="1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Recall  </a:t>
            </a:r>
            <a:r>
              <a:rPr b="1" lang="en-US">
                <a:solidFill>
                  <a:srgbClr val="252D37"/>
                </a:solidFill>
              </a:rPr>
              <a:t>51.23</a:t>
            </a:r>
            <a:r>
              <a:rPr b="1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Runs  </a:t>
            </a:r>
            <a:r>
              <a:rPr b="0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lang="en-US">
                <a:solidFill>
                  <a:srgbClr val="252D37"/>
                </a:solidFill>
              </a:rPr>
              <a:t>3.85</a:t>
            </a:r>
            <a:r>
              <a:rPr b="0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 / 5</a:t>
            </a:r>
            <a:r>
              <a:rPr lang="en-US">
                <a:solidFill>
                  <a:srgbClr val="252D37"/>
                </a:solidFill>
              </a:rPr>
              <a:t>0.47</a:t>
            </a:r>
            <a:r>
              <a:rPr b="0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 / 5</a:t>
            </a:r>
            <a:r>
              <a:rPr lang="en-US">
                <a:solidFill>
                  <a:srgbClr val="252D37"/>
                </a:solidFill>
              </a:rPr>
              <a:t>3.85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h14e70d5490eb447_11_1"/>
          <p:cNvSpPr/>
          <p:nvPr/>
        </p:nvSpPr>
        <p:spPr>
          <a:xfrm>
            <a:off x="8046720" y="1554480"/>
            <a:ext cx="3429000" cy="39318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h14e70d5490eb447_11_1"/>
          <p:cNvSpPr/>
          <p:nvPr/>
        </p:nvSpPr>
        <p:spPr>
          <a:xfrm>
            <a:off x="8046720" y="1609344"/>
            <a:ext cx="73200" cy="3822300"/>
          </a:xfrm>
          <a:prstGeom prst="rect">
            <a:avLst/>
          </a:prstGeom>
          <a:solidFill>
            <a:srgbClr val="E28B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h14e70d5490eb447_11_1"/>
          <p:cNvSpPr txBox="1"/>
          <p:nvPr/>
        </p:nvSpPr>
        <p:spPr>
          <a:xfrm>
            <a:off x="8321040" y="1737360"/>
            <a:ext cx="301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National Trade Show Service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h14e70d5490eb447_11_1"/>
          <p:cNvSpPr txBox="1"/>
          <p:nvPr/>
        </p:nvSpPr>
        <p:spPr>
          <a:xfrm>
            <a:off x="8321040" y="2240280"/>
            <a:ext cx="30174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8B37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E28B37"/>
                </a:solidFill>
              </a:rPr>
              <a:t>50</a:t>
            </a:r>
            <a:r>
              <a:rPr b="1" i="0" lang="en-US" sz="4400" u="none" cap="none" strike="noStrike">
                <a:solidFill>
                  <a:srgbClr val="E28B37"/>
                </a:solidFill>
                <a:latin typeface="Arial"/>
                <a:ea typeface="Arial"/>
                <a:cs typeface="Arial"/>
                <a:sym typeface="Arial"/>
              </a:rPr>
              <a:t>.98%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h14e70d5490eb447_11_1"/>
          <p:cNvSpPr txBox="1"/>
          <p:nvPr/>
        </p:nvSpPr>
        <p:spPr>
          <a:xfrm>
            <a:off x="8321040" y="3657600"/>
            <a:ext cx="30174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Precision  </a:t>
            </a:r>
            <a:r>
              <a:rPr b="1" lang="en-US">
                <a:solidFill>
                  <a:srgbClr val="252D37"/>
                </a:solidFill>
              </a:rPr>
              <a:t>44</a:t>
            </a:r>
            <a:r>
              <a:rPr b="1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1" lang="en-US">
                <a:solidFill>
                  <a:srgbClr val="252D37"/>
                </a:solidFill>
              </a:rPr>
              <a:t>55</a:t>
            </a:r>
            <a:r>
              <a:rPr b="1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Recall  </a:t>
            </a:r>
            <a:r>
              <a:rPr b="1" lang="en-US">
                <a:solidFill>
                  <a:srgbClr val="252D37"/>
                </a:solidFill>
              </a:rPr>
              <a:t>59.75</a:t>
            </a:r>
            <a:r>
              <a:rPr b="1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Runs  </a:t>
            </a:r>
            <a:r>
              <a:rPr lang="en-US">
                <a:solidFill>
                  <a:srgbClr val="252D37"/>
                </a:solidFill>
              </a:rPr>
              <a:t>50.85</a:t>
            </a:r>
            <a:r>
              <a:rPr b="0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en-US">
                <a:solidFill>
                  <a:srgbClr val="252D37"/>
                </a:solidFill>
              </a:rPr>
              <a:t>53.23</a:t>
            </a:r>
            <a:r>
              <a:rPr b="0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en-US">
                <a:solidFill>
                  <a:srgbClr val="252D37"/>
                </a:solidFill>
              </a:rPr>
              <a:t>48.85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h14e70d5490eb447_11_1"/>
          <p:cNvSpPr txBox="1"/>
          <p:nvPr/>
        </p:nvSpPr>
        <p:spPr>
          <a:xfrm>
            <a:off x="731520" y="5760720"/>
            <a:ext cx="10698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5C697C"/>
                </a:solidFill>
              </a:rPr>
              <a:t>C2 produced similar mean F1 across all three domains (50.03%–52.72%). The main remaining errors involved exact relationship types/endpoints, inheritance,</a:t>
            </a:r>
            <a:endParaRPr i="1" sz="1100">
              <a:solidFill>
                <a:srgbClr val="5C69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5C697C"/>
                </a:solidFill>
              </a:rPr>
              <a:t>aggregation, and extra unsupported classifications.</a:t>
            </a:r>
            <a:endParaRPr i="1" sz="1100">
              <a:solidFill>
                <a:srgbClr val="5C697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050"/>
              <a:buFont typeface="Arial"/>
              <a:buNone/>
            </a:pPr>
            <a:r>
              <a:t/>
            </a:r>
            <a:endParaRPr i="1" sz="1050">
              <a:solidFill>
                <a:srgbClr val="64707E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h14e70d5490eb447_11_142"/>
          <p:cNvSpPr txBox="1"/>
          <p:nvPr/>
        </p:nvSpPr>
        <p:spPr>
          <a:xfrm>
            <a:off x="640080" y="411480"/>
            <a:ext cx="10881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800">
              <a:solidFill>
                <a:srgbClr val="1323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13233D"/>
                </a:solidFill>
              </a:rPr>
              <a:t>Classification Findings</a:t>
            </a:r>
            <a:endParaRPr b="1" sz="2800">
              <a:solidFill>
                <a:srgbClr val="13233D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2800"/>
              <a:buFont typeface="Play"/>
              <a:buNone/>
            </a:pPr>
            <a:r>
              <a:t/>
            </a:r>
            <a:endParaRPr b="1" sz="2800">
              <a:solidFill>
                <a:srgbClr val="142037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30" name="Google Shape;530;h14e70d5490eb447_11_142"/>
          <p:cNvSpPr txBox="1"/>
          <p:nvPr/>
        </p:nvSpPr>
        <p:spPr>
          <a:xfrm>
            <a:off x="658368" y="1005840"/>
            <a:ext cx="10789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5C69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5C69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5C697C"/>
                </a:solidFill>
              </a:rPr>
              <a:t>What the prompt evolution showed</a:t>
            </a:r>
            <a:endParaRPr sz="1300">
              <a:solidFill>
                <a:srgbClr val="5C69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5C697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300"/>
              <a:buFont typeface="Arial"/>
              <a:buNone/>
            </a:pPr>
            <a:r>
              <a:t/>
            </a:r>
            <a:endParaRPr sz="1300">
              <a:solidFill>
                <a:srgbClr val="64707E"/>
              </a:solidFill>
            </a:endParaRPr>
          </a:p>
        </p:txBody>
      </p:sp>
      <p:sp>
        <p:nvSpPr>
          <p:cNvPr id="531" name="Google Shape;531;h14e70d5490eb447_11_142"/>
          <p:cNvSpPr txBox="1"/>
          <p:nvPr/>
        </p:nvSpPr>
        <p:spPr>
          <a:xfrm>
            <a:off x="10881360" y="6473952"/>
            <a:ext cx="64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h14e70d5490eb447_11_142"/>
          <p:cNvSpPr/>
          <p:nvPr/>
        </p:nvSpPr>
        <p:spPr>
          <a:xfrm>
            <a:off x="658375" y="1548775"/>
            <a:ext cx="5056500" cy="4166100"/>
          </a:xfrm>
          <a:prstGeom prst="roundRect">
            <a:avLst>
              <a:gd fmla="val 7742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3233D"/>
                </a:solidFill>
              </a:rPr>
              <a:t>• Grounding constrained the model to project materials.</a:t>
            </a:r>
            <a:endParaRPr sz="1600">
              <a:solidFill>
                <a:srgbClr val="1323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3233D"/>
                </a:solidFill>
              </a:rPr>
              <a:t>• Validation forced a second check before final output.</a:t>
            </a:r>
            <a:endParaRPr sz="1600">
              <a:solidFill>
                <a:srgbClr val="1323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3233D"/>
                </a:solidFill>
              </a:rPr>
              <a:t>• The final C2 prompt transferred consistently across all three domains.</a:t>
            </a:r>
            <a:endParaRPr sz="1600">
              <a:solidFill>
                <a:srgbClr val="13233D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h14e70d5490eb447_11_142"/>
          <p:cNvSpPr txBox="1"/>
          <p:nvPr/>
        </p:nvSpPr>
        <p:spPr>
          <a:xfrm>
            <a:off x="981075" y="1837175"/>
            <a:ext cx="2771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13233D"/>
                </a:solidFill>
              </a:rPr>
              <a:t>What improved</a:t>
            </a:r>
            <a:endParaRPr b="1" sz="1500">
              <a:solidFill>
                <a:srgbClr val="142037"/>
              </a:solidFill>
            </a:endParaRPr>
          </a:p>
        </p:txBody>
      </p:sp>
      <p:sp>
        <p:nvSpPr>
          <p:cNvPr id="534" name="Google Shape;534;h14e70d5490eb447_11_142"/>
          <p:cNvSpPr/>
          <p:nvPr/>
        </p:nvSpPr>
        <p:spPr>
          <a:xfrm>
            <a:off x="6391675" y="1548763"/>
            <a:ext cx="73200" cy="4395000"/>
          </a:xfrm>
          <a:prstGeom prst="rect">
            <a:avLst/>
          </a:prstGeom>
          <a:solidFill>
            <a:srgbClr val="C548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h14e70d5490eb447_11_142"/>
          <p:cNvSpPr/>
          <p:nvPr/>
        </p:nvSpPr>
        <p:spPr>
          <a:xfrm>
            <a:off x="640075" y="1466800"/>
            <a:ext cx="73200" cy="4476900"/>
          </a:xfrm>
          <a:prstGeom prst="rect">
            <a:avLst/>
          </a:prstGeom>
          <a:solidFill>
            <a:srgbClr val="2F71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h14e70d5490eb447_11_142"/>
          <p:cNvSpPr/>
          <p:nvPr/>
        </p:nvSpPr>
        <p:spPr>
          <a:xfrm>
            <a:off x="6464875" y="1622200"/>
            <a:ext cx="5056500" cy="4166100"/>
          </a:xfrm>
          <a:prstGeom prst="roundRect">
            <a:avLst>
              <a:gd fmla="val 7742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3233D"/>
                </a:solidFill>
              </a:rPr>
              <a:t>• Class vs. attribute decisions.</a:t>
            </a:r>
            <a:endParaRPr sz="1600">
              <a:solidFill>
                <a:srgbClr val="1323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3233D"/>
                </a:solidFill>
              </a:rPr>
              <a:t>• Exact association endpoints and relationship type.</a:t>
            </a:r>
            <a:endParaRPr sz="1600">
              <a:solidFill>
                <a:srgbClr val="1323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3233D"/>
                </a:solidFill>
              </a:rPr>
              <a:t>• Inheritance and aggregation direction/structure.</a:t>
            </a:r>
            <a:endParaRPr sz="1600">
              <a:solidFill>
                <a:srgbClr val="1323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3233D"/>
                </a:solidFill>
              </a:rPr>
              <a:t>• Avoiding extra unsupported model elements.</a:t>
            </a:r>
            <a:endParaRPr sz="1600">
              <a:solidFill>
                <a:srgbClr val="1323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3233D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h14e70d5490eb447_11_142"/>
          <p:cNvSpPr txBox="1"/>
          <p:nvPr/>
        </p:nvSpPr>
        <p:spPr>
          <a:xfrm>
            <a:off x="6867525" y="1837175"/>
            <a:ext cx="3314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rgbClr val="1323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13233D"/>
                </a:solidFill>
              </a:rPr>
              <a:t>What remained difficult</a:t>
            </a:r>
            <a:endParaRPr b="1" sz="1800">
              <a:solidFill>
                <a:srgbClr val="13233D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500"/>
              <a:buFont typeface="Arial"/>
              <a:buNone/>
            </a:pPr>
            <a:r>
              <a:t/>
            </a:r>
            <a:endParaRPr b="1" sz="1500">
              <a:solidFill>
                <a:srgbClr val="142037"/>
              </a:solidFill>
            </a:endParaRPr>
          </a:p>
        </p:txBody>
      </p:sp>
      <p:sp>
        <p:nvSpPr>
          <p:cNvPr id="538" name="Google Shape;538;h14e70d5490eb447_11_142"/>
          <p:cNvSpPr txBox="1"/>
          <p:nvPr/>
        </p:nvSpPr>
        <p:spPr>
          <a:xfrm>
            <a:off x="1619250" y="6038950"/>
            <a:ext cx="77343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26947A"/>
                </a:solidFill>
              </a:rPr>
              <a:t>Next phase: combine the final identification workflow with C2 classification and evaluate the end-to-end process.</a:t>
            </a:r>
            <a:endParaRPr b="1" sz="1300">
              <a:solidFill>
                <a:srgbClr val="26947A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h14e70d5490eb447_11_105"/>
          <p:cNvSpPr txBox="1"/>
          <p:nvPr/>
        </p:nvSpPr>
        <p:spPr>
          <a:xfrm>
            <a:off x="640080" y="411480"/>
            <a:ext cx="10881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CoT</a:t>
            </a:r>
            <a:r>
              <a:rPr b="1" i="0" lang="en-US" sz="2800" u="none" cap="none" strike="noStrike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 — </a:t>
            </a:r>
            <a:r>
              <a:rPr b="1" lang="en-US" sz="2800">
                <a:solidFill>
                  <a:srgbClr val="13233D"/>
                </a:solidFill>
              </a:rPr>
              <a:t>Identification + Classification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h14e70d5490eb447_11_105"/>
          <p:cNvSpPr txBox="1"/>
          <p:nvPr/>
        </p:nvSpPr>
        <p:spPr>
          <a:xfrm>
            <a:off x="658368" y="1005840"/>
            <a:ext cx="10789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5C69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5C697C"/>
                </a:solidFill>
              </a:rPr>
              <a:t>One prompt, two steps • the model classifies the phrases it identified itself</a:t>
            </a:r>
            <a:endParaRPr sz="1300">
              <a:solidFill>
                <a:srgbClr val="5C697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300"/>
              <a:buFont typeface="Arial"/>
              <a:buNone/>
            </a:pPr>
            <a:r>
              <a:t/>
            </a:r>
            <a:endParaRPr sz="1300">
              <a:solidFill>
                <a:srgbClr val="64707E"/>
              </a:solidFill>
            </a:endParaRPr>
          </a:p>
        </p:txBody>
      </p:sp>
      <p:sp>
        <p:nvSpPr>
          <p:cNvPr id="482" name="Google Shape;482;h14e70d5490eb447_11_105"/>
          <p:cNvSpPr txBox="1"/>
          <p:nvPr/>
        </p:nvSpPr>
        <p:spPr>
          <a:xfrm>
            <a:off x="10881360" y="6473952"/>
            <a:ext cx="64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h14e70d5490eb447_11_105"/>
          <p:cNvSpPr/>
          <p:nvPr/>
        </p:nvSpPr>
        <p:spPr>
          <a:xfrm>
            <a:off x="731520" y="1463040"/>
            <a:ext cx="5898000" cy="4617600"/>
          </a:xfrm>
          <a:prstGeom prst="roundRect">
            <a:avLst>
              <a:gd fmla="val 2376" name="adj"/>
            </a:avLst>
          </a:prstGeom>
          <a:solidFill>
            <a:srgbClr val="F5F7FA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h14e70d5490eb447_11_105"/>
          <p:cNvSpPr txBox="1"/>
          <p:nvPr/>
        </p:nvSpPr>
        <p:spPr>
          <a:xfrm>
            <a:off x="914400" y="1572768"/>
            <a:ext cx="55779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323E52"/>
                </a:solidFill>
                <a:latin typeface="Courier New"/>
                <a:ea typeface="Courier New"/>
                <a:cs typeface="Courier New"/>
                <a:sym typeface="Courier New"/>
              </a:rPr>
              <a:t>STEP 1 - IDENTIFICATION</a:t>
            </a:r>
            <a:br>
              <a:rPr lang="en-US" sz="1100">
                <a:solidFill>
                  <a:srgbClr val="323E5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Final identification prompt P12 (v5.6), unchanged:</a:t>
            </a:r>
            <a:br>
              <a:rPr lang="en-US" sz="1100">
                <a:solidFill>
                  <a:srgbClr val="323E5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rules, &lt;analysis&gt; step, &lt;answer&gt; phrase list</a:t>
            </a:r>
            <a:br>
              <a:rPr lang="en-US" sz="1100">
                <a:solidFill>
                  <a:srgbClr val="323E5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-US" sz="1100">
                <a:solidFill>
                  <a:srgbClr val="323E5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100">
                <a:solidFill>
                  <a:srgbClr val="323E52"/>
                </a:solidFill>
                <a:latin typeface="Courier New"/>
                <a:ea typeface="Courier New"/>
                <a:cs typeface="Courier New"/>
                <a:sym typeface="Courier New"/>
              </a:rPr>
              <a:t>STEP 2 - CLASSIFICATION</a:t>
            </a:r>
            <a:br>
              <a:rPr lang="en-US" sz="1100">
                <a:solidFill>
                  <a:srgbClr val="323E5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C2 prompt: knowledge grounding + validation pass</a:t>
            </a:r>
            <a:br>
              <a:rPr lang="en-US" sz="1100">
                <a:solidFill>
                  <a:srgbClr val="323E5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Phrase input = the model's own STEP 1 &lt;answer&gt;</a:t>
            </a:r>
            <a:br>
              <a:rPr lang="en-US" sz="1100">
                <a:solidFill>
                  <a:srgbClr val="323E5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Course classification rules included as text</a:t>
            </a:r>
            <a:br>
              <a:rPr lang="en-US" sz="1100">
                <a:solidFill>
                  <a:srgbClr val="323E5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-US" sz="1100">
                <a:solidFill>
                  <a:srgbClr val="323E5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100">
                <a:solidFill>
                  <a:srgbClr val="323E52"/>
                </a:solidFill>
                <a:latin typeface="Courier New"/>
                <a:ea typeface="Courier New"/>
                <a:cs typeface="Courier New"/>
                <a:sym typeface="Courier New"/>
              </a:rPr>
              <a:t>OUTPUT</a:t>
            </a:r>
            <a:br>
              <a:rPr lang="en-US" sz="1100">
                <a:solidFill>
                  <a:srgbClr val="323E5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STEP 1 &lt;analysis&gt; and &lt;answer&gt;,</a:t>
            </a:r>
            <a:br>
              <a:rPr lang="en-US" sz="1100">
                <a:solidFill>
                  <a:srgbClr val="323E5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then STEP 2 &lt;classification&gt;</a:t>
            </a:r>
            <a:br>
              <a:rPr lang="en-US" sz="1100">
                <a:solidFill>
                  <a:srgbClr val="323E5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-US" sz="1100">
                <a:solidFill>
                  <a:srgbClr val="323E5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Expert solutions are used only to score the output.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900"/>
              <a:buFont typeface="Courier New"/>
              <a:buNone/>
            </a:pPr>
            <a:r>
              <a:t/>
            </a:r>
            <a:endParaRPr sz="1300">
              <a:solidFill>
                <a:srgbClr val="323E5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85" name="Google Shape;485;h14e70d5490eb447_11_105"/>
          <p:cNvSpPr/>
          <p:nvPr/>
        </p:nvSpPr>
        <p:spPr>
          <a:xfrm>
            <a:off x="6858000" y="1463050"/>
            <a:ext cx="4617600" cy="1828800"/>
          </a:xfrm>
          <a:prstGeom prst="roundRect">
            <a:avLst>
              <a:gd fmla="val 7742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h14e70d5490eb447_11_105"/>
          <p:cNvSpPr txBox="1"/>
          <p:nvPr/>
        </p:nvSpPr>
        <p:spPr>
          <a:xfrm>
            <a:off x="7086600" y="1627632"/>
            <a:ext cx="1051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42037"/>
                </a:solidFill>
              </a:rPr>
              <a:t>Why CoT?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h14e70d5490eb447_11_105"/>
          <p:cNvSpPr txBox="1"/>
          <p:nvPr/>
        </p:nvSpPr>
        <p:spPr>
          <a:xfrm>
            <a:off x="7059193" y="2029975"/>
            <a:ext cx="4099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323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3233D"/>
                </a:solidFill>
              </a:rPr>
              <a:t>Step 3i: chain identification and classification so one prompt goes from the description to the domain model.</a:t>
            </a:r>
            <a:endParaRPr sz="1300">
              <a:solidFill>
                <a:srgbClr val="13233D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rgbClr val="2B6CB0"/>
              </a:solidFill>
            </a:endParaRPr>
          </a:p>
        </p:txBody>
      </p:sp>
      <p:sp>
        <p:nvSpPr>
          <p:cNvPr id="488" name="Google Shape;488;h14e70d5490eb447_11_105"/>
          <p:cNvSpPr/>
          <p:nvPr/>
        </p:nvSpPr>
        <p:spPr>
          <a:xfrm>
            <a:off x="6858000" y="3520440"/>
            <a:ext cx="4617600" cy="123450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h14e70d5490eb447_11_105"/>
          <p:cNvSpPr/>
          <p:nvPr/>
        </p:nvSpPr>
        <p:spPr>
          <a:xfrm>
            <a:off x="6858000" y="3575304"/>
            <a:ext cx="73200" cy="1124700"/>
          </a:xfrm>
          <a:prstGeom prst="rect">
            <a:avLst/>
          </a:prstGeom>
          <a:solidFill>
            <a:srgbClr val="C548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h14e70d5490eb447_11_105"/>
          <p:cNvSpPr txBox="1"/>
          <p:nvPr/>
        </p:nvSpPr>
        <p:spPr>
          <a:xfrm>
            <a:off x="7086600" y="3685032"/>
            <a:ext cx="4206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rgbClr val="1323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13233D"/>
                </a:solidFill>
              </a:rPr>
              <a:t>What changed from C2</a:t>
            </a:r>
            <a:endParaRPr b="1" sz="1500">
              <a:solidFill>
                <a:srgbClr val="13233D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500"/>
              <a:buFont typeface="Arial"/>
              <a:buNone/>
            </a:pPr>
            <a:r>
              <a:t/>
            </a:r>
            <a:endParaRPr b="1" sz="1500">
              <a:solidFill>
                <a:srgbClr val="142037"/>
              </a:solidFill>
            </a:endParaRPr>
          </a:p>
        </p:txBody>
      </p:sp>
      <p:sp>
        <p:nvSpPr>
          <p:cNvPr id="491" name="Google Shape;491;h14e70d5490eb447_11_105"/>
          <p:cNvSpPr txBox="1"/>
          <p:nvPr/>
        </p:nvSpPr>
        <p:spPr>
          <a:xfrm>
            <a:off x="7086600" y="4050725"/>
            <a:ext cx="4206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3233D"/>
                </a:solidFill>
              </a:rPr>
              <a:t>C2 was given the expert phrase list. In CoT, STEP 2 gets only what STEP 1 found.</a:t>
            </a:r>
            <a:endParaRPr sz="1200">
              <a:solidFill>
                <a:srgbClr val="1323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rgbClr val="13233D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D37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252D37"/>
              </a:solidFill>
            </a:endParaRPr>
          </a:p>
        </p:txBody>
      </p:sp>
      <p:sp>
        <p:nvSpPr>
          <p:cNvPr id="492" name="Google Shape;492;h14e70d5490eb447_11_105"/>
          <p:cNvSpPr/>
          <p:nvPr/>
        </p:nvSpPr>
        <p:spPr>
          <a:xfrm>
            <a:off x="6858000" y="4892040"/>
            <a:ext cx="4617600" cy="1188600"/>
          </a:xfrm>
          <a:prstGeom prst="roundRect">
            <a:avLst>
              <a:gd fmla="val 9231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h14e70d5490eb447_11_105"/>
          <p:cNvSpPr/>
          <p:nvPr/>
        </p:nvSpPr>
        <p:spPr>
          <a:xfrm>
            <a:off x="6858000" y="4946904"/>
            <a:ext cx="73200" cy="1079100"/>
          </a:xfrm>
          <a:prstGeom prst="rect">
            <a:avLst/>
          </a:prstGeom>
          <a:solidFill>
            <a:srgbClr val="258F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h14e70d5490eb447_11_105"/>
          <p:cNvSpPr txBox="1"/>
          <p:nvPr/>
        </p:nvSpPr>
        <p:spPr>
          <a:xfrm>
            <a:off x="7086600" y="5056632"/>
            <a:ext cx="4206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42037"/>
                </a:solidFill>
              </a:rPr>
              <a:t>Setup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h14e70d5490eb447_11_105"/>
          <p:cNvSpPr txBox="1"/>
          <p:nvPr/>
        </p:nvSpPr>
        <p:spPr>
          <a:xfrm>
            <a:off x="7086600" y="5422325"/>
            <a:ext cx="42063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3233D"/>
                </a:solidFill>
              </a:rPr>
              <a:t>GPT-5.6 Sol, temporary chat, 3 fresh runs per domain, scored by script.</a:t>
            </a:r>
            <a:endParaRPr sz="1200">
              <a:solidFill>
                <a:srgbClr val="1323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rgbClr val="13233D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D37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252D37"/>
              </a:solidFill>
            </a:endParaRPr>
          </a:p>
        </p:txBody>
      </p:sp>
      <p:sp>
        <p:nvSpPr>
          <p:cNvPr id="496" name="Google Shape;496;h14e70d5490eb447_11_105"/>
          <p:cNvSpPr/>
          <p:nvPr/>
        </p:nvSpPr>
        <p:spPr>
          <a:xfrm>
            <a:off x="6858000" y="1371550"/>
            <a:ext cx="73200" cy="1920300"/>
          </a:xfrm>
          <a:prstGeom prst="rect">
            <a:avLst/>
          </a:prstGeom>
          <a:solidFill>
            <a:srgbClr val="258F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h14e70d5490eb447_11_1"/>
          <p:cNvSpPr txBox="1"/>
          <p:nvPr/>
        </p:nvSpPr>
        <p:spPr>
          <a:xfrm>
            <a:off x="640080" y="411480"/>
            <a:ext cx="10881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CoT Results: </a:t>
            </a:r>
            <a:r>
              <a:rPr b="1" i="0" lang="en-US" sz="2800" u="none" cap="none" strike="noStrike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Identification (STEP 1)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h14e70d5490eb447_11_1"/>
          <p:cNvSpPr txBox="1"/>
          <p:nvPr/>
        </p:nvSpPr>
        <p:spPr>
          <a:xfrm>
            <a:off x="658368" y="1005840"/>
            <a:ext cx="10789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5C69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5C697C"/>
                </a:solidFill>
              </a:rPr>
              <a:t>Mean of 3 runs per domain • containment matching (Ruleset B style, no verb lemmatizing)</a:t>
            </a:r>
            <a:endParaRPr sz="1300">
              <a:solidFill>
                <a:srgbClr val="5C697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300"/>
              <a:buFont typeface="Arial"/>
              <a:buNone/>
            </a:pPr>
            <a:r>
              <a:t/>
            </a:r>
            <a:endParaRPr sz="1300">
              <a:solidFill>
                <a:srgbClr val="64707E"/>
              </a:solidFill>
            </a:endParaRPr>
          </a:p>
        </p:txBody>
      </p:sp>
      <p:sp>
        <p:nvSpPr>
          <p:cNvPr id="508" name="Google Shape;508;h14e70d5490eb447_11_1"/>
          <p:cNvSpPr txBox="1"/>
          <p:nvPr/>
        </p:nvSpPr>
        <p:spPr>
          <a:xfrm>
            <a:off x="10881360" y="6473952"/>
            <a:ext cx="64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h14e70d5490eb447_11_1"/>
          <p:cNvSpPr/>
          <p:nvPr/>
        </p:nvSpPr>
        <p:spPr>
          <a:xfrm>
            <a:off x="731520" y="1554480"/>
            <a:ext cx="3429000" cy="39318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h14e70d5490eb447_11_1"/>
          <p:cNvSpPr/>
          <p:nvPr/>
        </p:nvSpPr>
        <p:spPr>
          <a:xfrm>
            <a:off x="731520" y="1609344"/>
            <a:ext cx="73200" cy="38223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h14e70d5490eb447_11_1"/>
          <p:cNvSpPr txBox="1"/>
          <p:nvPr/>
        </p:nvSpPr>
        <p:spPr>
          <a:xfrm>
            <a:off x="1005840" y="1737360"/>
            <a:ext cx="301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Library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h14e70d5490eb447_11_1"/>
          <p:cNvSpPr txBox="1"/>
          <p:nvPr/>
        </p:nvSpPr>
        <p:spPr>
          <a:xfrm>
            <a:off x="1005840" y="2240280"/>
            <a:ext cx="30174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2F71B5"/>
                </a:solidFill>
              </a:rPr>
              <a:t>90.76%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h14e70d5490eb447_11_1"/>
          <p:cNvSpPr txBox="1"/>
          <p:nvPr/>
        </p:nvSpPr>
        <p:spPr>
          <a:xfrm>
            <a:off x="1005840" y="3657600"/>
            <a:ext cx="30174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Precision  </a:t>
            </a:r>
            <a:r>
              <a:rPr b="1" lang="en-US" sz="1400">
                <a:solidFill>
                  <a:srgbClr val="252D37"/>
                </a:solidFill>
              </a:rPr>
              <a:t>85.73%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Recall  </a:t>
            </a:r>
            <a:r>
              <a:rPr b="1" lang="en-US" sz="1400">
                <a:solidFill>
                  <a:srgbClr val="252D37"/>
                </a:solidFill>
              </a:rPr>
              <a:t>96.43%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Runs  </a:t>
            </a:r>
            <a:r>
              <a:rPr lang="en-US" sz="1400">
                <a:solidFill>
                  <a:srgbClr val="252D37"/>
                </a:solidFill>
              </a:rPr>
              <a:t>90.00 / 90.76 / 91.53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h14e70d5490eb447_11_1"/>
          <p:cNvSpPr/>
          <p:nvPr/>
        </p:nvSpPr>
        <p:spPr>
          <a:xfrm>
            <a:off x="4389120" y="1554480"/>
            <a:ext cx="3429000" cy="39318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h14e70d5490eb447_11_1"/>
          <p:cNvSpPr/>
          <p:nvPr/>
        </p:nvSpPr>
        <p:spPr>
          <a:xfrm>
            <a:off x="4389120" y="1609344"/>
            <a:ext cx="73200" cy="3822300"/>
          </a:xfrm>
          <a:prstGeom prst="rect">
            <a:avLst/>
          </a:prstGeom>
          <a:solidFill>
            <a:srgbClr val="258F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h14e70d5490eb447_11_1"/>
          <p:cNvSpPr txBox="1"/>
          <p:nvPr/>
        </p:nvSpPr>
        <p:spPr>
          <a:xfrm>
            <a:off x="4663440" y="1737360"/>
            <a:ext cx="301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Car Rental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h14e70d5490eb447_11_1"/>
          <p:cNvSpPr txBox="1"/>
          <p:nvPr/>
        </p:nvSpPr>
        <p:spPr>
          <a:xfrm>
            <a:off x="4663440" y="2240280"/>
            <a:ext cx="30174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8F7A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258F7A"/>
                </a:solidFill>
                <a:latin typeface="Arial"/>
                <a:ea typeface="Arial"/>
                <a:cs typeface="Arial"/>
                <a:sym typeface="Arial"/>
              </a:rPr>
              <a:t>56.22%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h14e70d5490eb447_11_1"/>
          <p:cNvSpPr txBox="1"/>
          <p:nvPr/>
        </p:nvSpPr>
        <p:spPr>
          <a:xfrm>
            <a:off x="4663440" y="3657600"/>
            <a:ext cx="30174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Precision  </a:t>
            </a:r>
            <a:r>
              <a:rPr b="1" lang="en-US" sz="1400">
                <a:solidFill>
                  <a:srgbClr val="252D37"/>
                </a:solidFill>
              </a:rPr>
              <a:t>46.18%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Recall  </a:t>
            </a:r>
            <a:r>
              <a:rPr b="1" lang="en-US" sz="1400">
                <a:solidFill>
                  <a:srgbClr val="252D37"/>
                </a:solidFill>
              </a:rPr>
              <a:t>71.88%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Runs  </a:t>
            </a:r>
            <a:r>
              <a:rPr b="0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55.09 / 57.14 / 56.44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h14e70d5490eb447_11_1"/>
          <p:cNvSpPr/>
          <p:nvPr/>
        </p:nvSpPr>
        <p:spPr>
          <a:xfrm>
            <a:off x="8046720" y="1554480"/>
            <a:ext cx="3429000" cy="39318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h14e70d5490eb447_11_1"/>
          <p:cNvSpPr/>
          <p:nvPr/>
        </p:nvSpPr>
        <p:spPr>
          <a:xfrm>
            <a:off x="8046720" y="1609344"/>
            <a:ext cx="73200" cy="3822300"/>
          </a:xfrm>
          <a:prstGeom prst="rect">
            <a:avLst/>
          </a:prstGeom>
          <a:solidFill>
            <a:srgbClr val="E28B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h14e70d5490eb447_11_1"/>
          <p:cNvSpPr txBox="1"/>
          <p:nvPr/>
        </p:nvSpPr>
        <p:spPr>
          <a:xfrm>
            <a:off x="8321040" y="1737360"/>
            <a:ext cx="301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National Trade Show Service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h14e70d5490eb447_11_1"/>
          <p:cNvSpPr txBox="1"/>
          <p:nvPr/>
        </p:nvSpPr>
        <p:spPr>
          <a:xfrm>
            <a:off x="8321040" y="2240280"/>
            <a:ext cx="30174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8B37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E28B37"/>
                </a:solidFill>
              </a:rPr>
              <a:t>77.12%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h14e70d5490eb447_11_1"/>
          <p:cNvSpPr txBox="1"/>
          <p:nvPr/>
        </p:nvSpPr>
        <p:spPr>
          <a:xfrm>
            <a:off x="8321040" y="3657600"/>
            <a:ext cx="30174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Precision  </a:t>
            </a:r>
            <a:r>
              <a:rPr b="1" lang="en-US" sz="1400">
                <a:solidFill>
                  <a:srgbClr val="252D37"/>
                </a:solidFill>
              </a:rPr>
              <a:t>68.53%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Recall  </a:t>
            </a:r>
            <a:r>
              <a:rPr b="1" lang="en-US" sz="1400">
                <a:solidFill>
                  <a:srgbClr val="252D37"/>
                </a:solidFill>
              </a:rPr>
              <a:t>88.17%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Runs  </a:t>
            </a:r>
            <a:r>
              <a:rPr lang="en-US" sz="1400">
                <a:solidFill>
                  <a:srgbClr val="252D37"/>
                </a:solidFill>
              </a:rPr>
              <a:t>77.36 / 77.93 / 76.06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h14e70d5490eb447_11_1"/>
          <p:cNvSpPr txBox="1"/>
          <p:nvPr/>
        </p:nvSpPr>
        <p:spPr>
          <a:xfrm>
            <a:off x="731520" y="5760720"/>
            <a:ext cx="10698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5C697C"/>
                </a:solidFill>
              </a:rPr>
              <a:t>Close to v5.6 run alone (90.6% / 55.6% / 78.9%): adding the classification step did not change identification.</a:t>
            </a:r>
            <a:endParaRPr i="1" sz="1100">
              <a:solidFill>
                <a:srgbClr val="5C69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5C697C"/>
                </a:solidFill>
              </a:rPr>
              <a:t>Exact-match F1: 77.86% / 51.74% / 65.52% (v5.6 writes possession, part-of and X-is-a-Y entries as full clauses).</a:t>
            </a:r>
            <a:endParaRPr i="1" sz="1100">
              <a:solidFill>
                <a:srgbClr val="5C697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050"/>
              <a:buFont typeface="Arial"/>
              <a:buNone/>
            </a:pPr>
            <a:r>
              <a:t/>
            </a:r>
            <a:endParaRPr i="1" sz="1050">
              <a:solidFill>
                <a:srgbClr val="64707E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h14e70d5490eb447_11_1"/>
          <p:cNvSpPr txBox="1"/>
          <p:nvPr/>
        </p:nvSpPr>
        <p:spPr>
          <a:xfrm>
            <a:off x="640080" y="411480"/>
            <a:ext cx="10881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CoT Results: </a:t>
            </a:r>
            <a:r>
              <a:rPr b="1" i="0" lang="en-US" sz="2800" u="none" cap="none" strike="noStrike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Classification (STEP 2)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h14e70d5490eb447_11_1"/>
          <p:cNvSpPr txBox="1"/>
          <p:nvPr/>
        </p:nvSpPr>
        <p:spPr>
          <a:xfrm>
            <a:off x="658368" y="1005840"/>
            <a:ext cx="10789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5C69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5C697C"/>
                </a:solidFill>
              </a:rPr>
              <a:t>Mean of 3 runs per domain • classification F1 against the expert solution</a:t>
            </a:r>
            <a:endParaRPr sz="1300">
              <a:solidFill>
                <a:srgbClr val="5C697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300"/>
              <a:buFont typeface="Arial"/>
              <a:buNone/>
            </a:pPr>
            <a:r>
              <a:t/>
            </a:r>
            <a:endParaRPr sz="1300">
              <a:solidFill>
                <a:srgbClr val="64707E"/>
              </a:solidFill>
            </a:endParaRPr>
          </a:p>
        </p:txBody>
      </p:sp>
      <p:sp>
        <p:nvSpPr>
          <p:cNvPr id="508" name="Google Shape;508;h14e70d5490eb447_11_1"/>
          <p:cNvSpPr txBox="1"/>
          <p:nvPr/>
        </p:nvSpPr>
        <p:spPr>
          <a:xfrm>
            <a:off x="10881360" y="6473952"/>
            <a:ext cx="64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h14e70d5490eb447_11_1"/>
          <p:cNvSpPr/>
          <p:nvPr/>
        </p:nvSpPr>
        <p:spPr>
          <a:xfrm>
            <a:off x="731520" y="1554480"/>
            <a:ext cx="3429000" cy="39318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h14e70d5490eb447_11_1"/>
          <p:cNvSpPr/>
          <p:nvPr/>
        </p:nvSpPr>
        <p:spPr>
          <a:xfrm>
            <a:off x="731520" y="1609344"/>
            <a:ext cx="73200" cy="38223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h14e70d5490eb447_11_1"/>
          <p:cNvSpPr txBox="1"/>
          <p:nvPr/>
        </p:nvSpPr>
        <p:spPr>
          <a:xfrm>
            <a:off x="1005840" y="1737360"/>
            <a:ext cx="301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Library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h14e70d5490eb447_11_1"/>
          <p:cNvSpPr txBox="1"/>
          <p:nvPr/>
        </p:nvSpPr>
        <p:spPr>
          <a:xfrm>
            <a:off x="1005840" y="2240280"/>
            <a:ext cx="30174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2F71B5"/>
                </a:solidFill>
              </a:rPr>
              <a:t>40.91%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h14e70d5490eb447_11_1"/>
          <p:cNvSpPr txBox="1"/>
          <p:nvPr/>
        </p:nvSpPr>
        <p:spPr>
          <a:xfrm>
            <a:off x="1005840" y="3657600"/>
            <a:ext cx="30174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Precision  </a:t>
            </a:r>
            <a:r>
              <a:rPr b="1" lang="en-US" sz="1400">
                <a:solidFill>
                  <a:srgbClr val="252D37"/>
                </a:solidFill>
              </a:rPr>
              <a:t>36.35%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Recall  </a:t>
            </a:r>
            <a:r>
              <a:rPr b="1" lang="en-US" sz="1400">
                <a:solidFill>
                  <a:srgbClr val="252D37"/>
                </a:solidFill>
              </a:rPr>
              <a:t>46.92%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Runs  </a:t>
            </a:r>
            <a:r>
              <a:rPr lang="en-US" sz="1400">
                <a:solidFill>
                  <a:srgbClr val="252D37"/>
                </a:solidFill>
              </a:rPr>
              <a:t>50.85 / 40.62 / 31.25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h14e70d5490eb447_11_1"/>
          <p:cNvSpPr/>
          <p:nvPr/>
        </p:nvSpPr>
        <p:spPr>
          <a:xfrm>
            <a:off x="4389120" y="1554480"/>
            <a:ext cx="3429000" cy="39318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h14e70d5490eb447_11_1"/>
          <p:cNvSpPr/>
          <p:nvPr/>
        </p:nvSpPr>
        <p:spPr>
          <a:xfrm>
            <a:off x="4389120" y="1609344"/>
            <a:ext cx="73200" cy="3822300"/>
          </a:xfrm>
          <a:prstGeom prst="rect">
            <a:avLst/>
          </a:prstGeom>
          <a:solidFill>
            <a:srgbClr val="258F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h14e70d5490eb447_11_1"/>
          <p:cNvSpPr txBox="1"/>
          <p:nvPr/>
        </p:nvSpPr>
        <p:spPr>
          <a:xfrm>
            <a:off x="4663440" y="1737360"/>
            <a:ext cx="301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Car Rental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h14e70d5490eb447_11_1"/>
          <p:cNvSpPr txBox="1"/>
          <p:nvPr/>
        </p:nvSpPr>
        <p:spPr>
          <a:xfrm>
            <a:off x="4663440" y="2240280"/>
            <a:ext cx="30174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8F7A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258F7A"/>
                </a:solidFill>
                <a:latin typeface="Arial"/>
                <a:ea typeface="Arial"/>
                <a:cs typeface="Arial"/>
                <a:sym typeface="Arial"/>
              </a:rPr>
              <a:t>30.91%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h14e70d5490eb447_11_1"/>
          <p:cNvSpPr txBox="1"/>
          <p:nvPr/>
        </p:nvSpPr>
        <p:spPr>
          <a:xfrm>
            <a:off x="4663440" y="3657600"/>
            <a:ext cx="30174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Precision  </a:t>
            </a:r>
            <a:r>
              <a:rPr b="1" lang="en-US" sz="1400">
                <a:solidFill>
                  <a:srgbClr val="252D37"/>
                </a:solidFill>
              </a:rPr>
              <a:t>27.25%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Recall  </a:t>
            </a:r>
            <a:r>
              <a:rPr b="1" lang="en-US" sz="1400">
                <a:solidFill>
                  <a:srgbClr val="252D37"/>
                </a:solidFill>
              </a:rPr>
              <a:t>35.80%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Runs  </a:t>
            </a:r>
            <a:r>
              <a:rPr b="0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31.01 / 33.61 / 28.12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h14e70d5490eb447_11_1"/>
          <p:cNvSpPr/>
          <p:nvPr/>
        </p:nvSpPr>
        <p:spPr>
          <a:xfrm>
            <a:off x="8046720" y="1554480"/>
            <a:ext cx="3429000" cy="39318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h14e70d5490eb447_11_1"/>
          <p:cNvSpPr/>
          <p:nvPr/>
        </p:nvSpPr>
        <p:spPr>
          <a:xfrm>
            <a:off x="8046720" y="1609344"/>
            <a:ext cx="73200" cy="3822300"/>
          </a:xfrm>
          <a:prstGeom prst="rect">
            <a:avLst/>
          </a:prstGeom>
          <a:solidFill>
            <a:srgbClr val="E28B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h14e70d5490eb447_11_1"/>
          <p:cNvSpPr txBox="1"/>
          <p:nvPr/>
        </p:nvSpPr>
        <p:spPr>
          <a:xfrm>
            <a:off x="8321040" y="1737360"/>
            <a:ext cx="301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National Trade Show Service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h14e70d5490eb447_11_1"/>
          <p:cNvSpPr txBox="1"/>
          <p:nvPr/>
        </p:nvSpPr>
        <p:spPr>
          <a:xfrm>
            <a:off x="8321040" y="2240280"/>
            <a:ext cx="30174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8B37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E28B37"/>
                </a:solidFill>
              </a:rPr>
              <a:t>42.59%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h14e70d5490eb447_11_1"/>
          <p:cNvSpPr txBox="1"/>
          <p:nvPr/>
        </p:nvSpPr>
        <p:spPr>
          <a:xfrm>
            <a:off x="8321040" y="3657600"/>
            <a:ext cx="30174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Precision  </a:t>
            </a:r>
            <a:r>
              <a:rPr b="1" lang="en-US" sz="1400">
                <a:solidFill>
                  <a:srgbClr val="252D37"/>
                </a:solidFill>
              </a:rPr>
              <a:t>33.68%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Recall  </a:t>
            </a:r>
            <a:r>
              <a:rPr b="1" lang="en-US" sz="1400">
                <a:solidFill>
                  <a:srgbClr val="252D37"/>
                </a:solidFill>
              </a:rPr>
              <a:t>58.64%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Runs  </a:t>
            </a:r>
            <a:r>
              <a:rPr lang="en-US" sz="1400">
                <a:solidFill>
                  <a:srgbClr val="252D37"/>
                </a:solidFill>
              </a:rPr>
              <a:t>36.47 / 42.76 / 48.53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h14e70d5490eb447_11_1"/>
          <p:cNvSpPr txBox="1"/>
          <p:nvPr/>
        </p:nvSpPr>
        <p:spPr>
          <a:xfrm>
            <a:off x="731520" y="5760720"/>
            <a:ext cx="10698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5C697C"/>
                </a:solidFill>
              </a:rPr>
              <a:t>C2 given the expert phrase list: 50.03% / 52.72% / 50.98%. In CoT, STEP 2 classifies the model's own STEP 1 phrases,</a:t>
            </a:r>
            <a:endParaRPr i="1" sz="1100">
              <a:solidFill>
                <a:srgbClr val="5C69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5C697C"/>
                </a:solidFill>
              </a:rPr>
              <a:t>so extra or missing phrases from identification carry into the domain model.</a:t>
            </a:r>
            <a:endParaRPr i="1" sz="1100">
              <a:solidFill>
                <a:srgbClr val="5C697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050"/>
              <a:buFont typeface="Arial"/>
              <a:buNone/>
            </a:pPr>
            <a:r>
              <a:t/>
            </a:r>
            <a:endParaRPr i="1" sz="1050">
              <a:solidFill>
                <a:srgbClr val="64707E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h14e70d5490eb447_11_142"/>
          <p:cNvSpPr txBox="1"/>
          <p:nvPr/>
        </p:nvSpPr>
        <p:spPr>
          <a:xfrm>
            <a:off x="640080" y="411480"/>
            <a:ext cx="10881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800">
              <a:solidFill>
                <a:srgbClr val="1323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13233D"/>
                </a:solidFill>
              </a:rPr>
              <a:t>CoT Findings</a:t>
            </a:r>
            <a:endParaRPr b="1" sz="2800">
              <a:solidFill>
                <a:srgbClr val="13233D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2800"/>
              <a:buFont typeface="Play"/>
              <a:buNone/>
            </a:pPr>
            <a:r>
              <a:t/>
            </a:r>
            <a:endParaRPr b="1" sz="2800">
              <a:solidFill>
                <a:srgbClr val="142037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30" name="Google Shape;530;h14e70d5490eb447_11_142"/>
          <p:cNvSpPr txBox="1"/>
          <p:nvPr/>
        </p:nvSpPr>
        <p:spPr>
          <a:xfrm>
            <a:off x="658368" y="1005840"/>
            <a:ext cx="10789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5C69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5C69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5C697C"/>
                </a:solidFill>
              </a:rPr>
              <a:t>What chaining identification and classification showed</a:t>
            </a:r>
            <a:endParaRPr sz="1300">
              <a:solidFill>
                <a:srgbClr val="5C69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5C697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300"/>
              <a:buFont typeface="Arial"/>
              <a:buNone/>
            </a:pPr>
            <a:r>
              <a:t/>
            </a:r>
            <a:endParaRPr sz="1300">
              <a:solidFill>
                <a:srgbClr val="64707E"/>
              </a:solidFill>
            </a:endParaRPr>
          </a:p>
        </p:txBody>
      </p:sp>
      <p:sp>
        <p:nvSpPr>
          <p:cNvPr id="531" name="Google Shape;531;h14e70d5490eb447_11_142"/>
          <p:cNvSpPr txBox="1"/>
          <p:nvPr/>
        </p:nvSpPr>
        <p:spPr>
          <a:xfrm>
            <a:off x="10881360" y="6473952"/>
            <a:ext cx="64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h14e70d5490eb447_11_142"/>
          <p:cNvSpPr/>
          <p:nvPr/>
        </p:nvSpPr>
        <p:spPr>
          <a:xfrm>
            <a:off x="658375" y="1548775"/>
            <a:ext cx="5056500" cy="4166100"/>
          </a:xfrm>
          <a:prstGeom prst="roundRect">
            <a:avLst>
              <a:gd fmla="val 7742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3233D"/>
                </a:solidFill>
              </a:rPr>
              <a:t>• Identification held steady inside the chained prompt.</a:t>
            </a:r>
            <a:endParaRPr sz="1600">
              <a:solidFill>
                <a:srgbClr val="1323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3233D"/>
                </a:solidFill>
              </a:rPr>
              <a:t>• STEP 2 used only the model's own phrases; no expert list in the loop.</a:t>
            </a:r>
            <a:endParaRPr sz="1600">
              <a:solidFill>
                <a:srgbClr val="1323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3233D"/>
                </a:solidFill>
              </a:rPr>
              <a:t>• Core structure was found in every domain: main classes, isa, aggregation (e.g. committee of reviewers).</a:t>
            </a:r>
            <a:endParaRPr sz="1600">
              <a:solidFill>
                <a:srgbClr val="1323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3233D"/>
                </a:solidFill>
              </a:rPr>
              <a:t/>
            </a:r>
            <a:endParaRPr sz="1600">
              <a:solidFill>
                <a:srgbClr val="13233D"/>
              </a:solidFill>
            </a:endParaRPr>
          </a:p>
        </p:txBody>
      </p:sp>
      <p:sp>
        <p:nvSpPr>
          <p:cNvPr id="533" name="Google Shape;533;h14e70d5490eb447_11_142"/>
          <p:cNvSpPr txBox="1"/>
          <p:nvPr/>
        </p:nvSpPr>
        <p:spPr>
          <a:xfrm>
            <a:off x="981075" y="1837175"/>
            <a:ext cx="2771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13233D"/>
                </a:solidFill>
              </a:rPr>
              <a:t>What worked</a:t>
            </a:r>
            <a:endParaRPr b="1" sz="1500">
              <a:solidFill>
                <a:srgbClr val="142037"/>
              </a:solidFill>
            </a:endParaRPr>
          </a:p>
        </p:txBody>
      </p:sp>
      <p:sp>
        <p:nvSpPr>
          <p:cNvPr id="534" name="Google Shape;534;h14e70d5490eb447_11_142"/>
          <p:cNvSpPr/>
          <p:nvPr/>
        </p:nvSpPr>
        <p:spPr>
          <a:xfrm>
            <a:off x="6391675" y="1548763"/>
            <a:ext cx="73200" cy="4395000"/>
          </a:xfrm>
          <a:prstGeom prst="rect">
            <a:avLst/>
          </a:prstGeom>
          <a:solidFill>
            <a:srgbClr val="C548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h14e70d5490eb447_11_142"/>
          <p:cNvSpPr/>
          <p:nvPr/>
        </p:nvSpPr>
        <p:spPr>
          <a:xfrm>
            <a:off x="640075" y="1466800"/>
            <a:ext cx="73200" cy="4476900"/>
          </a:xfrm>
          <a:prstGeom prst="rect">
            <a:avLst/>
          </a:prstGeom>
          <a:solidFill>
            <a:srgbClr val="2F71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h14e70d5490eb447_11_142"/>
          <p:cNvSpPr/>
          <p:nvPr/>
        </p:nvSpPr>
        <p:spPr>
          <a:xfrm>
            <a:off x="6464875" y="1622200"/>
            <a:ext cx="5056500" cy="4166100"/>
          </a:xfrm>
          <a:prstGeom prst="roundRect">
            <a:avLst>
              <a:gd fmla="val 7742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3233D"/>
                </a:solidFill>
              </a:rPr>
              <a:t>• Classification F1 fell 8–22 points vs. C2 with the expert list.</a:t>
            </a:r>
            <a:endParaRPr sz="1600">
              <a:solidFill>
                <a:srgbClr val="1323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3233D"/>
                </a:solidFill>
              </a:rPr>
              <a:t>• Extra STEP 1 phrases became extra classes and associations.</a:t>
            </a:r>
            <a:endParaRPr sz="1600">
              <a:solidFill>
                <a:srgbClr val="1323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3233D"/>
                </a:solidFill>
              </a:rPr>
              <a:t>• Large run-to-run spread (Library 31.25–50.85%).</a:t>
            </a:r>
            <a:endParaRPr sz="1600">
              <a:solidFill>
                <a:srgbClr val="1323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3233D"/>
                </a:solidFill>
              </a:rPr>
              <a:t>• Expert labels not in the text (status, body style, bill for) never appear.</a:t>
            </a:r>
            <a:endParaRPr sz="1600">
              <a:solidFill>
                <a:srgbClr val="1323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3233D"/>
                </a:solidFill>
              </a:rPr>
              <a:t/>
            </a:r>
            <a:endParaRPr sz="1600">
              <a:solidFill>
                <a:srgbClr val="13233D"/>
              </a:solidFill>
            </a:endParaRPr>
          </a:p>
        </p:txBody>
      </p:sp>
      <p:sp>
        <p:nvSpPr>
          <p:cNvPr id="537" name="Google Shape;537;h14e70d5490eb447_11_142"/>
          <p:cNvSpPr txBox="1"/>
          <p:nvPr/>
        </p:nvSpPr>
        <p:spPr>
          <a:xfrm>
            <a:off x="6867525" y="1837175"/>
            <a:ext cx="3314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rgbClr val="1323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13233D"/>
                </a:solidFill>
              </a:rPr>
              <a:t>What remained difficult</a:t>
            </a:r>
            <a:endParaRPr b="1" sz="1800">
              <a:solidFill>
                <a:srgbClr val="13233D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500"/>
              <a:buFont typeface="Arial"/>
              <a:buNone/>
            </a:pPr>
            <a:r>
              <a:t/>
            </a:r>
            <a:endParaRPr b="1" sz="1500">
              <a:solidFill>
                <a:srgbClr val="142037"/>
              </a:solidFill>
            </a:endParaRPr>
          </a:p>
        </p:txBody>
      </p:sp>
      <p:sp>
        <p:nvSpPr>
          <p:cNvPr id="538" name="Google Shape;538;h14e70d5490eb447_11_142"/>
          <p:cNvSpPr txBox="1"/>
          <p:nvPr/>
        </p:nvSpPr>
        <p:spPr>
          <a:xfrm>
            <a:off x="1619250" y="6038950"/>
            <a:ext cx="77343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26947A"/>
                </a:solidFill>
              </a:rPr>
              <a:t>CoT automates the full path from description to domain model, but classification accuracy is limited by identification precision.</a:t>
            </a:r>
            <a:endParaRPr b="1" sz="1300">
              <a:solidFill>
                <a:srgbClr val="26947A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037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h14e70d5490eb447_5_314"/>
          <p:cNvSpPr txBox="1"/>
          <p:nvPr/>
        </p:nvSpPr>
        <p:spPr>
          <a:xfrm>
            <a:off x="640080" y="411480"/>
            <a:ext cx="10881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Conclusion &amp; Future Work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h14e70d5490eb447_5_314"/>
          <p:cNvSpPr txBox="1"/>
          <p:nvPr/>
        </p:nvSpPr>
        <p:spPr>
          <a:xfrm>
            <a:off x="10881360" y="6473952"/>
            <a:ext cx="64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h14e70d5490eb447_5_314"/>
          <p:cNvSpPr/>
          <p:nvPr/>
        </p:nvSpPr>
        <p:spPr>
          <a:xfrm>
            <a:off x="731520" y="1463040"/>
            <a:ext cx="3429000" cy="42978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h14e70d5490eb447_5_314"/>
          <p:cNvSpPr/>
          <p:nvPr/>
        </p:nvSpPr>
        <p:spPr>
          <a:xfrm>
            <a:off x="731520" y="1517904"/>
            <a:ext cx="73200" cy="4188000"/>
          </a:xfrm>
          <a:prstGeom prst="rect">
            <a:avLst/>
          </a:prstGeom>
          <a:solidFill>
            <a:srgbClr val="258F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h14e70d5490eb447_5_314"/>
          <p:cNvSpPr txBox="1"/>
          <p:nvPr/>
        </p:nvSpPr>
        <p:spPr>
          <a:xfrm>
            <a:off x="960120" y="1627632"/>
            <a:ext cx="301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1. Goal met?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h14e70d5490eb447_5_314"/>
          <p:cNvSpPr txBox="1"/>
          <p:nvPr/>
        </p:nvSpPr>
        <p:spPr>
          <a:xfrm>
            <a:off x="960120" y="2057400"/>
            <a:ext cx="30174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52D37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Not at 97%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252D37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Best library: 93.6% (P6)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252D37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Final prompt: 90.6% library, 78.9% NTSS, 55.6% car rental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h14e70d5490eb447_5_314"/>
          <p:cNvSpPr/>
          <p:nvPr/>
        </p:nvSpPr>
        <p:spPr>
          <a:xfrm>
            <a:off x="4389120" y="1463040"/>
            <a:ext cx="3429000" cy="42978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h14e70d5490eb447_5_314"/>
          <p:cNvSpPr/>
          <p:nvPr/>
        </p:nvSpPr>
        <p:spPr>
          <a:xfrm>
            <a:off x="4389120" y="1517904"/>
            <a:ext cx="73200" cy="4188000"/>
          </a:xfrm>
          <a:prstGeom prst="rect">
            <a:avLst/>
          </a:prstGeom>
          <a:solidFill>
            <a:srgbClr val="E28B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h14e70d5490eb447_5_314"/>
          <p:cNvSpPr txBox="1"/>
          <p:nvPr/>
        </p:nvSpPr>
        <p:spPr>
          <a:xfrm>
            <a:off x="4617720" y="1627632"/>
            <a:ext cx="301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2. Improvement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h14e70d5490eb447_5_314"/>
          <p:cNvSpPr txBox="1"/>
          <p:nvPr/>
        </p:nvSpPr>
        <p:spPr>
          <a:xfrm>
            <a:off x="4617720" y="2057400"/>
            <a:ext cx="30174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52D37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Library 84.6 → 90.6 (peak 93.6)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252D37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NTSS 69.2 → 78.9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252D37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Car rental 40.8 → 55.6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Char char="•"/>
            </a:pPr>
            <a:r>
              <a:rPr b="0" i="1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Every score: 3 fresh runs, scored by script, no test wording in the prompt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h14e70d5490eb447_5_314"/>
          <p:cNvSpPr/>
          <p:nvPr/>
        </p:nvSpPr>
        <p:spPr>
          <a:xfrm>
            <a:off x="8046720" y="1463040"/>
            <a:ext cx="3429000" cy="42978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h14e70d5490eb447_5_314"/>
          <p:cNvSpPr/>
          <p:nvPr/>
        </p:nvSpPr>
        <p:spPr>
          <a:xfrm>
            <a:off x="8046720" y="1517904"/>
            <a:ext cx="73200" cy="418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h14e70d5490eb447_5_314"/>
          <p:cNvSpPr txBox="1"/>
          <p:nvPr/>
        </p:nvSpPr>
        <p:spPr>
          <a:xfrm>
            <a:off x="8275320" y="1627632"/>
            <a:ext cx="301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3. Next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h14e70d5490eb447_5_314"/>
          <p:cNvSpPr txBox="1"/>
          <p:nvPr/>
        </p:nvSpPr>
        <p:spPr>
          <a:xfrm>
            <a:off x="8275320" y="2057400"/>
            <a:ext cx="30174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52D37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Ask which answer-key convention applies across domains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252D37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Adjudicate the 3 car rental answers missing from the text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252D37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Use a lemmatizer in the scorer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252D37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Restore the two library losses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252D37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Fixed model via API at temperature 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h14e70d5490eb447_5_332"/>
          <p:cNvSpPr txBox="1"/>
          <p:nvPr/>
        </p:nvSpPr>
        <p:spPr>
          <a:xfrm>
            <a:off x="640080" y="411480"/>
            <a:ext cx="10881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Appendix: Final Prompt P12 (v5.6), part 1 of 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h14e70d5490eb447_5_332"/>
          <p:cNvSpPr txBox="1"/>
          <p:nvPr/>
        </p:nvSpPr>
        <p:spPr>
          <a:xfrm>
            <a:off x="658368" y="1005840"/>
            <a:ext cx="10789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Complete text as given to the model, attached as a .md file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h14e70d5490eb447_5_332"/>
          <p:cNvSpPr txBox="1"/>
          <p:nvPr/>
        </p:nvSpPr>
        <p:spPr>
          <a:xfrm>
            <a:off x="10881360" y="6473952"/>
            <a:ext cx="64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h14e70d5490eb447_5_332"/>
          <p:cNvSpPr/>
          <p:nvPr/>
        </p:nvSpPr>
        <p:spPr>
          <a:xfrm>
            <a:off x="640080" y="1417320"/>
            <a:ext cx="5394900" cy="4937700"/>
          </a:xfrm>
          <a:prstGeom prst="roundRect">
            <a:avLst>
              <a:gd fmla="val 2222" name="adj"/>
            </a:avLst>
          </a:prstGeom>
          <a:solidFill>
            <a:srgbClr val="F5F7FA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h14e70d5490eb447_5_332"/>
          <p:cNvSpPr txBox="1"/>
          <p:nvPr/>
        </p:nvSpPr>
        <p:spPr>
          <a:xfrm>
            <a:off x="777240" y="1481328"/>
            <a:ext cx="5166300" cy="48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You are an Agile Unified Methodology specialist performing the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phrase-identification step of domain modeling. Extract domain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phrases from the provided document. Follow these rules exactly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rather than your own linguistic judgment.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GENERAL RULES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1. Extract only phrases that appear in the document, using its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 wording. Do not paraphrase, infer, or add phrases.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2. List singular/plural variants of the same phrase on one line,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 separated by " / " (e.g., "room / rooms"). Only list variants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 that actually appear in the text.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3. Put each phrase in exactly one category. Exceptions: a noun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 phrase may also appear under X of Y, and X of Y phrases are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 extracted from every sentence, including sentences already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 used for Possession, Consist of, or Generalization.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4. Keep modifier + noun phrases whole (e.g., "room key",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 "late fee"). Do not move the modifier into Adjectives. The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 one exception is several modifiers sharing one noun (see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 Adjectives).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5. Extract only phrases that would become part of the domain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 model: a class, an attribute, an attribute value, or 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 relationship between them. Skip background and motivation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 (why the business wants the system, market conditions, costs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 and savings), and skip generic words that name nothing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 specific in the domain (information, system, thing, purpose,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 time, day) unless the document treats that word as something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 the system records.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6. Do not extract proper names of particular instances: company,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 product, brand, venue, city, street or person names. Extract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 the general term the document uses instead ("conference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 venue", not the venue's name). The one exception is the name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 of the organization or system the document is describing,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 which is a class in the model and is extracted.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CATEGORIES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Nouns / noun phrases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Things, people, roles, attributes, and records in the domain.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Include nouns that name an activity or event in the domain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("inspection", "cancellation", "refund"). A noun form counts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h14e70d5490eb447_5_332"/>
          <p:cNvSpPr/>
          <p:nvPr/>
        </p:nvSpPr>
        <p:spPr>
          <a:xfrm>
            <a:off x="6172200" y="1417320"/>
            <a:ext cx="5394900" cy="4937700"/>
          </a:xfrm>
          <a:prstGeom prst="roundRect">
            <a:avLst>
              <a:gd fmla="val 2222" name="adj"/>
            </a:avLst>
          </a:prstGeom>
          <a:solidFill>
            <a:srgbClr val="F5F7FA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h14e70d5490eb447_5_332"/>
          <p:cNvSpPr txBox="1"/>
          <p:nvPr/>
        </p:nvSpPr>
        <p:spPr>
          <a:xfrm>
            <a:off x="6309360" y="1481328"/>
            <a:ext cx="5166300" cy="48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even when the same action also appears as a verb elsewhere in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the text: "cancellation" goes under Nouns and "cancelled"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under Transitive verbs.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List a word as its own noun only if it appears on its own in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the text. Do not split a compound noun phrase into its words.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X of Y Expressions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Only phrases that literally contain the word "of". A phrase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built on any other preposition (for, before, with, to, in,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on) is never an X of Y phrase, however closely it describes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one.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The phrase is exactly "&lt;noun&gt; of &lt;noun phrase&gt;": it starts at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the noun immediately before "of" and ends at the end of the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noun phrase immediately after it. Drop leading adjectives and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trailing prepositional phrases ("weekly review of bookings by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staff" -&gt; "review of bookings").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Never join two phrases with "and" ("colour and size" is not an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X of Y phrase). If a sentence has two "of" phrases, list them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separately.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Work through the document one "of" at a time and list only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what you find. Do not rephrase a sentence so that it contains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"of".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Transitive verbs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Verbs acting on an object, copied exactly as they appear in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the text. Do not convert them to base form. Omit the object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and auxiliaries (is/are/can be). List each verb once.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Only transitive verbs. Exclude verbs that take no object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("stay", "arrive", "wait") and verbs that only introduce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another verb ("try to", "begin to"); for those, list the verb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they introduce instead. Exclude phrases that merely look like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verbs but work as prepositions ("according to", "owing to").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Passive participles ("can be cancelled", "is assigned") are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verbs, not adjectives.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A passive verb followed by "by" and the one doing the action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keeps "by": list "approved by", not "approved".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A verb's "-ing" form used as an action is a verb, including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inside "when ...", "before ...", or "after ..." clauses ("when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assigning a room" gives "assigning"). List it as written.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A word used as a verb anywhere in the text goes under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h14e70d5490eb447_5_343"/>
          <p:cNvSpPr txBox="1"/>
          <p:nvPr/>
        </p:nvSpPr>
        <p:spPr>
          <a:xfrm>
            <a:off x="640080" y="411480"/>
            <a:ext cx="10881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Appendix: Final Prompt P12 (v5.6), part 2 of 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h14e70d5490eb447_5_343"/>
          <p:cNvSpPr txBox="1"/>
          <p:nvPr/>
        </p:nvSpPr>
        <p:spPr>
          <a:xfrm>
            <a:off x="658368" y="1005840"/>
            <a:ext cx="10789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Complete text as given to the model, attached as a .md file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h14e70d5490eb447_5_343"/>
          <p:cNvSpPr txBox="1"/>
          <p:nvPr/>
        </p:nvSpPr>
        <p:spPr>
          <a:xfrm>
            <a:off x="10881360" y="6473952"/>
            <a:ext cx="64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h14e70d5490eb447_5_343"/>
          <p:cNvSpPr/>
          <p:nvPr/>
        </p:nvSpPr>
        <p:spPr>
          <a:xfrm>
            <a:off x="640080" y="1417320"/>
            <a:ext cx="5394900" cy="4937700"/>
          </a:xfrm>
          <a:prstGeom prst="roundRect">
            <a:avLst>
              <a:gd fmla="val 2222" name="adj"/>
            </a:avLst>
          </a:prstGeom>
          <a:solidFill>
            <a:srgbClr val="F5F7FA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h14e70d5490eb447_5_343"/>
          <p:cNvSpPr txBox="1"/>
          <p:nvPr/>
        </p:nvSpPr>
        <p:spPr>
          <a:xfrm>
            <a:off x="777240" y="1481328"/>
            <a:ext cx="5166300" cy="48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Transitive verbs only, never under Adjectives.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Keep any preposition that belongs to the verb ("applied for",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"signed off by", "handed over to"). The preposition is part of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the verb, so listing the verb without it is wrong.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Exclude words used as nouns ("the checkout").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Exclude the linking words of the last three categories, even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though they are verbs. They belong to those categories only: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  Possession: has, have, possesses, owns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  Consist of / Part of: consists of, is made up of, is part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    of, involves, includes, including, comprises, contains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  Generalization: is a, is a kind of, is a type of, types of,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    kinds of, is known as, can be regarded as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Exclude only the linking word itself, not the other verbs in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the same sentence. A sentence such as "Closing a ward involves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discharging the patients and archiving their charts"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contributes "discharging" and "archiving" to this category;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only "involves" is withheld.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Adjectives, enumeration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Include a word only if it would be a VALUE of an attribute in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the domain model: example values (often after "e.g.", "such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as", or in parentheses), status values, or frequencies.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Status values count only if the word is not used as a verb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anywhere in the document.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Exclude determiners, quantifiers, adverbs, and nouns used as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modifiers inside a noun phrase.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When the document lists the values of one attribute together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(joined by commas, "and", or "or"), copy the whole list as one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line exactly as written ("single, double, or deluxe"). Do not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also list each value on its own line. A value that appears 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its own in the text gets its own line. If the listed values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are numbers ("one or two"), they are quantities: list them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under Numeric, Quantity instead of here.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Several modifiers listed together before one noun are the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values of one attribute of that noun ("laundry, minibar, and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parking bills"). Copy the modifiers without the noun as one line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("laundry, minibar, and parking"), even though one noun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modifier on its own is excluded. This holds even when other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words come before the modifiers: "the hotel laundry, minibar, and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parking bills" still gives "laundry, minibar, and parking".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h14e70d5490eb447_5_343"/>
          <p:cNvSpPr/>
          <p:nvPr/>
        </p:nvSpPr>
        <p:spPr>
          <a:xfrm>
            <a:off x="6172200" y="1417320"/>
            <a:ext cx="5394900" cy="4937700"/>
          </a:xfrm>
          <a:prstGeom prst="roundRect">
            <a:avLst>
              <a:gd fmla="val 2222" name="adj"/>
            </a:avLst>
          </a:prstGeom>
          <a:solidFill>
            <a:srgbClr val="F5F7FA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h14e70d5490eb447_5_343"/>
          <p:cNvSpPr txBox="1"/>
          <p:nvPr/>
        </p:nvSpPr>
        <p:spPr>
          <a:xfrm>
            <a:off x="6309360" y="1481328"/>
            <a:ext cx="5166300" cy="48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Keep a negation with its value: "is not ready" gives "not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ready". List the bare value too only if it also appears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without "not".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Ways of doing something given as alternatives ("online or at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the front desk") are the values of a method attribute: copy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them as one line. One adverb on its own is still excluded.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Numeric, Quantity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A quantity answers "how many" or "how much" about something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in the domain. Test every candidate against that question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before listing it.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Include numbers and quantity expressions, kept whole ("at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most 3 nights"), single numbers, vague quantities ("several",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"a number of", "one or more"), and distributive quantifiers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("each", "every", "all").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Exclude dates, years, months, times, street addresses, postal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codes, phone numbers, and reference numbers. A year such as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"1994" and a date such as "March 3-5, 1994" answer "when", not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"how many", so neither is a quantity.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Keep a quantity expression whole rather than splitting it: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list "one or more", never "one" and "more" separately.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Possession Expressions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Full clause: "&lt;subject&gt; has/have/possesses &lt;X&gt;, &lt;Y&gt;, ...".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Consist of / Part of Expressions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Full clause built on one of these linking words: consists of,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is made up of, is part of, involves, includes, including,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comprises, contains.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X is a Y generalization / specialization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Check every sentence for generalization or naming phrases,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such as "is a", "is a kind of", "is a type of", "types of",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"kinds of", or similar linking phrases.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Write each as one phrase in the form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"&lt;specific&gt; ... &lt;general&gt;", using the document's own words,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including its linking phrase. Reorder if needed. Do not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replace words or drop words, except the introductory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"There" in "There is/are ..." sentences.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If a sentence names several specific terms, keep them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h14e70d5490eb447_5_354"/>
          <p:cNvSpPr txBox="1"/>
          <p:nvPr/>
        </p:nvSpPr>
        <p:spPr>
          <a:xfrm>
            <a:off x="640080" y="411480"/>
            <a:ext cx="10881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Appendix: Final Prompt P12 (v5.6), part 3 of 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h14e70d5490eb447_5_354"/>
          <p:cNvSpPr txBox="1"/>
          <p:nvPr/>
        </p:nvSpPr>
        <p:spPr>
          <a:xfrm>
            <a:off x="658368" y="1005840"/>
            <a:ext cx="10789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Complete text as given to the model, attached as a .md file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h14e70d5490eb447_5_354"/>
          <p:cNvSpPr txBox="1"/>
          <p:nvPr/>
        </p:nvSpPr>
        <p:spPr>
          <a:xfrm>
            <a:off x="10881360" y="6473952"/>
            <a:ext cx="64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h14e70d5490eb447_5_354"/>
          <p:cNvSpPr/>
          <p:nvPr/>
        </p:nvSpPr>
        <p:spPr>
          <a:xfrm>
            <a:off x="640080" y="1417320"/>
            <a:ext cx="5394900" cy="4937700"/>
          </a:xfrm>
          <a:prstGeom prst="roundRect">
            <a:avLst>
              <a:gd fmla="val 2222" name="adj"/>
            </a:avLst>
          </a:prstGeom>
          <a:solidFill>
            <a:srgbClr val="F5F7FA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h14e70d5490eb447_5_354"/>
          <p:cNvSpPr txBox="1"/>
          <p:nvPr/>
        </p:nvSpPr>
        <p:spPr>
          <a:xfrm>
            <a:off x="777240" y="1481328"/>
            <a:ext cx="5166300" cy="48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together in one phrase. Do not split them into separate lines.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Never output a linking phrase by itself.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PROCESS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First, inside &lt;analysis&gt; tags: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For each Adjectives candidate, write: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word | class | attribute | one other value that attribute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could take in this domain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Drop the word if you cannot name a realistic alternative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value, or if the word is used as a verb in the text. Note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which kept values the text lists together; each such list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becomes one line in the answer.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For each Verb candidate, confirm it is used as a verb, takes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an object, and is not one of the linking words listed above.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Then write it as: verb -&gt; next word in the text -&gt; phrase to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list. If the next word is a preposition or particle that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links the verb to its object, place, or the one doing the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action (to, from, into, by, for, through, with, of, up, out),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the phrase to list is the verb plus that word.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Then, inside &lt;answer&gt; tags, start the first category header 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a new line, and put every header and every phrase on its own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line, exactly like this: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&lt;answer&gt;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Nouns / noun phrases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room / rooms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guest / guests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X of Y Expressions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review of bookings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&lt;/answer&gt;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EXAMPLE (different domain)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Text: "The Grand Rivera Hotel, at 120 Bay Road, Miami, opened 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March 3, 2019. The chain wanted to cut staffing costs in a tight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labour market, so it built a booking system. Rooms are single,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double, or deluxe. A suite is a type of room. Each guest has 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name and an email address. Preparing a room involves cleaning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the bathroom and stocking the minibar. Each booking belongs to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one guest and can be cancelled online. A booking is confirmed by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h14e70d5490eb447_5_354"/>
          <p:cNvSpPr/>
          <p:nvPr/>
        </p:nvSpPr>
        <p:spPr>
          <a:xfrm>
            <a:off x="6172200" y="1417320"/>
            <a:ext cx="5394900" cy="4937700"/>
          </a:xfrm>
          <a:prstGeom prst="roundRect">
            <a:avLst>
              <a:gd fmla="val 2222" name="adj"/>
            </a:avLst>
          </a:prstGeom>
          <a:solidFill>
            <a:srgbClr val="F5F7FA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h14e70d5490eb447_5_354"/>
          <p:cNvSpPr txBox="1"/>
          <p:nvPr/>
        </p:nvSpPr>
        <p:spPr>
          <a:xfrm>
            <a:off x="6309360" y="1481328"/>
            <a:ext cx="5166300" cy="48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the front desk. Guests check in online or at the front desk.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The front desk prints the hotel laundry, minibar, and parking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bills at checkout. Rooms have one or two beds. A room that is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not ready cannot be assigned. Welcome packs are handed to guests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when assigning a room. Staff perform a nightly inspection of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rooms and log each cancellation. A guest may stay at most 14 nights."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&lt;analysis&gt;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single | Room | roomType | double -&gt; keep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double | Room | roomType | deluxe -&gt; keep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deluxe | Room | roomType | single -&gt; keep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single, double, deluxe are listed together -&gt; one line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"single, double, or deluxe"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nightly | Inspection | frequency | weekly -&gt; keep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laundry, minibar, parking | Bill | billType | room service -&gt;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keep; modifiers listed together before "bills" -&gt; one line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"laundry, minibar, and parking" (the word "hotel" before the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list is not part of it)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one or two | Room | bedCount | three -&gt; numbers -&gt; Numeric,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Quantity, not Adjectives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not ready | Room | readiness | ready -&gt; keep with "not"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online or at the front desk | Check-in | method | kiosk -&gt;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keep as one line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online (alone, in "cancelled online") | (adverb) -&gt; drop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check in -&gt; takes no object -&gt; not a transitive verb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cancelled -&gt; online (adverb, not a preposition) -&gt; "cancelled";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passive participle -&gt; Transitive verb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confirmed -&gt; by -&gt; "confirmed by" (passive verb keeps "by")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belongs -&gt; to -&gt; "belongs to"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handed -&gt; to -&gt; "handed to"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assigned -&gt; (end of sentence) -&gt; "assigned"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assigning -&gt; a -&gt; "assigning" ("-ing" form used as an action)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stay -&gt; takes no object -&gt; not a transitive verb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inspection, cancellation -&gt; nouns naming activities -&gt; Nouns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cleaning, stocking -&gt; verbs inside a Consist of sentence; only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"involves" is withheld -&gt; Transitive verbs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involves -&gt; Consist of / Part of linking word -&gt; not a verb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has -&gt; Possession linking word -&gt; not a verb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"of" occurrences: "type of room", "inspection of rooms" -&gt; both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are X of Y. "at 120 Bay Road" and "belongs to one guest" use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h14e70d5490eb447_5_365"/>
          <p:cNvSpPr txBox="1"/>
          <p:nvPr/>
        </p:nvSpPr>
        <p:spPr>
          <a:xfrm>
            <a:off x="640080" y="411480"/>
            <a:ext cx="10881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Appendix: Final Prompt P12 (v5.6), part 4 of 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h14e70d5490eb447_5_365"/>
          <p:cNvSpPr txBox="1"/>
          <p:nvPr/>
        </p:nvSpPr>
        <p:spPr>
          <a:xfrm>
            <a:off x="658368" y="1005840"/>
            <a:ext cx="10789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Complete text as given to the model, attached as a .md file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h14e70d5490eb447_5_365"/>
          <p:cNvSpPr txBox="1"/>
          <p:nvPr/>
        </p:nvSpPr>
        <p:spPr>
          <a:xfrm>
            <a:off x="10881360" y="6473952"/>
            <a:ext cx="64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h14e70d5490eb447_5_365"/>
          <p:cNvSpPr/>
          <p:nvPr/>
        </p:nvSpPr>
        <p:spPr>
          <a:xfrm>
            <a:off x="640080" y="1417320"/>
            <a:ext cx="5394900" cy="4937700"/>
          </a:xfrm>
          <a:prstGeom prst="roundRect">
            <a:avLst>
              <a:gd fmla="val 2222" name="adj"/>
            </a:avLst>
          </a:prstGeom>
          <a:solidFill>
            <a:srgbClr val="F5F7FA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h14e70d5490eb447_5_365"/>
          <p:cNvSpPr txBox="1"/>
          <p:nvPr/>
        </p:nvSpPr>
        <p:spPr>
          <a:xfrm>
            <a:off x="777240" y="1481328"/>
            <a:ext cx="5166300" cy="48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other prepositions -&gt; not X of Y.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Quantities: "each" and "at most 14 nights" answer how many.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"March 3, 2019" and "120 Bay Road" answer when and where -&gt;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 not quantities.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Excluded by rule 5: staffing costs, labour market (background)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Excluded by rule 6: Grand Rivera Hotel, 120 Bay Road, Miami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&lt;/analysis&gt;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&lt;answer&gt;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Nouns / noun phrases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booking system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room / rooms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suite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guest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name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email address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bathroom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minibar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booking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front desk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bills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checkout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beds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welcome packs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staff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inspection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cancellation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X of Y Expressions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type of room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inspection of rooms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Transitive verbs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built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belongs to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cancelled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confirmed by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prints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assigned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handed to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h14e70d5490eb447_5_365"/>
          <p:cNvSpPr/>
          <p:nvPr/>
        </p:nvSpPr>
        <p:spPr>
          <a:xfrm>
            <a:off x="6172200" y="1417320"/>
            <a:ext cx="5394900" cy="4937700"/>
          </a:xfrm>
          <a:prstGeom prst="roundRect">
            <a:avLst>
              <a:gd fmla="val 2222" name="adj"/>
            </a:avLst>
          </a:prstGeom>
          <a:solidFill>
            <a:srgbClr val="F5F7FA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h14e70d5490eb447_5_365"/>
          <p:cNvSpPr txBox="1"/>
          <p:nvPr/>
        </p:nvSpPr>
        <p:spPr>
          <a:xfrm>
            <a:off x="6309360" y="1481328"/>
            <a:ext cx="5166300" cy="48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assigning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perform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log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cleaning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stocking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Adjectives, enumeration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single, double, or deluxe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laundry, minibar, and parking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not ready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online or at the front desk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nightly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Numeric, Quantity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each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one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one or two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at most 14 nights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Possession Expressions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Each guest has a name and an email address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Rooms have one or two beds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Consist of / Part of Expressions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Preparing a room involves cleaning the bathroom and stocking the minibar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X is a Y generalization / specialization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- A suite is a type of room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142037"/>
                </a:solidFill>
                <a:latin typeface="Courier New"/>
                <a:ea typeface="Courier New"/>
                <a:cs typeface="Courier New"/>
                <a:sym typeface="Courier New"/>
              </a:rPr>
              <a:t>&lt;/answer&gt;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Marvin Wellington and Team</dc:creator>
</cp:coreProperties>
</file>