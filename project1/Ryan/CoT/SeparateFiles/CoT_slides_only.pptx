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82" r:id="rId36"/>
    <p:sldId id="283" r:id="rId37"/>
    <p:sldId id="284" r:id="rId38"/>
    <p:sldId id="285" r:id="rId39"/>
  </p:sldIdLst>
  <p:sldSz cy="6858000" cx="12192000"/>
  <p:notesSz cx="6858000" cy="9144000"/>
  <p:embeddedFontLst>
    <p:embeddedFont>
      <p:font typeface="Play"/>
      <p:regular r:id="rId33"/>
      <p:bold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5" roundtripDataSignature="AMtx7mhPV2BtBfokaX1uQFOWUDlC7NcS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483CDE-F300-47D0-B6BB-31BF91A4DD58}">
  <a:tblStyle styleId="{66483CDE-F300-47D0-B6BB-31BF91A4DD5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3" Type="http://schemas.openxmlformats.org/officeDocument/2006/relationships/font" Target="fonts/Play-regular.fntdata"/><Relationship Id="rId34" Type="http://schemas.openxmlformats.org/officeDocument/2006/relationships/font" Target="fonts/Play-bold.fntdata"/><Relationship Id="rId35" Type="http://customschemas.google.com/relationships/presentationmetadata" Target="metadata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h14e70d5490eb447_11_105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CoT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 — </a:t>
            </a:r>
            <a:r>
              <a:rPr b="1" lang="en-US" sz="2800">
                <a:solidFill>
                  <a:srgbClr val="13233D"/>
                </a:solidFill>
              </a:rPr>
              <a:t>Identification + Classification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h14e70d5490eb447_11_105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One prompt, two steps • the model classifies the phrases it identified itself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482" name="Google Shape;482;h14e70d5490eb447_11_105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h14e70d5490eb447_11_105"/>
          <p:cNvSpPr/>
          <p:nvPr/>
        </p:nvSpPr>
        <p:spPr>
          <a:xfrm>
            <a:off x="731520" y="1463040"/>
            <a:ext cx="5898000" cy="4617600"/>
          </a:xfrm>
          <a:prstGeom prst="roundRect">
            <a:avLst>
              <a:gd fmla="val 2376" name="adj"/>
            </a:avLst>
          </a:prstGeom>
          <a:solidFill>
            <a:srgbClr val="F5F7FA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h14e70d5490eb447_11_105"/>
          <p:cNvSpPr txBox="1"/>
          <p:nvPr/>
        </p:nvSpPr>
        <p:spPr>
          <a:xfrm>
            <a:off x="914400" y="1572768"/>
            <a:ext cx="55779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STEP 1 - IDENTIFICATION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Final identification prompt P12 (v5.6), unchanged: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rules, &lt;analysis&gt; step, &lt;answer&gt; phrase list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STEP 2 - CLASSIFICATION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C2 prompt: knowledge grounding + validation pass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Phrase input = the model's own STEP 1 &lt;answer&gt;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Course classification rules included as text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  <a:t>OUTPUT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STEP 1 &lt;analysis&gt; and &lt;answer&gt;,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then STEP 2 &lt;classification&gt;</a:t>
            </a: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lang="en-US" sz="1100">
                <a:solidFill>
                  <a:srgbClr val="323E5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Expert solutions are used only to score the output.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900"/>
              <a:buFont typeface="Courier New"/>
              <a:buNone/>
            </a:pPr>
            <a:r>
              <a:t/>
            </a:r>
            <a:endParaRPr sz="1300">
              <a:solidFill>
                <a:srgbClr val="323E5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5" name="Google Shape;485;h14e70d5490eb447_11_105"/>
          <p:cNvSpPr/>
          <p:nvPr/>
        </p:nvSpPr>
        <p:spPr>
          <a:xfrm>
            <a:off x="6858000" y="1463050"/>
            <a:ext cx="4617600" cy="18288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h14e70d5490eb447_11_105"/>
          <p:cNvSpPr txBox="1"/>
          <p:nvPr/>
        </p:nvSpPr>
        <p:spPr>
          <a:xfrm>
            <a:off x="7086600" y="1627632"/>
            <a:ext cx="105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Why CoT?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h14e70d5490eb447_11_105"/>
          <p:cNvSpPr txBox="1"/>
          <p:nvPr/>
        </p:nvSpPr>
        <p:spPr>
          <a:xfrm>
            <a:off x="7059193" y="2029975"/>
            <a:ext cx="4099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3233D"/>
                </a:solidFill>
              </a:rPr>
              <a:t>Step 3i: chain identification and classification so one prompt goes from the description to the domain model.</a:t>
            </a:r>
            <a:endParaRPr sz="13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2B6CB0"/>
              </a:solidFill>
            </a:endParaRPr>
          </a:p>
        </p:txBody>
      </p:sp>
      <p:sp>
        <p:nvSpPr>
          <p:cNvPr id="488" name="Google Shape;488;h14e70d5490eb447_11_105"/>
          <p:cNvSpPr/>
          <p:nvPr/>
        </p:nvSpPr>
        <p:spPr>
          <a:xfrm>
            <a:off x="6858000" y="3520440"/>
            <a:ext cx="4617600" cy="123450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h14e70d5490eb447_11_105"/>
          <p:cNvSpPr/>
          <p:nvPr/>
        </p:nvSpPr>
        <p:spPr>
          <a:xfrm>
            <a:off x="6858000" y="3575304"/>
            <a:ext cx="73200" cy="11247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h14e70d5490eb447_11_105"/>
          <p:cNvSpPr txBox="1"/>
          <p:nvPr/>
        </p:nvSpPr>
        <p:spPr>
          <a:xfrm>
            <a:off x="7086600" y="36850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13233D"/>
                </a:solidFill>
              </a:rPr>
              <a:t>What changed from C2</a:t>
            </a:r>
            <a:endParaRPr b="1" sz="15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491" name="Google Shape;491;h14e70d5490eb447_11_105"/>
          <p:cNvSpPr txBox="1"/>
          <p:nvPr/>
        </p:nvSpPr>
        <p:spPr>
          <a:xfrm>
            <a:off x="7086600" y="4050725"/>
            <a:ext cx="4206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C2 was given the expert phrase list. In CoT, STEP 2 gets only what STEP 1 found.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92" name="Google Shape;492;h14e70d5490eb447_11_105"/>
          <p:cNvSpPr/>
          <p:nvPr/>
        </p:nvSpPr>
        <p:spPr>
          <a:xfrm>
            <a:off x="6858000" y="4892040"/>
            <a:ext cx="4617600" cy="118860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h14e70d5490eb447_11_105"/>
          <p:cNvSpPr/>
          <p:nvPr/>
        </p:nvSpPr>
        <p:spPr>
          <a:xfrm>
            <a:off x="6858000" y="4946904"/>
            <a:ext cx="73200" cy="10791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h14e70d5490eb447_11_105"/>
          <p:cNvSpPr txBox="1"/>
          <p:nvPr/>
        </p:nvSpPr>
        <p:spPr>
          <a:xfrm>
            <a:off x="7086600" y="5056632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42037"/>
                </a:solidFill>
              </a:rPr>
              <a:t>Setup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h14e70d5490eb447_11_105"/>
          <p:cNvSpPr txBox="1"/>
          <p:nvPr/>
        </p:nvSpPr>
        <p:spPr>
          <a:xfrm>
            <a:off x="7086600" y="5422325"/>
            <a:ext cx="42063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13233D"/>
                </a:solidFill>
              </a:rPr>
              <a:t>GPT-5.6 Sol, temporary chat, 3 fresh runs per domain, scored by script.</a:t>
            </a:r>
            <a:endParaRPr sz="12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2D37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rgbClr val="252D37"/>
              </a:solidFill>
            </a:endParaRPr>
          </a:p>
        </p:txBody>
      </p:sp>
      <p:sp>
        <p:nvSpPr>
          <p:cNvPr id="496" name="Google Shape;496;h14e70d5490eb447_11_105"/>
          <p:cNvSpPr/>
          <p:nvPr/>
        </p:nvSpPr>
        <p:spPr>
          <a:xfrm>
            <a:off x="6858000" y="1371550"/>
            <a:ext cx="73200" cy="1920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14e70d5490eb447_11_1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CoT Results: 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Identification (STEP 1)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h14e70d5490eb447_11_1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Mean of 3 runs per domain • containment matching (Ruleset B style, no verb lemmatizing)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08" name="Google Shape;508;h14e70d5490eb447_11_1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h14e70d5490eb447_11_1"/>
          <p:cNvSpPr/>
          <p:nvPr/>
        </p:nvSpPr>
        <p:spPr>
          <a:xfrm>
            <a:off x="7315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h14e70d5490eb447_11_1"/>
          <p:cNvSpPr/>
          <p:nvPr/>
        </p:nvSpPr>
        <p:spPr>
          <a:xfrm>
            <a:off x="731520" y="1609344"/>
            <a:ext cx="73200" cy="3822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14e70d5490eb447_11_1"/>
          <p:cNvSpPr txBox="1"/>
          <p:nvPr/>
        </p:nvSpPr>
        <p:spPr>
          <a:xfrm>
            <a:off x="10058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14e70d5490eb447_11_1"/>
          <p:cNvSpPr txBox="1"/>
          <p:nvPr/>
        </p:nvSpPr>
        <p:spPr>
          <a:xfrm>
            <a:off x="10058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F71B5"/>
                </a:solidFill>
              </a:rPr>
              <a:t>90.76%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14e70d5490eb447_11_1"/>
          <p:cNvSpPr txBox="1"/>
          <p:nvPr/>
        </p:nvSpPr>
        <p:spPr>
          <a:xfrm>
            <a:off x="10058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85.73%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96.43%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90.00 / 90.76 / 91.53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14e70d5490eb447_11_1"/>
          <p:cNvSpPr/>
          <p:nvPr/>
        </p:nvSpPr>
        <p:spPr>
          <a:xfrm>
            <a:off x="43891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h14e70d5490eb447_11_1"/>
          <p:cNvSpPr/>
          <p:nvPr/>
        </p:nvSpPr>
        <p:spPr>
          <a:xfrm>
            <a:off x="4389120" y="1609344"/>
            <a:ext cx="73200" cy="3822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h14e70d5490eb447_11_1"/>
          <p:cNvSpPr txBox="1"/>
          <p:nvPr/>
        </p:nvSpPr>
        <p:spPr>
          <a:xfrm>
            <a:off x="46634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Car Rental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14e70d5490eb447_11_1"/>
          <p:cNvSpPr txBox="1"/>
          <p:nvPr/>
        </p:nvSpPr>
        <p:spPr>
          <a:xfrm>
            <a:off x="46634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56.22%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h14e70d5490eb447_11_1"/>
          <p:cNvSpPr txBox="1"/>
          <p:nvPr/>
        </p:nvSpPr>
        <p:spPr>
          <a:xfrm>
            <a:off x="46634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46.18%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71.88%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55.09 / 57.14 / 56.44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14e70d5490eb447_11_1"/>
          <p:cNvSpPr/>
          <p:nvPr/>
        </p:nvSpPr>
        <p:spPr>
          <a:xfrm>
            <a:off x="80467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14e70d5490eb447_11_1"/>
          <p:cNvSpPr/>
          <p:nvPr/>
        </p:nvSpPr>
        <p:spPr>
          <a:xfrm>
            <a:off x="8046720" y="1609344"/>
            <a:ext cx="73200" cy="38223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h14e70d5490eb447_11_1"/>
          <p:cNvSpPr txBox="1"/>
          <p:nvPr/>
        </p:nvSpPr>
        <p:spPr>
          <a:xfrm>
            <a:off x="83210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National Trade Show Service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14e70d5490eb447_11_1"/>
          <p:cNvSpPr txBox="1"/>
          <p:nvPr/>
        </p:nvSpPr>
        <p:spPr>
          <a:xfrm>
            <a:off x="83210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E28B37"/>
                </a:solidFill>
              </a:rPr>
              <a:t>77.12%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14e70d5490eb447_11_1"/>
          <p:cNvSpPr txBox="1"/>
          <p:nvPr/>
        </p:nvSpPr>
        <p:spPr>
          <a:xfrm>
            <a:off x="83210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68.53%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88.17%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77.36 / 77.93 / 76.06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14e70d5490eb447_11_1"/>
          <p:cNvSpPr txBox="1"/>
          <p:nvPr/>
        </p:nvSpPr>
        <p:spPr>
          <a:xfrm>
            <a:off x="731520" y="5760720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Close to v5.6 run alone (90.6% / 55.6% / 78.9%): adding the classification step did not change identification.</a:t>
            </a:r>
            <a:endParaRPr i="1" sz="11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Exact-match F1: 77.86% / 51.74% / 65.52% (v5.6 writes possession, part-of and X-is-a-Y entries as full clauses).</a:t>
            </a:r>
            <a:endParaRPr i="1" sz="11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t/>
            </a:r>
            <a:endParaRPr i="1" sz="1050">
              <a:solidFill>
                <a:srgbClr val="64707E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h14e70d5490eb447_11_1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CoT Results: </a:t>
            </a:r>
            <a:r>
              <a:rPr b="1" i="0" lang="en-US" sz="2800" u="none" cap="none" strike="noStrike">
                <a:solidFill>
                  <a:srgbClr val="142037"/>
                </a:solidFill>
                <a:latin typeface="Play"/>
                <a:ea typeface="Play"/>
                <a:cs typeface="Play"/>
                <a:sym typeface="Play"/>
              </a:rPr>
              <a:t>Classification (STEP 2)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h14e70d5490eb447_11_1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Mean of 3 runs per domain • classification F1 against the expert solution</a:t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08" name="Google Shape;508;h14e70d5490eb447_11_1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h14e70d5490eb447_11_1"/>
          <p:cNvSpPr/>
          <p:nvPr/>
        </p:nvSpPr>
        <p:spPr>
          <a:xfrm>
            <a:off x="7315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h14e70d5490eb447_11_1"/>
          <p:cNvSpPr/>
          <p:nvPr/>
        </p:nvSpPr>
        <p:spPr>
          <a:xfrm>
            <a:off x="731520" y="1609344"/>
            <a:ext cx="73200" cy="38223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14e70d5490eb447_11_1"/>
          <p:cNvSpPr txBox="1"/>
          <p:nvPr/>
        </p:nvSpPr>
        <p:spPr>
          <a:xfrm>
            <a:off x="10058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Library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h14e70d5490eb447_11_1"/>
          <p:cNvSpPr txBox="1"/>
          <p:nvPr/>
        </p:nvSpPr>
        <p:spPr>
          <a:xfrm>
            <a:off x="10058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6CB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2F71B5"/>
                </a:solidFill>
              </a:rPr>
              <a:t>40.91%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h14e70d5490eb447_11_1"/>
          <p:cNvSpPr txBox="1"/>
          <p:nvPr/>
        </p:nvSpPr>
        <p:spPr>
          <a:xfrm>
            <a:off x="10058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36.35%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46.92%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50.85 / 40.62 / 31.25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h14e70d5490eb447_11_1"/>
          <p:cNvSpPr/>
          <p:nvPr/>
        </p:nvSpPr>
        <p:spPr>
          <a:xfrm>
            <a:off x="43891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h14e70d5490eb447_11_1"/>
          <p:cNvSpPr/>
          <p:nvPr/>
        </p:nvSpPr>
        <p:spPr>
          <a:xfrm>
            <a:off x="4389120" y="1609344"/>
            <a:ext cx="73200" cy="3822300"/>
          </a:xfrm>
          <a:prstGeom prst="rect">
            <a:avLst/>
          </a:prstGeom>
          <a:solidFill>
            <a:srgbClr val="258F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h14e70d5490eb447_11_1"/>
          <p:cNvSpPr txBox="1"/>
          <p:nvPr/>
        </p:nvSpPr>
        <p:spPr>
          <a:xfrm>
            <a:off x="46634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Car Rental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h14e70d5490eb447_11_1"/>
          <p:cNvSpPr txBox="1"/>
          <p:nvPr/>
        </p:nvSpPr>
        <p:spPr>
          <a:xfrm>
            <a:off x="46634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8F7A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258F7A"/>
                </a:solidFill>
                <a:latin typeface="Arial"/>
                <a:ea typeface="Arial"/>
                <a:cs typeface="Arial"/>
                <a:sym typeface="Arial"/>
              </a:rPr>
              <a:t>30.91%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h14e70d5490eb447_11_1"/>
          <p:cNvSpPr txBox="1"/>
          <p:nvPr/>
        </p:nvSpPr>
        <p:spPr>
          <a:xfrm>
            <a:off x="46634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27.25%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35.80%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b="0" i="0" lang="en-US" sz="1400" u="none" cap="none" strike="noStrike">
                <a:solidFill>
                  <a:srgbClr val="252D37"/>
                </a:solidFill>
                <a:latin typeface="Arial"/>
                <a:ea typeface="Arial"/>
                <a:cs typeface="Arial"/>
                <a:sym typeface="Arial"/>
              </a:rPr>
              <a:t>31.01 / 33.61 / 28.12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h14e70d5490eb447_11_1"/>
          <p:cNvSpPr/>
          <p:nvPr/>
        </p:nvSpPr>
        <p:spPr>
          <a:xfrm>
            <a:off x="8046720" y="1554480"/>
            <a:ext cx="3429000" cy="39318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14e70d5490eb447_11_1"/>
          <p:cNvSpPr/>
          <p:nvPr/>
        </p:nvSpPr>
        <p:spPr>
          <a:xfrm>
            <a:off x="8046720" y="1609344"/>
            <a:ext cx="73200" cy="3822300"/>
          </a:xfrm>
          <a:prstGeom prst="rect">
            <a:avLst/>
          </a:prstGeom>
          <a:solidFill>
            <a:srgbClr val="E28B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h14e70d5490eb447_11_1"/>
          <p:cNvSpPr txBox="1"/>
          <p:nvPr/>
        </p:nvSpPr>
        <p:spPr>
          <a:xfrm>
            <a:off x="8321040" y="1737360"/>
            <a:ext cx="301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2037"/>
                </a:solidFill>
                <a:latin typeface="Arial"/>
                <a:ea typeface="Arial"/>
                <a:cs typeface="Arial"/>
                <a:sym typeface="Arial"/>
              </a:rPr>
              <a:t>National Trade Show Service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14e70d5490eb447_11_1"/>
          <p:cNvSpPr txBox="1"/>
          <p:nvPr/>
        </p:nvSpPr>
        <p:spPr>
          <a:xfrm>
            <a:off x="8321040" y="2240280"/>
            <a:ext cx="30174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8B37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E28B37"/>
                </a:solidFill>
              </a:rPr>
              <a:t>42.59%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h14e70d5490eb447_11_1"/>
          <p:cNvSpPr txBox="1"/>
          <p:nvPr/>
        </p:nvSpPr>
        <p:spPr>
          <a:xfrm>
            <a:off x="8321040" y="3657600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Precision  </a:t>
            </a:r>
            <a:r>
              <a:rPr b="1" lang="en-US" sz="1400">
                <a:solidFill>
                  <a:srgbClr val="252D37"/>
                </a:solidFill>
              </a:rPr>
              <a:t>33.68%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Recall  </a:t>
            </a:r>
            <a:r>
              <a:rPr b="1" lang="en-US" sz="1400">
                <a:solidFill>
                  <a:srgbClr val="252D37"/>
                </a:solidFill>
              </a:rPr>
              <a:t>58.64%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64707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Runs  </a:t>
            </a:r>
            <a:r>
              <a:rPr lang="en-US" sz="1400">
                <a:solidFill>
                  <a:srgbClr val="252D37"/>
                </a:solidFill>
              </a:rPr>
              <a:t>36.47 / 42.76 / 48.53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h14e70d5490eb447_11_1"/>
          <p:cNvSpPr txBox="1"/>
          <p:nvPr/>
        </p:nvSpPr>
        <p:spPr>
          <a:xfrm>
            <a:off x="731520" y="5760720"/>
            <a:ext cx="1069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C2 given the expert phrase list: 50.03% / 52.72% / 50.98%. In CoT, STEP 2 classifies the model's own STEP 1 phrases,</a:t>
            </a:r>
            <a:endParaRPr i="1" sz="11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5C697C"/>
                </a:solidFill>
              </a:rPr>
              <a:t>so extra or missing phrases from identification carry into the domain model.</a:t>
            </a:r>
            <a:endParaRPr i="1" sz="11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050"/>
              <a:buFont typeface="Arial"/>
              <a:buNone/>
            </a:pPr>
            <a:r>
              <a:t/>
            </a:r>
            <a:endParaRPr i="1" sz="1050">
              <a:solidFill>
                <a:srgbClr val="64707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h14e70d5490eb447_11_142"/>
          <p:cNvSpPr txBox="1"/>
          <p:nvPr/>
        </p:nvSpPr>
        <p:spPr>
          <a:xfrm>
            <a:off x="640080" y="411480"/>
            <a:ext cx="1088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8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13233D"/>
                </a:solidFill>
              </a:rPr>
              <a:t>CoT Findings</a:t>
            </a:r>
            <a:endParaRPr b="1" sz="28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2800"/>
              <a:buFont typeface="Play"/>
              <a:buNone/>
            </a:pPr>
            <a:r>
              <a:t/>
            </a:r>
            <a:endParaRPr b="1" sz="2800">
              <a:solidFill>
                <a:srgbClr val="142037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30" name="Google Shape;530;h14e70d5490eb447_11_142"/>
          <p:cNvSpPr txBox="1"/>
          <p:nvPr/>
        </p:nvSpPr>
        <p:spPr>
          <a:xfrm>
            <a:off x="658368" y="1005840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5C697C"/>
                </a:solidFill>
              </a:rPr>
              <a:t>What chaining identification and classification showed</a:t>
            </a:r>
            <a:endParaRPr sz="1300">
              <a:solidFill>
                <a:srgbClr val="5C697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C697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1300"/>
              <a:buFont typeface="Arial"/>
              <a:buNone/>
            </a:pPr>
            <a:r>
              <a:t/>
            </a:r>
            <a:endParaRPr sz="1300">
              <a:solidFill>
                <a:srgbClr val="64707E"/>
              </a:solidFill>
            </a:endParaRPr>
          </a:p>
        </p:txBody>
      </p:sp>
      <p:sp>
        <p:nvSpPr>
          <p:cNvPr id="531" name="Google Shape;531;h14e70d5490eb447_11_142"/>
          <p:cNvSpPr txBox="1"/>
          <p:nvPr/>
        </p:nvSpPr>
        <p:spPr>
          <a:xfrm>
            <a:off x="10881360" y="6473952"/>
            <a:ext cx="640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07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07E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h14e70d5490eb447_11_142"/>
          <p:cNvSpPr/>
          <p:nvPr/>
        </p:nvSpPr>
        <p:spPr>
          <a:xfrm>
            <a:off x="658375" y="1548775"/>
            <a:ext cx="5056500" cy="41661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Identification held steady inside the chained prompt.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STEP 2 used only the model's own phrases; no expert list in the loop.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Core structure was found in every domain: main classes, isa, aggregation (e.g. committee of reviewers).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/>
            </a:r>
            <a:endParaRPr sz="1600">
              <a:solidFill>
                <a:srgbClr val="13233D"/>
              </a:solidFill>
            </a:endParaRPr>
          </a:p>
        </p:txBody>
      </p:sp>
      <p:sp>
        <p:nvSpPr>
          <p:cNvPr id="533" name="Google Shape;533;h14e70d5490eb447_11_142"/>
          <p:cNvSpPr txBox="1"/>
          <p:nvPr/>
        </p:nvSpPr>
        <p:spPr>
          <a:xfrm>
            <a:off x="981075" y="1837175"/>
            <a:ext cx="277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33D"/>
                </a:solidFill>
              </a:rPr>
              <a:t>What worked</a:t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534" name="Google Shape;534;h14e70d5490eb447_11_142"/>
          <p:cNvSpPr/>
          <p:nvPr/>
        </p:nvSpPr>
        <p:spPr>
          <a:xfrm>
            <a:off x="6391675" y="1548763"/>
            <a:ext cx="73200" cy="4395000"/>
          </a:xfrm>
          <a:prstGeom prst="rect">
            <a:avLst/>
          </a:prstGeom>
          <a:solidFill>
            <a:srgbClr val="C548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h14e70d5490eb447_11_142"/>
          <p:cNvSpPr/>
          <p:nvPr/>
        </p:nvSpPr>
        <p:spPr>
          <a:xfrm>
            <a:off x="640075" y="1466800"/>
            <a:ext cx="73200" cy="4476900"/>
          </a:xfrm>
          <a:prstGeom prst="rect">
            <a:avLst/>
          </a:prstGeom>
          <a:solidFill>
            <a:srgbClr val="2F71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h14e70d5490eb447_11_142"/>
          <p:cNvSpPr/>
          <p:nvPr/>
        </p:nvSpPr>
        <p:spPr>
          <a:xfrm>
            <a:off x="6464875" y="1622200"/>
            <a:ext cx="5056500" cy="416610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FE5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Classification F1 fell 8–22 points vs. C2 with the expert list.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Extra STEP 1 phrases became extra classes and associations.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Large run-to-run spread (Library 31.25–50.85%).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>• Expert labels not in the text (status, body style, bill for) never appear.</a:t>
            </a:r>
            <a:endParaRPr sz="16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13233D"/>
                </a:solidFill>
              </a:rPr>
              <a:t/>
            </a:r>
            <a:endParaRPr sz="1600">
              <a:solidFill>
                <a:srgbClr val="13233D"/>
              </a:solidFill>
            </a:endParaRPr>
          </a:p>
        </p:txBody>
      </p:sp>
      <p:sp>
        <p:nvSpPr>
          <p:cNvPr id="537" name="Google Shape;537;h14e70d5490eb447_11_142"/>
          <p:cNvSpPr txBox="1"/>
          <p:nvPr/>
        </p:nvSpPr>
        <p:spPr>
          <a:xfrm>
            <a:off x="6867525" y="1837175"/>
            <a:ext cx="3314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rgbClr val="13233D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3233D"/>
                </a:solidFill>
              </a:rPr>
              <a:t>What remained difficult</a:t>
            </a:r>
            <a:endParaRPr b="1" sz="1800">
              <a:solidFill>
                <a:srgbClr val="13233D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2037"/>
              </a:buClr>
              <a:buSzPts val="1500"/>
              <a:buFont typeface="Arial"/>
              <a:buNone/>
            </a:pPr>
            <a:r>
              <a:t/>
            </a:r>
            <a:endParaRPr b="1" sz="1500">
              <a:solidFill>
                <a:srgbClr val="142037"/>
              </a:solidFill>
            </a:endParaRPr>
          </a:p>
        </p:txBody>
      </p:sp>
      <p:sp>
        <p:nvSpPr>
          <p:cNvPr id="538" name="Google Shape;538;h14e70d5490eb447_11_142"/>
          <p:cNvSpPr txBox="1"/>
          <p:nvPr/>
        </p:nvSpPr>
        <p:spPr>
          <a:xfrm>
            <a:off x="1619250" y="6038950"/>
            <a:ext cx="77343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26947A"/>
                </a:solidFill>
              </a:rPr>
              <a:t>CoT automates the full path from description to domain model, but classification accuracy is limited by identification precision.</a:t>
            </a:r>
            <a:endParaRPr b="1" sz="1300">
              <a:solidFill>
                <a:srgbClr val="26947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Marvin Wellington and Team</dc:creator>
</cp:coreProperties>
</file>