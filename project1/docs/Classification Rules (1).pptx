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8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CB1AA-4724-4D96-AFF7-EBED81619BC1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99EE4-EFBF-41F1-A846-224A6BAA8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A1CBE85C-9900-4D19-8546-BF0CD44C6DA6}" type="slidenum">
              <a:rPr lang="zh-CN" altLang="en-US" sz="1200" smtClean="0">
                <a:solidFill>
                  <a:schemeClr val="tx1"/>
                </a:solidFill>
              </a:rPr>
              <a:pPr/>
              <a:t>2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C96AA268-7BA2-4A21-87E8-974010DDEBCE}" type="slidenum">
              <a:rPr lang="zh-CN" altLang="en-US" sz="1200" smtClean="0">
                <a:solidFill>
                  <a:schemeClr val="tx1"/>
                </a:solidFill>
                <a:ea typeface="ＭＳ Ｐゴシック" pitchFamily="34" charset="-128"/>
              </a:rPr>
              <a:pPr/>
              <a:t>3</a:t>
            </a:fld>
            <a:endParaRPr lang="en-US" altLang="zh-CN" sz="1200" smtClean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7373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D51954F0-4154-4201-BC8B-210BA51D2A5C}" type="slidenum">
              <a:rPr lang="zh-CN" altLang="en-US" sz="1200" smtClean="0">
                <a:solidFill>
                  <a:schemeClr val="tx1"/>
                </a:solidFill>
              </a:rPr>
              <a:pPr/>
              <a:t>4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BC20CC5A-8C60-48B2-9D29-9E9089537353}" type="slidenum">
              <a:rPr lang="zh-CN" altLang="en-US" sz="1200" smtClean="0">
                <a:solidFill>
                  <a:schemeClr val="tx1"/>
                </a:solidFill>
              </a:rPr>
              <a:pPr/>
              <a:t>5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0F6ED70B-8437-4186-9927-1B88233D5C84}" type="slidenum">
              <a:rPr lang="zh-CN" altLang="en-US" sz="1200" smtClean="0">
                <a:solidFill>
                  <a:schemeClr val="tx1"/>
                </a:solidFill>
              </a:rPr>
              <a:pPr/>
              <a:t>6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4D258F7E-3F38-49CD-8B02-41A8BF8C3219}" type="slidenum">
              <a:rPr lang="zh-CN" altLang="en-US" sz="1200" smtClean="0">
                <a:solidFill>
                  <a:schemeClr val="tx1"/>
                </a:solidFill>
              </a:rPr>
              <a:pPr/>
              <a:t>7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339B616C-469F-4ED8-830F-39A4FC5A3A6B}" type="slidenum">
              <a:rPr lang="zh-CN" altLang="en-US" sz="1200" smtClean="0">
                <a:solidFill>
                  <a:schemeClr val="tx1"/>
                </a:solidFill>
              </a:rPr>
              <a:pPr/>
              <a:t>8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8C9C82A3-9FBE-4683-848B-A606A8CA6EB3}" type="slidenum">
              <a:rPr lang="zh-CN" altLang="en-US" sz="1200" smtClean="0">
                <a:solidFill>
                  <a:schemeClr val="tx1"/>
                </a:solidFill>
              </a:rPr>
              <a:pPr/>
              <a:t>9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0DF8BE6B-5A91-4095-AB89-DD1F20BCDF3E}" type="slidenum">
              <a:rPr lang="zh-CN" altLang="en-US" sz="1200" smtClean="0">
                <a:solidFill>
                  <a:schemeClr val="tx1"/>
                </a:solidFill>
              </a:rPr>
              <a:pPr/>
              <a:t>10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016000" cy="182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7E90-9489-4324-9888-F9C579244E20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65125"/>
          </a:xfrm>
        </p:spPr>
        <p:txBody>
          <a:bodyPr/>
          <a:lstStyle/>
          <a:p>
            <a:fld id="{C57BE5E7-5304-46DF-86FB-D79D1B97F976}" type="slidenum">
              <a:rPr lang="en-US" smtClean="0"/>
              <a:pPr/>
              <a:t>‹#›</a:t>
            </a:fld>
            <a:r>
              <a:rPr lang="en-US" dirty="0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68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>
            <a:lvl1pPr>
              <a:defRPr sz="32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D4E973D3-DFBD-4863-824B-A03863408FAE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100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en-US" dirty="0" smtClean="0"/>
              <a:t>Copyright © The McGraw-Hill Companies, Inc.</a:t>
            </a:r>
            <a:endParaRPr lang="en-US" altLang="zh-CN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41D783F-182C-48B5-8CA3-C51764363281}" type="slidenum">
              <a:rPr lang="en-US" smtClean="0"/>
              <a:pPr/>
              <a:t>‹#›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0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09F9-5C3F-4E2F-8208-EEEA0557B15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1CA4-FE6D-432C-A2BF-C58E310D2734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8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668D-D792-426E-A193-0560DADD291E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9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D155-D511-4653-97CE-EA5ACC1D8BAE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4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CF670-394C-4BF9-9122-F3BCEF5E3154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96BF-F067-48DE-9DF3-7093FF95321C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21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8BAB-0271-45CE-B932-371D3E20C023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77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DE48-965A-44BE-90DE-0E28FAB715E3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2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DC55-382F-4B26-957A-29D142BF5568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9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56FE2-332C-451C-BCD6-850FA5A2A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3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Step 3. Classifying Brainstorming Result</a:t>
            </a:r>
          </a:p>
        </p:txBody>
      </p:sp>
      <p:sp>
        <p:nvSpPr>
          <p:cNvPr id="19459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domain-specific phrases identified during brainstorming step are classified as</a:t>
            </a:r>
          </a:p>
          <a:p>
            <a:pPr lvl="1"/>
            <a:r>
              <a:rPr lang="en-US" smtClean="0"/>
              <a:t>classes</a:t>
            </a:r>
          </a:p>
          <a:p>
            <a:pPr lvl="1"/>
            <a:r>
              <a:rPr lang="en-US" smtClean="0"/>
              <a:t>attributes of classes, and</a:t>
            </a:r>
          </a:p>
          <a:p>
            <a:pPr lvl="1"/>
            <a:r>
              <a:rPr lang="en-US" smtClean="0"/>
              <a:t>relationships between classes</a:t>
            </a:r>
          </a:p>
          <a:p>
            <a:pPr lvl="2"/>
            <a:r>
              <a:rPr lang="en-US" smtClean="0"/>
              <a:t>inheritance relationships</a:t>
            </a:r>
          </a:p>
          <a:p>
            <a:pPr lvl="2"/>
            <a:r>
              <a:rPr lang="en-US" smtClean="0"/>
              <a:t>aggregation relationships</a:t>
            </a:r>
          </a:p>
          <a:p>
            <a:pPr lvl="2"/>
            <a:r>
              <a:rPr lang="en-US" smtClean="0"/>
              <a:t>association relationships</a:t>
            </a:r>
          </a:p>
          <a:p>
            <a:pPr lvl="1"/>
            <a:endParaRPr lang="en-US" smtClean="0"/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6DEF86BE-40FB-4BCB-B448-63F6DE6FDCB2}" type="slidenum">
              <a:rPr lang="zh-CN" altLang="en-US" sz="1400" smtClean="0">
                <a:solidFill>
                  <a:schemeClr val="tx1"/>
                </a:solidFill>
              </a:rPr>
              <a:pPr/>
              <a:t>1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86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977FE48D-B914-40A2-85A6-F3B716CA79F8}" type="slidenum">
              <a:rPr lang="zh-CN" altLang="en-US" sz="1400" smtClean="0">
                <a:solidFill>
                  <a:schemeClr val="tx1"/>
                </a:solidFill>
              </a:rPr>
              <a:pPr/>
              <a:t>2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Class and Attribute? How to Classify</a:t>
            </a:r>
          </a:p>
        </p:txBody>
      </p:sp>
      <p:sp>
        <p:nvSpPr>
          <p:cNvPr id="85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1592263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>
                <a:ea typeface="宋体" pitchFamily="2" charset="-122"/>
              </a:rPr>
              <a:t>A noun/noun phrase can be a class or an attribute, how do we distinguish?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>
                <a:ea typeface="宋体" pitchFamily="2" charset="-122"/>
              </a:rPr>
              <a:t>This is often a challenge for beginners.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>
                <a:ea typeface="宋体" pitchFamily="2" charset="-122"/>
              </a:rPr>
              <a:t>Rules to apply:</a:t>
            </a:r>
          </a:p>
        </p:txBody>
      </p:sp>
      <p:sp>
        <p:nvSpPr>
          <p:cNvPr id="856068" name="Rectangle 4"/>
          <p:cNvSpPr>
            <a:spLocks noChangeArrowheads="1"/>
          </p:cNvSpPr>
          <p:nvPr/>
        </p:nvSpPr>
        <p:spPr bwMode="auto">
          <a:xfrm>
            <a:off x="608013" y="2622550"/>
            <a:ext cx="825976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An object has an</a:t>
            </a:r>
            <a:r>
              <a:rPr lang="en-US" altLang="zh-CN" sz="2400" i="1">
                <a:solidFill>
                  <a:schemeClr val="tx1"/>
                </a:solidFill>
                <a:ea typeface="宋体" pitchFamily="2" charset="-122"/>
              </a:rPr>
              <a:t> "independent existence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" in the</a:t>
            </a:r>
          </a:p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application/application domain,</a:t>
            </a:r>
            <a:r>
              <a:rPr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an attribute does not.</a:t>
            </a:r>
          </a:p>
        </p:txBody>
      </p:sp>
      <p:sp>
        <p:nvSpPr>
          <p:cNvPr id="856069" name="Rectangle 5"/>
          <p:cNvSpPr>
            <a:spLocks noChangeArrowheads="1"/>
          </p:cNvSpPr>
          <p:nvPr/>
        </p:nvSpPr>
        <p:spPr bwMode="auto">
          <a:xfrm>
            <a:off x="568325" y="3548063"/>
            <a:ext cx="5784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Example: "Number of seats", class or attribute?</a:t>
            </a:r>
          </a:p>
        </p:txBody>
      </p:sp>
      <p:sp>
        <p:nvSpPr>
          <p:cNvPr id="856070" name="Rectangle 6"/>
          <p:cNvSpPr>
            <a:spLocks noChangeArrowheads="1"/>
          </p:cNvSpPr>
          <p:nvPr/>
        </p:nvSpPr>
        <p:spPr bwMode="auto">
          <a:xfrm>
            <a:off x="588963" y="4160838"/>
            <a:ext cx="7011987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Attribute, because "number of seats" cannot exist without</a:t>
            </a:r>
          </a:p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referring to a car, airplane, or classroom as in</a:t>
            </a:r>
          </a:p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   "number of seats of a car"</a:t>
            </a:r>
          </a:p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   "number of seats of a classroom"</a:t>
            </a:r>
          </a:p>
        </p:txBody>
      </p:sp>
    </p:spTree>
    <p:extLst>
      <p:ext uri="{BB962C8B-B14F-4D97-AF65-F5344CB8AC3E}">
        <p14:creationId xmlns:p14="http://schemas.microsoft.com/office/powerpoint/2010/main" val="2196124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5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5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5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5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56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56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6067" grpId="0" build="p" autoUpdateAnimBg="0"/>
      <p:bldP spid="856068" grpId="0" autoUpdateAnimBg="0"/>
      <p:bldP spid="856069" grpId="0" autoUpdateAnimBg="0"/>
      <p:bldP spid="85607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415E77F2-67D0-44E7-AF73-D8EA7951B7B8}" type="slidenum">
              <a:rPr lang="zh-CN" altLang="en-US" sz="1400" smtClean="0">
                <a:solidFill>
                  <a:schemeClr val="tx1"/>
                </a:solidFill>
              </a:rPr>
              <a:pPr/>
              <a:t>3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Class or Attribute? More Rules to Apply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dirty="0" smtClean="0">
                <a:ea typeface="宋体" pitchFamily="2" charset="-122"/>
              </a:rPr>
              <a:t>Rules to apply:</a:t>
            </a:r>
          </a:p>
          <a:p>
            <a:pPr lvl="1" eaLnBrk="1" hangingPunct="1">
              <a:defRPr/>
            </a:pPr>
            <a:r>
              <a:rPr lang="en-US" altLang="zh-CN" dirty="0" smtClean="0">
                <a:ea typeface="宋体" pitchFamily="2" charset="-122"/>
              </a:rPr>
              <a:t>Attributes describe objects or store state information of objects.</a:t>
            </a:r>
          </a:p>
          <a:p>
            <a:pPr lvl="1" eaLnBrk="1" hangingPunct="1">
              <a:defRPr/>
            </a:pPr>
            <a:r>
              <a:rPr lang="en-US" altLang="zh-CN" dirty="0" smtClean="0">
                <a:ea typeface="宋体" pitchFamily="2" charset="-122"/>
              </a:rPr>
              <a:t>Attributes are of </a:t>
            </a:r>
            <a:r>
              <a:rPr lang="en-US" altLang="zh-CN" i="1" dirty="0" smtClean="0">
                <a:ea typeface="宋体" pitchFamily="2" charset="-122"/>
              </a:rPr>
              <a:t>scalar types </a:t>
            </a:r>
            <a:r>
              <a:rPr lang="en-US" altLang="zh-CN" dirty="0" smtClean="0">
                <a:ea typeface="宋体" pitchFamily="2" charset="-122"/>
              </a:rPr>
              <a:t>such as </a:t>
            </a:r>
            <a:r>
              <a:rPr lang="en-US" altLang="zh-CN" dirty="0" err="1" smtClean="0">
                <a:ea typeface="宋体" pitchFamily="2" charset="-122"/>
              </a:rPr>
              <a:t>int</a:t>
            </a:r>
            <a:r>
              <a:rPr lang="en-US" altLang="zh-CN" dirty="0" smtClean="0">
                <a:ea typeface="宋体" pitchFamily="2" charset="-122"/>
              </a:rPr>
              <a:t>, double, string, char and </a:t>
            </a:r>
            <a:r>
              <a:rPr lang="en-US" altLang="zh-CN" dirty="0" err="1" smtClean="0">
                <a:ea typeface="宋体" pitchFamily="2" charset="-122"/>
              </a:rPr>
              <a:t>boolean</a:t>
            </a:r>
            <a:r>
              <a:rPr lang="en-US" altLang="zh-CN" dirty="0" smtClean="0">
                <a:ea typeface="宋体" pitchFamily="2" charset="-122"/>
              </a:rPr>
              <a:t>; classes are not.</a:t>
            </a:r>
          </a:p>
          <a:p>
            <a:pPr lvl="1" eaLnBrk="1" hangingPunct="1">
              <a:defRPr/>
            </a:pPr>
            <a:r>
              <a:rPr lang="en-US" altLang="zh-CN" dirty="0" smtClean="0">
                <a:ea typeface="宋体" pitchFamily="2" charset="-122"/>
              </a:rPr>
              <a:t>You can enter attribute values from the keyboard, but you cannot do so for objects.</a:t>
            </a:r>
          </a:p>
          <a:p>
            <a:pPr lvl="1" eaLnBrk="1" hangingPunct="1">
              <a:defRPr/>
            </a:pPr>
            <a:r>
              <a:rPr lang="en-US" altLang="zh-CN" dirty="0" smtClean="0">
                <a:ea typeface="宋体" pitchFamily="2" charset="-122"/>
              </a:rPr>
              <a:t>Objects must are created by invoking a constructor.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b="1" dirty="0" smtClean="0">
                <a:solidFill>
                  <a:srgbClr val="FF0000"/>
                </a:solidFill>
                <a:ea typeface="宋体" pitchFamily="2" charset="-122"/>
              </a:rPr>
              <a:t>The rules presented in these two slides are used to classify the domain specific phrases in the next slide!</a:t>
            </a:r>
          </a:p>
        </p:txBody>
      </p:sp>
    </p:spTree>
    <p:extLst>
      <p:ext uri="{BB962C8B-B14F-4D97-AF65-F5344CB8AC3E}">
        <p14:creationId xmlns:p14="http://schemas.microsoft.com/office/powerpoint/2010/main" val="28111577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253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1DD9C9D8-F07E-40B5-9A13-EEB027FFFB0E}" type="slidenum">
              <a:rPr lang="zh-CN" altLang="en-US" sz="1400" smtClean="0">
                <a:solidFill>
                  <a:schemeClr val="tx1"/>
                </a:solidFill>
              </a:rPr>
              <a:pPr/>
              <a:t>4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/>
            <a:r>
              <a:rPr lang="en-US" altLang="zh-CN" dirty="0" smtClean="0">
                <a:solidFill>
                  <a:schemeClr val="tx1"/>
                </a:solidFill>
                <a:ea typeface="宋体" pitchFamily="2" charset="-122"/>
              </a:rPr>
              <a:t>Classifying Brainstorming Result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4043363" cy="5211763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Noun/noun phrase</a:t>
            </a:r>
          </a:p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"X of Y" expression</a:t>
            </a:r>
          </a:p>
          <a:p>
            <a:pPr marL="457200" indent="-457200" eaLnBrk="1" hangingPunct="1">
              <a:lnSpc>
                <a:spcPct val="95000"/>
              </a:lnSpc>
              <a:buFont typeface="Times New Roman" pitchFamily="18" charset="0"/>
              <a:buAutoNum type="arabicPeriod"/>
            </a:pPr>
            <a:endParaRPr lang="en-US" altLang="zh-CN" sz="2000" smtClean="0">
              <a:ea typeface="宋体" pitchFamily="2" charset="-122"/>
            </a:endParaRPr>
          </a:p>
          <a:p>
            <a:pPr marL="457200" indent="-457200" eaLnBrk="1" hangingPunct="1">
              <a:lnSpc>
                <a:spcPct val="145000"/>
              </a:lnSpc>
              <a:buFont typeface="Times New Roman" pitchFamily="18" charset="0"/>
              <a:buAutoNum type="arabicPeriod"/>
            </a:pPr>
            <a:endParaRPr lang="en-US" altLang="zh-CN" sz="2000" smtClean="0">
              <a:ea typeface="宋体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Transitive verb</a:t>
            </a:r>
          </a:p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Adjective, enumeration </a:t>
            </a:r>
          </a:p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Numeric, quantity</a:t>
            </a:r>
          </a:p>
          <a:p>
            <a:pPr marL="457200" indent="-457200" eaLnBrk="1" hangingPunct="1">
              <a:lnSpc>
                <a:spcPct val="13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Possession expressions (has/have, possess, etc.)</a:t>
            </a:r>
          </a:p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“Consist of/part of" expression</a:t>
            </a:r>
          </a:p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Containment / containing expression</a:t>
            </a:r>
          </a:p>
          <a:p>
            <a:pPr marL="457200" indent="-457200" eaLnBrk="1" hangingPunct="1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zh-CN" sz="2000" smtClean="0">
                <a:ea typeface="宋体" pitchFamily="2" charset="-122"/>
              </a:rPr>
              <a:t>"X is a Y" expression</a:t>
            </a:r>
          </a:p>
        </p:txBody>
      </p:sp>
      <p:sp>
        <p:nvSpPr>
          <p:cNvPr id="67174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214813" y="876300"/>
            <a:ext cx="4586287" cy="5211763"/>
          </a:xfrm>
        </p:spPr>
        <p:txBody>
          <a:bodyPr lIns="92075" tIns="46038" rIns="92075" bIns="46038"/>
          <a:lstStyle/>
          <a:p>
            <a:pPr eaLnBrk="1" hangingPunct="1">
              <a:buFont typeface="Symbol" pitchFamily="18" charset="2"/>
              <a:buChar char="Þ"/>
              <a:defRPr/>
            </a:pPr>
            <a:r>
              <a:rPr lang="zh-CN" altLang="en-US" sz="2000" dirty="0" smtClean="0">
                <a:ea typeface="宋体" pitchFamily="2" charset="-122"/>
              </a:rPr>
              <a:t> </a:t>
            </a:r>
            <a:r>
              <a:rPr lang="en-US" altLang="zh-CN" sz="2000" dirty="0" smtClean="0">
                <a:ea typeface="宋体" pitchFamily="2" charset="-122"/>
              </a:rPr>
              <a:t>class or attribute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X is an attribute of Y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X is part of Y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X is a role in an association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association relationship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attribute value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attribute value / multiplicity value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aggregation, association or attribute</a:t>
            </a:r>
          </a:p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endParaRPr lang="en-US" altLang="zh-CN" sz="2000" dirty="0" smtClean="0">
              <a:ea typeface="宋体" pitchFamily="2" charset="-122"/>
            </a:endParaRP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aggregation relationship</a:t>
            </a: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association or aggregation</a:t>
            </a:r>
          </a:p>
          <a:p>
            <a:pPr eaLnBrk="1" hangingPunct="1">
              <a:lnSpc>
                <a:spcPct val="50000"/>
              </a:lnSpc>
              <a:buFont typeface="Symbol" pitchFamily="18" charset="2"/>
              <a:buChar char="Þ"/>
              <a:defRPr/>
            </a:pPr>
            <a:endParaRPr lang="en-US" altLang="zh-CN" sz="2000" dirty="0" smtClean="0">
              <a:ea typeface="宋体" pitchFamily="2" charset="-122"/>
            </a:endParaRPr>
          </a:p>
          <a:p>
            <a:pPr eaLnBrk="1" hangingPunct="1">
              <a:buFont typeface="Symbol" pitchFamily="18" charset="2"/>
              <a:buChar char="Þ"/>
              <a:defRPr/>
            </a:pPr>
            <a:r>
              <a:rPr lang="en-US" altLang="zh-CN" sz="2000" dirty="0" smtClean="0">
                <a:ea typeface="宋体" pitchFamily="2" charset="-122"/>
              </a:rPr>
              <a:t> inheritance</a:t>
            </a:r>
          </a:p>
        </p:txBody>
      </p:sp>
      <p:sp>
        <p:nvSpPr>
          <p:cNvPr id="671749" name="Text Box 5"/>
          <p:cNvSpPr txBox="1">
            <a:spLocks noChangeArrowheads="1"/>
          </p:cNvSpPr>
          <p:nvPr/>
        </p:nvSpPr>
        <p:spPr bwMode="auto">
          <a:xfrm>
            <a:off x="947738" y="5740400"/>
            <a:ext cx="7219950" cy="9779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solidFill>
                  <a:schemeClr val="tx1"/>
                </a:solidFill>
                <a:ea typeface="宋体" pitchFamily="2" charset="-122"/>
              </a:rPr>
              <a:t>Remember:</a:t>
            </a:r>
          </a:p>
          <a:p>
            <a:pPr marL="342900" indent="-342900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zh-CN" sz="2400" dirty="0" smtClean="0">
                <a:solidFill>
                  <a:schemeClr val="tx1"/>
                </a:solidFill>
                <a:ea typeface="宋体" pitchFamily="2" charset="-122"/>
              </a:rPr>
              <a:t>Objects have independent existence, attributes do not.</a:t>
            </a:r>
          </a:p>
          <a:p>
            <a:pPr marL="342900" indent="-342900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zh-CN" sz="2400" dirty="0" smtClean="0">
                <a:solidFill>
                  <a:schemeClr val="tx1"/>
                </a:solidFill>
                <a:ea typeface="宋体" pitchFamily="2" charset="-122"/>
              </a:rPr>
              <a:t>Attributes are scalar types, classes are not.</a:t>
            </a:r>
          </a:p>
        </p:txBody>
      </p:sp>
    </p:spTree>
    <p:extLst>
      <p:ext uri="{BB962C8B-B14F-4D97-AF65-F5344CB8AC3E}">
        <p14:creationId xmlns:p14="http://schemas.microsoft.com/office/powerpoint/2010/main" val="7628474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7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7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7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7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7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7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7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7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 build="p" autoUpdateAnimBg="0"/>
      <p:bldP spid="6717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D5A94DD8-368B-4D46-83A1-B5794A99E560}" type="slidenum">
              <a:rPr lang="zh-CN" altLang="en-US" sz="1400" smtClean="0">
                <a:solidFill>
                  <a:schemeClr val="tx1"/>
                </a:solidFill>
              </a:rPr>
              <a:pPr/>
              <a:t>5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>
                <a:solidFill>
                  <a:schemeClr val="tx1"/>
                </a:solidFill>
                <a:ea typeface="宋体" pitchFamily="2" charset="-122"/>
              </a:rPr>
              <a:t>Inheritance Relationship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5245100" cy="54562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It expresses the generalization/specialization relations between concepts.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One concept is more general/specialized than the other.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Example: vehicle is a generalization of car, car is a specialization of vehicle.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It is also called IS-A relation.</a:t>
            </a:r>
            <a:endParaRPr lang="en-US" altLang="zh-CN" sz="2400" smtClean="0">
              <a:ea typeface="宋体" pitchFamily="2" charset="-122"/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849938" y="1611313"/>
            <a:ext cx="2982912" cy="4191000"/>
            <a:chOff x="5849938" y="1611313"/>
            <a:chExt cx="2982912" cy="4190530"/>
          </a:xfrm>
        </p:grpSpPr>
        <p:grpSp>
          <p:nvGrpSpPr>
            <p:cNvPr id="23559" name="Group 4"/>
            <p:cNvGrpSpPr>
              <a:grpSpLocks/>
            </p:cNvGrpSpPr>
            <p:nvPr/>
          </p:nvGrpSpPr>
          <p:grpSpPr bwMode="auto">
            <a:xfrm>
              <a:off x="5849938" y="1611313"/>
              <a:ext cx="2982912" cy="3540125"/>
              <a:chOff x="3685" y="1015"/>
              <a:chExt cx="1879" cy="2230"/>
            </a:xfrm>
          </p:grpSpPr>
          <p:sp>
            <p:nvSpPr>
              <p:cNvPr id="23561" name="Rectangle 5"/>
              <p:cNvSpPr>
                <a:spLocks noChangeArrowheads="1"/>
              </p:cNvSpPr>
              <p:nvPr/>
            </p:nvSpPr>
            <p:spPr bwMode="auto">
              <a:xfrm>
                <a:off x="4016" y="1052"/>
                <a:ext cx="858" cy="103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23562" name="Text Box 6"/>
              <p:cNvSpPr txBox="1">
                <a:spLocks noChangeArrowheads="1"/>
              </p:cNvSpPr>
              <p:nvPr/>
            </p:nvSpPr>
            <p:spPr bwMode="auto">
              <a:xfrm>
                <a:off x="4050" y="1015"/>
                <a:ext cx="804" cy="10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Vehicle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>
                    <a:solidFill>
                      <a:schemeClr val="tx1"/>
                    </a:solidFill>
                    <a:ea typeface="宋体" pitchFamily="2" charset="-122"/>
                  </a:rPr>
                  <a:t>model#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600">
                    <a:solidFill>
                      <a:schemeClr val="tx1"/>
                    </a:solidFill>
                    <a:ea typeface="宋体" pitchFamily="2" charset="-122"/>
                  </a:rPr>
                  <a:t>horse power</a:t>
                </a:r>
              </a:p>
              <a:p>
                <a:r>
                  <a:rPr lang="en-US" altLang="zh-CN" sz="1600">
                    <a:solidFill>
                      <a:schemeClr val="tx1"/>
                    </a:solidFill>
                    <a:ea typeface="宋体" pitchFamily="2" charset="-122"/>
                  </a:rPr>
                  <a:t>manufacturer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>
                    <a:solidFill>
                      <a:schemeClr val="tx1"/>
                    </a:solidFill>
                    <a:ea typeface="宋体" pitchFamily="2" charset="-122"/>
                  </a:rPr>
                  <a:t>start()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600">
                  <a:solidFill>
                    <a:schemeClr val="tx1"/>
                  </a:solidFill>
                  <a:ea typeface="宋体" pitchFamily="2" charset="-122"/>
                </a:endParaRPr>
              </a:p>
            </p:txBody>
          </p:sp>
          <p:sp>
            <p:nvSpPr>
              <p:cNvPr id="23563" name="Line 7"/>
              <p:cNvSpPr>
                <a:spLocks noChangeShapeType="1"/>
              </p:cNvSpPr>
              <p:nvPr/>
            </p:nvSpPr>
            <p:spPr bwMode="auto">
              <a:xfrm>
                <a:off x="4016" y="1241"/>
                <a:ext cx="84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64" name="Line 8"/>
              <p:cNvSpPr>
                <a:spLocks noChangeShapeType="1"/>
              </p:cNvSpPr>
              <p:nvPr/>
            </p:nvSpPr>
            <p:spPr bwMode="auto">
              <a:xfrm>
                <a:off x="4016" y="1701"/>
                <a:ext cx="8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23565" name="Group 9"/>
              <p:cNvGrpSpPr>
                <a:grpSpLocks/>
              </p:cNvGrpSpPr>
              <p:nvPr/>
            </p:nvGrpSpPr>
            <p:grpSpPr bwMode="auto">
              <a:xfrm>
                <a:off x="3685" y="2644"/>
                <a:ext cx="858" cy="601"/>
                <a:chOff x="4015" y="2675"/>
                <a:chExt cx="858" cy="601"/>
              </a:xfrm>
            </p:grpSpPr>
            <p:sp>
              <p:nvSpPr>
                <p:cNvPr id="23576" name="Rectangle 10"/>
                <p:cNvSpPr>
                  <a:spLocks noChangeArrowheads="1"/>
                </p:cNvSpPr>
                <p:nvPr/>
              </p:nvSpPr>
              <p:spPr bwMode="auto">
                <a:xfrm>
                  <a:off x="4015" y="2680"/>
                  <a:ext cx="858" cy="588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357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049" y="2675"/>
                  <a:ext cx="804" cy="6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r>
                    <a:rPr lang="en-US" altLang="zh-CN" sz="1800">
                      <a:solidFill>
                        <a:schemeClr val="tx1"/>
                      </a:solidFill>
                      <a:ea typeface="宋体" pitchFamily="2" charset="-122"/>
                    </a:rPr>
                    <a:t>Car</a:t>
                  </a:r>
                </a:p>
                <a:p>
                  <a:pPr>
                    <a:lnSpc>
                      <a:spcPct val="120000"/>
                    </a:lnSpc>
                  </a:pPr>
                  <a:endParaRPr lang="en-US" altLang="zh-CN" sz="160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600">
                      <a:solidFill>
                        <a:schemeClr val="tx1"/>
                      </a:solidFill>
                      <a:ea typeface="宋体" pitchFamily="2" charset="-122"/>
                    </a:rPr>
                    <a:t>drive()</a:t>
                  </a:r>
                </a:p>
              </p:txBody>
            </p:sp>
            <p:sp>
              <p:nvSpPr>
                <p:cNvPr id="23578" name="Line 12"/>
                <p:cNvSpPr>
                  <a:spLocks noChangeShapeType="1"/>
                </p:cNvSpPr>
                <p:nvPr/>
              </p:nvSpPr>
              <p:spPr bwMode="auto">
                <a:xfrm>
                  <a:off x="4015" y="2869"/>
                  <a:ext cx="84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579" name="Line 13"/>
                <p:cNvSpPr>
                  <a:spLocks noChangeShapeType="1"/>
                </p:cNvSpPr>
                <p:nvPr/>
              </p:nvSpPr>
              <p:spPr bwMode="auto">
                <a:xfrm>
                  <a:off x="4015" y="3017"/>
                  <a:ext cx="85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3566" name="AutoShape 14"/>
              <p:cNvSpPr>
                <a:spLocks noChangeArrowheads="1"/>
              </p:cNvSpPr>
              <p:nvPr/>
            </p:nvSpPr>
            <p:spPr bwMode="auto">
              <a:xfrm>
                <a:off x="4382" y="2086"/>
                <a:ext cx="120" cy="97"/>
              </a:xfrm>
              <a:prstGeom prst="triangle">
                <a:avLst>
                  <a:gd name="adj" fmla="val 50000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23567" name="Line 15"/>
              <p:cNvSpPr>
                <a:spLocks noChangeShapeType="1"/>
              </p:cNvSpPr>
              <p:nvPr/>
            </p:nvSpPr>
            <p:spPr bwMode="auto">
              <a:xfrm>
                <a:off x="4439" y="2178"/>
                <a:ext cx="0" cy="2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23568" name="Group 16"/>
              <p:cNvGrpSpPr>
                <a:grpSpLocks/>
              </p:cNvGrpSpPr>
              <p:nvPr/>
            </p:nvGrpSpPr>
            <p:grpSpPr bwMode="auto">
              <a:xfrm>
                <a:off x="4706" y="2644"/>
                <a:ext cx="858" cy="601"/>
                <a:chOff x="4292" y="3484"/>
                <a:chExt cx="858" cy="601"/>
              </a:xfrm>
            </p:grpSpPr>
            <p:sp>
              <p:nvSpPr>
                <p:cNvPr id="23572" name="Rectangle 17"/>
                <p:cNvSpPr>
                  <a:spLocks noChangeArrowheads="1"/>
                </p:cNvSpPr>
                <p:nvPr/>
              </p:nvSpPr>
              <p:spPr bwMode="auto">
                <a:xfrm>
                  <a:off x="4292" y="3495"/>
                  <a:ext cx="858" cy="588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357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26" y="3484"/>
                  <a:ext cx="804" cy="6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r>
                    <a:rPr lang="en-US" altLang="zh-CN" sz="1800">
                      <a:solidFill>
                        <a:schemeClr val="tx1"/>
                      </a:solidFill>
                      <a:ea typeface="宋体" pitchFamily="2" charset="-122"/>
                    </a:rPr>
                    <a:t>Boat</a:t>
                  </a:r>
                </a:p>
                <a:p>
                  <a:pPr>
                    <a:lnSpc>
                      <a:spcPct val="120000"/>
                    </a:lnSpc>
                  </a:pPr>
                  <a:endParaRPr lang="en-US" altLang="zh-CN" sz="160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600">
                      <a:solidFill>
                        <a:schemeClr val="tx1"/>
                      </a:solidFill>
                      <a:ea typeface="宋体" pitchFamily="2" charset="-122"/>
                    </a:rPr>
                    <a:t>sail()</a:t>
                  </a:r>
                </a:p>
              </p:txBody>
            </p:sp>
            <p:sp>
              <p:nvSpPr>
                <p:cNvPr id="23574" name="Line 19"/>
                <p:cNvSpPr>
                  <a:spLocks noChangeShapeType="1"/>
                </p:cNvSpPr>
                <p:nvPr/>
              </p:nvSpPr>
              <p:spPr bwMode="auto">
                <a:xfrm>
                  <a:off x="4292" y="3684"/>
                  <a:ext cx="84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575" name="Line 20"/>
                <p:cNvSpPr>
                  <a:spLocks noChangeShapeType="1"/>
                </p:cNvSpPr>
                <p:nvPr/>
              </p:nvSpPr>
              <p:spPr bwMode="auto">
                <a:xfrm>
                  <a:off x="4292" y="3832"/>
                  <a:ext cx="85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3569" name="Line 21"/>
              <p:cNvSpPr>
                <a:spLocks noChangeShapeType="1"/>
              </p:cNvSpPr>
              <p:nvPr/>
            </p:nvSpPr>
            <p:spPr bwMode="auto">
              <a:xfrm>
                <a:off x="4026" y="2435"/>
                <a:ext cx="9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0" name="Line 22"/>
              <p:cNvSpPr>
                <a:spLocks noChangeShapeType="1"/>
              </p:cNvSpPr>
              <p:nvPr/>
            </p:nvSpPr>
            <p:spPr bwMode="auto">
              <a:xfrm>
                <a:off x="4026" y="2435"/>
                <a:ext cx="0" cy="2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1" name="Line 23"/>
              <p:cNvSpPr>
                <a:spLocks noChangeShapeType="1"/>
              </p:cNvSpPr>
              <p:nvPr/>
            </p:nvSpPr>
            <p:spPr bwMode="auto">
              <a:xfrm>
                <a:off x="4990" y="2441"/>
                <a:ext cx="0" cy="2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3560" name="TextBox 2"/>
            <p:cNvSpPr txBox="1">
              <a:spLocks noChangeArrowheads="1"/>
            </p:cNvSpPr>
            <p:nvPr/>
          </p:nvSpPr>
          <p:spPr bwMode="auto">
            <a:xfrm>
              <a:off x="6257925" y="5401733"/>
              <a:ext cx="24257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2000"/>
                <a:t>UML class diagram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40026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457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A612396B-98BC-42C9-B69B-F38370A87BC1}" type="slidenum">
              <a:rPr lang="zh-CN" altLang="en-US" sz="1400" smtClean="0">
                <a:solidFill>
                  <a:schemeClr val="tx1"/>
                </a:solidFill>
              </a:rPr>
              <a:pPr/>
              <a:t>6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Two Tests for Inheritance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66863" y="2535238"/>
            <a:ext cx="1363662" cy="3576637"/>
            <a:chOff x="987" y="1597"/>
            <a:chExt cx="859" cy="2253"/>
          </a:xfrm>
        </p:grpSpPr>
        <p:sp>
          <p:nvSpPr>
            <p:cNvPr id="24606" name="Rectangle 4"/>
            <p:cNvSpPr>
              <a:spLocks noChangeArrowheads="1"/>
            </p:cNvSpPr>
            <p:nvPr/>
          </p:nvSpPr>
          <p:spPr bwMode="auto">
            <a:xfrm>
              <a:off x="988" y="1634"/>
              <a:ext cx="858" cy="10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607" name="Text Box 5"/>
            <p:cNvSpPr txBox="1">
              <a:spLocks noChangeArrowheads="1"/>
            </p:cNvSpPr>
            <p:nvPr/>
          </p:nvSpPr>
          <p:spPr bwMode="auto">
            <a:xfrm>
              <a:off x="1022" y="1597"/>
              <a:ext cx="804" cy="1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Engine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model#</a:t>
              </a:r>
            </a:p>
            <a:p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horse power</a:t>
              </a:r>
            </a:p>
            <a:p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manufacturer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start()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stop()</a:t>
              </a:r>
              <a:endParaRPr lang="en-US" altLang="zh-CN" sz="18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4608" name="Line 6"/>
            <p:cNvSpPr>
              <a:spLocks noChangeShapeType="1"/>
            </p:cNvSpPr>
            <p:nvPr/>
          </p:nvSpPr>
          <p:spPr bwMode="auto">
            <a:xfrm>
              <a:off x="988" y="1823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609" name="Line 7"/>
            <p:cNvSpPr>
              <a:spLocks noChangeShapeType="1"/>
            </p:cNvSpPr>
            <p:nvPr/>
          </p:nvSpPr>
          <p:spPr bwMode="auto">
            <a:xfrm>
              <a:off x="988" y="2331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610" name="Rectangle 8"/>
            <p:cNvSpPr>
              <a:spLocks noChangeArrowheads="1"/>
            </p:cNvSpPr>
            <p:nvPr/>
          </p:nvSpPr>
          <p:spPr bwMode="auto">
            <a:xfrm>
              <a:off x="987" y="3262"/>
              <a:ext cx="858" cy="5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611" name="Text Box 9"/>
            <p:cNvSpPr txBox="1">
              <a:spLocks noChangeArrowheads="1"/>
            </p:cNvSpPr>
            <p:nvPr/>
          </p:nvSpPr>
          <p:spPr bwMode="auto">
            <a:xfrm>
              <a:off x="1021" y="3225"/>
              <a:ext cx="80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Car</a:t>
              </a:r>
            </a:p>
            <a:p>
              <a:pPr>
                <a:lnSpc>
                  <a:spcPct val="120000"/>
                </a:lnSpc>
              </a:pPr>
              <a:endParaRPr lang="en-US" altLang="zh-CN" sz="1600">
                <a:solidFill>
                  <a:schemeClr val="tx1"/>
                </a:solidFill>
                <a:ea typeface="宋体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drive()</a:t>
              </a:r>
            </a:p>
          </p:txBody>
        </p:sp>
        <p:sp>
          <p:nvSpPr>
            <p:cNvPr id="24612" name="Line 10"/>
            <p:cNvSpPr>
              <a:spLocks noChangeShapeType="1"/>
            </p:cNvSpPr>
            <p:nvPr/>
          </p:nvSpPr>
          <p:spPr bwMode="auto">
            <a:xfrm>
              <a:off x="987" y="3451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613" name="Line 11"/>
            <p:cNvSpPr>
              <a:spLocks noChangeShapeType="1"/>
            </p:cNvSpPr>
            <p:nvPr/>
          </p:nvSpPr>
          <p:spPr bwMode="auto">
            <a:xfrm>
              <a:off x="987" y="3599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614" name="AutoShape 12"/>
            <p:cNvSpPr>
              <a:spLocks noChangeArrowheads="1"/>
            </p:cNvSpPr>
            <p:nvPr/>
          </p:nvSpPr>
          <p:spPr bwMode="auto">
            <a:xfrm>
              <a:off x="1354" y="2668"/>
              <a:ext cx="120" cy="9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615" name="Line 13"/>
            <p:cNvSpPr>
              <a:spLocks noChangeShapeType="1"/>
            </p:cNvSpPr>
            <p:nvPr/>
          </p:nvSpPr>
          <p:spPr bwMode="auto">
            <a:xfrm>
              <a:off x="1411" y="2760"/>
              <a:ext cx="0" cy="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62222" name="AutoShape 14"/>
          <p:cNvSpPr>
            <a:spLocks noChangeArrowheads="1"/>
          </p:cNvSpPr>
          <p:nvPr/>
        </p:nvSpPr>
        <p:spPr bwMode="auto">
          <a:xfrm>
            <a:off x="1292225" y="2994025"/>
            <a:ext cx="1839913" cy="1862138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583" name="Rectangle 1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4291013" cy="1270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IS-A test: every instance of a subclass is also an instance of the superclass.</a:t>
            </a:r>
          </a:p>
        </p:txBody>
      </p:sp>
      <p:sp>
        <p:nvSpPr>
          <p:cNvPr id="862224" name="Rectangle 16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914400"/>
            <a:ext cx="4333875" cy="164782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Conformance test: relationships of a superclass are also relationships of subclasses.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421188" y="2806700"/>
            <a:ext cx="4056062" cy="2684463"/>
            <a:chOff x="2785" y="1768"/>
            <a:chExt cx="2555" cy="1691"/>
          </a:xfrm>
        </p:grpSpPr>
        <p:sp>
          <p:nvSpPr>
            <p:cNvPr id="24591" name="Rectangle 18"/>
            <p:cNvSpPr>
              <a:spLocks noChangeArrowheads="1"/>
            </p:cNvSpPr>
            <p:nvPr/>
          </p:nvSpPr>
          <p:spPr bwMode="auto">
            <a:xfrm>
              <a:off x="2792" y="1805"/>
              <a:ext cx="858" cy="74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592" name="Text Box 19"/>
            <p:cNvSpPr txBox="1">
              <a:spLocks noChangeArrowheads="1"/>
            </p:cNvSpPr>
            <p:nvPr/>
          </p:nvSpPr>
          <p:spPr bwMode="auto">
            <a:xfrm>
              <a:off x="2826" y="1768"/>
              <a:ext cx="804" cy="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Professor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name</a:t>
              </a:r>
            </a:p>
            <a:p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phone</a:t>
              </a:r>
            </a:p>
            <a:p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teach(...)</a:t>
              </a:r>
            </a:p>
          </p:txBody>
        </p:sp>
        <p:sp>
          <p:nvSpPr>
            <p:cNvPr id="24593" name="Line 20"/>
            <p:cNvSpPr>
              <a:spLocks noChangeShapeType="1"/>
            </p:cNvSpPr>
            <p:nvPr/>
          </p:nvSpPr>
          <p:spPr bwMode="auto">
            <a:xfrm>
              <a:off x="2792" y="1994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594" name="Line 21"/>
            <p:cNvSpPr>
              <a:spLocks noChangeShapeType="1"/>
            </p:cNvSpPr>
            <p:nvPr/>
          </p:nvSpPr>
          <p:spPr bwMode="auto">
            <a:xfrm>
              <a:off x="2792" y="2352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595" name="Rectangle 22"/>
            <p:cNvSpPr>
              <a:spLocks noChangeArrowheads="1"/>
            </p:cNvSpPr>
            <p:nvPr/>
          </p:nvSpPr>
          <p:spPr bwMode="auto">
            <a:xfrm>
              <a:off x="2799" y="2871"/>
              <a:ext cx="858" cy="5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596" name="Text Box 23"/>
            <p:cNvSpPr txBox="1">
              <a:spLocks noChangeArrowheads="1"/>
            </p:cNvSpPr>
            <p:nvPr/>
          </p:nvSpPr>
          <p:spPr bwMode="auto">
            <a:xfrm>
              <a:off x="2785" y="2834"/>
              <a:ext cx="861" cy="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Visiting Professor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signContract()</a:t>
              </a:r>
            </a:p>
          </p:txBody>
        </p:sp>
        <p:sp>
          <p:nvSpPr>
            <p:cNvPr id="24597" name="Line 24"/>
            <p:cNvSpPr>
              <a:spLocks noChangeShapeType="1"/>
            </p:cNvSpPr>
            <p:nvPr/>
          </p:nvSpPr>
          <p:spPr bwMode="auto">
            <a:xfrm>
              <a:off x="2799" y="3208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598" name="AutoShape 25"/>
            <p:cNvSpPr>
              <a:spLocks noChangeArrowheads="1"/>
            </p:cNvSpPr>
            <p:nvPr/>
          </p:nvSpPr>
          <p:spPr bwMode="auto">
            <a:xfrm>
              <a:off x="3158" y="2551"/>
              <a:ext cx="120" cy="9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599" name="Line 26"/>
            <p:cNvSpPr>
              <a:spLocks noChangeShapeType="1"/>
            </p:cNvSpPr>
            <p:nvPr/>
          </p:nvSpPr>
          <p:spPr bwMode="auto">
            <a:xfrm>
              <a:off x="3215" y="2643"/>
              <a:ext cx="0" cy="2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600" name="Rectangle 27"/>
            <p:cNvSpPr>
              <a:spLocks noChangeArrowheads="1"/>
            </p:cNvSpPr>
            <p:nvPr/>
          </p:nvSpPr>
          <p:spPr bwMode="auto">
            <a:xfrm>
              <a:off x="4482" y="1963"/>
              <a:ext cx="858" cy="5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601" name="Text Box 28"/>
            <p:cNvSpPr txBox="1">
              <a:spLocks noChangeArrowheads="1"/>
            </p:cNvSpPr>
            <p:nvPr/>
          </p:nvSpPr>
          <p:spPr bwMode="auto">
            <a:xfrm>
              <a:off x="4468" y="1926"/>
              <a:ext cx="861" cy="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Retirement Plan</a:t>
              </a:r>
            </a:p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4602" name="Line 29"/>
            <p:cNvSpPr>
              <a:spLocks noChangeShapeType="1"/>
            </p:cNvSpPr>
            <p:nvPr/>
          </p:nvSpPr>
          <p:spPr bwMode="auto">
            <a:xfrm>
              <a:off x="4482" y="2308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603" name="Line 30"/>
            <p:cNvSpPr>
              <a:spLocks noChangeShapeType="1"/>
            </p:cNvSpPr>
            <p:nvPr/>
          </p:nvSpPr>
          <p:spPr bwMode="auto">
            <a:xfrm>
              <a:off x="4482" y="2456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604" name="Line 31"/>
            <p:cNvSpPr>
              <a:spLocks noChangeShapeType="1"/>
            </p:cNvSpPr>
            <p:nvPr/>
          </p:nvSpPr>
          <p:spPr bwMode="auto">
            <a:xfrm>
              <a:off x="3657" y="2131"/>
              <a:ext cx="8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605" name="Text Box 32"/>
            <p:cNvSpPr txBox="1">
              <a:spLocks noChangeArrowheads="1"/>
            </p:cNvSpPr>
            <p:nvPr/>
          </p:nvSpPr>
          <p:spPr bwMode="auto">
            <a:xfrm>
              <a:off x="3841" y="2103"/>
              <a:ext cx="4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enroll</a:t>
              </a: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224588" y="5192713"/>
            <a:ext cx="2159000" cy="1203325"/>
            <a:chOff x="3921" y="3394"/>
            <a:chExt cx="1360" cy="652"/>
          </a:xfrm>
        </p:grpSpPr>
        <p:sp>
          <p:nvSpPr>
            <p:cNvPr id="24589" name="AutoShape 34"/>
            <p:cNvSpPr>
              <a:spLocks noChangeArrowheads="1"/>
            </p:cNvSpPr>
            <p:nvPr/>
          </p:nvSpPr>
          <p:spPr bwMode="auto">
            <a:xfrm>
              <a:off x="3921" y="3394"/>
              <a:ext cx="1360" cy="646"/>
            </a:xfrm>
            <a:prstGeom prst="foldedCorner">
              <a:avLst>
                <a:gd name="adj" fmla="val 125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4590" name="Text Box 35"/>
            <p:cNvSpPr txBox="1">
              <a:spLocks noChangeArrowheads="1"/>
            </p:cNvSpPr>
            <p:nvPr/>
          </p:nvSpPr>
          <p:spPr bwMode="auto">
            <a:xfrm>
              <a:off x="3931" y="3401"/>
              <a:ext cx="1300" cy="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Visiting professors cannot enroll in a retirement plan at the host university.</a:t>
              </a:r>
            </a:p>
          </p:txBody>
        </p:sp>
      </p:grpSp>
      <p:sp>
        <p:nvSpPr>
          <p:cNvPr id="862244" name="Text Box 36"/>
          <p:cNvSpPr txBox="1">
            <a:spLocks noChangeArrowheads="1"/>
          </p:cNvSpPr>
          <p:nvPr/>
        </p:nvSpPr>
        <p:spPr bwMode="auto">
          <a:xfrm rot="-1361021">
            <a:off x="787400" y="3770313"/>
            <a:ext cx="2852738" cy="495300"/>
          </a:xfrm>
          <a:prstGeom prst="rect">
            <a:avLst/>
          </a:prstGeom>
          <a:solidFill>
            <a:schemeClr val="bg1"/>
          </a:solidFill>
          <a:ln w="38100">
            <a:solidFill>
              <a:srgbClr val="FF3300"/>
            </a:solidFill>
            <a:miter lim="800000"/>
            <a:headEnd type="none" w="sm" len="sm"/>
            <a:tailE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zh-CN" altLang="en-US" sz="2400">
                <a:solidFill>
                  <a:srgbClr val="FF3300"/>
                </a:solidFill>
                <a:latin typeface="Impact" pitchFamily="34" charset="0"/>
                <a:ea typeface="宋体" pitchFamily="2" charset="-122"/>
              </a:rPr>
              <a:t> </a:t>
            </a:r>
            <a:r>
              <a:rPr lang="en-US" altLang="zh-CN" sz="2400">
                <a:solidFill>
                  <a:srgbClr val="FF3300"/>
                </a:solidFill>
                <a:latin typeface="Impact" pitchFamily="34" charset="0"/>
                <a:ea typeface="宋体" pitchFamily="2" charset="-122"/>
              </a:rPr>
              <a:t>Car is not an engine. </a:t>
            </a:r>
          </a:p>
        </p:txBody>
      </p:sp>
      <p:sp>
        <p:nvSpPr>
          <p:cNvPr id="862245" name="AutoShape 37"/>
          <p:cNvSpPr>
            <a:spLocks noChangeArrowheads="1"/>
          </p:cNvSpPr>
          <p:nvPr/>
        </p:nvSpPr>
        <p:spPr bwMode="auto">
          <a:xfrm>
            <a:off x="4618038" y="3803650"/>
            <a:ext cx="955675" cy="8763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6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6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6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62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86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2222" grpId="0" animBg="1"/>
      <p:bldP spid="862224" grpId="0" build="p" autoUpdateAnimBg="0"/>
      <p:bldP spid="862244" grpId="0" animBg="1" autoUpdateAnimBg="0"/>
      <p:bldP spid="86224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BBB6757C-054F-4851-99FC-D5202D22C3A2}" type="slidenum">
              <a:rPr lang="zh-CN" altLang="en-US" sz="1400" smtClean="0">
                <a:solidFill>
                  <a:schemeClr val="tx1"/>
                </a:solidFill>
              </a:rPr>
              <a:pPr/>
              <a:t>7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Aggregation Relationship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4816475" cy="5211763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ea typeface="宋体" pitchFamily="2" charset="-122"/>
              </a:rPr>
              <a:t>It expresses the fact that one object is part of another object.</a:t>
            </a:r>
          </a:p>
          <a:p>
            <a:pPr eaLnBrk="1" hangingPunct="1"/>
            <a:r>
              <a:rPr lang="en-US" altLang="zh-CN" sz="3600" smtClean="0">
                <a:ea typeface="宋体" pitchFamily="2" charset="-122"/>
              </a:rPr>
              <a:t>Example: engine is part of a car.</a:t>
            </a:r>
          </a:p>
          <a:p>
            <a:pPr eaLnBrk="1" hangingPunct="1"/>
            <a:r>
              <a:rPr lang="en-US" altLang="zh-CN" sz="3600" smtClean="0">
                <a:ea typeface="宋体" pitchFamily="2" charset="-122"/>
              </a:rPr>
              <a:t>It is also called part-of relationship.</a:t>
            </a:r>
          </a:p>
          <a:p>
            <a:pPr lvl="1" eaLnBrk="1" hangingPunct="1"/>
            <a:endParaRPr lang="en-US" altLang="zh-CN" sz="3200" smtClean="0">
              <a:ea typeface="宋体" pitchFamily="2" charset="-122"/>
            </a:endParaRPr>
          </a:p>
          <a:p>
            <a:pPr eaLnBrk="1" hangingPunct="1"/>
            <a:endParaRPr lang="zh-CN" altLang="en-US" sz="3600" smtClean="0"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394575" y="1558925"/>
            <a:ext cx="1362075" cy="4225925"/>
            <a:chOff x="4082" y="982"/>
            <a:chExt cx="858" cy="2662"/>
          </a:xfrm>
        </p:grpSpPr>
        <p:sp>
          <p:nvSpPr>
            <p:cNvPr id="25614" name="Rectangle 5"/>
            <p:cNvSpPr>
              <a:spLocks noChangeArrowheads="1"/>
            </p:cNvSpPr>
            <p:nvPr/>
          </p:nvSpPr>
          <p:spPr bwMode="auto">
            <a:xfrm>
              <a:off x="4082" y="1019"/>
              <a:ext cx="858" cy="10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5615" name="Text Box 6"/>
            <p:cNvSpPr txBox="1">
              <a:spLocks noChangeArrowheads="1"/>
            </p:cNvSpPr>
            <p:nvPr/>
          </p:nvSpPr>
          <p:spPr bwMode="auto">
            <a:xfrm>
              <a:off x="4082" y="982"/>
              <a:ext cx="804" cy="1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Car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model#</a:t>
              </a:r>
            </a:p>
            <a:p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horse power</a:t>
              </a:r>
            </a:p>
            <a:p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manufacturer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start()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stop()</a:t>
              </a:r>
              <a:endParaRPr lang="en-US" altLang="zh-CN" sz="18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5616" name="Line 7"/>
            <p:cNvSpPr>
              <a:spLocks noChangeShapeType="1"/>
            </p:cNvSpPr>
            <p:nvPr/>
          </p:nvSpPr>
          <p:spPr bwMode="auto">
            <a:xfrm>
              <a:off x="4082" y="1208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7" name="Line 8"/>
            <p:cNvSpPr>
              <a:spLocks noChangeShapeType="1"/>
            </p:cNvSpPr>
            <p:nvPr/>
          </p:nvSpPr>
          <p:spPr bwMode="auto">
            <a:xfrm>
              <a:off x="4082" y="1716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618" name="Rectangle 9"/>
            <p:cNvSpPr>
              <a:spLocks noChangeArrowheads="1"/>
            </p:cNvSpPr>
            <p:nvPr/>
          </p:nvSpPr>
          <p:spPr bwMode="auto">
            <a:xfrm>
              <a:off x="4082" y="2610"/>
              <a:ext cx="858" cy="10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5619" name="Text Box 10"/>
            <p:cNvSpPr txBox="1">
              <a:spLocks noChangeArrowheads="1"/>
            </p:cNvSpPr>
            <p:nvPr/>
          </p:nvSpPr>
          <p:spPr bwMode="auto">
            <a:xfrm>
              <a:off x="4082" y="2573"/>
              <a:ext cx="804" cy="1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Engine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model#</a:t>
              </a:r>
            </a:p>
            <a:p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horse power</a:t>
              </a:r>
            </a:p>
            <a:p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manufacturer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start()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stop()</a:t>
              </a:r>
              <a:endParaRPr lang="en-US" altLang="zh-CN" sz="18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5620" name="Line 11"/>
            <p:cNvSpPr>
              <a:spLocks noChangeShapeType="1"/>
            </p:cNvSpPr>
            <p:nvPr/>
          </p:nvSpPr>
          <p:spPr bwMode="auto">
            <a:xfrm>
              <a:off x="4082" y="2799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1" name="Line 12"/>
            <p:cNvSpPr>
              <a:spLocks noChangeShapeType="1"/>
            </p:cNvSpPr>
            <p:nvPr/>
          </p:nvSpPr>
          <p:spPr bwMode="auto">
            <a:xfrm>
              <a:off x="4082" y="3307"/>
              <a:ext cx="8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622" name="AutoShape 13"/>
            <p:cNvSpPr>
              <a:spLocks noChangeArrowheads="1"/>
            </p:cNvSpPr>
            <p:nvPr/>
          </p:nvSpPr>
          <p:spPr bwMode="auto">
            <a:xfrm>
              <a:off x="4427" y="2065"/>
              <a:ext cx="91" cy="110"/>
            </a:xfrm>
            <a:prstGeom prst="diamond">
              <a:avLst/>
            </a:prstGeom>
            <a:solidFill>
              <a:srgbClr val="FFFF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5623" name="Line 14"/>
            <p:cNvSpPr>
              <a:spLocks noChangeShapeType="1"/>
            </p:cNvSpPr>
            <p:nvPr/>
          </p:nvSpPr>
          <p:spPr bwMode="auto">
            <a:xfrm>
              <a:off x="4472" y="2162"/>
              <a:ext cx="0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414963" y="3173413"/>
            <a:ext cx="2927350" cy="1192212"/>
            <a:chOff x="3411" y="1999"/>
            <a:chExt cx="1844" cy="751"/>
          </a:xfrm>
        </p:grpSpPr>
        <p:sp>
          <p:nvSpPr>
            <p:cNvPr id="25608" name="Oval 16"/>
            <p:cNvSpPr>
              <a:spLocks noChangeArrowheads="1"/>
            </p:cNvSpPr>
            <p:nvPr/>
          </p:nvSpPr>
          <p:spPr bwMode="auto">
            <a:xfrm>
              <a:off x="4861" y="1999"/>
              <a:ext cx="394" cy="751"/>
            </a:xfrm>
            <a:prstGeom prst="ellipse">
              <a:avLst/>
            </a:prstGeom>
            <a:noFill/>
            <a:ln w="38100" algn="ctr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grpSp>
          <p:nvGrpSpPr>
            <p:cNvPr id="25609" name="Group 17"/>
            <p:cNvGrpSpPr>
              <a:grpSpLocks/>
            </p:cNvGrpSpPr>
            <p:nvPr/>
          </p:nvGrpSpPr>
          <p:grpSpPr bwMode="auto">
            <a:xfrm>
              <a:off x="3411" y="2180"/>
              <a:ext cx="1456" cy="512"/>
              <a:chOff x="3411" y="2180"/>
              <a:chExt cx="1456" cy="512"/>
            </a:xfrm>
          </p:grpSpPr>
          <p:grpSp>
            <p:nvGrpSpPr>
              <p:cNvPr id="25610" name="Group 18"/>
              <p:cNvGrpSpPr>
                <a:grpSpLocks/>
              </p:cNvGrpSpPr>
              <p:nvPr/>
            </p:nvGrpSpPr>
            <p:grpSpPr bwMode="auto">
              <a:xfrm>
                <a:off x="3411" y="2180"/>
                <a:ext cx="1145" cy="512"/>
                <a:chOff x="2518" y="2569"/>
                <a:chExt cx="1145" cy="512"/>
              </a:xfrm>
            </p:grpSpPr>
            <p:sp>
              <p:nvSpPr>
                <p:cNvPr id="25612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536" y="2619"/>
                  <a:ext cx="1080" cy="4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2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</a:pPr>
                  <a:r>
                    <a:rPr lang="en-US" altLang="zh-CN" sz="2400">
                      <a:solidFill>
                        <a:schemeClr val="tx1"/>
                      </a:solidFill>
                      <a:ea typeface="宋体" pitchFamily="2" charset="-122"/>
                    </a:rPr>
                    <a:t>part-of relationship</a:t>
                  </a:r>
                </a:p>
              </p:txBody>
            </p:sp>
            <p:sp>
              <p:nvSpPr>
                <p:cNvPr id="25613" name="AutoShape 20"/>
                <p:cNvSpPr>
                  <a:spLocks noChangeArrowheads="1"/>
                </p:cNvSpPr>
                <p:nvPr/>
              </p:nvSpPr>
              <p:spPr bwMode="auto">
                <a:xfrm>
                  <a:off x="2518" y="2569"/>
                  <a:ext cx="1145" cy="512"/>
                </a:xfrm>
                <a:prstGeom prst="foldedCorner">
                  <a:avLst>
                    <a:gd name="adj" fmla="val 125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25611" name="Line 21"/>
              <p:cNvSpPr>
                <a:spLocks noChangeShapeType="1"/>
              </p:cNvSpPr>
              <p:nvPr/>
            </p:nvSpPr>
            <p:spPr bwMode="auto">
              <a:xfrm flipV="1">
                <a:off x="4563" y="2369"/>
                <a:ext cx="304" cy="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3079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Association Relationship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lIns="92075" tIns="46038" rIns="92075" bIns="46038">
            <a:normAutofit fontScale="92500"/>
          </a:bodyPr>
          <a:lstStyle/>
          <a:p>
            <a:pPr eaLnBrk="1" hangingPunct="1"/>
            <a:r>
              <a:rPr lang="en-US" altLang="zh-CN" sz="2600" smtClean="0">
                <a:ea typeface="宋体" pitchFamily="2" charset="-122"/>
              </a:rPr>
              <a:t>It expresses a general relationship other than inheritance and aggregation.</a:t>
            </a:r>
          </a:p>
          <a:p>
            <a:pPr eaLnBrk="1" hangingPunct="1"/>
            <a:r>
              <a:rPr lang="en-US" altLang="zh-CN" sz="2600" smtClean="0">
                <a:ea typeface="宋体" pitchFamily="2" charset="-122"/>
              </a:rPr>
              <a:t>It is an application-specific relationship between two concepts.</a:t>
            </a:r>
          </a:p>
          <a:p>
            <a:pPr eaLnBrk="1" hangingPunct="1"/>
            <a:r>
              <a:rPr lang="en-US" altLang="zh-CN" sz="2600" smtClean="0">
                <a:ea typeface="宋体" pitchFamily="2" charset="-122"/>
              </a:rPr>
              <a:t>Example: “faculty teach course,” “user has account.”</a:t>
            </a:r>
          </a:p>
          <a:p>
            <a:pPr eaLnBrk="1" hangingPunct="1"/>
            <a:r>
              <a:rPr lang="en-US" altLang="zh-CN" sz="2600" smtClean="0">
                <a:ea typeface="宋体" pitchFamily="2" charset="-122"/>
              </a:rPr>
              <a:t>Often derived from a domain-specific transitive verb.</a:t>
            </a:r>
          </a:p>
          <a:p>
            <a:pPr eaLnBrk="1" hangingPunct="1">
              <a:buFontTx/>
              <a:buChar char="–"/>
            </a:pPr>
            <a:endParaRPr lang="zh-CN" altLang="en-US" sz="2600" smtClean="0">
              <a:ea typeface="宋体" pitchFamily="2" charset="-122"/>
            </a:endParaRP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6E440539-998F-4418-A5BB-08CBEB402DDD}" type="slidenum">
              <a:rPr lang="zh-CN" altLang="en-US" sz="1400" smtClean="0">
                <a:solidFill>
                  <a:schemeClr val="tx1"/>
                </a:solidFill>
              </a:rPr>
              <a:pPr/>
              <a:t>8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760913" y="1557338"/>
            <a:ext cx="4044950" cy="1235075"/>
            <a:chOff x="1498" y="2832"/>
            <a:chExt cx="2548" cy="778"/>
          </a:xfrm>
        </p:grpSpPr>
        <p:grpSp>
          <p:nvGrpSpPr>
            <p:cNvPr id="26632" name="Group 5"/>
            <p:cNvGrpSpPr>
              <a:grpSpLocks/>
            </p:cNvGrpSpPr>
            <p:nvPr/>
          </p:nvGrpSpPr>
          <p:grpSpPr bwMode="auto">
            <a:xfrm>
              <a:off x="1498" y="2832"/>
              <a:ext cx="858" cy="778"/>
              <a:chOff x="1498" y="2830"/>
              <a:chExt cx="858" cy="778"/>
            </a:xfrm>
          </p:grpSpPr>
          <p:sp>
            <p:nvSpPr>
              <p:cNvPr id="26640" name="Rectangle 6"/>
              <p:cNvSpPr>
                <a:spLocks noChangeArrowheads="1"/>
              </p:cNvSpPr>
              <p:nvPr/>
            </p:nvSpPr>
            <p:spPr bwMode="auto">
              <a:xfrm>
                <a:off x="1498" y="2867"/>
                <a:ext cx="858" cy="74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26641" name="Text Box 7"/>
              <p:cNvSpPr txBox="1">
                <a:spLocks noChangeArrowheads="1"/>
              </p:cNvSpPr>
              <p:nvPr/>
            </p:nvSpPr>
            <p:spPr bwMode="auto">
              <a:xfrm>
                <a:off x="1532" y="2830"/>
                <a:ext cx="804" cy="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Professor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name</a:t>
                </a:r>
              </a:p>
              <a:p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phone</a:t>
                </a:r>
              </a:p>
              <a:p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teach(...)</a:t>
                </a:r>
              </a:p>
            </p:txBody>
          </p:sp>
          <p:sp>
            <p:nvSpPr>
              <p:cNvPr id="26642" name="Line 8"/>
              <p:cNvSpPr>
                <a:spLocks noChangeShapeType="1"/>
              </p:cNvSpPr>
              <p:nvPr/>
            </p:nvSpPr>
            <p:spPr bwMode="auto">
              <a:xfrm>
                <a:off x="1498" y="3056"/>
                <a:ext cx="84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43" name="Line 9"/>
              <p:cNvSpPr>
                <a:spLocks noChangeShapeType="1"/>
              </p:cNvSpPr>
              <p:nvPr/>
            </p:nvSpPr>
            <p:spPr bwMode="auto">
              <a:xfrm>
                <a:off x="1498" y="3414"/>
                <a:ext cx="8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6633" name="Group 10"/>
            <p:cNvGrpSpPr>
              <a:grpSpLocks/>
            </p:cNvGrpSpPr>
            <p:nvPr/>
          </p:nvGrpSpPr>
          <p:grpSpPr bwMode="auto">
            <a:xfrm>
              <a:off x="3174" y="2909"/>
              <a:ext cx="872" cy="625"/>
              <a:chOff x="3174" y="2988"/>
              <a:chExt cx="872" cy="625"/>
            </a:xfrm>
          </p:grpSpPr>
          <p:sp>
            <p:nvSpPr>
              <p:cNvPr id="26636" name="Rectangle 11"/>
              <p:cNvSpPr>
                <a:spLocks noChangeArrowheads="1"/>
              </p:cNvSpPr>
              <p:nvPr/>
            </p:nvSpPr>
            <p:spPr bwMode="auto">
              <a:xfrm>
                <a:off x="3188" y="3025"/>
                <a:ext cx="858" cy="5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26637" name="Text Box 12"/>
              <p:cNvSpPr txBox="1">
                <a:spLocks noChangeArrowheads="1"/>
              </p:cNvSpPr>
              <p:nvPr/>
            </p:nvSpPr>
            <p:spPr bwMode="auto">
              <a:xfrm>
                <a:off x="3174" y="2988"/>
                <a:ext cx="861" cy="5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Retirement Plan</a:t>
                </a:r>
              </a:p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chemeClr val="tx1"/>
                  </a:solidFill>
                  <a:ea typeface="宋体" pitchFamily="2" charset="-122"/>
                </a:endParaRPr>
              </a:p>
            </p:txBody>
          </p:sp>
          <p:sp>
            <p:nvSpPr>
              <p:cNvPr id="26638" name="Line 13"/>
              <p:cNvSpPr>
                <a:spLocks noChangeShapeType="1"/>
              </p:cNvSpPr>
              <p:nvPr/>
            </p:nvSpPr>
            <p:spPr bwMode="auto">
              <a:xfrm>
                <a:off x="3188" y="3370"/>
                <a:ext cx="84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39" name="Line 14"/>
              <p:cNvSpPr>
                <a:spLocks noChangeShapeType="1"/>
              </p:cNvSpPr>
              <p:nvPr/>
            </p:nvSpPr>
            <p:spPr bwMode="auto">
              <a:xfrm>
                <a:off x="3188" y="3518"/>
                <a:ext cx="8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6634" name="Line 15"/>
            <p:cNvSpPr>
              <a:spLocks noChangeShapeType="1"/>
            </p:cNvSpPr>
            <p:nvPr/>
          </p:nvSpPr>
          <p:spPr bwMode="auto">
            <a:xfrm>
              <a:off x="2363" y="3221"/>
              <a:ext cx="8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35" name="Text Box 16"/>
            <p:cNvSpPr txBox="1">
              <a:spLocks noChangeArrowheads="1"/>
            </p:cNvSpPr>
            <p:nvPr/>
          </p:nvSpPr>
          <p:spPr bwMode="auto">
            <a:xfrm>
              <a:off x="2547" y="2974"/>
              <a:ext cx="4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1800">
                  <a:solidFill>
                    <a:schemeClr val="tx1"/>
                  </a:solidFill>
                  <a:ea typeface="宋体" pitchFamily="2" charset="-122"/>
                </a:rPr>
                <a:t>enroll</a:t>
              </a:r>
            </a:p>
          </p:txBody>
        </p:sp>
      </p:grpSp>
      <p:sp>
        <p:nvSpPr>
          <p:cNvPr id="866321" name="Text Box 17"/>
          <p:cNvSpPr txBox="1">
            <a:spLocks noChangeArrowheads="1"/>
          </p:cNvSpPr>
          <p:nvPr/>
        </p:nvSpPr>
        <p:spPr bwMode="auto">
          <a:xfrm>
            <a:off x="4760913" y="3062288"/>
            <a:ext cx="35782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Enroll is not an inheritance or aggregation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183981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2DB8A243-0B6B-49CE-B92D-5D41B84722A7}" type="slidenum">
              <a:rPr lang="zh-CN" altLang="en-US" sz="1400" smtClean="0">
                <a:solidFill>
                  <a:schemeClr val="tx1"/>
                </a:solidFill>
              </a:rPr>
              <a:pPr/>
              <a:t>9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Step 3. Classification: Examples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049338" y="1808163"/>
            <a:ext cx="2413000" cy="1993900"/>
            <a:chOff x="661" y="1139"/>
            <a:chExt cx="1520" cy="1256"/>
          </a:xfrm>
        </p:grpSpPr>
        <p:sp>
          <p:nvSpPr>
            <p:cNvPr id="27669" name="Rectangle 3"/>
            <p:cNvSpPr>
              <a:spLocks noChangeArrowheads="1"/>
            </p:cNvSpPr>
            <p:nvPr/>
          </p:nvSpPr>
          <p:spPr bwMode="auto">
            <a:xfrm>
              <a:off x="699" y="1705"/>
              <a:ext cx="1368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1"/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program</a:t>
              </a:r>
            </a:p>
            <a:p>
              <a:pPr lvl="1"/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search criteria</a:t>
              </a:r>
            </a:p>
            <a:p>
              <a:pPr lvl="1"/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user</a:t>
              </a:r>
            </a:p>
          </p:txBody>
        </p:sp>
        <p:sp>
          <p:nvSpPr>
            <p:cNvPr id="27670" name="Rectangle 6"/>
            <p:cNvSpPr>
              <a:spLocks noChangeArrowheads="1"/>
            </p:cNvSpPr>
            <p:nvPr/>
          </p:nvSpPr>
          <p:spPr bwMode="auto">
            <a:xfrm>
              <a:off x="661" y="1139"/>
              <a:ext cx="1520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Domain specific </a:t>
              </a:r>
            </a:p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nouns/noun phrases</a:t>
              </a: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5456238" y="2020888"/>
            <a:ext cx="3146425" cy="1003300"/>
            <a:chOff x="3010" y="1289"/>
            <a:chExt cx="1982" cy="632"/>
          </a:xfrm>
        </p:grpSpPr>
        <p:sp>
          <p:nvSpPr>
            <p:cNvPr id="27667" name="Rectangle 4"/>
            <p:cNvSpPr>
              <a:spLocks noChangeArrowheads="1"/>
            </p:cNvSpPr>
            <p:nvPr/>
          </p:nvSpPr>
          <p:spPr bwMode="auto">
            <a:xfrm>
              <a:off x="3010" y="1691"/>
              <a:ext cx="198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114300" lvl="1"/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search for (programs)</a:t>
              </a:r>
            </a:p>
          </p:txBody>
        </p:sp>
        <p:sp>
          <p:nvSpPr>
            <p:cNvPr id="27668" name="Rectangle 7"/>
            <p:cNvSpPr>
              <a:spLocks noChangeArrowheads="1"/>
            </p:cNvSpPr>
            <p:nvPr/>
          </p:nvSpPr>
          <p:spPr bwMode="auto">
            <a:xfrm>
              <a:off x="3010" y="1289"/>
              <a:ext cx="117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transitive verbs</a:t>
              </a:r>
            </a:p>
          </p:txBody>
        </p:sp>
      </p:grpSp>
      <p:sp>
        <p:nvSpPr>
          <p:cNvPr id="677899" name="Rectangle 11"/>
          <p:cNvSpPr>
            <a:spLocks noChangeArrowheads="1"/>
          </p:cNvSpPr>
          <p:nvPr/>
        </p:nvSpPr>
        <p:spPr bwMode="auto">
          <a:xfrm>
            <a:off x="5167313" y="3357563"/>
            <a:ext cx="37465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Rule: transitive verbs </a:t>
            </a:r>
            <a:r>
              <a:rPr lang="en-US" altLang="zh-CN" sz="2400">
                <a:solidFill>
                  <a:schemeClr val="tx1"/>
                </a:solidFill>
                <a:latin typeface="Symbol" pitchFamily="18" charset="2"/>
                <a:ea typeface="宋体" pitchFamily="2" charset="-122"/>
              </a:rPr>
              <a:t>Þ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</a:t>
            </a:r>
          </a:p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         association relationships</a:t>
            </a:r>
          </a:p>
        </p:txBody>
      </p:sp>
      <p:sp>
        <p:nvSpPr>
          <p:cNvPr id="677901" name="Rectangle 13"/>
          <p:cNvSpPr>
            <a:spLocks noChangeArrowheads="1"/>
          </p:cNvSpPr>
          <p:nvPr/>
        </p:nvSpPr>
        <p:spPr bwMode="auto">
          <a:xfrm>
            <a:off x="663575" y="4079875"/>
            <a:ext cx="34655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Rule: noun/noun phrase 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 </a:t>
            </a:r>
          </a:p>
          <a:p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class or attribute</a:t>
            </a: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1101725" y="2732088"/>
            <a:ext cx="339725" cy="1098550"/>
            <a:chOff x="694" y="1721"/>
            <a:chExt cx="214" cy="692"/>
          </a:xfrm>
        </p:grpSpPr>
        <p:sp>
          <p:nvSpPr>
            <p:cNvPr id="27664" name="Rectangle 14"/>
            <p:cNvSpPr>
              <a:spLocks noChangeArrowheads="1"/>
            </p:cNvSpPr>
            <p:nvPr/>
          </p:nvSpPr>
          <p:spPr bwMode="auto">
            <a:xfrm>
              <a:off x="694" y="1721"/>
              <a:ext cx="21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(c)</a:t>
              </a:r>
            </a:p>
          </p:txBody>
        </p:sp>
        <p:sp>
          <p:nvSpPr>
            <p:cNvPr id="27665" name="Rectangle 15"/>
            <p:cNvSpPr>
              <a:spLocks noChangeArrowheads="1"/>
            </p:cNvSpPr>
            <p:nvPr/>
          </p:nvSpPr>
          <p:spPr bwMode="auto">
            <a:xfrm>
              <a:off x="694" y="1954"/>
              <a:ext cx="21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(c)</a:t>
              </a:r>
            </a:p>
          </p:txBody>
        </p:sp>
        <p:sp>
          <p:nvSpPr>
            <p:cNvPr id="27666" name="Rectangle 16"/>
            <p:cNvSpPr>
              <a:spLocks noChangeArrowheads="1"/>
            </p:cNvSpPr>
            <p:nvPr/>
          </p:nvSpPr>
          <p:spPr bwMode="auto">
            <a:xfrm>
              <a:off x="695" y="2183"/>
              <a:ext cx="21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(c)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2076450" y="2938463"/>
            <a:ext cx="2514600" cy="822325"/>
            <a:chOff x="1083" y="1146"/>
            <a:chExt cx="1584" cy="518"/>
          </a:xfrm>
        </p:grpSpPr>
        <p:sp>
          <p:nvSpPr>
            <p:cNvPr id="27660" name="Line 20"/>
            <p:cNvSpPr>
              <a:spLocks noChangeShapeType="1"/>
            </p:cNvSpPr>
            <p:nvPr/>
          </p:nvSpPr>
          <p:spPr bwMode="auto">
            <a:xfrm>
              <a:off x="1083" y="1606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1" name="Line 21"/>
            <p:cNvSpPr>
              <a:spLocks noChangeShapeType="1"/>
            </p:cNvSpPr>
            <p:nvPr/>
          </p:nvSpPr>
          <p:spPr bwMode="auto">
            <a:xfrm flipV="1">
              <a:off x="1990" y="1147"/>
              <a:ext cx="0" cy="4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Line 22"/>
            <p:cNvSpPr>
              <a:spLocks noChangeShapeType="1"/>
            </p:cNvSpPr>
            <p:nvPr/>
          </p:nvSpPr>
          <p:spPr bwMode="auto">
            <a:xfrm flipH="1">
              <a:off x="1371" y="1146"/>
              <a:ext cx="6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23"/>
            <p:cNvSpPr>
              <a:spLocks noChangeArrowheads="1"/>
            </p:cNvSpPr>
            <p:nvPr/>
          </p:nvSpPr>
          <p:spPr bwMode="auto">
            <a:xfrm>
              <a:off x="2033" y="1472"/>
              <a:ext cx="63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search for</a:t>
              </a:r>
            </a:p>
          </p:txBody>
        </p:sp>
      </p:grpSp>
      <p:sp>
        <p:nvSpPr>
          <p:cNvPr id="677916" name="Text Box 28"/>
          <p:cNvSpPr txBox="1">
            <a:spLocks noChangeArrowheads="1"/>
          </p:cNvSpPr>
          <p:nvPr/>
        </p:nvSpPr>
        <p:spPr bwMode="auto">
          <a:xfrm>
            <a:off x="809625" y="5081588"/>
            <a:ext cx="28289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Because they exist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independently in the application domain.</a:t>
            </a:r>
          </a:p>
        </p:txBody>
      </p:sp>
    </p:spTree>
    <p:extLst>
      <p:ext uri="{BB962C8B-B14F-4D97-AF65-F5344CB8AC3E}">
        <p14:creationId xmlns:p14="http://schemas.microsoft.com/office/powerpoint/2010/main" val="662154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9" grpId="0"/>
      <p:bldP spid="677901" grpId="0"/>
      <p:bldP spid="6779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Classification: Example</a:t>
            </a:r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smtClean="0">
                <a:solidFill>
                  <a:schemeClr val="tx1"/>
                </a:solidFill>
              </a:rPr>
              <a:t>Copyright © The McGraw-Hill Companies, Inc.</a:t>
            </a:r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73834711-7B24-4446-913E-EDD13F745FC2}" type="slidenum">
              <a:rPr lang="zh-CN" altLang="en-US" sz="1400" smtClean="0">
                <a:solidFill>
                  <a:schemeClr val="tx1"/>
                </a:solidFill>
              </a:rPr>
              <a:pPr/>
              <a:t>10</a:t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28677" name="Rectangle 3"/>
          <p:cNvSpPr>
            <a:spLocks noChangeArrowheads="1"/>
          </p:cNvSpPr>
          <p:nvPr/>
        </p:nvSpPr>
        <p:spPr bwMode="auto">
          <a:xfrm>
            <a:off x="385763" y="1260475"/>
            <a:ext cx="79724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A car has make, model, horse power, number of seats ...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65200" y="2570163"/>
            <a:ext cx="2657475" cy="1825625"/>
            <a:chOff x="608" y="1254"/>
            <a:chExt cx="1674" cy="1150"/>
          </a:xfrm>
        </p:grpSpPr>
        <p:sp>
          <p:nvSpPr>
            <p:cNvPr id="28710" name="Rectangle 5"/>
            <p:cNvSpPr>
              <a:spLocks noChangeArrowheads="1"/>
            </p:cNvSpPr>
            <p:nvPr/>
          </p:nvSpPr>
          <p:spPr bwMode="auto">
            <a:xfrm>
              <a:off x="806" y="1254"/>
              <a:ext cx="1476" cy="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(c) car</a:t>
              </a:r>
            </a:p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(a) make</a:t>
              </a:r>
            </a:p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(a) model</a:t>
              </a:r>
            </a:p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(a) horse power</a:t>
              </a:r>
            </a:p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(a) number of seats</a:t>
              </a:r>
            </a:p>
          </p:txBody>
        </p:sp>
        <p:sp>
          <p:nvSpPr>
            <p:cNvPr id="28711" name="Line 6"/>
            <p:cNvSpPr>
              <a:spLocks noChangeShapeType="1"/>
            </p:cNvSpPr>
            <p:nvPr/>
          </p:nvSpPr>
          <p:spPr bwMode="auto">
            <a:xfrm>
              <a:off x="608" y="1390"/>
              <a:ext cx="0" cy="9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2" name="Line 7"/>
            <p:cNvSpPr>
              <a:spLocks noChangeShapeType="1"/>
            </p:cNvSpPr>
            <p:nvPr/>
          </p:nvSpPr>
          <p:spPr bwMode="auto">
            <a:xfrm>
              <a:off x="609" y="1389"/>
              <a:ext cx="1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3" name="Line 8"/>
            <p:cNvSpPr>
              <a:spLocks noChangeShapeType="1"/>
            </p:cNvSpPr>
            <p:nvPr/>
          </p:nvSpPr>
          <p:spPr bwMode="auto">
            <a:xfrm>
              <a:off x="609" y="1632"/>
              <a:ext cx="1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Line 9"/>
            <p:cNvSpPr>
              <a:spLocks noChangeShapeType="1"/>
            </p:cNvSpPr>
            <p:nvPr/>
          </p:nvSpPr>
          <p:spPr bwMode="auto">
            <a:xfrm>
              <a:off x="616" y="2087"/>
              <a:ext cx="1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Line 10"/>
            <p:cNvSpPr>
              <a:spLocks noChangeShapeType="1"/>
            </p:cNvSpPr>
            <p:nvPr/>
          </p:nvSpPr>
          <p:spPr bwMode="auto">
            <a:xfrm>
              <a:off x="616" y="1850"/>
              <a:ext cx="1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6" name="Line 11"/>
            <p:cNvSpPr>
              <a:spLocks noChangeShapeType="1"/>
            </p:cNvSpPr>
            <p:nvPr/>
          </p:nvSpPr>
          <p:spPr bwMode="auto">
            <a:xfrm>
              <a:off x="617" y="2343"/>
              <a:ext cx="1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9948" name="Rectangle 12"/>
          <p:cNvSpPr>
            <a:spLocks noChangeArrowheads="1"/>
          </p:cNvSpPr>
          <p:nvPr/>
        </p:nvSpPr>
        <p:spPr bwMode="auto">
          <a:xfrm>
            <a:off x="517525" y="4645025"/>
            <a:ext cx="54594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A customer can rent one or more cars.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82638" y="5192713"/>
            <a:ext cx="2717800" cy="974725"/>
            <a:chOff x="493" y="2906"/>
            <a:chExt cx="1712" cy="614"/>
          </a:xfrm>
        </p:grpSpPr>
        <p:sp>
          <p:nvSpPr>
            <p:cNvPr id="28704" name="Rectangle 14"/>
            <p:cNvSpPr>
              <a:spLocks noChangeArrowheads="1"/>
            </p:cNvSpPr>
            <p:nvPr/>
          </p:nvSpPr>
          <p:spPr bwMode="auto">
            <a:xfrm>
              <a:off x="493" y="2906"/>
              <a:ext cx="964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(c) customer</a:t>
              </a:r>
            </a:p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(c) car</a:t>
              </a:r>
            </a:p>
          </p:txBody>
        </p:sp>
        <p:sp>
          <p:nvSpPr>
            <p:cNvPr id="28705" name="Line 15"/>
            <p:cNvSpPr>
              <a:spLocks noChangeShapeType="1"/>
            </p:cNvSpPr>
            <p:nvPr/>
          </p:nvSpPr>
          <p:spPr bwMode="auto">
            <a:xfrm>
              <a:off x="1550" y="3034"/>
              <a:ext cx="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6" name="Line 16"/>
            <p:cNvSpPr>
              <a:spLocks noChangeShapeType="1"/>
            </p:cNvSpPr>
            <p:nvPr/>
          </p:nvSpPr>
          <p:spPr bwMode="auto">
            <a:xfrm>
              <a:off x="1824" y="3041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Line 17"/>
            <p:cNvSpPr>
              <a:spLocks noChangeShapeType="1"/>
            </p:cNvSpPr>
            <p:nvPr/>
          </p:nvSpPr>
          <p:spPr bwMode="auto">
            <a:xfrm flipH="1">
              <a:off x="1134" y="3304"/>
              <a:ext cx="6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8" name="Rectangle 18"/>
            <p:cNvSpPr>
              <a:spLocks noChangeArrowheads="1"/>
            </p:cNvSpPr>
            <p:nvPr/>
          </p:nvSpPr>
          <p:spPr bwMode="auto">
            <a:xfrm>
              <a:off x="1907" y="3034"/>
              <a:ext cx="2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rent</a:t>
              </a:r>
            </a:p>
          </p:txBody>
        </p:sp>
        <p:sp>
          <p:nvSpPr>
            <p:cNvPr id="28709" name="Rectangle 19"/>
            <p:cNvSpPr>
              <a:spLocks noChangeArrowheads="1"/>
            </p:cNvSpPr>
            <p:nvPr/>
          </p:nvSpPr>
          <p:spPr bwMode="auto">
            <a:xfrm>
              <a:off x="1254" y="3290"/>
              <a:ext cx="2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宋体" pitchFamily="2" charset="-122"/>
                </a:rPr>
                <a:t>1+</a:t>
              </a:r>
            </a:p>
          </p:txBody>
        </p:sp>
      </p:grpSp>
      <p:sp>
        <p:nvSpPr>
          <p:cNvPr id="679956" name="Text Box 20"/>
          <p:cNvSpPr txBox="1">
            <a:spLocks noChangeArrowheads="1"/>
          </p:cNvSpPr>
          <p:nvPr/>
        </p:nvSpPr>
        <p:spPr bwMode="auto">
          <a:xfrm>
            <a:off x="4067175" y="2657475"/>
            <a:ext cx="4094163" cy="15684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Car has independent existence.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Make, model, horse power, and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number of seats do not; they are scalar types.</a:t>
            </a:r>
          </a:p>
        </p:txBody>
      </p:sp>
      <p:sp>
        <p:nvSpPr>
          <p:cNvPr id="679964" name="Line 28"/>
          <p:cNvSpPr>
            <a:spLocks noChangeShapeType="1"/>
          </p:cNvSpPr>
          <p:nvPr/>
        </p:nvSpPr>
        <p:spPr bwMode="auto">
          <a:xfrm>
            <a:off x="5867400" y="1687513"/>
            <a:ext cx="20383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4" name="Group 59"/>
          <p:cNvGrpSpPr>
            <a:grpSpLocks/>
          </p:cNvGrpSpPr>
          <p:nvPr/>
        </p:nvGrpSpPr>
        <p:grpSpPr bwMode="auto">
          <a:xfrm>
            <a:off x="720725" y="1687513"/>
            <a:ext cx="4805363" cy="0"/>
            <a:chOff x="454" y="1063"/>
            <a:chExt cx="3027" cy="0"/>
          </a:xfrm>
        </p:grpSpPr>
        <p:sp>
          <p:nvSpPr>
            <p:cNvPr id="28699" name="Line 22"/>
            <p:cNvSpPr>
              <a:spLocks noChangeShapeType="1"/>
            </p:cNvSpPr>
            <p:nvPr/>
          </p:nvSpPr>
          <p:spPr bwMode="auto">
            <a:xfrm>
              <a:off x="1119" y="1063"/>
              <a:ext cx="513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8700" name="Line 26"/>
            <p:cNvSpPr>
              <a:spLocks noChangeShapeType="1"/>
            </p:cNvSpPr>
            <p:nvPr/>
          </p:nvSpPr>
          <p:spPr bwMode="auto">
            <a:xfrm>
              <a:off x="1769" y="1063"/>
              <a:ext cx="513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8701" name="Line 27"/>
            <p:cNvSpPr>
              <a:spLocks noChangeShapeType="1"/>
            </p:cNvSpPr>
            <p:nvPr/>
          </p:nvSpPr>
          <p:spPr bwMode="auto">
            <a:xfrm>
              <a:off x="2456" y="1063"/>
              <a:ext cx="1025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8702" name="Line 29"/>
            <p:cNvSpPr>
              <a:spLocks noChangeShapeType="1"/>
            </p:cNvSpPr>
            <p:nvPr/>
          </p:nvSpPr>
          <p:spPr bwMode="auto">
            <a:xfrm>
              <a:off x="454" y="1063"/>
              <a:ext cx="259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8703" name="Line 30"/>
            <p:cNvSpPr>
              <a:spLocks noChangeShapeType="1"/>
            </p:cNvSpPr>
            <p:nvPr/>
          </p:nvSpPr>
          <p:spPr bwMode="auto">
            <a:xfrm>
              <a:off x="804" y="1063"/>
              <a:ext cx="259" cy="0"/>
            </a:xfrm>
            <a:prstGeom prst="line">
              <a:avLst/>
            </a:prstGeom>
            <a:noFill/>
            <a:ln w="38100" cmpd="dbl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822325" y="360363"/>
            <a:ext cx="3751263" cy="1065212"/>
            <a:chOff x="822325" y="360363"/>
            <a:chExt cx="3751263" cy="1065212"/>
          </a:xfrm>
        </p:grpSpPr>
        <p:sp>
          <p:nvSpPr>
            <p:cNvPr id="28693" name="AutoShape 32"/>
            <p:cNvSpPr>
              <a:spLocks noChangeArrowheads="1"/>
            </p:cNvSpPr>
            <p:nvPr/>
          </p:nvSpPr>
          <p:spPr bwMode="auto">
            <a:xfrm>
              <a:off x="822325" y="360363"/>
              <a:ext cx="2576513" cy="477837"/>
            </a:xfrm>
            <a:prstGeom prst="foldedCorner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8694" name="Text Box 31"/>
            <p:cNvSpPr txBox="1">
              <a:spLocks noChangeArrowheads="1"/>
            </p:cNvSpPr>
            <p:nvPr/>
          </p:nvSpPr>
          <p:spPr bwMode="auto">
            <a:xfrm>
              <a:off x="862013" y="415925"/>
              <a:ext cx="266223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en-US" altLang="en-US" sz="2400">
                  <a:solidFill>
                    <a:schemeClr val="tx1"/>
                  </a:solidFill>
                </a:rPr>
                <a:t>noun/noun phrases</a:t>
              </a:r>
            </a:p>
          </p:txBody>
        </p:sp>
        <p:sp>
          <p:nvSpPr>
            <p:cNvPr id="28695" name="Line 33"/>
            <p:cNvSpPr>
              <a:spLocks noChangeShapeType="1"/>
            </p:cNvSpPr>
            <p:nvPr/>
          </p:nvSpPr>
          <p:spPr bwMode="auto">
            <a:xfrm flipH="1">
              <a:off x="1014413" y="822325"/>
              <a:ext cx="342900" cy="6032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696" name="Line 34"/>
            <p:cNvSpPr>
              <a:spLocks noChangeShapeType="1"/>
            </p:cNvSpPr>
            <p:nvPr/>
          </p:nvSpPr>
          <p:spPr bwMode="auto">
            <a:xfrm>
              <a:off x="1987550" y="838200"/>
              <a:ext cx="163513" cy="571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697" name="Line 35"/>
            <p:cNvSpPr>
              <a:spLocks noChangeShapeType="1"/>
            </p:cNvSpPr>
            <p:nvPr/>
          </p:nvSpPr>
          <p:spPr bwMode="auto">
            <a:xfrm>
              <a:off x="2625725" y="822325"/>
              <a:ext cx="485775" cy="595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698" name="Line 36"/>
            <p:cNvSpPr>
              <a:spLocks noChangeShapeType="1"/>
            </p:cNvSpPr>
            <p:nvPr/>
          </p:nvSpPr>
          <p:spPr bwMode="auto">
            <a:xfrm>
              <a:off x="3113088" y="779463"/>
              <a:ext cx="1460500" cy="630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5848350" y="287338"/>
            <a:ext cx="1341438" cy="1114425"/>
            <a:chOff x="5848350" y="287338"/>
            <a:chExt cx="1341438" cy="1114426"/>
          </a:xfrm>
        </p:grpSpPr>
        <p:sp>
          <p:nvSpPr>
            <p:cNvPr id="28690" name="AutoShape 40"/>
            <p:cNvSpPr>
              <a:spLocks noChangeArrowheads="1"/>
            </p:cNvSpPr>
            <p:nvPr/>
          </p:nvSpPr>
          <p:spPr bwMode="auto">
            <a:xfrm>
              <a:off x="5848350" y="287338"/>
              <a:ext cx="1341438" cy="477838"/>
            </a:xfrm>
            <a:prstGeom prst="foldedCorner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8691" name="Text Box 39"/>
            <p:cNvSpPr txBox="1">
              <a:spLocks noChangeArrowheads="1"/>
            </p:cNvSpPr>
            <p:nvPr/>
          </p:nvSpPr>
          <p:spPr bwMode="auto">
            <a:xfrm>
              <a:off x="5888038" y="342901"/>
              <a:ext cx="11811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en-US" altLang="en-US" sz="2400">
                  <a:solidFill>
                    <a:schemeClr val="tx1"/>
                  </a:solidFill>
                </a:rPr>
                <a:t>numeric</a:t>
              </a:r>
            </a:p>
          </p:txBody>
        </p:sp>
        <p:sp>
          <p:nvSpPr>
            <p:cNvPr id="28692" name="Line 41"/>
            <p:cNvSpPr>
              <a:spLocks noChangeShapeType="1"/>
            </p:cNvSpPr>
            <p:nvPr/>
          </p:nvSpPr>
          <p:spPr bwMode="auto">
            <a:xfrm>
              <a:off x="6359525" y="749301"/>
              <a:ext cx="544513" cy="652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419225" y="1698625"/>
            <a:ext cx="3522663" cy="795338"/>
            <a:chOff x="1419225" y="1698625"/>
            <a:chExt cx="3522663" cy="795338"/>
          </a:xfrm>
        </p:grpSpPr>
        <p:sp>
          <p:nvSpPr>
            <p:cNvPr id="28687" name="AutoShape 55"/>
            <p:cNvSpPr>
              <a:spLocks noChangeArrowheads="1"/>
            </p:cNvSpPr>
            <p:nvPr/>
          </p:nvSpPr>
          <p:spPr bwMode="auto">
            <a:xfrm>
              <a:off x="1965325" y="2016125"/>
              <a:ext cx="2976563" cy="477838"/>
            </a:xfrm>
            <a:prstGeom prst="foldedCorner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28688" name="Text Box 54"/>
            <p:cNvSpPr txBox="1">
              <a:spLocks noChangeArrowheads="1"/>
            </p:cNvSpPr>
            <p:nvPr/>
          </p:nvSpPr>
          <p:spPr bwMode="auto">
            <a:xfrm>
              <a:off x="2005013" y="2071688"/>
              <a:ext cx="2868613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en-US" altLang="en-US" sz="2400">
                  <a:solidFill>
                    <a:schemeClr val="tx1"/>
                  </a:solidFill>
                </a:rPr>
                <a:t>possession expression</a:t>
              </a:r>
            </a:p>
          </p:txBody>
        </p:sp>
        <p:sp>
          <p:nvSpPr>
            <p:cNvPr id="28689" name="Line 56"/>
            <p:cNvSpPr>
              <a:spLocks noChangeShapeType="1"/>
            </p:cNvSpPr>
            <p:nvPr/>
          </p:nvSpPr>
          <p:spPr bwMode="auto">
            <a:xfrm>
              <a:off x="1419225" y="1698625"/>
              <a:ext cx="536575" cy="317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530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48" grpId="0"/>
      <p:bldP spid="679956" grpId="0" animBg="1"/>
      <p:bldP spid="679964" grpId="0" animBg="1"/>
    </p:bldLst>
  </p:timing>
</p:sld>
</file>

<file path=ppt/theme/theme1.xml><?xml version="1.0" encoding="utf-8"?>
<a:theme xmlns:a="http://schemas.openxmlformats.org/drawingml/2006/main" name="David Kung 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David Kung ppt template</Template>
  <TotalTime>8</TotalTime>
  <Words>835</Words>
  <Application>Microsoft Office PowerPoint</Application>
  <PresentationFormat>On-screen Show (4:3)</PresentationFormat>
  <Paragraphs>188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David Kung ppt template</vt:lpstr>
      <vt:lpstr>Step 3. Classifying Brainstorming Result</vt:lpstr>
      <vt:lpstr>Class and Attribute? How to Classify</vt:lpstr>
      <vt:lpstr>Class or Attribute? More Rules to Apply</vt:lpstr>
      <vt:lpstr>Classifying Brainstorming Result</vt:lpstr>
      <vt:lpstr>Inheritance Relationship</vt:lpstr>
      <vt:lpstr>Two Tests for Inheritance</vt:lpstr>
      <vt:lpstr>Aggregation Relationship</vt:lpstr>
      <vt:lpstr>Association Relationship</vt:lpstr>
      <vt:lpstr>Step 3. Classification: Examples</vt:lpstr>
      <vt:lpstr>Classification: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3. Classifying Brainstorming Result</dc:title>
  <dc:creator>auser</dc:creator>
  <cp:lastModifiedBy>auser</cp:lastModifiedBy>
  <cp:revision>2</cp:revision>
  <dcterms:created xsi:type="dcterms:W3CDTF">2026-08-24T04:18:26Z</dcterms:created>
  <dcterms:modified xsi:type="dcterms:W3CDTF">2026-09-09T16:00:22Z</dcterms:modified>
</cp:coreProperties>
</file>