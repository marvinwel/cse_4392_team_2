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57" r:id="rId4"/>
    <p:sldId id="258" r:id="rId5"/>
    <p:sldId id="269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8" r:id="rId14"/>
    <p:sldId id="266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2" d="100"/>
          <a:sy n="112" d="100"/>
        </p:scale>
        <p:origin x="-158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ECB1AA-4724-4D96-AFF7-EBED81619BC1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F99EE4-EFBF-41F1-A846-224A6BAA8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571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/>
            </a:lvl1pPr>
          </a:lstStyle>
          <a:p>
            <a:fld id="{80817E90-9489-4324-9888-F9C579244E20}" type="datetime1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00800"/>
            <a:ext cx="2133600" cy="365125"/>
          </a:xfrm>
        </p:spPr>
        <p:txBody>
          <a:bodyPr/>
          <a:lstStyle>
            <a:lvl1pPr>
              <a:defRPr b="0"/>
            </a:lvl1pPr>
          </a:lstStyle>
          <a:p>
            <a:fld id="{C57BE5E7-5304-46DF-86FB-D79D1B97F976}" type="slidenum">
              <a:rPr lang="en-US" smtClean="0"/>
              <a:pPr/>
              <a:t>‹#›</a:t>
            </a:fld>
            <a:r>
              <a:rPr lang="en-US" smtClean="0"/>
              <a:t> of 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689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>
            <a:lvl1pPr>
              <a:defRPr sz="320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334000"/>
          </a:xfrm>
        </p:spPr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D4E973D3-DFBD-4863-824B-A03863408FAE}" type="datetime1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67000" y="6356350"/>
            <a:ext cx="3810000" cy="36512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endParaRPr lang="en-US" altLang="zh-CN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B41D783F-182C-48B5-8CA3-C51764363281}" type="slidenum">
              <a:rPr lang="en-US" smtClean="0"/>
              <a:pPr/>
              <a:t>‹#›</a:t>
            </a:fld>
            <a:r>
              <a:rPr lang="en-US" smtClean="0"/>
              <a:t> of 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909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09F9-5C3F-4E2F-8208-EEEA0557B15B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E5E7-5304-46DF-86FB-D79D1B97F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95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F1CA4-FE6D-432C-A2BF-C58E310D2734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E5E7-5304-46DF-86FB-D79D1B97F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182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E668D-D792-426E-A193-0560DADD291E}" type="datetime1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E5E7-5304-46DF-86FB-D79D1B97F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39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3D155-D511-4653-97CE-EA5ACC1D8BAE}" type="datetime1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E5E7-5304-46DF-86FB-D79D1B97F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049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CF670-394C-4BF9-9122-F3BCEF5E3154}" type="datetime1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E5E7-5304-46DF-86FB-D79D1B97F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69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B96BF-F067-48DE-9DF3-7093FF95321C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E5E7-5304-46DF-86FB-D79D1B97F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221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18BAB-0271-45CE-B932-371D3E20C023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E5E7-5304-46DF-86FB-D79D1B97F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177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6DE48-965A-44BE-90DE-0E28FAB715E3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E5E7-5304-46DF-86FB-D79D1B97F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121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DC55-382F-4B26-957A-29D142BF5568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E5E7-5304-46DF-86FB-D79D1B97F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090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56FE2-332C-451C-BCD6-850FA5A2ABCB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BE5E7-5304-46DF-86FB-D79D1B97F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034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1470025"/>
          </a:xfrm>
        </p:spPr>
        <p:txBody>
          <a:bodyPr>
            <a:noAutofit/>
          </a:bodyPr>
          <a:lstStyle/>
          <a:p>
            <a:r>
              <a:rPr lang="en-US" sz="3600" dirty="0"/>
              <a:t>Evolutionary Prompt Optimization 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for Domain Modeling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93975"/>
            <a:ext cx="6400800" cy="1752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Team </a:t>
            </a:r>
            <a:r>
              <a:rPr lang="en-US" dirty="0">
                <a:solidFill>
                  <a:schemeClr val="tx1"/>
                </a:solidFill>
              </a:rPr>
              <a:t>members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Course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AI </a:t>
            </a:r>
            <a:r>
              <a:rPr lang="en-US" dirty="0" smtClean="0">
                <a:solidFill>
                  <a:schemeClr val="tx1"/>
                </a:solidFill>
              </a:rPr>
              <a:t>platforms/models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Date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806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Important Notice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this slide set, I use prompt to mean both </a:t>
            </a:r>
          </a:p>
          <a:p>
            <a:pPr lvl="1"/>
            <a:r>
              <a:rPr lang="en-US" dirty="0" smtClean="0"/>
              <a:t>the prompt and </a:t>
            </a:r>
          </a:p>
          <a:p>
            <a:pPr lvl="1"/>
            <a:r>
              <a:rPr lang="en-US" dirty="0" smtClean="0"/>
              <a:t>the attached documents that describe the definitions of concepts, steps/how-to, rules, procedures, guidelines, tips and review checklist for domain modeling as specified in the AUM methodology and improvements of these during the evolutionary prompt optimization process.</a:t>
            </a:r>
          </a:p>
          <a:p>
            <a:r>
              <a:rPr lang="en-US" dirty="0" smtClean="0"/>
              <a:t>This simplifies the presentation and make it easy </a:t>
            </a:r>
            <a:r>
              <a:rPr lang="en-US" smtClean="0"/>
              <a:t>to understand.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783F-182C-48B5-8CA3-C51764363281}" type="slidenum">
              <a:rPr lang="en-US" smtClean="0"/>
              <a:pPr/>
              <a:t>2</a:t>
            </a:fld>
            <a:r>
              <a:rPr lang="en-US" smtClean="0"/>
              <a:t> of 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130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dirty="0" smtClean="0"/>
              <a:t>Project Objectives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86400"/>
          </a:xfrm>
        </p:spPr>
        <p:txBody>
          <a:bodyPr>
            <a:normAutofit/>
          </a:bodyPr>
          <a:lstStyle/>
          <a:p>
            <a:r>
              <a:rPr lang="en-US" dirty="0" smtClean="0"/>
              <a:t>Problem </a:t>
            </a:r>
            <a:r>
              <a:rPr lang="en-US" dirty="0"/>
              <a:t>and Optimization Objective</a:t>
            </a:r>
          </a:p>
          <a:p>
            <a:r>
              <a:rPr lang="en-US" dirty="0"/>
              <a:t>Explain:</a:t>
            </a:r>
          </a:p>
          <a:p>
            <a:pPr lvl="1"/>
            <a:r>
              <a:rPr lang="en-US" dirty="0"/>
              <a:t>What problems are we solving? </a:t>
            </a:r>
          </a:p>
          <a:p>
            <a:pPr lvl="1"/>
            <a:r>
              <a:rPr lang="en-US" dirty="0"/>
              <a:t>Why are they challenging? </a:t>
            </a:r>
          </a:p>
          <a:p>
            <a:pPr lvl="1"/>
            <a:r>
              <a:rPr lang="en-US" dirty="0"/>
              <a:t>What does "improvement" mean? </a:t>
            </a:r>
          </a:p>
          <a:p>
            <a:pPr lvl="1"/>
            <a:r>
              <a:rPr lang="en-US" dirty="0"/>
              <a:t>What is the optimization goal? </a:t>
            </a:r>
          </a:p>
          <a:p>
            <a:pPr lvl="1"/>
            <a:r>
              <a:rPr lang="en-US" dirty="0"/>
              <a:t>What AI is expected to accomplish in our project</a:t>
            </a:r>
          </a:p>
          <a:p>
            <a:r>
              <a:rPr lang="en-US" dirty="0" smtClean="0"/>
              <a:t>State explicitly in one sentence:</a:t>
            </a:r>
            <a:r>
              <a:rPr lang="en-US" dirty="0"/>
              <a:t> </a:t>
            </a:r>
            <a:r>
              <a:rPr lang="en-US" dirty="0" smtClean="0"/>
              <a:t>Our </a:t>
            </a:r>
            <a:r>
              <a:rPr lang="en-US" dirty="0"/>
              <a:t>objective is to optimize a prompt so that ________.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BE5E7-5304-46DF-86FB-D79D1B97F976}" type="slidenum">
              <a:rPr lang="en-US" smtClean="0"/>
              <a:pPr/>
              <a:t>3</a:t>
            </a:fld>
            <a:r>
              <a:rPr lang="en-US" smtClean="0"/>
              <a:t> of 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76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Initial Prompt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Show the baseline/initial Prompt </a:t>
            </a:r>
            <a:r>
              <a:rPr lang="en-US" dirty="0"/>
              <a:t>(</a:t>
            </a:r>
            <a:r>
              <a:rPr lang="en-US" dirty="0" smtClean="0"/>
              <a:t>P0)</a:t>
            </a:r>
            <a:endParaRPr lang="en-US" dirty="0"/>
          </a:p>
          <a:p>
            <a:r>
              <a:rPr lang="en-US" dirty="0" smtClean="0"/>
              <a:t>In your subsequent slides, use P0</a:t>
            </a:r>
            <a:r>
              <a:rPr lang="en-US" dirty="0"/>
              <a:t>, P1, P2, …, </a:t>
            </a:r>
            <a:r>
              <a:rPr lang="en-US" dirty="0" err="1"/>
              <a:t>Pn</a:t>
            </a:r>
            <a:r>
              <a:rPr lang="en-US" dirty="0"/>
              <a:t> </a:t>
            </a:r>
            <a:r>
              <a:rPr lang="en-US" dirty="0" smtClean="0"/>
              <a:t>to denote </a:t>
            </a:r>
            <a:r>
              <a:rPr lang="en-US" dirty="0"/>
              <a:t>the evolutionary versions of prompt during the prompt optimization process.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783F-182C-48B5-8CA3-C51764363281}" type="slidenum">
              <a:rPr lang="en-US" smtClean="0"/>
              <a:pPr/>
              <a:t>4</a:t>
            </a:fld>
            <a:r>
              <a:rPr lang="en-US" smtClean="0"/>
              <a:t> of 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053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Evolution of Prompt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Evolution of prompt will add, delete and modify the following prompt components:</a:t>
            </a:r>
          </a:p>
          <a:p>
            <a:pPr marL="914400" lvl="1" indent="-514350"/>
            <a:r>
              <a:rPr lang="en-US" dirty="0" smtClean="0"/>
              <a:t>Role(s</a:t>
            </a:r>
            <a:r>
              <a:rPr lang="en-US" dirty="0"/>
              <a:t>)</a:t>
            </a:r>
          </a:p>
          <a:p>
            <a:pPr marL="914400" lvl="1" indent="-514350"/>
            <a:r>
              <a:rPr lang="en-US" dirty="0"/>
              <a:t>Task and Requirements</a:t>
            </a:r>
          </a:p>
          <a:p>
            <a:pPr marL="914400" lvl="1" indent="-514350"/>
            <a:r>
              <a:rPr lang="en-US" dirty="0"/>
              <a:t> Input to AI</a:t>
            </a:r>
          </a:p>
          <a:p>
            <a:pPr marL="914400" lvl="1" indent="-514350"/>
            <a:r>
              <a:rPr lang="en-US" dirty="0"/>
              <a:t> Context</a:t>
            </a:r>
          </a:p>
          <a:p>
            <a:pPr marL="914400" lvl="1" indent="-514350"/>
            <a:r>
              <a:rPr lang="en-US" dirty="0"/>
              <a:t> Methodology</a:t>
            </a:r>
          </a:p>
          <a:p>
            <a:pPr marL="914400" lvl="1" indent="-514350"/>
            <a:r>
              <a:rPr lang="en-US" dirty="0"/>
              <a:t> Output</a:t>
            </a:r>
          </a:p>
          <a:p>
            <a:pPr marL="914400" lvl="1" indent="-514350"/>
            <a:r>
              <a:rPr lang="en-US" dirty="0"/>
              <a:t> Constraints</a:t>
            </a:r>
          </a:p>
          <a:p>
            <a:pPr marL="914400" lvl="1" indent="-514350"/>
            <a:r>
              <a:rPr lang="en-US" dirty="0"/>
              <a:t> Examples</a:t>
            </a:r>
          </a:p>
          <a:p>
            <a:pPr marL="914400" lvl="1" indent="-514350"/>
            <a:r>
              <a:rPr lang="en-US" dirty="0"/>
              <a:t> 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783F-182C-48B5-8CA3-C51764363281}" type="slidenum">
              <a:rPr lang="en-US" smtClean="0"/>
              <a:pPr/>
              <a:t>5</a:t>
            </a:fld>
            <a:r>
              <a:rPr lang="en-US" smtClean="0"/>
              <a:t> of 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422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</a:t>
            </a:r>
            <a:r>
              <a:rPr lang="en-US" dirty="0" smtClean="0"/>
              <a:t>Criteria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did you measure prompt quality?</a:t>
            </a:r>
          </a:p>
          <a:p>
            <a:r>
              <a:rPr lang="en-US" dirty="0" smtClean="0"/>
              <a:t>What did you used to optimize the prompts?</a:t>
            </a:r>
            <a:endParaRPr lang="en-US" dirty="0"/>
          </a:p>
          <a:p>
            <a:pPr lvl="1"/>
            <a:r>
              <a:rPr lang="en-US" dirty="0"/>
              <a:t>Expert Solutions + Precision + Recall + F1</a:t>
            </a:r>
          </a:p>
          <a:p>
            <a:r>
              <a:rPr lang="en-US" dirty="0"/>
              <a:t>Explain </a:t>
            </a:r>
            <a:r>
              <a:rPr lang="en-US" dirty="0" smtClean="0"/>
              <a:t>the expert </a:t>
            </a:r>
            <a:r>
              <a:rPr lang="en-US" dirty="0"/>
              <a:t>solutions </a:t>
            </a:r>
            <a:endParaRPr lang="en-US" dirty="0" smtClean="0"/>
          </a:p>
          <a:p>
            <a:r>
              <a:rPr lang="en-US" dirty="0" smtClean="0"/>
              <a:t>Make sure that the expert solutions are </a:t>
            </a:r>
            <a:r>
              <a:rPr lang="en-US" dirty="0"/>
              <a:t>evaluation references, not prompt inputs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783F-182C-48B5-8CA3-C51764363281}" type="slidenum">
              <a:rPr lang="en-US" smtClean="0"/>
              <a:pPr/>
              <a:t>6</a:t>
            </a:fld>
            <a:r>
              <a:rPr lang="en-US" smtClean="0"/>
              <a:t> of 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709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Evolutionary Prompt </a:t>
            </a:r>
            <a:r>
              <a:rPr lang="en-US" dirty="0" smtClean="0"/>
              <a:t>Optimization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Show </a:t>
            </a:r>
            <a:r>
              <a:rPr lang="en-US" dirty="0"/>
              <a:t>a visual timeline:</a:t>
            </a:r>
          </a:p>
          <a:p>
            <a:r>
              <a:rPr lang="en-US" dirty="0"/>
              <a:t>P0 → P1 → P2 → P3 → P4 → ... → </a:t>
            </a:r>
            <a:r>
              <a:rPr lang="en-US" dirty="0" err="1"/>
              <a:t>Pn</a:t>
            </a:r>
            <a:endParaRPr lang="en-US" dirty="0"/>
          </a:p>
          <a:p>
            <a:r>
              <a:rPr lang="en-US" dirty="0"/>
              <a:t>Under each version, show the major change, not the entire </a:t>
            </a:r>
            <a:r>
              <a:rPr lang="en-US" dirty="0" smtClean="0"/>
              <a:t>prompt. For </a:t>
            </a:r>
            <a:r>
              <a:rPr lang="en-US" dirty="0"/>
              <a:t>example:</a:t>
            </a:r>
          </a:p>
          <a:p>
            <a:pPr lvl="1"/>
            <a:r>
              <a:rPr lang="en-US" dirty="0"/>
              <a:t>P0: Basic instruction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P1: Added role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P2: Added output format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P3: Added examples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P4: Added constraints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P5: Final prompt</a:t>
            </a:r>
          </a:p>
          <a:p>
            <a:pPr marL="0" indent="0">
              <a:buNone/>
            </a:pPr>
            <a:r>
              <a:rPr lang="en-US" dirty="0"/>
              <a:t>This could be one of the most important slides.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783F-182C-48B5-8CA3-C51764363281}" type="slidenum">
              <a:rPr lang="en-US" smtClean="0"/>
              <a:pPr/>
              <a:t>7</a:t>
            </a:fld>
            <a:r>
              <a:rPr lang="en-US" smtClean="0"/>
              <a:t> of 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593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Evolutionary </a:t>
            </a:r>
            <a:r>
              <a:rPr lang="en-US" dirty="0" smtClean="0"/>
              <a:t>Optimization Experiments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The </a:t>
            </a:r>
            <a:r>
              <a:rPr lang="en-US" dirty="0"/>
              <a:t>complete loop:</a:t>
            </a:r>
          </a:p>
          <a:p>
            <a:pPr lvl="1"/>
            <a:r>
              <a:rPr lang="en-US" dirty="0"/>
              <a:t>Prompt → AI → Output → Evaluation → Error Analysis → AI Suggestions + Team Suggestions → Revised Prompt</a:t>
            </a:r>
          </a:p>
          <a:p>
            <a:r>
              <a:rPr lang="en-US" dirty="0"/>
              <a:t>For each major improvement in precision, recall and F1:</a:t>
            </a:r>
          </a:p>
          <a:p>
            <a:pPr lvl="1"/>
            <a:r>
              <a:rPr lang="en-US" dirty="0" smtClean="0"/>
              <a:t>Present: Hypothesis </a:t>
            </a:r>
            <a:r>
              <a:rPr lang="en-US" dirty="0"/>
              <a:t>→ Prompt </a:t>
            </a:r>
            <a:r>
              <a:rPr lang="en-US" dirty="0" smtClean="0"/>
              <a:t>modification(s) </a:t>
            </a:r>
            <a:r>
              <a:rPr lang="en-US" dirty="0"/>
              <a:t>→ Result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Hypothesis: Few-shot examples will improve classification consistency.</a:t>
            </a:r>
            <a:br>
              <a:rPr lang="en-US" dirty="0"/>
            </a:br>
            <a:r>
              <a:rPr lang="en-US" dirty="0"/>
              <a:t>Modification: Added 3 positive and 2 negative examples.</a:t>
            </a:r>
            <a:br>
              <a:rPr lang="en-US" dirty="0"/>
            </a:br>
            <a:r>
              <a:rPr lang="en-US" dirty="0"/>
              <a:t>Result: Consistency increased as shown by ______.</a:t>
            </a:r>
          </a:p>
          <a:p>
            <a:pPr lvl="2"/>
            <a:r>
              <a:rPr lang="en-US" dirty="0"/>
              <a:t>Besides or instead of consistency, you may also show improvements in precision, recall or both with evidences.</a:t>
            </a:r>
          </a:p>
          <a:p>
            <a:r>
              <a:rPr lang="en-US" dirty="0"/>
              <a:t>This demonstrates actual reasoning rather than trial-and-error </a:t>
            </a:r>
            <a:r>
              <a:rPr lang="en-US" dirty="0" smtClean="0"/>
              <a:t>prompt improvement.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783F-182C-48B5-8CA3-C51764363281}" type="slidenum">
              <a:rPr lang="en-US" smtClean="0"/>
              <a:pPr/>
              <a:t>8</a:t>
            </a:fld>
            <a:r>
              <a:rPr lang="en-US" dirty="0" smtClean="0"/>
              <a:t> of 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74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</a:t>
            </a:r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Show </a:t>
            </a:r>
            <a:r>
              <a:rPr lang="en-US" dirty="0"/>
              <a:t>a graph: Graph of prompt versions with quality scores, i.e., Precision / Recall / F1 across iterations using </a:t>
            </a:r>
            <a:r>
              <a:rPr lang="en-US" dirty="0" smtClean="0"/>
              <a:t>the library example.</a:t>
            </a:r>
            <a:endParaRPr lang="en-US" dirty="0"/>
          </a:p>
          <a:p>
            <a:r>
              <a:rPr lang="en-US" dirty="0" smtClean="0"/>
              <a:t>Highlight versions </a:t>
            </a:r>
            <a:r>
              <a:rPr lang="en-US" dirty="0"/>
              <a:t>with significant </a:t>
            </a:r>
            <a:r>
              <a:rPr lang="en-US" dirty="0" smtClean="0"/>
              <a:t>improvements in response quality, </a:t>
            </a:r>
            <a:r>
              <a:rPr lang="en-US" dirty="0"/>
              <a:t>and explain </a:t>
            </a:r>
            <a:r>
              <a:rPr lang="en-US" dirty="0" smtClean="0"/>
              <a:t>why (e.g., due to what was changed in Pi-1 to Pi)</a:t>
            </a:r>
            <a:endParaRPr lang="en-US" dirty="0"/>
          </a:p>
          <a:p>
            <a:r>
              <a:rPr lang="en-US" dirty="0"/>
              <a:t>This gives the audience an immediate picture of the evolutionary </a:t>
            </a:r>
            <a:r>
              <a:rPr lang="en-US" dirty="0" smtClean="0"/>
              <a:t>process and what changes are effective.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783F-182C-48B5-8CA3-C51764363281}" type="slidenum">
              <a:rPr lang="en-US" smtClean="0"/>
              <a:pPr/>
              <a:t>9</a:t>
            </a:fld>
            <a:r>
              <a:rPr lang="en-US" dirty="0" smtClean="0"/>
              <a:t> of 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923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and Human in the Loop (HITL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Report </a:t>
            </a:r>
            <a:r>
              <a:rPr lang="en-US" dirty="0"/>
              <a:t>major improvements suggested by AI and your </a:t>
            </a:r>
            <a:r>
              <a:rPr lang="en-US" dirty="0" smtClean="0"/>
              <a:t>team/team members, respectively.</a:t>
            </a:r>
            <a:endParaRPr lang="en-US" dirty="0"/>
          </a:p>
          <a:p>
            <a:r>
              <a:rPr lang="en-US" dirty="0"/>
              <a:t>Which of these </a:t>
            </a:r>
            <a:r>
              <a:rPr lang="en-US" dirty="0" smtClean="0"/>
              <a:t>suggestions led to noticeable improvements in response quality </a:t>
            </a:r>
            <a:r>
              <a:rPr lang="en-US" dirty="0"/>
              <a:t>and which of these </a:t>
            </a:r>
            <a:r>
              <a:rPr lang="en-US" dirty="0" smtClean="0"/>
              <a:t>did not.</a:t>
            </a:r>
            <a:endParaRPr lang="en-US" dirty="0"/>
          </a:p>
          <a:p>
            <a:r>
              <a:rPr lang="en-US" dirty="0"/>
              <a:t>You may use a two columns table to show </a:t>
            </a:r>
            <a:r>
              <a:rPr lang="en-US" dirty="0" smtClean="0"/>
              <a:t>them. </a:t>
            </a:r>
          </a:p>
          <a:p>
            <a:r>
              <a:rPr lang="en-US" dirty="0" smtClean="0"/>
              <a:t>Examples of suggested improvements:</a:t>
            </a:r>
          </a:p>
          <a:p>
            <a:pPr lvl="1"/>
            <a:r>
              <a:rPr lang="en-US" dirty="0" smtClean="0"/>
              <a:t>Few-shot </a:t>
            </a:r>
            <a:r>
              <a:rPr lang="en-US" dirty="0"/>
              <a:t>examples </a:t>
            </a:r>
            <a:endParaRPr lang="en-US" sz="1400" dirty="0"/>
          </a:p>
          <a:p>
            <a:pPr lvl="1"/>
            <a:r>
              <a:rPr lang="en-US" dirty="0"/>
              <a:t>Explicit output </a:t>
            </a:r>
            <a:r>
              <a:rPr lang="en-US" dirty="0" smtClean="0"/>
              <a:t>format</a:t>
            </a:r>
            <a:endParaRPr lang="en-US" sz="1400" dirty="0"/>
          </a:p>
          <a:p>
            <a:pPr lvl="1"/>
            <a:r>
              <a:rPr lang="en-US" dirty="0"/>
              <a:t>Role specification </a:t>
            </a:r>
            <a:endParaRPr lang="en-US" sz="1400" dirty="0"/>
          </a:p>
          <a:p>
            <a:pPr lvl="1"/>
            <a:r>
              <a:rPr lang="en-US" dirty="0"/>
              <a:t>Excessively detailed instructions </a:t>
            </a:r>
            <a:endParaRPr lang="en-US" sz="1400" dirty="0"/>
          </a:p>
          <a:p>
            <a:pPr lvl="1"/>
            <a:r>
              <a:rPr lang="en-US" dirty="0"/>
              <a:t>Additional constraints </a:t>
            </a:r>
            <a:endParaRPr lang="en-US" sz="1400" dirty="0"/>
          </a:p>
          <a:p>
            <a:pPr lvl="1"/>
            <a:r>
              <a:rPr lang="en-US" dirty="0"/>
              <a:t>Longer context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783F-182C-48B5-8CA3-C51764363281}" type="slidenum">
              <a:rPr lang="en-US" smtClean="0"/>
              <a:pPr/>
              <a:t>10</a:t>
            </a:fld>
            <a:r>
              <a:rPr lang="en-US" smtClean="0"/>
              <a:t> of 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771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Baseline </a:t>
            </a:r>
            <a:r>
              <a:rPr lang="en-US" dirty="0"/>
              <a:t>vs. Optimized Prompt</a:t>
            </a:r>
          </a:p>
          <a:p>
            <a:r>
              <a:rPr lang="en-US" dirty="0" smtClean="0"/>
              <a:t>Show P0 versus </a:t>
            </a:r>
            <a:r>
              <a:rPr lang="en-US" dirty="0" err="1" smtClean="0"/>
              <a:t>Pn</a:t>
            </a:r>
            <a:r>
              <a:rPr lang="en-US" dirty="0" smtClean="0"/>
              <a:t> and compare </a:t>
            </a:r>
            <a:r>
              <a:rPr lang="en-US" dirty="0"/>
              <a:t>their outputs.</a:t>
            </a:r>
          </a:p>
          <a:p>
            <a:r>
              <a:rPr lang="en-US" dirty="0" smtClean="0"/>
              <a:t>For example, you may show these using a two column table.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783F-182C-48B5-8CA3-C51764363281}" type="slidenum">
              <a:rPr lang="en-US" smtClean="0"/>
              <a:pPr/>
              <a:t>11</a:t>
            </a:fld>
            <a:r>
              <a:rPr lang="en-US" smtClean="0"/>
              <a:t> of 19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459321"/>
          <a:ext cx="8229600" cy="807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Baseline</a:t>
                      </a:r>
                      <a:endParaRPr lang="en-US" sz="9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Optimized</a:t>
                      </a:r>
                      <a:endParaRPr lang="en-US" sz="9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Accuracy</a:t>
                      </a:r>
                      <a:endParaRPr lang="en-US" sz="9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62%</a:t>
                      </a:r>
                      <a:endParaRPr lang="en-US" sz="9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91%</a:t>
                      </a:r>
                      <a:endParaRPr lang="en-US" sz="9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Completeness</a:t>
                      </a:r>
                      <a:endParaRPr lang="en-US" sz="9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3.1</a:t>
                      </a:r>
                      <a:endParaRPr lang="en-US" sz="9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4.6</a:t>
                      </a:r>
                      <a:endParaRPr lang="en-US" sz="9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F1-Score</a:t>
                      </a:r>
                      <a:endParaRPr lang="en-US" sz="9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72%</a:t>
                      </a:r>
                      <a:endParaRPr lang="en-US" sz="9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98%</a:t>
                      </a:r>
                      <a:endParaRPr lang="en-US" sz="9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0827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Optimized </a:t>
            </a:r>
            <a:r>
              <a:rPr lang="en-US" dirty="0" smtClean="0"/>
              <a:t>Prompt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Show </a:t>
            </a:r>
            <a:r>
              <a:rPr lang="en-US" dirty="0"/>
              <a:t>the complete final prompt, preferably </a:t>
            </a:r>
            <a:r>
              <a:rPr lang="en-US" dirty="0" smtClean="0"/>
              <a:t>in a </a:t>
            </a:r>
            <a:r>
              <a:rPr lang="en-US" dirty="0"/>
              <a:t>structured </a:t>
            </a:r>
            <a:r>
              <a:rPr lang="en-US" dirty="0" smtClean="0"/>
              <a:t>format:</a:t>
            </a:r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Role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Task and requirements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Input (to AI)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Context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Constraints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Examples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Reasoning/process instructions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Output format </a:t>
            </a:r>
            <a:endParaRPr lang="en-US" dirty="0" smtClean="0"/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Other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This </a:t>
            </a:r>
            <a:r>
              <a:rPr lang="en-US" dirty="0"/>
              <a:t>is where your team will demonstrate what you ultimately produced.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783F-182C-48B5-8CA3-C51764363281}" type="slidenum">
              <a:rPr lang="en-US" smtClean="0"/>
              <a:pPr/>
              <a:t>12</a:t>
            </a:fld>
            <a:r>
              <a:rPr lang="en-US" smtClean="0"/>
              <a:t> of 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098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 Generalization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Final </a:t>
            </a:r>
            <a:r>
              <a:rPr lang="en-US" dirty="0"/>
              <a:t>prompt tested on all three inputs.</a:t>
            </a:r>
          </a:p>
          <a:p>
            <a:pPr lvl="0"/>
            <a:r>
              <a:rPr lang="en-US" dirty="0" smtClean="0"/>
              <a:t>Show a table:</a:t>
            </a:r>
          </a:p>
          <a:p>
            <a:pPr marL="0" lv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783F-182C-48B5-8CA3-C51764363281}" type="slidenum">
              <a:rPr lang="en-US" smtClean="0"/>
              <a:pPr/>
              <a:t>13</a:t>
            </a:fld>
            <a:r>
              <a:rPr lang="en-US" smtClean="0"/>
              <a:t> of 19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659472"/>
              </p:ext>
            </p:extLst>
          </p:nvPr>
        </p:nvGraphicFramePr>
        <p:xfrm>
          <a:off x="1447800" y="2743200"/>
          <a:ext cx="4267201" cy="990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74134"/>
                <a:gridCol w="1167097"/>
                <a:gridCol w="1066800"/>
                <a:gridCol w="1559170"/>
              </a:tblGrid>
              <a:tr h="0"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Library</a:t>
                      </a:r>
                      <a:endParaRPr lang="en-US" sz="9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 smtClean="0">
                          <a:effectLst/>
                          <a:latin typeface="Times New Roman"/>
                          <a:ea typeface="SimSun"/>
                        </a:rPr>
                        <a:t>Car Rental</a:t>
                      </a:r>
                      <a:endParaRPr lang="en-US" sz="9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 smtClean="0">
                          <a:effectLst/>
                          <a:latin typeface="Times New Roman"/>
                          <a:ea typeface="SimSun"/>
                        </a:rPr>
                        <a:t>National</a:t>
                      </a:r>
                      <a:r>
                        <a:rPr lang="en-US" sz="900" baseline="0" dirty="0" smtClean="0">
                          <a:effectLst/>
                          <a:latin typeface="Times New Roman"/>
                          <a:ea typeface="SimSun"/>
                        </a:rPr>
                        <a:t> Trade Show Service</a:t>
                      </a:r>
                      <a:endParaRPr lang="en-US" sz="9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Precision</a:t>
                      </a:r>
                      <a:endParaRPr lang="en-US" sz="9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82%</a:t>
                      </a:r>
                      <a:endParaRPr lang="en-US" sz="9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79%</a:t>
                      </a:r>
                      <a:endParaRPr lang="en-US" sz="9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76%</a:t>
                      </a:r>
                      <a:endParaRPr lang="en-US" sz="9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Recall</a:t>
                      </a:r>
                      <a:endParaRPr lang="en-US" sz="9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79%</a:t>
                      </a:r>
                      <a:endParaRPr lang="en-US" sz="9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74%</a:t>
                      </a:r>
                      <a:endParaRPr lang="en-US" sz="9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81%</a:t>
                      </a:r>
                      <a:endParaRPr lang="en-US" sz="9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F1</a:t>
                      </a:r>
                      <a:endParaRPr lang="en-US" sz="9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80%</a:t>
                      </a:r>
                      <a:endParaRPr lang="en-US" sz="9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76%</a:t>
                      </a:r>
                      <a:endParaRPr lang="en-US" sz="9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78%</a:t>
                      </a:r>
                      <a:endParaRPr lang="en-US" sz="9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017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</a:t>
            </a:r>
            <a:r>
              <a:rPr lang="en-US" dirty="0" smtClean="0"/>
              <a:t>Learned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Present 3–5 </a:t>
            </a:r>
            <a:r>
              <a:rPr lang="en-US" dirty="0"/>
              <a:t>specific </a:t>
            </a:r>
            <a:r>
              <a:rPr lang="en-US" dirty="0" smtClean="0"/>
              <a:t>findings. For </a:t>
            </a:r>
            <a:r>
              <a:rPr lang="en-US" dirty="0"/>
              <a:t>example:</a:t>
            </a:r>
          </a:p>
          <a:p>
            <a:pPr lvl="1"/>
            <a:r>
              <a:rPr lang="en-US" dirty="0"/>
              <a:t>Prompt length was not strongly correlated with quality. </a:t>
            </a:r>
          </a:p>
          <a:p>
            <a:pPr lvl="1"/>
            <a:r>
              <a:rPr lang="en-US" dirty="0"/>
              <a:t>Examples improved consistency more than additional instructions. </a:t>
            </a:r>
          </a:p>
          <a:p>
            <a:pPr lvl="1"/>
            <a:r>
              <a:rPr lang="en-US" dirty="0"/>
              <a:t>Explicit output schemas reduced formatting errors. </a:t>
            </a:r>
          </a:p>
          <a:p>
            <a:pPr lvl="1"/>
            <a:r>
              <a:rPr lang="en-US" dirty="0"/>
              <a:t>Some prompt modifications improved one metric while hurting another. </a:t>
            </a:r>
          </a:p>
          <a:p>
            <a:r>
              <a:rPr lang="en-US" dirty="0"/>
              <a:t>These should be finding from your specific project, not </a:t>
            </a:r>
            <a:r>
              <a:rPr lang="en-US" dirty="0" smtClean="0"/>
              <a:t>general/generic </a:t>
            </a:r>
            <a:r>
              <a:rPr lang="en-US" dirty="0"/>
              <a:t>statements about generative AI.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783F-182C-48B5-8CA3-C51764363281}" type="slidenum">
              <a:rPr lang="en-US" smtClean="0"/>
              <a:pPr/>
              <a:t>14</a:t>
            </a:fld>
            <a:r>
              <a:rPr lang="en-US" smtClean="0"/>
              <a:t> of 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487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Future </a:t>
            </a:r>
            <a:r>
              <a:rPr lang="en-US" dirty="0" smtClean="0"/>
              <a:t>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Did the project accomplish its goal/objectives?</a:t>
            </a:r>
          </a:p>
          <a:p>
            <a:r>
              <a:rPr lang="en-US" dirty="0" smtClean="0"/>
              <a:t>What is the </a:t>
            </a:r>
            <a:r>
              <a:rPr lang="en-US" dirty="0"/>
              <a:t>improvements </a:t>
            </a:r>
            <a:r>
              <a:rPr lang="en-US" dirty="0" smtClean="0"/>
              <a:t>in response quality as compared </a:t>
            </a:r>
            <a:r>
              <a:rPr lang="en-US" dirty="0"/>
              <a:t>to </a:t>
            </a:r>
            <a:r>
              <a:rPr lang="en-US" dirty="0" smtClean="0"/>
              <a:t>the initial prompt? </a:t>
            </a:r>
          </a:p>
          <a:p>
            <a:r>
              <a:rPr lang="en-US" dirty="0" smtClean="0"/>
              <a:t>Why the improvements are significant?</a:t>
            </a:r>
          </a:p>
          <a:p>
            <a:r>
              <a:rPr lang="en-US" dirty="0" smtClean="0"/>
              <a:t>What </a:t>
            </a:r>
            <a:r>
              <a:rPr lang="en-US" dirty="0"/>
              <a:t>do you plan to do next?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D783F-182C-48B5-8CA3-C51764363281}" type="slidenum">
              <a:rPr lang="en-US" smtClean="0"/>
              <a:pPr/>
              <a:t>15</a:t>
            </a:fld>
            <a:r>
              <a:rPr lang="en-US" smtClean="0"/>
              <a:t> of 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319392"/>
      </p:ext>
    </p:extLst>
  </p:cSld>
  <p:clrMapOvr>
    <a:masterClrMapping/>
  </p:clrMapOvr>
</p:sld>
</file>

<file path=ppt/theme/theme1.xml><?xml version="1.0" encoding="utf-8"?>
<a:theme xmlns:a="http://schemas.openxmlformats.org/drawingml/2006/main" name="David Kung ppt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David Kung ppt template</Template>
  <TotalTime>148</TotalTime>
  <Words>758</Words>
  <Application>Microsoft Office PowerPoint</Application>
  <PresentationFormat>On-screen Show (4:3)</PresentationFormat>
  <Paragraphs>137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David Kung ppt template</vt:lpstr>
      <vt:lpstr>Evolutionary Prompt Optimization  for Domain Modeling</vt:lpstr>
      <vt:lpstr>Important Notice</vt:lpstr>
      <vt:lpstr>Project Objectives</vt:lpstr>
      <vt:lpstr>Initial Prompt</vt:lpstr>
      <vt:lpstr>Evolution of Prompt</vt:lpstr>
      <vt:lpstr>Evaluation Criteria</vt:lpstr>
      <vt:lpstr>Evolutionary Prompt Optimization</vt:lpstr>
      <vt:lpstr>Evolutionary Optimization Experiments</vt:lpstr>
      <vt:lpstr>Optimization Results</vt:lpstr>
      <vt:lpstr>AI and Human in the Loop (HITL)</vt:lpstr>
      <vt:lpstr>Comparisons</vt:lpstr>
      <vt:lpstr>Final Optimized Prompt</vt:lpstr>
      <vt:lpstr>Result Generalization</vt:lpstr>
      <vt:lpstr>Lessons Learned</vt:lpstr>
      <vt:lpstr>Conclusion &amp; Future 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auser</dc:creator>
  <cp:lastModifiedBy>auser</cp:lastModifiedBy>
  <cp:revision>9</cp:revision>
  <dcterms:created xsi:type="dcterms:W3CDTF">2026-09-21T01:36:39Z</dcterms:created>
  <dcterms:modified xsi:type="dcterms:W3CDTF">2026-09-21T04:05:38Z</dcterms:modified>
</cp:coreProperties>
</file>