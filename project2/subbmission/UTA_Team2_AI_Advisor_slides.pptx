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7" r:id="rId4"/>
    <p:sldId id="300" r:id="rId5"/>
    <p:sldId id="259" r:id="rId6"/>
    <p:sldId id="287" r:id="rId7"/>
    <p:sldId id="261" r:id="rId8"/>
    <p:sldId id="294" r:id="rId9"/>
    <p:sldId id="264" r:id="rId10"/>
    <p:sldId id="265" r:id="rId11"/>
    <p:sldId id="295" r:id="rId12"/>
    <p:sldId id="267" r:id="rId13"/>
    <p:sldId id="268" r:id="rId14"/>
    <p:sldId id="269" r:id="rId15"/>
    <p:sldId id="270" r:id="rId16"/>
    <p:sldId id="298" r:id="rId17"/>
    <p:sldId id="272" r:id="rId18"/>
    <p:sldId id="273" r:id="rId19"/>
    <p:sldId id="274" r:id="rId20"/>
    <p:sldId id="275" r:id="rId21"/>
    <p:sldId id="279" r:id="rId22"/>
    <p:sldId id="297" r:id="rId23"/>
    <p:sldId id="296" r:id="rId24"/>
    <p:sldId id="276" r:id="rId25"/>
    <p:sldId id="277" r:id="rId26"/>
    <p:sldId id="278" r:id="rId27"/>
  </p:sldIdLst>
  <p:sldSz cx="12192000" cy="6858000"/>
  <p:notesSz cx="6858000" cy="9144000"/>
  <p:embeddedFontLs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Play" pitchFamily="2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cUIlunbVXKnqiZpJ6hMnwH0UF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font" Target="fonts/font2.fntdata"/><Relationship Id="rId35" Type="http://customschemas.google.com/relationships/presentationmetadata" Target="meta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128d44af2f21f154_127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h128d44af2f21f154_127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28d44af2f21f154_127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128d44af2f21f154_127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h128d44af2f21f154_127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h128d44af2f21f154_127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h128d44af2f21f154_127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h128d44af2f21f154_127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128d44af2f21f154_127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h128d44af2f21f154_127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128d44af2f21f154_127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h128d44af2f21f154_127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h128d44af2f21f154_127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128d44af2f21f154_127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h128d44af2f21f154_127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128d44af2f21f154_127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h128d44af2f21f154_127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h128d44af2f21f154_127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128d44af2f21f154_127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h128d44af2f21f154_127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128d44af2f21f154_127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128d44af2f21f154_127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5" name="Google Shape;115;h128d44af2f21f154_127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6" name="Google Shape;116;h128d44af2f21f154_127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128d44af2f21f154_127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h128d44af2f21f154_127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28d44af2f21f154_127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h128d44af2f21f154_127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h128d44af2f21f154_127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h128d44af2f21f154_127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h128d44af2f21f154_127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5" name="Google Shape;125;h128d44af2f21f154_127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128d44af2f21f154_127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128d44af2f21f154_127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128d44af2f21f154_127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h128d44af2f21f154_127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128d44af2f21f154_127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h128d44af2f21f154_127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128d44af2f21f154_127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128d44af2f21f154_127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h128d44af2f21f154_127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h128d44af2f21f154_127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128d44af2f21f154_127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h128d44af2f21f154_127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128d44af2f21f154_127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128d44af2f21f154_127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h128d44af2f21f154_127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h128d44af2f21f154_127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128d44af2f21f154_127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h128d44af2f21f154_127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28d44af2f21f154_127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h128d44af2f21f154_127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h128d44af2f21f154_127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128d44af2f21f154_127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h128d44af2f21f154_127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128d44af2f21f154_127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h128d44af2f21f154_127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h128d44af2f21f154_127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h128d44af2f21f154_127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h128d44af2f21f154_127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28d44af2f21f154_127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h128d44af2f21f154_127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h128d44af2f21f154_127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h128d44af2f21f154_127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h128d44af2f21f154_127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/>
          <p:nvPr/>
        </p:nvSpPr>
        <p:spPr>
          <a:xfrm>
            <a:off x="-12241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8A2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02F5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52360" y="960120"/>
            <a:ext cx="434340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"/>
          <p:cNvSpPr/>
          <p:nvPr/>
        </p:nvSpPr>
        <p:spPr>
          <a:xfrm>
            <a:off x="658368" y="694944"/>
            <a:ext cx="4251960" cy="338328"/>
          </a:xfrm>
          <a:prstGeom prst="roundRect">
            <a:avLst>
              <a:gd name="adj" fmla="val 13000"/>
            </a:avLst>
          </a:prstGeom>
          <a:solidFill>
            <a:srgbClr val="1262B4"/>
          </a:solidFill>
          <a:ln w="9525" cap="flat" cmpd="sng">
            <a:solidFill>
              <a:srgbClr val="0C23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"/>
          <p:cNvSpPr txBox="1"/>
          <p:nvPr/>
        </p:nvSpPr>
        <p:spPr>
          <a:xfrm>
            <a:off x="731519" y="745236"/>
            <a:ext cx="4105656" cy="228600"/>
          </a:xfrm>
          <a:prstGeom prst="rect">
            <a:avLst/>
          </a:prstGeom>
          <a:solidFill>
            <a:srgbClr val="1262B4"/>
          </a:solidFill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SOFTWARE ENGINEERING WITH GENERATIVE AI</a:t>
            </a:r>
            <a:endParaRPr/>
          </a:p>
        </p:txBody>
      </p:sp>
      <p:sp>
        <p:nvSpPr>
          <p:cNvPr id="170" name="Google Shape;170;p1"/>
          <p:cNvSpPr txBox="1"/>
          <p:nvPr/>
        </p:nvSpPr>
        <p:spPr>
          <a:xfrm>
            <a:off x="658368" y="13716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2A9D8"/>
                </a:solidFill>
                <a:latin typeface="Arial"/>
                <a:ea typeface="Arial"/>
                <a:cs typeface="Arial"/>
                <a:sym typeface="Arial"/>
              </a:rPr>
              <a:t>UTA  |  TEAM 2</a:t>
            </a:r>
            <a:endParaRPr/>
          </a:p>
        </p:txBody>
      </p:sp>
      <p:sp>
        <p:nvSpPr>
          <p:cNvPr id="171" name="Google Shape;171;p1"/>
          <p:cNvSpPr txBox="1"/>
          <p:nvPr/>
        </p:nvSpPr>
        <p:spPr>
          <a:xfrm>
            <a:off x="658368" y="1874519"/>
            <a:ext cx="6583680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Academic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4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Advisor</a:t>
            </a:r>
            <a:endParaRPr/>
          </a:p>
        </p:txBody>
      </p:sp>
      <p:sp>
        <p:nvSpPr>
          <p:cNvPr id="172" name="Google Shape;172;p1"/>
          <p:cNvSpPr txBox="1"/>
          <p:nvPr/>
        </p:nvSpPr>
        <p:spPr>
          <a:xfrm>
            <a:off x="694944" y="3767328"/>
            <a:ext cx="621792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CBD9E9"/>
                </a:solidFill>
                <a:latin typeface="Arial"/>
                <a:ea typeface="Arial"/>
                <a:cs typeface="Arial"/>
                <a:sym typeface="Arial"/>
              </a:rPr>
              <a:t>An AI-powered student advising assistant built with LangChain, Amazon Bedrock, and AWS.</a:t>
            </a:r>
            <a:endParaRPr/>
          </a:p>
        </p:txBody>
      </p:sp>
      <p:sp>
        <p:nvSpPr>
          <p:cNvPr id="173" name="Google Shape;173;p1"/>
          <p:cNvSpPr/>
          <p:nvPr/>
        </p:nvSpPr>
        <p:spPr>
          <a:xfrm>
            <a:off x="685800" y="5303520"/>
            <a:ext cx="6126480" cy="18288"/>
          </a:xfrm>
          <a:prstGeom prst="rect">
            <a:avLst/>
          </a:prstGeom>
          <a:solidFill>
            <a:srgbClr val="47627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"/>
          <p:cNvSpPr txBox="1"/>
          <p:nvPr/>
        </p:nvSpPr>
        <p:spPr>
          <a:xfrm>
            <a:off x="694944" y="5541264"/>
            <a:ext cx="6035040" cy="46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Team: Marvin Wellington • Joseph Fitchett • Ryan Patterson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Sarthak Wadhawan • Emily Ford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"/>
          <p:cNvSpPr/>
          <p:nvPr/>
        </p:nvSpPr>
        <p:spPr>
          <a:xfrm>
            <a:off x="-19670" y="292183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502920" y="228600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3569E"/>
                </a:solidFill>
                <a:latin typeface="Arial"/>
                <a:ea typeface="Arial"/>
                <a:cs typeface="Arial"/>
                <a:sym typeface="Arial"/>
              </a:rPr>
              <a:t>UTA  •  TEAM 2 AI ADVISOR</a:t>
            </a:r>
            <a:endParaRPr/>
          </a:p>
        </p:txBody>
      </p:sp>
      <p:sp>
        <p:nvSpPr>
          <p:cNvPr id="181" name="Google Shape;181;p2"/>
          <p:cNvSpPr txBox="1"/>
          <p:nvPr/>
        </p:nvSpPr>
        <p:spPr>
          <a:xfrm>
            <a:off x="491542" y="610636"/>
            <a:ext cx="100584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Overview of Presentation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530352" y="11887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From the academic advising challenge to our working AWS + LangChain solution</a:t>
            </a:r>
            <a:endParaRPr/>
          </a:p>
        </p:txBody>
      </p:sp>
      <p:sp>
        <p:nvSpPr>
          <p:cNvPr id="183" name="Google Shape;183;p2"/>
          <p:cNvSpPr/>
          <p:nvPr/>
        </p:nvSpPr>
        <p:spPr>
          <a:xfrm>
            <a:off x="521207" y="176479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521207" y="1764792"/>
            <a:ext cx="64008" cy="950976"/>
          </a:xfrm>
          <a:prstGeom prst="rect">
            <a:avLst/>
          </a:prstGeom>
          <a:solidFill>
            <a:srgbClr val="13569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713231" y="195681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"/>
          <p:cNvSpPr txBox="1"/>
          <p:nvPr/>
        </p:nvSpPr>
        <p:spPr>
          <a:xfrm>
            <a:off x="777240" y="2066543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7" name="Google Shape;187;p2"/>
          <p:cNvSpPr txBox="1"/>
          <p:nvPr/>
        </p:nvSpPr>
        <p:spPr>
          <a:xfrm>
            <a:off x="1417319" y="1911095"/>
            <a:ext cx="449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Project overview &amp; requirements</a:t>
            </a:r>
            <a:endParaRPr/>
          </a:p>
        </p:txBody>
      </p:sp>
      <p:sp>
        <p:nvSpPr>
          <p:cNvPr id="188" name="Google Shape;188;p2"/>
          <p:cNvSpPr txBox="1"/>
          <p:nvPr/>
        </p:nvSpPr>
        <p:spPr>
          <a:xfrm>
            <a:off x="1426464" y="228600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Implemented features and student advising use cases</a:t>
            </a:r>
            <a:endParaRPr/>
          </a:p>
        </p:txBody>
      </p:sp>
      <p:sp>
        <p:nvSpPr>
          <p:cNvPr id="189" name="Google Shape;189;p2"/>
          <p:cNvSpPr/>
          <p:nvPr/>
        </p:nvSpPr>
        <p:spPr>
          <a:xfrm>
            <a:off x="6327648" y="176479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6327648" y="1764792"/>
            <a:ext cx="64008" cy="950976"/>
          </a:xfrm>
          <a:prstGeom prst="rect">
            <a:avLst/>
          </a:prstGeom>
          <a:solidFill>
            <a:srgbClr val="13569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6519672" y="195681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6583680" y="2066543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7223760" y="1911095"/>
            <a:ext cx="449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Assumptions &amp; constraints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"/>
          <p:cNvSpPr txBox="1"/>
          <p:nvPr/>
        </p:nvSpPr>
        <p:spPr>
          <a:xfrm>
            <a:off x="7232904" y="228600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Project data, prerequisite rules, and boundaries</a:t>
            </a:r>
            <a:endParaRPr/>
          </a:p>
        </p:txBody>
      </p:sp>
      <p:sp>
        <p:nvSpPr>
          <p:cNvPr id="195" name="Google Shape;195;p2"/>
          <p:cNvSpPr/>
          <p:nvPr/>
        </p:nvSpPr>
        <p:spPr>
          <a:xfrm>
            <a:off x="521207" y="286207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/>
          <p:nvPr/>
        </p:nvSpPr>
        <p:spPr>
          <a:xfrm>
            <a:off x="521207" y="2862072"/>
            <a:ext cx="64008" cy="950976"/>
          </a:xfrm>
          <a:prstGeom prst="rect">
            <a:avLst/>
          </a:prstGeom>
          <a:solidFill>
            <a:srgbClr val="13569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"/>
          <p:cNvSpPr/>
          <p:nvPr/>
        </p:nvSpPr>
        <p:spPr>
          <a:xfrm>
            <a:off x="713231" y="305409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777240" y="3163824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9" name="Google Shape;199;p2"/>
          <p:cNvSpPr txBox="1"/>
          <p:nvPr/>
        </p:nvSpPr>
        <p:spPr>
          <a:xfrm>
            <a:off x="1417319" y="3008376"/>
            <a:ext cx="449884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AWS architecture &amp; RAG ingestion</a:t>
            </a:r>
            <a:endParaRPr/>
          </a:p>
        </p:txBody>
      </p:sp>
      <p:sp>
        <p:nvSpPr>
          <p:cNvPr id="200" name="Google Shape;200;p2"/>
          <p:cNvSpPr txBox="1"/>
          <p:nvPr/>
        </p:nvSpPr>
        <p:spPr>
          <a:xfrm>
            <a:off x="1426464" y="3383279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AWS services, deployment, and document indexing</a:t>
            </a:r>
            <a:endParaRPr/>
          </a:p>
        </p:txBody>
      </p:sp>
      <p:sp>
        <p:nvSpPr>
          <p:cNvPr id="201" name="Google Shape;201;p2"/>
          <p:cNvSpPr/>
          <p:nvPr/>
        </p:nvSpPr>
        <p:spPr>
          <a:xfrm>
            <a:off x="6327648" y="286207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"/>
          <p:cNvSpPr/>
          <p:nvPr/>
        </p:nvSpPr>
        <p:spPr>
          <a:xfrm>
            <a:off x="6327648" y="2862072"/>
            <a:ext cx="64008" cy="950976"/>
          </a:xfrm>
          <a:prstGeom prst="rect">
            <a:avLst/>
          </a:prstGeom>
          <a:solidFill>
            <a:srgbClr val="EF853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"/>
          <p:cNvSpPr/>
          <p:nvPr/>
        </p:nvSpPr>
        <p:spPr>
          <a:xfrm>
            <a:off x="6519672" y="305409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6583680" y="3163824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05" name="Google Shape;205;p2"/>
          <p:cNvSpPr txBox="1"/>
          <p:nvPr/>
        </p:nvSpPr>
        <p:spPr>
          <a:xfrm>
            <a:off x="7223760" y="3008376"/>
            <a:ext cx="449884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LangChain routing &amp; RAG retrieval</a:t>
            </a:r>
            <a:endParaRPr/>
          </a:p>
        </p:txBody>
      </p:sp>
      <p:sp>
        <p:nvSpPr>
          <p:cNvPr id="206" name="Google Shape;206;p2"/>
          <p:cNvSpPr txBox="1"/>
          <p:nvPr/>
        </p:nvSpPr>
        <p:spPr>
          <a:xfrm>
            <a:off x="7232904" y="3383279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Six intents, three paths, and router implementation</a:t>
            </a:r>
            <a:endParaRPr/>
          </a:p>
        </p:txBody>
      </p:sp>
      <p:sp>
        <p:nvSpPr>
          <p:cNvPr id="207" name="Google Shape;207;p2"/>
          <p:cNvSpPr/>
          <p:nvPr/>
        </p:nvSpPr>
        <p:spPr>
          <a:xfrm>
            <a:off x="521207" y="395935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"/>
          <p:cNvSpPr/>
          <p:nvPr/>
        </p:nvSpPr>
        <p:spPr>
          <a:xfrm>
            <a:off x="521207" y="3959352"/>
            <a:ext cx="64008" cy="950976"/>
          </a:xfrm>
          <a:prstGeom prst="rect">
            <a:avLst/>
          </a:prstGeom>
          <a:solidFill>
            <a:srgbClr val="EF853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"/>
          <p:cNvSpPr/>
          <p:nvPr/>
        </p:nvSpPr>
        <p:spPr>
          <a:xfrm>
            <a:off x="713231" y="415137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"/>
          <p:cNvSpPr txBox="1"/>
          <p:nvPr/>
        </p:nvSpPr>
        <p:spPr>
          <a:xfrm>
            <a:off x="777240" y="4261104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11" name="Google Shape;211;p2"/>
          <p:cNvSpPr txBox="1"/>
          <p:nvPr/>
        </p:nvSpPr>
        <p:spPr>
          <a:xfrm>
            <a:off x="1417319" y="4105656"/>
            <a:ext cx="4498848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Structured advising workflows</a:t>
            </a:r>
            <a:endParaRPr/>
          </a:p>
        </p:txBody>
      </p:sp>
      <p:sp>
        <p:nvSpPr>
          <p:cNvPr id="212" name="Google Shape;212;p2"/>
          <p:cNvSpPr txBox="1"/>
          <p:nvPr/>
        </p:nvSpPr>
        <p:spPr>
          <a:xfrm>
            <a:off x="1426464" y="448056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Student records, eligibility, and degree requirements</a:t>
            </a:r>
            <a:endParaRPr/>
          </a:p>
        </p:txBody>
      </p:sp>
      <p:sp>
        <p:nvSpPr>
          <p:cNvPr id="213" name="Google Shape;213;p2"/>
          <p:cNvSpPr/>
          <p:nvPr/>
        </p:nvSpPr>
        <p:spPr>
          <a:xfrm>
            <a:off x="6327648" y="3959352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"/>
          <p:cNvSpPr/>
          <p:nvPr/>
        </p:nvSpPr>
        <p:spPr>
          <a:xfrm>
            <a:off x="6327648" y="3959352"/>
            <a:ext cx="64008" cy="950976"/>
          </a:xfrm>
          <a:prstGeom prst="rect">
            <a:avLst/>
          </a:prstGeom>
          <a:solidFill>
            <a:srgbClr val="EF853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6519672" y="4151376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"/>
          <p:cNvSpPr txBox="1"/>
          <p:nvPr/>
        </p:nvSpPr>
        <p:spPr>
          <a:xfrm>
            <a:off x="6583680" y="4261104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17" name="Google Shape;217;p2"/>
          <p:cNvSpPr txBox="1"/>
          <p:nvPr/>
        </p:nvSpPr>
        <p:spPr>
          <a:xfrm>
            <a:off x="7223760" y="4105656"/>
            <a:ext cx="449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Response generation &amp; degree planning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"/>
          <p:cNvSpPr txBox="1"/>
          <p:nvPr/>
        </p:nvSpPr>
        <p:spPr>
          <a:xfrm>
            <a:off x="7232904" y="448056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Prompt instructions and Python advising tools</a:t>
            </a:r>
            <a:endParaRPr/>
          </a:p>
        </p:txBody>
      </p:sp>
      <p:sp>
        <p:nvSpPr>
          <p:cNvPr id="219" name="Google Shape;219;p2"/>
          <p:cNvSpPr/>
          <p:nvPr/>
        </p:nvSpPr>
        <p:spPr>
          <a:xfrm>
            <a:off x="521207" y="5056631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521207" y="5056631"/>
            <a:ext cx="64008" cy="950976"/>
          </a:xfrm>
          <a:prstGeom prst="rect">
            <a:avLst/>
          </a:prstGeom>
          <a:solidFill>
            <a:srgbClr val="13569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713231" y="5248655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"/>
          <p:cNvSpPr txBox="1"/>
          <p:nvPr/>
        </p:nvSpPr>
        <p:spPr>
          <a:xfrm>
            <a:off x="777240" y="5358383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23" name="Google Shape;223;p2"/>
          <p:cNvSpPr txBox="1"/>
          <p:nvPr/>
        </p:nvSpPr>
        <p:spPr>
          <a:xfrm>
            <a:off x="1417319" y="5202936"/>
            <a:ext cx="449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Testing &amp; live demonstration</a:t>
            </a:r>
            <a:endParaRPr/>
          </a:p>
        </p:txBody>
      </p:sp>
      <p:sp>
        <p:nvSpPr>
          <p:cNvPr id="224" name="Google Shape;224;p2"/>
          <p:cNvSpPr txBox="1"/>
          <p:nvPr/>
        </p:nvSpPr>
        <p:spPr>
          <a:xfrm>
            <a:off x="1426464" y="557784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Fictional students, live demo, and app screenshots</a:t>
            </a:r>
            <a:endParaRPr/>
          </a:p>
        </p:txBody>
      </p:sp>
      <p:sp>
        <p:nvSpPr>
          <p:cNvPr id="225" name="Google Shape;225;p2"/>
          <p:cNvSpPr/>
          <p:nvPr/>
        </p:nvSpPr>
        <p:spPr>
          <a:xfrm>
            <a:off x="6327648" y="5056631"/>
            <a:ext cx="5550408" cy="9509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"/>
          <p:cNvSpPr/>
          <p:nvPr/>
        </p:nvSpPr>
        <p:spPr>
          <a:xfrm>
            <a:off x="6327648" y="5056631"/>
            <a:ext cx="64008" cy="950976"/>
          </a:xfrm>
          <a:prstGeom prst="rect">
            <a:avLst/>
          </a:prstGeom>
          <a:solidFill>
            <a:srgbClr val="13569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"/>
          <p:cNvSpPr/>
          <p:nvPr/>
        </p:nvSpPr>
        <p:spPr>
          <a:xfrm>
            <a:off x="6519672" y="5248655"/>
            <a:ext cx="521207" cy="502920"/>
          </a:xfrm>
          <a:prstGeom prst="roundRect">
            <a:avLst>
              <a:gd name="adj" fmla="val 16667"/>
            </a:avLst>
          </a:prstGeom>
          <a:solidFill>
            <a:srgbClr val="0C2C5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"/>
          <p:cNvSpPr txBox="1"/>
          <p:nvPr/>
        </p:nvSpPr>
        <p:spPr>
          <a:xfrm>
            <a:off x="6583680" y="5358383"/>
            <a:ext cx="4297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29" name="Google Shape;229;p2"/>
          <p:cNvSpPr txBox="1"/>
          <p:nvPr/>
        </p:nvSpPr>
        <p:spPr>
          <a:xfrm>
            <a:off x="7223760" y="5202936"/>
            <a:ext cx="449884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C52"/>
                </a:solidFill>
                <a:latin typeface="Arial"/>
                <a:ea typeface="Arial"/>
                <a:cs typeface="Arial"/>
                <a:sym typeface="Arial"/>
              </a:rPr>
              <a:t>Lessons learned &amp; future work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"/>
          <p:cNvSpPr txBox="1"/>
          <p:nvPr/>
        </p:nvSpPr>
        <p:spPr>
          <a:xfrm>
            <a:off x="7232904" y="5577840"/>
            <a:ext cx="4489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Challenges, improvements, and future work</a:t>
            </a:r>
            <a:endParaRPr/>
          </a:p>
        </p:txBody>
      </p:sp>
      <p:sp>
        <p:nvSpPr>
          <p:cNvPr id="231" name="Google Shape;231;p2"/>
          <p:cNvSpPr/>
          <p:nvPr/>
        </p:nvSpPr>
        <p:spPr>
          <a:xfrm>
            <a:off x="502920" y="6355080"/>
            <a:ext cx="11201400" cy="12801"/>
          </a:xfrm>
          <a:prstGeom prst="rect">
            <a:avLst/>
          </a:prstGeom>
          <a:solidFill>
            <a:srgbClr val="DCE3E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"/>
          <p:cNvSpPr txBox="1"/>
          <p:nvPr/>
        </p:nvSpPr>
        <p:spPr>
          <a:xfrm>
            <a:off x="530352" y="6501384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0" rIns="182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5677D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233" name="Google Shape;233;p2"/>
          <p:cNvSpPr/>
          <p:nvPr/>
        </p:nvSpPr>
        <p:spPr>
          <a:xfrm>
            <a:off x="-19670" y="0"/>
            <a:ext cx="128016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F243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"/>
          <p:cNvSpPr/>
          <p:nvPr/>
        </p:nvSpPr>
        <p:spPr>
          <a:xfrm>
            <a:off x="530352" y="1510057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2"/>
          <p:cNvSpPr/>
          <p:nvPr/>
        </p:nvSpPr>
        <p:spPr>
          <a:xfrm>
            <a:off x="-17983" y="14035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493776" y="566928"/>
            <a:ext cx="11155680" cy="42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lvl="0"/>
            <a:r>
              <a:rPr lang="en-US" sz="2700" b="1" dirty="0">
                <a:solidFill>
                  <a:srgbClr val="0C2340"/>
                </a:solidFill>
              </a:rPr>
              <a:t>Functional Requirements Implemented</a:t>
            </a:r>
            <a:endParaRPr lang="en-US" sz="2800" dirty="0"/>
          </a:p>
        </p:txBody>
      </p:sp>
      <p:sp>
        <p:nvSpPr>
          <p:cNvPr id="1008" name="Google Shape;1008;p22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1010" name="Subtitle"/>
          <p:cNvSpPr txBox="1"/>
          <p:nvPr/>
        </p:nvSpPr>
        <p:spPr>
          <a:xfrm>
            <a:off x="502920" y="1371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rial"/>
              </a:rPr>
              <a:t>How each functional requirement in the assignment is met by our implementation</a:t>
            </a:r>
          </a:p>
        </p:txBody>
      </p:sp>
      <p:graphicFrame>
        <p:nvGraphicFramePr>
          <p:cNvPr id="1011" name="Coverag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543509"/>
              </p:ext>
            </p:extLst>
          </p:nvPr>
        </p:nvGraphicFramePr>
        <p:xfrm>
          <a:off x="548640" y="1783080"/>
          <a:ext cx="1106424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Requirement</a:t>
                      </a:r>
                    </a:p>
                  </a:txBody>
                  <a:tcPr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How the AI Advisor meets it</a:t>
                      </a:r>
                    </a:p>
                  </a:txBody>
                  <a:tcPr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User interface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Streamlit web chat UI (prompt-based queries) with Cognito student sign-in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Multi-year degree plan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degree_plan route: Python planner builds a semester-by-semester plan from the transcript; summers optional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Exact &amp; semantic queries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Exact: DynamoDB records + exact course lookup. Semantic: Titan embeddings + ChromaDB (RAG)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Arial"/>
                        </a:rPr>
                        <a:t>Implemented*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Verify before recommending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Python checks AND / OR prerequisite groups and minimum grades against the transcript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Arial"/>
                        </a:rPr>
                        <a:t>Partial*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Change plan / switch major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Plan follow-ups (e.g. “without summer semesters”) and the compare_plans route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45309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Conversation state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Recent chat history sent every turn; router and course resolver use it; session per student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E7B4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Structured + unstructured data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64748B"/>
                          </a:solidFill>
                          <a:latin typeface="Arial"/>
                        </a:rPr>
                        <a:t>DynamoDB: students, transcripts, courses, programs. ChromaDB: catalogs and degree requirements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E7B4F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263B4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C2340"/>
                          </a:solidFill>
                          <a:latin typeface="Arial"/>
                        </a:rPr>
                        <a:t>Multiple DBMS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64748B"/>
                          </a:solidFill>
                          <a:latin typeface="Arial"/>
                        </a:rPr>
                        <a:t>DynamoDB (NoSQL) + </a:t>
                      </a:r>
                      <a:r>
                        <a:rPr sz="1100" b="0" dirty="0" err="1">
                          <a:solidFill>
                            <a:srgbClr val="64748B"/>
                          </a:solidFill>
                          <a:latin typeface="Arial"/>
                        </a:rPr>
                        <a:t>ChromaDB</a:t>
                      </a:r>
                      <a:r>
                        <a:rPr sz="1100" b="0" dirty="0">
                          <a:solidFill>
                            <a:srgbClr val="64748B"/>
                          </a:solidFill>
                          <a:latin typeface="Arial"/>
                        </a:rPr>
                        <a:t> (vector database); </a:t>
                      </a: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E7B4F"/>
                          </a:solidFill>
                          <a:latin typeface="+mn-lt"/>
                        </a:rPr>
                        <a:t>Implemented</a:t>
                      </a:r>
                      <a:endParaRPr sz="1200" b="1" dirty="0">
                        <a:solidFill>
                          <a:srgbClr val="B45309"/>
                        </a:solidFill>
                        <a:latin typeface="Arial"/>
                      </a:endParaRPr>
                    </a:p>
                  </a:txBody>
                  <a:tcPr marT="36576" marB="36576" anchor="ctr">
                    <a:solidFill>
                      <a:srgbClr val="F1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12" name="Footnote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* Class schedule, add/drop queries and schedule-conflict checks (requirement 3 and 4d) are out of scope for this submission per the instructor.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243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271" name="Google Shape;271;p4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Assumptions and Constraints</a:t>
            </a:r>
            <a:endParaRPr/>
          </a:p>
        </p:txBody>
      </p:sp>
      <p:sp>
        <p:nvSpPr>
          <p:cNvPr id="272" name="Google Shape;272;p4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274" name="Google Shape;274;p4"/>
          <p:cNvSpPr/>
          <p:nvPr/>
        </p:nvSpPr>
        <p:spPr>
          <a:xfrm>
            <a:off x="594360" y="1572768"/>
            <a:ext cx="5321808" cy="3337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594360" y="1572768"/>
            <a:ext cx="64008" cy="3337560"/>
          </a:xfrm>
          <a:prstGeom prst="rect">
            <a:avLst/>
          </a:prstGeom>
          <a:solidFill>
            <a:srgbClr val="1263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 txBox="1"/>
          <p:nvPr/>
        </p:nvSpPr>
        <p:spPr>
          <a:xfrm>
            <a:off x="795528" y="1746504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Project assumptions</a:t>
            </a:r>
            <a:endParaRPr/>
          </a:p>
        </p:txBody>
      </p:sp>
      <p:sp>
        <p:nvSpPr>
          <p:cNvPr id="277" name="Google Shape;277;p4"/>
          <p:cNvSpPr txBox="1"/>
          <p:nvPr/>
        </p:nvSpPr>
        <p:spPr>
          <a:xfrm>
            <a:off x="795528" y="2231136"/>
            <a:ext cx="4937760" cy="2578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Academic data comes from structured course and program records.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Students are fictional; records are for demonstration.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Simplified course-based prerequisite rules.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Results depend on available validated project data.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Earlier planned prerequisites are assumed to be passed.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Class schedules and add/drop questions are out of scope for this submission (instructor guidance).</a:t>
            </a:r>
            <a:endParaRPr/>
          </a:p>
        </p:txBody>
      </p:sp>
      <p:sp>
        <p:nvSpPr>
          <p:cNvPr id="278" name="Google Shape;278;p4"/>
          <p:cNvSpPr/>
          <p:nvPr/>
        </p:nvSpPr>
        <p:spPr>
          <a:xfrm>
            <a:off x="6190488" y="1572768"/>
            <a:ext cx="5321808" cy="333756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6190488" y="1572768"/>
            <a:ext cx="64008" cy="3337560"/>
          </a:xfrm>
          <a:prstGeom prst="rect">
            <a:avLst/>
          </a:prstGeom>
          <a:solidFill>
            <a:srgbClr val="F58A2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 txBox="1"/>
          <p:nvPr/>
        </p:nvSpPr>
        <p:spPr>
          <a:xfrm>
            <a:off x="6391655" y="1746504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Operational constraints</a:t>
            </a:r>
            <a:endParaRPr/>
          </a:p>
        </p:txBody>
      </p:sp>
      <p:sp>
        <p:nvSpPr>
          <p:cNvPr id="281" name="Google Shape;281;p4"/>
          <p:cNvSpPr txBox="1"/>
          <p:nvPr/>
        </p:nvSpPr>
        <p:spPr>
          <a:xfrm>
            <a:off x="6391655" y="2231136"/>
            <a:ext cx="4937760" cy="2578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Prerequisite groups follow AND / OR logic.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Minimum grades and completed courses affect eligibility.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Course records must be validated for project rules.</a:t>
            </a:r>
            <a:b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Missing or unvalidated rules limit advising conclusions.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Required prerequisite order and concurrent options.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Data stores: DynamoDB (NoSQL) and ChromaDB (vectors); no SQL DBMS in this prototype.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Incomplete plans are reported and not saved.</a:t>
            </a:r>
            <a:endParaRPr/>
          </a:p>
        </p:txBody>
      </p:sp>
      <p:sp>
        <p:nvSpPr>
          <p:cNvPr id="282" name="Google Shape;282;p4"/>
          <p:cNvSpPr/>
          <p:nvPr/>
        </p:nvSpPr>
        <p:spPr>
          <a:xfrm>
            <a:off x="603504" y="5230368"/>
            <a:ext cx="10899648" cy="704088"/>
          </a:xfrm>
          <a:prstGeom prst="roundRect">
            <a:avLst>
              <a:gd name="adj" fmla="val 13000"/>
            </a:avLst>
          </a:prstGeom>
          <a:solidFill>
            <a:srgbClr val="E8F1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 txBox="1"/>
          <p:nvPr/>
        </p:nvSpPr>
        <p:spPr>
          <a:xfrm>
            <a:off x="859536" y="5449824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Scope note: prototype advising support — not an official degree audit, registration, or UTA approval.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61041-C45B-CAFF-9F87-77B613D4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743C4A-D573-8B8B-BEED-9B6506324D6B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F55"/>
          </a:solidFill>
          <a:ln w="15240">
            <a:solidFill>
              <a:srgbClr val="102F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3F71D7-FA61-277F-D1F1-5211553D05A5}"/>
              </a:ext>
            </a:extLst>
          </p:cNvPr>
          <p:cNvSpPr/>
          <p:nvPr/>
        </p:nvSpPr>
        <p:spPr>
          <a:xfrm>
            <a:off x="402336" y="173736"/>
            <a:ext cx="68580" cy="429768"/>
          </a:xfrm>
          <a:prstGeom prst="rect">
            <a:avLst/>
          </a:prstGeom>
          <a:solidFill>
            <a:srgbClr val="F28C32"/>
          </a:solidFill>
          <a:ln w="15240">
            <a:solidFill>
              <a:srgbClr val="F2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34671-366C-628E-E5EC-63736EAAFAAF}"/>
              </a:ext>
            </a:extLst>
          </p:cNvPr>
          <p:cNvSpPr txBox="1"/>
          <p:nvPr/>
        </p:nvSpPr>
        <p:spPr>
          <a:xfrm>
            <a:off x="640080" y="155448"/>
            <a:ext cx="10972800" cy="411480"/>
          </a:xfrm>
          <a:prstGeom prst="rect">
            <a:avLst/>
          </a:prstGeom>
          <a:noFill/>
        </p:spPr>
        <p:txBody>
          <a:bodyPr wrap="square" lIns="27432" tIns="27432" rIns="27432">
            <a:spAutoFit/>
          </a:bodyPr>
          <a:lstStyle/>
          <a:p>
            <a:pPr>
              <a:spcAft>
                <a:spcPts val="2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AWS SYSTEM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50381-9451-B82C-48AB-20BDAB731186}"/>
              </a:ext>
            </a:extLst>
          </p:cNvPr>
          <p:cNvSpPr txBox="1"/>
          <p:nvPr/>
        </p:nvSpPr>
        <p:spPr>
          <a:xfrm>
            <a:off x="594360" y="932688"/>
            <a:ext cx="10972800" cy="320040"/>
          </a:xfrm>
          <a:prstGeom prst="rect">
            <a:avLst/>
          </a:prstGeom>
          <a:noFill/>
        </p:spPr>
        <p:txBody>
          <a:bodyPr wrap="square" lIns="27432" tIns="27432" rIns="27432">
            <a:spAutoFit/>
          </a:bodyPr>
          <a:lstStyle/>
          <a:p>
            <a:pPr>
              <a:spcAft>
                <a:spcPts val="200"/>
              </a:spcAft>
              <a:defRPr sz="1400" b="0">
                <a:solidFill>
                  <a:srgbClr val="57708A"/>
                </a:solidFill>
                <a:latin typeface="Aptos"/>
              </a:defRPr>
            </a:pPr>
            <a:r>
              <a:t>Containerized application  •  Secure authentication  •  AI orchestration and data services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A383DE-291F-039B-D73E-E30698F0AEEE}"/>
              </a:ext>
            </a:extLst>
          </p:cNvPr>
          <p:cNvSpPr/>
          <p:nvPr/>
        </p:nvSpPr>
        <p:spPr>
          <a:xfrm>
            <a:off x="393192" y="6391656"/>
            <a:ext cx="11365992" cy="32004"/>
          </a:xfrm>
          <a:prstGeom prst="rect">
            <a:avLst/>
          </a:prstGeom>
          <a:solidFill>
            <a:srgbClr val="CFDAE5"/>
          </a:solidFill>
          <a:ln w="15240">
            <a:solidFill>
              <a:srgbClr val="CF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5637741-D8EF-E4E4-B18E-A26991D50837}"/>
              </a:ext>
            </a:extLst>
          </p:cNvPr>
          <p:cNvSpPr txBox="1"/>
          <p:nvPr/>
        </p:nvSpPr>
        <p:spPr>
          <a:xfrm>
            <a:off x="502920" y="6464808"/>
            <a:ext cx="10972800" cy="246888"/>
          </a:xfrm>
          <a:prstGeom prst="rect">
            <a:avLst/>
          </a:prstGeom>
          <a:noFill/>
        </p:spPr>
        <p:txBody>
          <a:bodyPr wrap="square" lIns="27432" tIns="27432" rIns="27432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02F55"/>
                </a:solidFill>
                <a:latin typeface="Aptos"/>
              </a:defRPr>
            </a:pPr>
            <a:r>
              <a:rPr dirty="0"/>
              <a:t>REQUEST FLOW    Browser → ALB → </a:t>
            </a:r>
            <a:r>
              <a:rPr dirty="0" err="1"/>
              <a:t>Streamlit</a:t>
            </a:r>
            <a:r>
              <a:rPr dirty="0"/>
              <a:t> Chat UI → LangChain API → </a:t>
            </a:r>
            <a:r>
              <a:rPr dirty="0" err="1"/>
              <a:t>ChromaDB</a:t>
            </a:r>
            <a:r>
              <a:rPr dirty="0"/>
              <a:t> / DynamoDB / Bedrock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E630B8-0752-8A6D-1F27-8957AE7CA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03" y="1146950"/>
            <a:ext cx="8290634" cy="524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1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3463"/>
          </a:solidFill>
          <a:ln w="9525" cap="flat" cmpd="sng">
            <a:solidFill>
              <a:srgbClr val="0D346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533400" y="251460"/>
            <a:ext cx="7620000" cy="25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135AA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301" name="Google Shape;301;p6"/>
          <p:cNvSpPr txBox="1"/>
          <p:nvPr/>
        </p:nvSpPr>
        <p:spPr>
          <a:xfrm>
            <a:off x="533400" y="632461"/>
            <a:ext cx="11430000" cy="464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6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RAG Pipeline: Document Ingestion &amp; Indexing</a:t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533400" y="1257300"/>
            <a:ext cx="11125200" cy="26670"/>
          </a:xfrm>
          <a:prstGeom prst="rect">
            <a:avLst/>
          </a:prstGeom>
          <a:solidFill>
            <a:srgbClr val="CEDAE6"/>
          </a:solidFill>
          <a:ln w="9525" cap="flat" cmpd="sng">
            <a:solidFill>
              <a:srgbClr val="CEDA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685800" y="1402080"/>
            <a:ext cx="10972800" cy="28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Offline / update-time pipeline — prepares searchable knowledge before students ask questions</a:t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1500" y="19278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678180" y="20345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708660" y="20993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07" name="Google Shape;307;p6"/>
          <p:cNvSpPr txBox="1"/>
          <p:nvPr/>
        </p:nvSpPr>
        <p:spPr>
          <a:xfrm>
            <a:off x="693420" y="2522220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GitHub Repository</a:t>
            </a:r>
            <a:endParaRPr/>
          </a:p>
        </p:txBody>
      </p:sp>
      <p:sp>
        <p:nvSpPr>
          <p:cNvPr id="308" name="Google Shape;308;p6"/>
          <p:cNvSpPr txBox="1"/>
          <p:nvPr/>
        </p:nvSpPr>
        <p:spPr>
          <a:xfrm>
            <a:off x="701040" y="2745394"/>
            <a:ext cx="2087880" cy="55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Team pushes documents to GitHub (PDF, Word, .txt, md, csv, json)</a:t>
            </a:r>
            <a:endParaRPr sz="10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489960" y="19278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3596640" y="20345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3627120" y="20993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3611880" y="2522220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GitHub Actions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3611880" y="2834640"/>
            <a:ext cx="2087880" cy="38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Push triggers workflow to upload academic documents</a:t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6408420" y="19278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515100" y="20345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 txBox="1"/>
          <p:nvPr/>
        </p:nvSpPr>
        <p:spPr>
          <a:xfrm>
            <a:off x="6545580" y="20993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17" name="Google Shape;317;p6"/>
          <p:cNvSpPr txBox="1"/>
          <p:nvPr/>
        </p:nvSpPr>
        <p:spPr>
          <a:xfrm>
            <a:off x="6530340" y="2522220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Amazon S3</a:t>
            </a:r>
            <a:endParaRPr/>
          </a:p>
        </p:txBody>
      </p:sp>
      <p:sp>
        <p:nvSpPr>
          <p:cNvPr id="318" name="Google Shape;318;p6"/>
          <p:cNvSpPr txBox="1"/>
          <p:nvPr/>
        </p:nvSpPr>
        <p:spPr>
          <a:xfrm>
            <a:off x="6530340" y="2834640"/>
            <a:ext cx="2087880" cy="22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Stores uploaded source files</a:t>
            </a:r>
            <a:endParaRPr/>
          </a:p>
        </p:txBody>
      </p:sp>
      <p:sp>
        <p:nvSpPr>
          <p:cNvPr id="319" name="Google Shape;319;p6"/>
          <p:cNvSpPr/>
          <p:nvPr/>
        </p:nvSpPr>
        <p:spPr>
          <a:xfrm>
            <a:off x="9326880" y="19278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9433560" y="20345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 txBox="1"/>
          <p:nvPr/>
        </p:nvSpPr>
        <p:spPr>
          <a:xfrm>
            <a:off x="9464040" y="20993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22" name="Google Shape;322;p6"/>
          <p:cNvSpPr txBox="1"/>
          <p:nvPr/>
        </p:nvSpPr>
        <p:spPr>
          <a:xfrm>
            <a:off x="9448800" y="2522220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/>
          </a:p>
        </p:txBody>
      </p:sp>
      <p:sp>
        <p:nvSpPr>
          <p:cNvPr id="323" name="Google Shape;323;p6"/>
          <p:cNvSpPr txBox="1"/>
          <p:nvPr/>
        </p:nvSpPr>
        <p:spPr>
          <a:xfrm>
            <a:off x="9448800" y="2834640"/>
            <a:ext cx="2087880" cy="38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S3 event triggers processing and text chunking</a:t>
            </a: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2034540" y="39090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2141220" y="40157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 txBox="1"/>
          <p:nvPr/>
        </p:nvSpPr>
        <p:spPr>
          <a:xfrm>
            <a:off x="2171700" y="40805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27" name="Google Shape;327;p6"/>
          <p:cNvSpPr txBox="1"/>
          <p:nvPr/>
        </p:nvSpPr>
        <p:spPr>
          <a:xfrm>
            <a:off x="2118499" y="4466450"/>
            <a:ext cx="22173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>
                <a:solidFill>
                  <a:srgbClr val="0D3463"/>
                </a:solidFill>
              </a:rPr>
              <a:t>AWS </a:t>
            </a: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Titan Embed v2 (8K)</a:t>
            </a:r>
            <a:endParaRPr/>
          </a:p>
        </p:txBody>
      </p:sp>
      <p:sp>
        <p:nvSpPr>
          <p:cNvPr id="328" name="Google Shape;328;p6"/>
          <p:cNvSpPr txBox="1"/>
          <p:nvPr/>
        </p:nvSpPr>
        <p:spPr>
          <a:xfrm>
            <a:off x="2156460" y="4815840"/>
            <a:ext cx="2087880" cy="38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Creates vector embeddings from text chunks</a:t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4953000" y="39090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5059680" y="40157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 txBox="1"/>
          <p:nvPr/>
        </p:nvSpPr>
        <p:spPr>
          <a:xfrm>
            <a:off x="5090160" y="40805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332" name="Google Shape;332;p6"/>
          <p:cNvSpPr txBox="1"/>
          <p:nvPr/>
        </p:nvSpPr>
        <p:spPr>
          <a:xfrm>
            <a:off x="5074920" y="4503421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/>
          </a:p>
        </p:txBody>
      </p:sp>
      <p:sp>
        <p:nvSpPr>
          <p:cNvPr id="333" name="Google Shape;333;p6"/>
          <p:cNvSpPr txBox="1"/>
          <p:nvPr/>
        </p:nvSpPr>
        <p:spPr>
          <a:xfrm>
            <a:off x="5074920" y="4815840"/>
            <a:ext cx="2087880" cy="38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Stores vectors, source text, and metadata</a:t>
            </a:r>
            <a:endParaRPr/>
          </a:p>
        </p:txBody>
      </p:sp>
      <p:sp>
        <p:nvSpPr>
          <p:cNvPr id="334" name="Google Shape;334;p6"/>
          <p:cNvSpPr/>
          <p:nvPr/>
        </p:nvSpPr>
        <p:spPr>
          <a:xfrm>
            <a:off x="7871460" y="3909060"/>
            <a:ext cx="2301240" cy="147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2E1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7978140" y="4015740"/>
            <a:ext cx="388620" cy="365760"/>
          </a:xfrm>
          <a:prstGeom prst="roundRect">
            <a:avLst>
              <a:gd name="adj" fmla="val 16667"/>
            </a:avLst>
          </a:prstGeom>
          <a:solidFill>
            <a:srgbClr val="135AA4"/>
          </a:solidFill>
          <a:ln w="9525" cap="flat" cmpd="sng">
            <a:solidFill>
              <a:srgbClr val="135AA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8008620" y="4080511"/>
            <a:ext cx="327660" cy="194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17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37" name="Google Shape;337;p6"/>
          <p:cNvSpPr txBox="1"/>
          <p:nvPr/>
        </p:nvSpPr>
        <p:spPr>
          <a:xfrm>
            <a:off x="7993380" y="4503421"/>
            <a:ext cx="2095500" cy="271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17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Microsoft Teams</a:t>
            </a:r>
            <a:endParaRPr/>
          </a:p>
        </p:txBody>
      </p:sp>
      <p:sp>
        <p:nvSpPr>
          <p:cNvPr id="338" name="Google Shape;338;p6"/>
          <p:cNvSpPr txBox="1"/>
          <p:nvPr/>
        </p:nvSpPr>
        <p:spPr>
          <a:xfrm>
            <a:off x="7993380" y="4815840"/>
            <a:ext cx="2087880" cy="387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Success notification sent to team chat </a:t>
            </a:r>
            <a:endParaRPr/>
          </a:p>
        </p:txBody>
      </p:sp>
      <p:sp>
        <p:nvSpPr>
          <p:cNvPr id="339" name="Google Shape;339;p6"/>
          <p:cNvSpPr txBox="1"/>
          <p:nvPr/>
        </p:nvSpPr>
        <p:spPr>
          <a:xfrm>
            <a:off x="3002280" y="2514601"/>
            <a:ext cx="35814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 u="none" strike="noStrike" cap="none">
                <a:solidFill>
                  <a:srgbClr val="F07E2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5920740" y="2514601"/>
            <a:ext cx="35814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 u="none" strike="noStrike" cap="none">
                <a:solidFill>
                  <a:srgbClr val="F07E2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1" name="Google Shape;341;p6"/>
          <p:cNvSpPr txBox="1"/>
          <p:nvPr/>
        </p:nvSpPr>
        <p:spPr>
          <a:xfrm>
            <a:off x="8839200" y="2514601"/>
            <a:ext cx="35814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 u="none" strike="noStrike" cap="none">
                <a:solidFill>
                  <a:srgbClr val="F07E2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2" name="Google Shape;342;p6"/>
          <p:cNvSpPr txBox="1"/>
          <p:nvPr/>
        </p:nvSpPr>
        <p:spPr>
          <a:xfrm>
            <a:off x="4503420" y="4434841"/>
            <a:ext cx="36576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 u="none" strike="noStrike" cap="none">
                <a:solidFill>
                  <a:srgbClr val="F07E2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3" name="Google Shape;343;p6"/>
          <p:cNvSpPr txBox="1"/>
          <p:nvPr/>
        </p:nvSpPr>
        <p:spPr>
          <a:xfrm>
            <a:off x="7421880" y="4434841"/>
            <a:ext cx="365760" cy="38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7" b="1" i="0" u="none" strike="noStrike" cap="none">
                <a:solidFill>
                  <a:srgbClr val="F07E2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4" name="Google Shape;344;p6"/>
          <p:cNvSpPr/>
          <p:nvPr/>
        </p:nvSpPr>
        <p:spPr>
          <a:xfrm>
            <a:off x="723900" y="5745480"/>
            <a:ext cx="10744200" cy="548640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 w="9525" cap="flat" cmpd="sng">
            <a:solidFill>
              <a:srgbClr val="EAF2F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 txBox="1"/>
          <p:nvPr/>
        </p:nvSpPr>
        <p:spPr>
          <a:xfrm>
            <a:off x="906780" y="5905500"/>
            <a:ext cx="1524000" cy="258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Indexed output</a:t>
            </a:r>
            <a:endParaRPr/>
          </a:p>
        </p:txBody>
      </p:sp>
      <p:sp>
        <p:nvSpPr>
          <p:cNvPr id="346" name="Google Shape;346;p6"/>
          <p:cNvSpPr txBox="1"/>
          <p:nvPr/>
        </p:nvSpPr>
        <p:spPr>
          <a:xfrm>
            <a:off x="2651760" y="5905500"/>
            <a:ext cx="85344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0D3463"/>
                </a:solidFill>
                <a:latin typeface="Arial"/>
                <a:ea typeface="Arial"/>
                <a:cs typeface="Arial"/>
                <a:sym typeface="Arial"/>
              </a:rPr>
              <a:t>Text chunks  •  1024-dimensional vectors  •  source metadata  •  Teams success alert</a:t>
            </a:r>
            <a:endParaRPr/>
          </a:p>
        </p:txBody>
      </p:sp>
      <p:sp>
        <p:nvSpPr>
          <p:cNvPr id="347" name="Google Shape;347;p6"/>
          <p:cNvSpPr txBox="1"/>
          <p:nvPr/>
        </p:nvSpPr>
        <p:spPr>
          <a:xfrm>
            <a:off x="533400" y="6553200"/>
            <a:ext cx="6858000" cy="182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25" tIns="7600" rIns="152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3" b="0" i="0" u="none" strike="noStrike" cap="none">
                <a:solidFill>
                  <a:srgbClr val="546B86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0D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" name="TextBox 2"/>
          <p:cNvSpPr txBox="1"/>
          <p:nvPr/>
        </p:nvSpPr>
        <p:spPr>
          <a:xfrm>
            <a:off x="571500" y="274320"/>
            <a:ext cx="6858000" cy="241156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400" b="1">
                <a:solidFill>
                  <a:srgbClr val="1B4C77"/>
                </a:solidFill>
                <a:latin typeface="Aptos"/>
              </a:defRPr>
            </a:pPr>
            <a:r>
              <a:rPr sz="1167"/>
              <a:t>UTA • TEAM 2 AI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632460"/>
            <a:ext cx="11430000" cy="459036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3100" b="1">
                <a:solidFill>
                  <a:srgbClr val="0D213E"/>
                </a:solidFill>
                <a:latin typeface="Aptos"/>
              </a:defRPr>
            </a:pPr>
            <a:r>
              <a:rPr sz="2583"/>
              <a:t>AWS Lambda: LangChain RAG Document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181100"/>
            <a:ext cx="11430000" cy="279628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700" b="0">
                <a:solidFill>
                  <a:srgbClr val="607187"/>
                </a:solidFill>
                <a:latin typeface="Aptos"/>
              </a:defRPr>
            </a:pPr>
            <a:r>
              <a:rPr sz="1417"/>
              <a:t>Actual code excerpts from our S3-triggered document ingestion Lambda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1160"/>
            <a:ext cx="5577840" cy="22250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7" name="Rounded Rectangle 6"/>
          <p:cNvSpPr/>
          <p:nvPr/>
        </p:nvSpPr>
        <p:spPr>
          <a:xfrm>
            <a:off x="685799" y="1783080"/>
            <a:ext cx="411480" cy="350520"/>
          </a:xfrm>
          <a:prstGeom prst="roundRect">
            <a:avLst/>
          </a:prstGeom>
          <a:solidFill>
            <a:srgbClr val="1B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8" name="TextBox 7"/>
          <p:cNvSpPr txBox="1"/>
          <p:nvPr/>
        </p:nvSpPr>
        <p:spPr>
          <a:xfrm>
            <a:off x="723900" y="1828800"/>
            <a:ext cx="335280" cy="22820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083"/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1579" y="1790700"/>
            <a:ext cx="4724400" cy="292388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800" b="1">
                <a:solidFill>
                  <a:srgbClr val="0D213E"/>
                </a:solidFill>
                <a:latin typeface="Aptos"/>
              </a:defRPr>
            </a:pPr>
            <a:r>
              <a:rPr sz="1500"/>
              <a:t>PARSE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640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1">
                <a:solidFill>
                  <a:srgbClr val="1B4C77"/>
                </a:solidFill>
                <a:latin typeface="Aptos"/>
              </a:defRPr>
            </a:pPr>
            <a:r>
              <a:rPr sz="917"/>
              <a:t>Custom Python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280" y="2415540"/>
            <a:ext cx="5242560" cy="1203960"/>
          </a:xfrm>
          <a:prstGeom prst="roundRect">
            <a:avLst/>
          </a:prstGeom>
          <a:solidFill>
            <a:srgbClr val="0D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2" name="TextBox 11"/>
          <p:cNvSpPr txBox="1"/>
          <p:nvPr/>
        </p:nvSpPr>
        <p:spPr>
          <a:xfrm>
            <a:off x="830579" y="2484120"/>
            <a:ext cx="4991100" cy="908326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if extension == ".pdf":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reader = PdfReader(io.BytesIO(file_bytes))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return "\n".join(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    page.extract_text() or ""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    for page in reader.pages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880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607187"/>
                </a:solidFill>
                <a:latin typeface="Aptos"/>
              </a:defRPr>
            </a:pPr>
            <a:r>
              <a:rPr sz="917"/>
              <a:t>PDF, DOCX, TXT, MD, CSV,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740" y="1661160"/>
            <a:ext cx="5577840" cy="22250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5" name="Rounded Rectangle 14"/>
          <p:cNvSpPr/>
          <p:nvPr/>
        </p:nvSpPr>
        <p:spPr>
          <a:xfrm>
            <a:off x="6438899" y="1783080"/>
            <a:ext cx="411480" cy="350520"/>
          </a:xfrm>
          <a:prstGeom prst="roundRect">
            <a:avLst/>
          </a:prstGeom>
          <a:solidFill>
            <a:srgbClr val="1B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16" name="TextBox 15"/>
          <p:cNvSpPr txBox="1"/>
          <p:nvPr/>
        </p:nvSpPr>
        <p:spPr>
          <a:xfrm>
            <a:off x="6477000" y="1828800"/>
            <a:ext cx="335280" cy="22820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083"/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4679" y="1790700"/>
            <a:ext cx="4724400" cy="292388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800" b="1">
                <a:solidFill>
                  <a:srgbClr val="0D213E"/>
                </a:solidFill>
                <a:latin typeface="Aptos"/>
              </a:defRPr>
            </a:pPr>
            <a:r>
              <a:rPr sz="1500"/>
              <a:t>CHUNK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340" y="21640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1">
                <a:solidFill>
                  <a:srgbClr val="1B4C77"/>
                </a:solidFill>
                <a:latin typeface="Aptos"/>
              </a:defRPr>
            </a:pPr>
            <a:r>
              <a:rPr sz="917"/>
              <a:t>LangChain • RecursiveCharacterTextSplitter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69380" y="2415540"/>
            <a:ext cx="5242560" cy="1203960"/>
          </a:xfrm>
          <a:prstGeom prst="roundRect">
            <a:avLst/>
          </a:prstGeom>
          <a:solidFill>
            <a:srgbClr val="0D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0" name="TextBox 19"/>
          <p:cNvSpPr txBox="1"/>
          <p:nvPr/>
        </p:nvSpPr>
        <p:spPr>
          <a:xfrm>
            <a:off x="6583679" y="2484120"/>
            <a:ext cx="4991100" cy="1190582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CHUNK_SIZE = 1000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CHUNK_OVERLAP = 150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splitter = RecursiveCharacterTextSplitter(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chunk_size=CHUNK_SIZE,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chunk_overlap=CHUNK_OVERLAP,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    separators=["\n\n", "\n", ". ", " ", ""]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)</a:t>
            </a:r>
          </a:p>
          <a:p>
            <a:pPr>
              <a:defRPr sz="1100" b="0">
                <a:solidFill>
                  <a:srgbClr val="F5F8FF"/>
                </a:solidFill>
                <a:latin typeface="Aptos Mono"/>
              </a:defRPr>
            </a:pPr>
            <a:r>
              <a:rPr sz="917"/>
              <a:t>chunks = splitter.split_text(text)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0340" y="36880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607187"/>
                </a:solidFill>
                <a:latin typeface="Aptos"/>
              </a:defRPr>
            </a:pPr>
            <a:r>
              <a:rPr sz="917"/>
              <a:t>~250 tokens per 1,000 characters (estimate)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23360"/>
            <a:ext cx="5577840" cy="22250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3" name="Rounded Rectangle 22"/>
          <p:cNvSpPr/>
          <p:nvPr/>
        </p:nvSpPr>
        <p:spPr>
          <a:xfrm>
            <a:off x="685799" y="4145280"/>
            <a:ext cx="411480" cy="350520"/>
          </a:xfrm>
          <a:prstGeom prst="roundRect">
            <a:avLst/>
          </a:prstGeom>
          <a:solidFill>
            <a:srgbClr val="1B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4" name="TextBox 23"/>
          <p:cNvSpPr txBox="1"/>
          <p:nvPr/>
        </p:nvSpPr>
        <p:spPr>
          <a:xfrm>
            <a:off x="723900" y="4191000"/>
            <a:ext cx="335280" cy="22820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083"/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1579" y="4152900"/>
            <a:ext cx="4724400" cy="292388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800" b="1">
                <a:solidFill>
                  <a:srgbClr val="0D213E"/>
                </a:solidFill>
                <a:latin typeface="Aptos"/>
              </a:defRPr>
            </a:pPr>
            <a:r>
              <a:rPr sz="1500"/>
              <a:t>GENERATE EMBEDDINGS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262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1">
                <a:solidFill>
                  <a:srgbClr val="1B4C77"/>
                </a:solidFill>
                <a:latin typeface="Aptos"/>
              </a:defRPr>
            </a:pPr>
            <a:r>
              <a:rPr sz="917"/>
              <a:t>LangChain • BedrockEmbeddings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6280" y="4777740"/>
            <a:ext cx="5242560" cy="1203960"/>
          </a:xfrm>
          <a:prstGeom prst="roundRect">
            <a:avLst/>
          </a:prstGeom>
          <a:solidFill>
            <a:srgbClr val="0D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28" name="TextBox 27"/>
          <p:cNvSpPr txBox="1"/>
          <p:nvPr/>
        </p:nvSpPr>
        <p:spPr>
          <a:xfrm>
            <a:off x="830579" y="4846320"/>
            <a:ext cx="4991100" cy="1343316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embeddings = BedrockEmbeddings(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model_id=EMBEDDING_MODEL_ID,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region_name=AWS_REGION,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client=bedrock,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model_kwargs={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    "dimensions": 1024,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    "normalize": True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}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)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vectors = embeddings.embed_documents(chunks)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502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607187"/>
                </a:solidFill>
                <a:latin typeface="Aptos"/>
              </a:defRPr>
            </a:pPr>
            <a:r>
              <a:rPr sz="917"/>
              <a:t>Amazon Titan Text Embeddings V2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1740" y="4023360"/>
            <a:ext cx="5577840" cy="222504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1" name="Rounded Rectangle 30"/>
          <p:cNvSpPr/>
          <p:nvPr/>
        </p:nvSpPr>
        <p:spPr>
          <a:xfrm>
            <a:off x="6438899" y="4145280"/>
            <a:ext cx="411480" cy="350520"/>
          </a:xfrm>
          <a:prstGeom prst="roundRect">
            <a:avLst/>
          </a:prstGeom>
          <a:solidFill>
            <a:srgbClr val="1B4C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2" name="TextBox 31"/>
          <p:cNvSpPr txBox="1"/>
          <p:nvPr/>
        </p:nvSpPr>
        <p:spPr>
          <a:xfrm>
            <a:off x="6477000" y="4191000"/>
            <a:ext cx="335280" cy="22820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083"/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4679" y="4152900"/>
            <a:ext cx="4724400" cy="292388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800" b="1">
                <a:solidFill>
                  <a:srgbClr val="0D213E"/>
                </a:solidFill>
                <a:latin typeface="Aptos"/>
              </a:defRPr>
            </a:pPr>
            <a:r>
              <a:rPr sz="1500"/>
              <a:t>INGEST INTO VECTOR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0340" y="45262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1">
                <a:solidFill>
                  <a:srgbClr val="1B4C77"/>
                </a:solidFill>
                <a:latin typeface="Aptos"/>
              </a:defRPr>
            </a:pPr>
            <a:r>
              <a:rPr sz="917"/>
              <a:t>Custom Python • ChromaDB REST API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9380" y="4777740"/>
            <a:ext cx="5242560" cy="1203960"/>
          </a:xfrm>
          <a:prstGeom prst="roundRect">
            <a:avLst/>
          </a:prstGeom>
          <a:solidFill>
            <a:srgbClr val="0D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6" name="TextBox 35"/>
          <p:cNvSpPr txBox="1"/>
          <p:nvPr/>
        </p:nvSpPr>
        <p:spPr>
          <a:xfrm>
            <a:off x="6583679" y="4846320"/>
            <a:ext cx="4991100" cy="1343316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chroma_request("upsert", {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"ids": [chunk_id],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"embeddings": [embedding],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"documents": [text],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"metadatas": [{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    "source": source,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    "chunk_index": chunk_index,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    "document_hash": document_hash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    }]</a:t>
            </a:r>
          </a:p>
          <a:p>
            <a:pPr>
              <a:defRPr sz="1000" b="0">
                <a:solidFill>
                  <a:srgbClr val="F5F8FF"/>
                </a:solidFill>
                <a:latin typeface="Aptos Mono"/>
              </a:defRPr>
            </a:pPr>
            <a:r>
              <a:rPr sz="833"/>
              <a:t>})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0340" y="6050280"/>
            <a:ext cx="51816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0">
                <a:solidFill>
                  <a:srgbClr val="607187"/>
                </a:solidFill>
                <a:latin typeface="Aptos"/>
              </a:defRPr>
            </a:pPr>
            <a:r>
              <a:rPr sz="917"/>
              <a:t>ChromaDB stores vectors + text + metadata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6461760"/>
            <a:ext cx="11315700" cy="259080"/>
          </a:xfrm>
          <a:prstGeom prst="roundRect">
            <a:avLst/>
          </a:prstGeom>
          <a:solidFill>
            <a:srgbClr val="E4EE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00"/>
          </a:p>
        </p:txBody>
      </p:sp>
      <p:sp>
        <p:nvSpPr>
          <p:cNvPr id="39" name="TextBox 38"/>
          <p:cNvSpPr txBox="1"/>
          <p:nvPr/>
        </p:nvSpPr>
        <p:spPr>
          <a:xfrm>
            <a:off x="731520" y="6492240"/>
            <a:ext cx="10820400" cy="202684"/>
          </a:xfrm>
          <a:prstGeom prst="rect">
            <a:avLst/>
          </a:prstGeom>
          <a:noFill/>
        </p:spPr>
        <p:txBody>
          <a:bodyPr wrap="square" lIns="30480" tIns="15240" rIns="15240">
            <a:spAutoFit/>
          </a:bodyPr>
          <a:lstStyle/>
          <a:p>
            <a:pPr>
              <a:defRPr sz="1100" b="1">
                <a:solidFill>
                  <a:srgbClr val="1B4C77"/>
                </a:solidFill>
                <a:latin typeface="Aptos"/>
              </a:defRPr>
            </a:pPr>
            <a:r>
              <a:rPr sz="917"/>
              <a:t>DynamoDB prevents duplicate ingestion using document hashes, ETags, and processing 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128d44af2f21f154_127_7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h128d44af2f21f154_127_75"/>
          <p:cNvSpPr txBox="1"/>
          <p:nvPr/>
        </p:nvSpPr>
        <p:spPr>
          <a:xfrm>
            <a:off x="419100" y="127000"/>
            <a:ext cx="11010900" cy="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401" name="Google Shape;401;h128d44af2f21f154_127_75"/>
          <p:cNvSpPr txBox="1"/>
          <p:nvPr/>
        </p:nvSpPr>
        <p:spPr>
          <a:xfrm>
            <a:off x="419100" y="469899"/>
            <a:ext cx="11010900" cy="43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RAG Lifecycle: Sourcing, Ingestion &amp; Confirmation</a:t>
            </a:r>
            <a:endParaRPr/>
          </a:p>
        </p:txBody>
      </p:sp>
      <p:sp>
        <p:nvSpPr>
          <p:cNvPr id="402" name="Google Shape;402;h128d44af2f21f154_127_75"/>
          <p:cNvSpPr/>
          <p:nvPr/>
        </p:nvSpPr>
        <p:spPr>
          <a:xfrm>
            <a:off x="419100" y="908050"/>
            <a:ext cx="11353800" cy="12700"/>
          </a:xfrm>
          <a:prstGeom prst="rect">
            <a:avLst/>
          </a:prstGeom>
          <a:solidFill>
            <a:srgbClr val="D1E0E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h128d44af2f21f154_127_75"/>
          <p:cNvSpPr txBox="1"/>
          <p:nvPr/>
        </p:nvSpPr>
        <p:spPr>
          <a:xfrm>
            <a:off x="419100" y="1047749"/>
            <a:ext cx="11010900" cy="2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Official academic sources → searchable knowledge → ingestion confirmation</a:t>
            </a:r>
            <a:endParaRPr/>
          </a:p>
        </p:txBody>
      </p:sp>
      <p:sp>
        <p:nvSpPr>
          <p:cNvPr id="404" name="Google Shape;404;h128d44af2f21f154_127_75"/>
          <p:cNvSpPr/>
          <p:nvPr/>
        </p:nvSpPr>
        <p:spPr>
          <a:xfrm>
            <a:off x="419100" y="1441450"/>
            <a:ext cx="3517900" cy="4749800"/>
          </a:xfrm>
          <a:prstGeom prst="roundRect">
            <a:avLst>
              <a:gd name="adj" fmla="val 4332"/>
            </a:avLst>
          </a:prstGeom>
          <a:solidFill>
            <a:srgbClr val="F5F7FA"/>
          </a:solidFill>
          <a:ln w="12700" cap="flat" cmpd="sng">
            <a:solidFill>
              <a:srgbClr val="D1E0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h128d44af2f21f154_127_75"/>
          <p:cNvSpPr/>
          <p:nvPr/>
        </p:nvSpPr>
        <p:spPr>
          <a:xfrm>
            <a:off x="596900" y="1593850"/>
            <a:ext cx="393700" cy="317500"/>
          </a:xfrm>
          <a:prstGeom prst="roundRect">
            <a:avLst>
              <a:gd name="adj" fmla="val 10000"/>
            </a:avLst>
          </a:prstGeom>
          <a:solidFill>
            <a:srgbClr val="185DA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h128d44af2f21f154_127_75"/>
          <p:cNvSpPr txBox="1"/>
          <p:nvPr/>
        </p:nvSpPr>
        <p:spPr>
          <a:xfrm>
            <a:off x="711200" y="1663700"/>
            <a:ext cx="10718800" cy="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407" name="Google Shape;407;h128d44af2f21f154_127_75"/>
          <p:cNvSpPr txBox="1"/>
          <p:nvPr/>
        </p:nvSpPr>
        <p:spPr>
          <a:xfrm>
            <a:off x="1079500" y="1689100"/>
            <a:ext cx="103505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COLLECT &amp; CHECK</a:t>
            </a:r>
            <a:endParaRPr/>
          </a:p>
        </p:txBody>
      </p:sp>
      <p:sp>
        <p:nvSpPr>
          <p:cNvPr id="408" name="Google Shape;408;h128d44af2f21f154_127_75"/>
          <p:cNvSpPr txBox="1"/>
          <p:nvPr/>
        </p:nvSpPr>
        <p:spPr>
          <a:xfrm>
            <a:off x="596900" y="2095499"/>
            <a:ext cx="10833100" cy="2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Document Retrieval &amp; Sourcing</a:t>
            </a:r>
            <a:endParaRPr/>
          </a:p>
        </p:txBody>
      </p:sp>
      <p:sp>
        <p:nvSpPr>
          <p:cNvPr id="409" name="Google Shape;409;h128d44af2f21f154_127_75"/>
          <p:cNvSpPr/>
          <p:nvPr/>
        </p:nvSpPr>
        <p:spPr>
          <a:xfrm>
            <a:off x="4229100" y="1441450"/>
            <a:ext cx="3517900" cy="4749800"/>
          </a:xfrm>
          <a:prstGeom prst="roundRect">
            <a:avLst>
              <a:gd name="adj" fmla="val 4332"/>
            </a:avLst>
          </a:prstGeom>
          <a:solidFill>
            <a:srgbClr val="F5F7FA"/>
          </a:solidFill>
          <a:ln w="12700" cap="flat" cmpd="sng">
            <a:solidFill>
              <a:srgbClr val="D1E0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h128d44af2f21f154_127_75"/>
          <p:cNvSpPr/>
          <p:nvPr/>
        </p:nvSpPr>
        <p:spPr>
          <a:xfrm>
            <a:off x="4406900" y="1593850"/>
            <a:ext cx="393700" cy="317500"/>
          </a:xfrm>
          <a:prstGeom prst="roundRect">
            <a:avLst>
              <a:gd name="adj" fmla="val 10000"/>
            </a:avLst>
          </a:prstGeom>
          <a:solidFill>
            <a:srgbClr val="185DA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h128d44af2f21f154_127_75"/>
          <p:cNvSpPr txBox="1"/>
          <p:nvPr/>
        </p:nvSpPr>
        <p:spPr>
          <a:xfrm>
            <a:off x="4521200" y="1663700"/>
            <a:ext cx="6908800" cy="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412" name="Google Shape;412;h128d44af2f21f154_127_75"/>
          <p:cNvSpPr txBox="1"/>
          <p:nvPr/>
        </p:nvSpPr>
        <p:spPr>
          <a:xfrm>
            <a:off x="4889500" y="1689100"/>
            <a:ext cx="65405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TRANSFORM</a:t>
            </a:r>
            <a:endParaRPr/>
          </a:p>
        </p:txBody>
      </p:sp>
      <p:sp>
        <p:nvSpPr>
          <p:cNvPr id="413" name="Google Shape;413;h128d44af2f21f154_127_75"/>
          <p:cNvSpPr txBox="1"/>
          <p:nvPr/>
        </p:nvSpPr>
        <p:spPr>
          <a:xfrm>
            <a:off x="4406900" y="2095499"/>
            <a:ext cx="7023100" cy="2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Document Parsing &amp; Ingestion</a:t>
            </a:r>
            <a:endParaRPr/>
          </a:p>
        </p:txBody>
      </p:sp>
      <p:sp>
        <p:nvSpPr>
          <p:cNvPr id="414" name="Google Shape;414;h128d44af2f21f154_127_75"/>
          <p:cNvSpPr/>
          <p:nvPr/>
        </p:nvSpPr>
        <p:spPr>
          <a:xfrm>
            <a:off x="8039099" y="1441450"/>
            <a:ext cx="3517900" cy="4749800"/>
          </a:xfrm>
          <a:prstGeom prst="roundRect">
            <a:avLst>
              <a:gd name="adj" fmla="val 4332"/>
            </a:avLst>
          </a:prstGeom>
          <a:solidFill>
            <a:srgbClr val="F5F7FA"/>
          </a:solidFill>
          <a:ln w="12700" cap="flat" cmpd="sng">
            <a:solidFill>
              <a:srgbClr val="D1E0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h128d44af2f21f154_127_75"/>
          <p:cNvSpPr/>
          <p:nvPr/>
        </p:nvSpPr>
        <p:spPr>
          <a:xfrm>
            <a:off x="8216900" y="1593850"/>
            <a:ext cx="393700" cy="317500"/>
          </a:xfrm>
          <a:prstGeom prst="roundRect">
            <a:avLst>
              <a:gd name="adj" fmla="val 10000"/>
            </a:avLst>
          </a:prstGeom>
          <a:solidFill>
            <a:srgbClr val="185DA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h128d44af2f21f154_127_75"/>
          <p:cNvSpPr txBox="1"/>
          <p:nvPr/>
        </p:nvSpPr>
        <p:spPr>
          <a:xfrm>
            <a:off x="8331200" y="1663700"/>
            <a:ext cx="3098800" cy="21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417" name="Google Shape;417;h128d44af2f21f154_127_75"/>
          <p:cNvSpPr txBox="1"/>
          <p:nvPr/>
        </p:nvSpPr>
        <p:spPr>
          <a:xfrm>
            <a:off x="8699500" y="1689100"/>
            <a:ext cx="27305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CONFIRM</a:t>
            </a:r>
            <a:endParaRPr/>
          </a:p>
        </p:txBody>
      </p:sp>
      <p:sp>
        <p:nvSpPr>
          <p:cNvPr id="418" name="Google Shape;418;h128d44af2f21f154_127_75"/>
          <p:cNvSpPr txBox="1"/>
          <p:nvPr/>
        </p:nvSpPr>
        <p:spPr>
          <a:xfrm>
            <a:off x="8216900" y="2095499"/>
            <a:ext cx="3213100" cy="239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Ingestion Confirmation</a:t>
            </a:r>
            <a:endParaRPr/>
          </a:p>
        </p:txBody>
      </p:sp>
      <p:pic>
        <p:nvPicPr>
          <p:cNvPr id="419" name="Google Shape;419;h128d44af2f21f154_127_7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900" y="2425700"/>
            <a:ext cx="3162300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h128d44af2f21f154_127_75"/>
          <p:cNvSpPr txBox="1"/>
          <p:nvPr/>
        </p:nvSpPr>
        <p:spPr>
          <a:xfrm>
            <a:off x="596900" y="4559300"/>
            <a:ext cx="108331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Collected official UTA catalogs, degree requirements,</a:t>
            </a:r>
            <a:endParaRPr/>
          </a:p>
        </p:txBody>
      </p:sp>
      <p:sp>
        <p:nvSpPr>
          <p:cNvPr id="421" name="Google Shape;421;h128d44af2f21f154_127_75"/>
          <p:cNvSpPr txBox="1"/>
          <p:nvPr/>
        </p:nvSpPr>
        <p:spPr>
          <a:xfrm>
            <a:off x="596900" y="4724400"/>
            <a:ext cx="108331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prerequisites, policies and schedules. Checked</a:t>
            </a:r>
            <a:endParaRPr/>
          </a:p>
        </p:txBody>
      </p:sp>
      <p:sp>
        <p:nvSpPr>
          <p:cNvPr id="422" name="Google Shape;422;h128d44af2f21f154_127_75"/>
          <p:cNvSpPr txBox="1"/>
          <p:nvPr/>
        </p:nvSpPr>
        <p:spPr>
          <a:xfrm>
            <a:off x="596900" y="4889500"/>
            <a:ext cx="108331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extracted content against published sources; preserved</a:t>
            </a:r>
            <a:endParaRPr/>
          </a:p>
        </p:txBody>
      </p:sp>
      <p:sp>
        <p:nvSpPr>
          <p:cNvPr id="423" name="Google Shape;423;h128d44af2f21f154_127_75"/>
          <p:cNvSpPr txBox="1"/>
          <p:nvPr/>
        </p:nvSpPr>
        <p:spPr>
          <a:xfrm>
            <a:off x="596900" y="5054600"/>
            <a:ext cx="108331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references and known limitations.</a:t>
            </a:r>
            <a:endParaRPr/>
          </a:p>
        </p:txBody>
      </p:sp>
      <p:sp>
        <p:nvSpPr>
          <p:cNvPr id="424" name="Google Shape;424;h128d44af2f21f154_127_75"/>
          <p:cNvSpPr txBox="1"/>
          <p:nvPr/>
        </p:nvSpPr>
        <p:spPr>
          <a:xfrm>
            <a:off x="628650" y="5295900"/>
            <a:ext cx="1080135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5" name="Google Shape;425;h128d44af2f21f154_127_75"/>
          <p:cNvSpPr txBox="1"/>
          <p:nvPr/>
        </p:nvSpPr>
        <p:spPr>
          <a:xfrm>
            <a:off x="762000" y="5295900"/>
            <a:ext cx="106680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5 catalog years: 2022–2023 through 2026–2027</a:t>
            </a:r>
            <a:endParaRPr/>
          </a:p>
        </p:txBody>
      </p:sp>
      <p:sp>
        <p:nvSpPr>
          <p:cNvPr id="426" name="Google Shape;426;h128d44af2f21f154_127_75"/>
          <p:cNvSpPr txBox="1"/>
          <p:nvPr/>
        </p:nvSpPr>
        <p:spPr>
          <a:xfrm>
            <a:off x="628650" y="5530850"/>
            <a:ext cx="1080135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7" name="Google Shape;427;h128d44af2f21f154_127_75"/>
          <p:cNvSpPr txBox="1"/>
          <p:nvPr/>
        </p:nvSpPr>
        <p:spPr>
          <a:xfrm>
            <a:off x="762000" y="5530850"/>
            <a:ext cx="106680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CS, Computer Engineering and Software Engineering</a:t>
            </a:r>
            <a:endParaRPr/>
          </a:p>
        </p:txBody>
      </p:sp>
      <p:sp>
        <p:nvSpPr>
          <p:cNvPr id="428" name="Google Shape;428;h128d44af2f21f154_127_75"/>
          <p:cNvSpPr txBox="1"/>
          <p:nvPr/>
        </p:nvSpPr>
        <p:spPr>
          <a:xfrm>
            <a:off x="628650" y="5765800"/>
            <a:ext cx="1080135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429" name="Google Shape;429;h128d44af2f21f154_127_75"/>
          <p:cNvSpPr txBox="1"/>
          <p:nvPr/>
        </p:nvSpPr>
        <p:spPr>
          <a:xfrm>
            <a:off x="762000" y="5765800"/>
            <a:ext cx="106680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127 files organized for advisor ingestion</a:t>
            </a:r>
            <a:endParaRPr/>
          </a:p>
        </p:txBody>
      </p:sp>
      <p:pic>
        <p:nvPicPr>
          <p:cNvPr id="430" name="Google Shape;430;h128d44af2f21f154_127_7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70400" y="2476500"/>
            <a:ext cx="984250" cy="835317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h128d44af2f21f154_127_75"/>
          <p:cNvSpPr txBox="1"/>
          <p:nvPr/>
        </p:nvSpPr>
        <p:spPr>
          <a:xfrm>
            <a:off x="5676900" y="2654300"/>
            <a:ext cx="57531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endParaRPr/>
          </a:p>
        </p:txBody>
      </p:sp>
      <p:sp>
        <p:nvSpPr>
          <p:cNvPr id="432" name="Google Shape;432;h128d44af2f21f154_127_75"/>
          <p:cNvSpPr txBox="1"/>
          <p:nvPr/>
        </p:nvSpPr>
        <p:spPr>
          <a:xfrm>
            <a:off x="5676900" y="2876550"/>
            <a:ext cx="57531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Academic source files</a:t>
            </a:r>
            <a:endParaRPr/>
          </a:p>
        </p:txBody>
      </p:sp>
      <p:pic>
        <p:nvPicPr>
          <p:cNvPr id="433" name="Google Shape;433;h128d44af2f21f154_127_7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70400" y="3397250"/>
            <a:ext cx="984250" cy="54890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h128d44af2f21f154_127_75"/>
          <p:cNvSpPr txBox="1"/>
          <p:nvPr/>
        </p:nvSpPr>
        <p:spPr>
          <a:xfrm>
            <a:off x="5676900" y="3575050"/>
            <a:ext cx="57531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Text chunks</a:t>
            </a:r>
            <a:endParaRPr/>
          </a:p>
        </p:txBody>
      </p:sp>
      <p:sp>
        <p:nvSpPr>
          <p:cNvPr id="435" name="Google Shape;435;h128d44af2f21f154_127_75"/>
          <p:cNvSpPr txBox="1"/>
          <p:nvPr/>
        </p:nvSpPr>
        <p:spPr>
          <a:xfrm>
            <a:off x="5676900" y="3797300"/>
            <a:ext cx="57531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/>
          </a:p>
        </p:txBody>
      </p:sp>
      <p:pic>
        <p:nvPicPr>
          <p:cNvPr id="436" name="Google Shape;436;h128d44af2f21f154_127_7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0400" y="4222750"/>
            <a:ext cx="984250" cy="5115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h128d44af2f21f154_127_75"/>
          <p:cNvSpPr txBox="1"/>
          <p:nvPr/>
        </p:nvSpPr>
        <p:spPr>
          <a:xfrm>
            <a:off x="5676900" y="4400550"/>
            <a:ext cx="57531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/>
          </a:p>
        </p:txBody>
      </p:sp>
      <p:sp>
        <p:nvSpPr>
          <p:cNvPr id="438" name="Google Shape;438;h128d44af2f21f154_127_75"/>
          <p:cNvSpPr txBox="1"/>
          <p:nvPr/>
        </p:nvSpPr>
        <p:spPr>
          <a:xfrm>
            <a:off x="5676900" y="4622800"/>
            <a:ext cx="57531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Amazon Titan v2</a:t>
            </a:r>
            <a:endParaRPr/>
          </a:p>
        </p:txBody>
      </p:sp>
      <p:pic>
        <p:nvPicPr>
          <p:cNvPr id="439" name="Google Shape;439;h128d44af2f21f154_127_7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70400" y="5022850"/>
            <a:ext cx="984250" cy="7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h128d44af2f21f154_127_75"/>
          <p:cNvSpPr txBox="1"/>
          <p:nvPr/>
        </p:nvSpPr>
        <p:spPr>
          <a:xfrm>
            <a:off x="5676900" y="5200650"/>
            <a:ext cx="57531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03763"/>
                </a:solidFill>
                <a:latin typeface="Arial"/>
                <a:ea typeface="Arial"/>
                <a:cs typeface="Arial"/>
                <a:sym typeface="Arial"/>
              </a:rPr>
              <a:t>Vector store</a:t>
            </a:r>
            <a:endParaRPr/>
          </a:p>
        </p:txBody>
      </p:sp>
      <p:sp>
        <p:nvSpPr>
          <p:cNvPr id="441" name="Google Shape;441;h128d44af2f21f154_127_75"/>
          <p:cNvSpPr txBox="1"/>
          <p:nvPr/>
        </p:nvSpPr>
        <p:spPr>
          <a:xfrm>
            <a:off x="5676900" y="5422900"/>
            <a:ext cx="5753100" cy="174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/>
          </a:p>
        </p:txBody>
      </p:sp>
      <p:sp>
        <p:nvSpPr>
          <p:cNvPr id="442" name="Google Shape;442;h128d44af2f21f154_127_75"/>
          <p:cNvSpPr txBox="1"/>
          <p:nvPr/>
        </p:nvSpPr>
        <p:spPr>
          <a:xfrm>
            <a:off x="5905500" y="3232150"/>
            <a:ext cx="5524500" cy="26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80A5C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43" name="Google Shape;443;h128d44af2f21f154_127_75"/>
          <p:cNvSpPr txBox="1"/>
          <p:nvPr/>
        </p:nvSpPr>
        <p:spPr>
          <a:xfrm>
            <a:off x="5905500" y="4064000"/>
            <a:ext cx="5524500" cy="26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80A5C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44" name="Google Shape;444;h128d44af2f21f154_127_75"/>
          <p:cNvSpPr txBox="1"/>
          <p:nvPr/>
        </p:nvSpPr>
        <p:spPr>
          <a:xfrm>
            <a:off x="5905500" y="4870450"/>
            <a:ext cx="5524500" cy="26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>
                <a:solidFill>
                  <a:srgbClr val="80A5C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pic>
        <p:nvPicPr>
          <p:cNvPr id="445" name="Google Shape;445;h128d44af2f21f154_127_7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16900" y="2425700"/>
            <a:ext cx="3162300" cy="2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h128d44af2f21f154_127_75"/>
          <p:cNvSpPr txBox="1"/>
          <p:nvPr/>
        </p:nvSpPr>
        <p:spPr>
          <a:xfrm>
            <a:off x="8216900" y="4838700"/>
            <a:ext cx="321310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DynamoDB tracks document hashes and processing</a:t>
            </a:r>
            <a:endParaRPr/>
          </a:p>
        </p:txBody>
      </p:sp>
      <p:sp>
        <p:nvSpPr>
          <p:cNvPr id="447" name="Google Shape;447;h128d44af2f21f154_127_75"/>
          <p:cNvSpPr txBox="1"/>
          <p:nvPr/>
        </p:nvSpPr>
        <p:spPr>
          <a:xfrm>
            <a:off x="8216900" y="5022850"/>
            <a:ext cx="321310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status. After ingestion completes, a Teams</a:t>
            </a:r>
            <a:endParaRPr/>
          </a:p>
        </p:txBody>
      </p:sp>
      <p:sp>
        <p:nvSpPr>
          <p:cNvPr id="448" name="Google Shape;448;h128d44af2f21f154_127_75"/>
          <p:cNvSpPr txBox="1"/>
          <p:nvPr/>
        </p:nvSpPr>
        <p:spPr>
          <a:xfrm>
            <a:off x="8216900" y="5207000"/>
            <a:ext cx="321310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notification reports the document, stored chunk</a:t>
            </a:r>
            <a:endParaRPr/>
          </a:p>
        </p:txBody>
      </p:sp>
      <p:sp>
        <p:nvSpPr>
          <p:cNvPr id="449" name="Google Shape;449;h128d44af2f21f154_127_75"/>
          <p:cNvSpPr txBox="1"/>
          <p:nvPr/>
        </p:nvSpPr>
        <p:spPr>
          <a:xfrm>
            <a:off x="8216900" y="5391150"/>
            <a:ext cx="3213100" cy="193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count, embedding model and vector database.</a:t>
            </a:r>
            <a:endParaRPr/>
          </a:p>
        </p:txBody>
      </p:sp>
      <p:sp>
        <p:nvSpPr>
          <p:cNvPr id="450" name="Google Shape;450;h128d44af2f21f154_127_75"/>
          <p:cNvSpPr txBox="1"/>
          <p:nvPr/>
        </p:nvSpPr>
        <p:spPr>
          <a:xfrm>
            <a:off x="8216900" y="5842000"/>
            <a:ext cx="3213100" cy="15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85DA5"/>
                </a:solidFill>
                <a:latin typeface="Arial"/>
                <a:ea typeface="Arial"/>
                <a:cs typeface="Arial"/>
                <a:sym typeface="Arial"/>
              </a:rPr>
              <a:t>Actual Teams ingestion notification</a:t>
            </a:r>
            <a:endParaRPr/>
          </a:p>
        </p:txBody>
      </p:sp>
      <p:sp>
        <p:nvSpPr>
          <p:cNvPr id="451" name="Google Shape;451;h128d44af2f21f154_127_75"/>
          <p:cNvSpPr txBox="1"/>
          <p:nvPr/>
        </p:nvSpPr>
        <p:spPr>
          <a:xfrm>
            <a:off x="419100" y="6400800"/>
            <a:ext cx="11010900" cy="15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CSE 4392 / 5320 • TEAM ASSIGNMENT 2</a:t>
            </a:r>
            <a:endParaRPr/>
          </a:p>
        </p:txBody>
      </p:sp>
      <p:sp>
        <p:nvSpPr>
          <p:cNvPr id="452" name="Google Shape;452;h128d44af2f21f154_127_75"/>
          <p:cNvSpPr txBox="1"/>
          <p:nvPr/>
        </p:nvSpPr>
        <p:spPr>
          <a:xfrm>
            <a:off x="4914900" y="6400800"/>
            <a:ext cx="6515100" cy="156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526E8D"/>
                </a:solidFill>
                <a:latin typeface="Arial"/>
                <a:ea typeface="Arial"/>
                <a:cs typeface="Arial"/>
                <a:sym typeface="Arial"/>
              </a:rPr>
              <a:t>Source review: Oct. 16, 2026 • Known limitations retained • Schedules are snapshots</a:t>
            </a:r>
            <a:endParaRPr/>
          </a:p>
        </p:txBody>
      </p:sp>
      <p:sp>
        <p:nvSpPr>
          <p:cNvPr id="2" name="Google Shape;299;p6">
            <a:extLst>
              <a:ext uri="{FF2B5EF4-FFF2-40B4-BE49-F238E27FC236}">
                <a16:creationId xmlns:a16="http://schemas.microsoft.com/office/drawing/2014/main" id="{7589BD72-0353-861C-06DC-BD46B84A3FF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D3463"/>
          </a:solidFill>
          <a:ln w="9525" cap="flat" cmpd="sng">
            <a:solidFill>
              <a:srgbClr val="0D346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8"/>
          <p:cNvSpPr txBox="1"/>
          <p:nvPr/>
        </p:nvSpPr>
        <p:spPr>
          <a:xfrm>
            <a:off x="502920" y="274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UTA  •  TEAM 2 AI ADVISOR</a:t>
            </a:r>
            <a:endParaRPr/>
          </a:p>
        </p:txBody>
      </p:sp>
      <p:sp>
        <p:nvSpPr>
          <p:cNvPr id="459" name="Google Shape;459;p8"/>
          <p:cNvSpPr txBox="1"/>
          <p:nvPr/>
        </p:nvSpPr>
        <p:spPr>
          <a:xfrm>
            <a:off x="502920" y="658368"/>
            <a:ext cx="1097280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LangChain Router: 6 Routes → 3 Processing Paths</a:t>
            </a:r>
            <a:endParaRPr/>
          </a:p>
        </p:txBody>
      </p:sp>
      <p:sp>
        <p:nvSpPr>
          <p:cNvPr id="460" name="Google Shape;460;p8"/>
          <p:cNvSpPr txBox="1"/>
          <p:nvPr/>
        </p:nvSpPr>
        <p:spPr>
          <a:xfrm>
            <a:off x="502920" y="1271016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The Bedrock LLM classifies the request; Python dispatches to the correct workflow.</a:t>
            </a:r>
            <a:endParaRPr/>
          </a:p>
        </p:txBody>
      </p:sp>
      <p:sp>
        <p:nvSpPr>
          <p:cNvPr id="461" name="Google Shape;461;p8"/>
          <p:cNvSpPr/>
          <p:nvPr/>
        </p:nvSpPr>
        <p:spPr>
          <a:xfrm>
            <a:off x="731520" y="1828800"/>
            <a:ext cx="2971800" cy="585216"/>
          </a:xfrm>
          <a:prstGeom prst="roundRect">
            <a:avLst>
              <a:gd name="adj" fmla="val 16667"/>
            </a:avLst>
          </a:prstGeom>
          <a:solidFill>
            <a:srgbClr val="0D1F3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8"/>
          <p:cNvSpPr txBox="1"/>
          <p:nvPr/>
        </p:nvSpPr>
        <p:spPr>
          <a:xfrm>
            <a:off x="850392" y="1947672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question → FastAPI</a:t>
            </a:r>
            <a:endParaRPr/>
          </a:p>
        </p:txBody>
      </p:sp>
      <p:sp>
        <p:nvSpPr>
          <p:cNvPr id="463" name="Google Shape;463;p8"/>
          <p:cNvSpPr txBox="1"/>
          <p:nvPr/>
        </p:nvSpPr>
        <p:spPr>
          <a:xfrm>
            <a:off x="3776472" y="19202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464" name="Google Shape;464;p8"/>
          <p:cNvSpPr/>
          <p:nvPr/>
        </p:nvSpPr>
        <p:spPr>
          <a:xfrm>
            <a:off x="4370832" y="1746504"/>
            <a:ext cx="3364992" cy="777240"/>
          </a:xfrm>
          <a:prstGeom prst="roundRect">
            <a:avLst>
              <a:gd name="adj" fmla="val 16667"/>
            </a:avLst>
          </a:prstGeom>
          <a:solidFill>
            <a:srgbClr val="1C5EA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8"/>
          <p:cNvSpPr txBox="1"/>
          <p:nvPr/>
        </p:nvSpPr>
        <p:spPr>
          <a:xfrm>
            <a:off x="4489704" y="1837943"/>
            <a:ext cx="3118104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LangChain </a:t>
            </a:r>
            <a:r>
              <a:rPr lang="en-US" b="1" dirty="0">
                <a:solidFill>
                  <a:srgbClr val="FFFFFF"/>
                </a:solidFill>
              </a:rPr>
              <a:t>Structure Prompt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with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Student </a:t>
            </a:r>
            <a:r>
              <a:rPr lang="en-US" b="1" dirty="0">
                <a:solidFill>
                  <a:srgbClr val="FFFFFF"/>
                </a:solidFill>
              </a:rPr>
              <a:t>Question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8"/>
          <p:cNvSpPr txBox="1"/>
          <p:nvPr/>
        </p:nvSpPr>
        <p:spPr>
          <a:xfrm>
            <a:off x="7790688" y="1920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467" name="Google Shape;467;p8"/>
          <p:cNvSpPr/>
          <p:nvPr/>
        </p:nvSpPr>
        <p:spPr>
          <a:xfrm>
            <a:off x="8321040" y="1828800"/>
            <a:ext cx="3081528" cy="585216"/>
          </a:xfrm>
          <a:prstGeom prst="roundRect">
            <a:avLst>
              <a:gd name="adj" fmla="val 16667"/>
            </a:avLst>
          </a:prstGeom>
          <a:solidFill>
            <a:srgbClr val="0D1F3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8"/>
          <p:cNvSpPr txBox="1"/>
          <p:nvPr/>
        </p:nvSpPr>
        <p:spPr>
          <a:xfrm>
            <a:off x="8394192" y="1947672"/>
            <a:ext cx="2926080" cy="28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 Selects </a:t>
            </a:r>
            <a:r>
              <a:rPr lang="en-US" sz="1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endParaRPr dirty="0"/>
          </a:p>
        </p:txBody>
      </p:sp>
      <p:sp>
        <p:nvSpPr>
          <p:cNvPr id="469" name="Google Shape;469;p8"/>
          <p:cNvSpPr txBox="1"/>
          <p:nvPr/>
        </p:nvSpPr>
        <p:spPr>
          <a:xfrm>
            <a:off x="4114800" y="2633472"/>
            <a:ext cx="393192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One question → one route → one workflow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8"/>
          <p:cNvSpPr/>
          <p:nvPr/>
        </p:nvSpPr>
        <p:spPr>
          <a:xfrm>
            <a:off x="548640" y="3246120"/>
            <a:ext cx="3502152" cy="2331720"/>
          </a:xfrm>
          <a:prstGeom prst="roundRect">
            <a:avLst>
              <a:gd name="adj" fmla="val 16667"/>
            </a:avLst>
          </a:prstGeom>
          <a:solidFill>
            <a:srgbClr val="EFF5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8"/>
          <p:cNvSpPr/>
          <p:nvPr/>
        </p:nvSpPr>
        <p:spPr>
          <a:xfrm>
            <a:off x="548640" y="3246120"/>
            <a:ext cx="3502152" cy="448056"/>
          </a:xfrm>
          <a:prstGeom prst="roundRect">
            <a:avLst>
              <a:gd name="adj" fmla="val 16667"/>
            </a:avLst>
          </a:prstGeom>
          <a:solidFill>
            <a:srgbClr val="1C5EA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8"/>
          <p:cNvSpPr txBox="1"/>
          <p:nvPr/>
        </p:nvSpPr>
        <p:spPr>
          <a:xfrm>
            <a:off x="667512" y="3328416"/>
            <a:ext cx="3264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PATH A  |  RAG</a:t>
            </a:r>
            <a:endParaRPr/>
          </a:p>
        </p:txBody>
      </p:sp>
      <p:sp>
        <p:nvSpPr>
          <p:cNvPr id="473" name="Google Shape;473;p8"/>
          <p:cNvSpPr txBox="1"/>
          <p:nvPr/>
        </p:nvSpPr>
        <p:spPr>
          <a:xfrm>
            <a:off x="731520" y="3849624"/>
            <a:ext cx="3136392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course_information</a:t>
            </a:r>
            <a:endParaRPr/>
          </a:p>
        </p:txBody>
      </p:sp>
      <p:sp>
        <p:nvSpPr>
          <p:cNvPr id="474" name="Google Shape;474;p8"/>
          <p:cNvSpPr txBox="1"/>
          <p:nvPr/>
        </p:nvSpPr>
        <p:spPr>
          <a:xfrm>
            <a:off x="713232" y="4846320"/>
            <a:ext cx="3182112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Titan Embeddings → ChromaDB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→ Retrieved catalog context</a:t>
            </a:r>
            <a:endParaRPr/>
          </a:p>
        </p:txBody>
      </p:sp>
      <p:sp>
        <p:nvSpPr>
          <p:cNvPr id="475" name="Google Shape;475;p8"/>
          <p:cNvSpPr txBox="1"/>
          <p:nvPr/>
        </p:nvSpPr>
        <p:spPr>
          <a:xfrm>
            <a:off x="2039112" y="28986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76" name="Google Shape;476;p8"/>
          <p:cNvSpPr/>
          <p:nvPr/>
        </p:nvSpPr>
        <p:spPr>
          <a:xfrm>
            <a:off x="4224528" y="3246120"/>
            <a:ext cx="3502152" cy="2331720"/>
          </a:xfrm>
          <a:prstGeom prst="roundRect">
            <a:avLst>
              <a:gd name="adj" fmla="val 16667"/>
            </a:avLst>
          </a:prstGeom>
          <a:solidFill>
            <a:srgbClr val="EFF5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8"/>
          <p:cNvSpPr/>
          <p:nvPr/>
        </p:nvSpPr>
        <p:spPr>
          <a:xfrm>
            <a:off x="4224528" y="3246120"/>
            <a:ext cx="3502152" cy="448056"/>
          </a:xfrm>
          <a:prstGeom prst="roundRect">
            <a:avLst>
              <a:gd name="adj" fmla="val 16667"/>
            </a:avLst>
          </a:prstGeom>
          <a:solidFill>
            <a:srgbClr val="1C5EA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8"/>
          <p:cNvSpPr txBox="1"/>
          <p:nvPr/>
        </p:nvSpPr>
        <p:spPr>
          <a:xfrm>
            <a:off x="4343400" y="3328416"/>
            <a:ext cx="3264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PATH B  |  STRUCTURED ADVISING</a:t>
            </a:r>
            <a:endParaRPr/>
          </a:p>
        </p:txBody>
      </p:sp>
      <p:sp>
        <p:nvSpPr>
          <p:cNvPr id="479" name="Google Shape;479;p8"/>
          <p:cNvSpPr txBox="1"/>
          <p:nvPr/>
        </p:nvSpPr>
        <p:spPr>
          <a:xfrm>
            <a:off x="4407408" y="3849624"/>
            <a:ext cx="3136392" cy="10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student_record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course_eligibility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degree_plan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compare_plans</a:t>
            </a:r>
            <a:endParaRPr/>
          </a:p>
        </p:txBody>
      </p:sp>
      <p:sp>
        <p:nvSpPr>
          <p:cNvPr id="480" name="Google Shape;480;p8"/>
          <p:cNvSpPr txBox="1"/>
          <p:nvPr/>
        </p:nvSpPr>
        <p:spPr>
          <a:xfrm>
            <a:off x="4389120" y="4846320"/>
            <a:ext cx="3182112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DynamoDB → Python advisor tools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→ Validation / planning</a:t>
            </a:r>
            <a:endParaRPr/>
          </a:p>
        </p:txBody>
      </p:sp>
      <p:sp>
        <p:nvSpPr>
          <p:cNvPr id="481" name="Google Shape;481;p8"/>
          <p:cNvSpPr txBox="1"/>
          <p:nvPr/>
        </p:nvSpPr>
        <p:spPr>
          <a:xfrm>
            <a:off x="5715000" y="28986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82" name="Google Shape;482;p8"/>
          <p:cNvSpPr/>
          <p:nvPr/>
        </p:nvSpPr>
        <p:spPr>
          <a:xfrm>
            <a:off x="7900416" y="3246120"/>
            <a:ext cx="3502152" cy="2331720"/>
          </a:xfrm>
          <a:prstGeom prst="roundRect">
            <a:avLst>
              <a:gd name="adj" fmla="val 16667"/>
            </a:avLst>
          </a:prstGeom>
          <a:solidFill>
            <a:srgbClr val="EFF5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8"/>
          <p:cNvSpPr/>
          <p:nvPr/>
        </p:nvSpPr>
        <p:spPr>
          <a:xfrm>
            <a:off x="7900416" y="3246120"/>
            <a:ext cx="3502152" cy="448056"/>
          </a:xfrm>
          <a:prstGeom prst="roundRect">
            <a:avLst>
              <a:gd name="adj" fmla="val 16667"/>
            </a:avLst>
          </a:prstGeom>
          <a:solidFill>
            <a:srgbClr val="5D6F8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8"/>
          <p:cNvSpPr txBox="1"/>
          <p:nvPr/>
        </p:nvSpPr>
        <p:spPr>
          <a:xfrm>
            <a:off x="8019288" y="3328416"/>
            <a:ext cx="326440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PATH C  |  FALLBACK</a:t>
            </a:r>
            <a:endParaRPr/>
          </a:p>
        </p:txBody>
      </p:sp>
      <p:sp>
        <p:nvSpPr>
          <p:cNvPr id="485" name="Google Shape;485;p8"/>
          <p:cNvSpPr txBox="1"/>
          <p:nvPr/>
        </p:nvSpPr>
        <p:spPr>
          <a:xfrm>
            <a:off x="8083296" y="3849624"/>
            <a:ext cx="3136392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D1F38"/>
                </a:solidFill>
                <a:latin typeface="Arial"/>
                <a:ea typeface="Arial"/>
                <a:cs typeface="Arial"/>
                <a:sym typeface="Arial"/>
              </a:rPr>
              <a:t>unsupported</a:t>
            </a:r>
            <a:endParaRPr/>
          </a:p>
        </p:txBody>
      </p:sp>
      <p:sp>
        <p:nvSpPr>
          <p:cNvPr id="486" name="Google Shape;486;p8"/>
          <p:cNvSpPr txBox="1"/>
          <p:nvPr/>
        </p:nvSpPr>
        <p:spPr>
          <a:xfrm>
            <a:off x="8065008" y="4846320"/>
            <a:ext cx="3182112" cy="6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Safe response explaining</a:t>
            </a:r>
            <a:endParaRPr/>
          </a:p>
          <a:p>
            <a:pPr marL="0" marR="0" lvl="0" indent="0" algn="ctr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what the advisor cannot do</a:t>
            </a:r>
            <a:endParaRPr/>
          </a:p>
        </p:txBody>
      </p:sp>
      <p:sp>
        <p:nvSpPr>
          <p:cNvPr id="487" name="Google Shape;487;p8"/>
          <p:cNvSpPr txBox="1"/>
          <p:nvPr/>
        </p:nvSpPr>
        <p:spPr>
          <a:xfrm>
            <a:off x="9390888" y="2898648"/>
            <a:ext cx="502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1C5EA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488" name="Google Shape;488;p8"/>
          <p:cNvSpPr/>
          <p:nvPr/>
        </p:nvSpPr>
        <p:spPr>
          <a:xfrm>
            <a:off x="548640" y="5879592"/>
            <a:ext cx="10853928" cy="493776"/>
          </a:xfrm>
          <a:prstGeom prst="roundRect">
            <a:avLst>
              <a:gd name="adj" fmla="val 16667"/>
            </a:avLst>
          </a:prstGeom>
          <a:solidFill>
            <a:srgbClr val="0D1F3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8"/>
          <p:cNvSpPr txBox="1"/>
          <p:nvPr/>
        </p:nvSpPr>
        <p:spPr>
          <a:xfrm>
            <a:off x="768096" y="5989320"/>
            <a:ext cx="10469880" cy="26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POINT  •  Six route labels do not require six separate LLMs or AWS services.</a:t>
            </a:r>
            <a:endParaRPr/>
          </a:p>
        </p:txBody>
      </p:sp>
      <p:sp>
        <p:nvSpPr>
          <p:cNvPr id="490" name="Google Shape;490;p8"/>
          <p:cNvSpPr txBox="1"/>
          <p:nvPr/>
        </p:nvSpPr>
        <p:spPr>
          <a:xfrm>
            <a:off x="548640" y="65562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3657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D6F84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491" name="Google Shape;491;p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C356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6401" y="35300"/>
            <a:ext cx="12198096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56032"/>
            <a:ext cx="6400800" cy="218521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0099AE"/>
                </a:solidFill>
                <a:latin typeface="Aptos"/>
              </a:defRPr>
            </a:pPr>
            <a:r>
              <a:rPr dirty="0">
                <a:solidFill>
                  <a:srgbClr val="002060"/>
                </a:solidFill>
              </a:rPr>
              <a:t>UTA  •  TEAM 2 AI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2800" b="1">
                <a:solidFill>
                  <a:srgbClr val="0D1B30"/>
                </a:solidFill>
                <a:latin typeface="Aptos"/>
              </a:defRPr>
            </a:pPr>
            <a:r>
              <a:rPr dirty="0"/>
              <a:t>LangChain: LLM Intent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10972800" cy="32004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5F7083"/>
                </a:solidFill>
                <a:latin typeface="Aptos"/>
              </a:defRPr>
            </a:pPr>
            <a:r>
              <a:t>Prompt template  →  Bedrock LLM  →  Output parser  →  Selected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36776"/>
            <a:ext cx="6720840" cy="3154680"/>
          </a:xfrm>
          <a:prstGeom prst="round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810512"/>
            <a:ext cx="6309360" cy="29260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5EDCE0"/>
                </a:solidFill>
                <a:latin typeface="Aptos"/>
              </a:defRPr>
            </a:pPr>
            <a:r>
              <a:t>01  ROUTER PROMPT  •  ChatPromptTemplate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176272"/>
            <a:ext cx="6217920" cy="239347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 err="1"/>
              <a:t>router_prompt</a:t>
            </a:r>
            <a:r>
              <a:rPr dirty="0"/>
              <a:t> = </a:t>
            </a:r>
            <a:r>
              <a:rPr dirty="0" err="1"/>
              <a:t>ChatPromptTemplate.from_messages</a:t>
            </a:r>
            <a:r>
              <a:rPr dirty="0"/>
              <a:t>([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("system", """You are the request router for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the UTA AI Advisor.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Classify the student's question into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exactly one route.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</a:t>
            </a:r>
            <a:r>
              <a:rPr lang="en-US" dirty="0"/>
              <a:t>Conversation</a:t>
            </a:r>
            <a:r>
              <a:rPr dirty="0"/>
              <a:t> </a:t>
            </a:r>
            <a:r>
              <a:rPr lang="en-US" dirty="0"/>
              <a:t>history</a:t>
            </a:r>
            <a:r>
              <a:rPr dirty="0"/>
              <a:t>: {</a:t>
            </a:r>
            <a:r>
              <a:rPr lang="en-US" dirty="0"/>
              <a:t>history</a:t>
            </a:r>
            <a:r>
              <a:rPr dirty="0"/>
              <a:t>}</a:t>
            </a:r>
            <a:endParaRPr lang="en-US" dirty="0"/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lang="en-US" dirty="0"/>
              <a:t>   Available Routes.....</a:t>
            </a:r>
            <a:endParaRPr dirty="0"/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Return ONLY one exact route value.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 Do not answer the student's question."""),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("human", "{question}")</a:t>
            </a:r>
          </a:p>
          <a:p>
            <a:pPr>
              <a:spcAft>
                <a:spcPts val="100"/>
              </a:spcAft>
              <a:defRPr sz="130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])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0648" y="1636776"/>
            <a:ext cx="4160520" cy="3154680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8392" y="1819656"/>
            <a:ext cx="3611880" cy="310896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1E314C"/>
                </a:solidFill>
                <a:latin typeface="Aptos"/>
              </a:defRPr>
            </a:pPr>
            <a:r>
              <a:t>SIX POSSIBLE ROUTES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8392" y="2212848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8" y="2249424"/>
            <a:ext cx="338328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E314C"/>
                </a:solidFill>
                <a:latin typeface="Aptos Mono"/>
              </a:defRPr>
            </a:pPr>
            <a:r>
              <a:rPr dirty="0"/>
              <a:t>course_information</a:t>
            </a:r>
            <a:r>
              <a:rPr lang="en-US" dirty="0"/>
              <a:t> (vector search)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708392" y="2587752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2624328"/>
            <a:ext cx="338328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E314C"/>
                </a:solidFill>
                <a:latin typeface="Aptos Mono"/>
              </a:defRPr>
            </a:pPr>
            <a:r>
              <a:rPr dirty="0"/>
              <a:t>student_record</a:t>
            </a:r>
            <a:r>
              <a:rPr lang="en-US" dirty="0"/>
              <a:t> (dynamoDB)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7708392" y="2962656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2999232"/>
            <a:ext cx="3483864" cy="249299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E314C"/>
                </a:solidFill>
                <a:latin typeface="Aptos Mono"/>
              </a:defRPr>
            </a:pPr>
            <a:r>
              <a:rPr dirty="0"/>
              <a:t>course_eligibility</a:t>
            </a:r>
            <a:r>
              <a:rPr lang="en-US" dirty="0"/>
              <a:t> (dynamo + Python)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708392" y="3337560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36408" y="3374136"/>
            <a:ext cx="338328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099AE"/>
                </a:solidFill>
                <a:latin typeface="Aptos Mono"/>
              </a:defRPr>
            </a:pPr>
            <a:r>
              <a:rPr dirty="0">
                <a:solidFill>
                  <a:srgbClr val="002060"/>
                </a:solidFill>
              </a:rPr>
              <a:t>degree_plan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>
                <a:solidFill>
                  <a:srgbClr val="1E314C"/>
                </a:solidFill>
              </a:rPr>
              <a:t>(dynamo + Python)</a:t>
            </a:r>
            <a:endParaRPr dirty="0">
              <a:solidFill>
                <a:srgbClr val="1E314C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08392" y="3712463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36408" y="3749039"/>
            <a:ext cx="338328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E314C"/>
                </a:solidFill>
                <a:latin typeface="Aptos Mono"/>
              </a:defRPr>
            </a:pPr>
            <a:r>
              <a:rPr dirty="0"/>
              <a:t>compare_plans</a:t>
            </a:r>
            <a:r>
              <a:rPr lang="en-US" dirty="0"/>
              <a:t> (dynamo + Python)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7708392" y="4087368"/>
            <a:ext cx="3593592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36408" y="4123944"/>
            <a:ext cx="338328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0">
                <a:solidFill>
                  <a:srgbClr val="1E314C"/>
                </a:solidFill>
                <a:latin typeface="Aptos Mono"/>
              </a:defRPr>
            </a:pPr>
            <a:r>
              <a:rPr lang="en-US" dirty="0"/>
              <a:t>U</a:t>
            </a:r>
            <a:r>
              <a:rPr dirty="0"/>
              <a:t>nsupported</a:t>
            </a:r>
            <a:r>
              <a:rPr lang="en-US" dirty="0"/>
              <a:t> (fallback response)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548640" y="4983480"/>
            <a:ext cx="6720840" cy="1344168"/>
          </a:xfrm>
          <a:prstGeom prst="roundRect">
            <a:avLst/>
          </a:prstGeom>
          <a:solidFill>
            <a:srgbClr val="EF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5102352"/>
            <a:ext cx="6309360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0099AE"/>
                </a:solidFill>
                <a:latin typeface="Aptos"/>
              </a:defRPr>
            </a:pPr>
            <a:r>
              <a:rPr dirty="0"/>
              <a:t>02  LANGCHAIN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431536"/>
            <a:ext cx="6510528" cy="2646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300" b="1">
                <a:solidFill>
                  <a:srgbClr val="0D1B30"/>
                </a:solidFill>
                <a:latin typeface="Aptos Mono"/>
              </a:defRPr>
            </a:pPr>
            <a:r>
              <a:rPr dirty="0" err="1"/>
              <a:t>router_chain</a:t>
            </a:r>
            <a:r>
              <a:rPr dirty="0"/>
              <a:t> = (</a:t>
            </a:r>
            <a:r>
              <a:rPr dirty="0" err="1"/>
              <a:t>router_prompt</a:t>
            </a:r>
            <a:r>
              <a:rPr dirty="0"/>
              <a:t> | </a:t>
            </a:r>
            <a:r>
              <a:rPr dirty="0" err="1"/>
              <a:t>router_llm</a:t>
            </a:r>
            <a:r>
              <a:rPr dirty="0"/>
              <a:t> |</a:t>
            </a:r>
            <a:r>
              <a:rPr lang="en-US" dirty="0"/>
              <a:t> </a:t>
            </a:r>
            <a:r>
              <a:rPr dirty="0" err="1"/>
              <a:t>StrOutputParser</a:t>
            </a:r>
            <a:r>
              <a:rPr dirty="0"/>
              <a:t>())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0648" y="4983480"/>
            <a:ext cx="4160520" cy="1344168"/>
          </a:xfrm>
          <a:prstGeom prst="roundRect">
            <a:avLst/>
          </a:prstGeom>
          <a:solidFill>
            <a:srgbClr val="0D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0" y="5102352"/>
            <a:ext cx="3749039" cy="24688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200" b="1">
                <a:solidFill>
                  <a:srgbClr val="5EDCE0"/>
                </a:solidFill>
                <a:latin typeface="Aptos"/>
              </a:defRPr>
            </a:pPr>
            <a:r>
              <a:t>03  INVOKE THE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5422392"/>
            <a:ext cx="3767328" cy="767903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08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decision = </a:t>
            </a:r>
            <a:r>
              <a:rPr dirty="0" err="1"/>
              <a:t>router_chain.invoke</a:t>
            </a:r>
            <a:r>
              <a:rPr dirty="0"/>
              <a:t>({</a:t>
            </a:r>
          </a:p>
          <a:p>
            <a:pPr>
              <a:spcAft>
                <a:spcPts val="100"/>
              </a:spcAft>
              <a:defRPr sz="108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"question": question,</a:t>
            </a:r>
          </a:p>
          <a:p>
            <a:pPr>
              <a:spcAft>
                <a:spcPts val="100"/>
              </a:spcAft>
              <a:defRPr sz="108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  "</a:t>
            </a:r>
            <a:r>
              <a:rPr lang="en-US" dirty="0"/>
              <a:t>history</a:t>
            </a:r>
            <a:r>
              <a:rPr dirty="0"/>
              <a:t>": </a:t>
            </a:r>
            <a:r>
              <a:rPr lang="en-US" dirty="0" err="1"/>
              <a:t>history_text</a:t>
            </a:r>
            <a:endParaRPr dirty="0"/>
          </a:p>
          <a:p>
            <a:pPr>
              <a:spcAft>
                <a:spcPts val="100"/>
              </a:spcAft>
              <a:defRPr sz="1080" b="0">
                <a:solidFill>
                  <a:srgbClr val="FFFFFF"/>
                </a:solidFill>
                <a:latin typeface="Aptos Mono"/>
              </a:defRPr>
            </a:pPr>
            <a:r>
              <a:rPr dirty="0"/>
              <a:t>})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20116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100"/>
              </a:spcAft>
              <a:defRPr sz="1100" b="0">
                <a:solidFill>
                  <a:srgbClr val="5F7083"/>
                </a:solidFill>
                <a:latin typeface="Aptos"/>
              </a:defRPr>
            </a:pPr>
            <a:r>
              <a:t>The LLM classifies intent only; Python dispatches the selected advising workflow.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9E11393-CAF6-ADAA-B4DE-06C5DE863C1D}"/>
              </a:ext>
            </a:extLst>
          </p:cNvPr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C3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C356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0"/>
          <p:cNvSpPr txBox="1"/>
          <p:nvPr/>
        </p:nvSpPr>
        <p:spPr>
          <a:xfrm>
            <a:off x="521207" y="24688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55A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531" name="Google Shape;531;p10"/>
          <p:cNvSpPr txBox="1"/>
          <p:nvPr/>
        </p:nvSpPr>
        <p:spPr>
          <a:xfrm>
            <a:off x="521207" y="630936"/>
            <a:ext cx="10972800" cy="49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Path A: RAG / Vector Search Retrieval</a:t>
            </a:r>
            <a:endParaRPr/>
          </a:p>
        </p:txBody>
      </p:sp>
      <p:sp>
        <p:nvSpPr>
          <p:cNvPr id="532" name="Google Shape;532;p10"/>
          <p:cNvSpPr/>
          <p:nvPr/>
        </p:nvSpPr>
        <p:spPr>
          <a:xfrm>
            <a:off x="502920" y="1271016"/>
            <a:ext cx="11338560" cy="22860"/>
          </a:xfrm>
          <a:prstGeom prst="rect">
            <a:avLst/>
          </a:prstGeom>
          <a:solidFill>
            <a:srgbClr val="CDD7E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0"/>
          <p:cNvSpPr txBox="1"/>
          <p:nvPr/>
        </p:nvSpPr>
        <p:spPr>
          <a:xfrm>
            <a:off x="740664" y="143560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LangChain first routes the question; course-information requests enter the RAG pipeline</a:t>
            </a:r>
            <a:endParaRPr/>
          </a:p>
        </p:txBody>
      </p:sp>
      <p:sp>
        <p:nvSpPr>
          <p:cNvPr id="534" name="Google Shape;534;p10"/>
          <p:cNvSpPr/>
          <p:nvPr/>
        </p:nvSpPr>
        <p:spPr>
          <a:xfrm>
            <a:off x="521207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640080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0"/>
          <p:cNvSpPr txBox="1"/>
          <p:nvPr/>
        </p:nvSpPr>
        <p:spPr>
          <a:xfrm>
            <a:off x="731519" y="2322576"/>
            <a:ext cx="237744" cy="228600"/>
          </a:xfrm>
          <a:prstGeom prst="rect">
            <a:avLst/>
          </a:prstGeom>
          <a:noFill/>
          <a:ln w="9525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37" name="Google Shape;537;p10"/>
          <p:cNvSpPr txBox="1"/>
          <p:nvPr/>
        </p:nvSpPr>
        <p:spPr>
          <a:xfrm>
            <a:off x="649224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538" name="Google Shape;538;p10"/>
          <p:cNvSpPr txBox="1"/>
          <p:nvPr/>
        </p:nvSpPr>
        <p:spPr>
          <a:xfrm>
            <a:off x="649224" y="3383280"/>
            <a:ext cx="150418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“What is CSE 4308 about?”</a:t>
            </a:r>
            <a:endParaRPr/>
          </a:p>
        </p:txBody>
      </p:sp>
      <p:sp>
        <p:nvSpPr>
          <p:cNvPr id="540" name="Google Shape;540;p10"/>
          <p:cNvSpPr/>
          <p:nvPr/>
        </p:nvSpPr>
        <p:spPr>
          <a:xfrm>
            <a:off x="2409444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2528316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0"/>
          <p:cNvSpPr txBox="1"/>
          <p:nvPr/>
        </p:nvSpPr>
        <p:spPr>
          <a:xfrm>
            <a:off x="2619756" y="2322576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43" name="Google Shape;543;p10"/>
          <p:cNvSpPr txBox="1"/>
          <p:nvPr/>
        </p:nvSpPr>
        <p:spPr>
          <a:xfrm>
            <a:off x="2537460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LLM routing</a:t>
            </a:r>
            <a:endParaRPr/>
          </a:p>
        </p:txBody>
      </p:sp>
      <p:sp>
        <p:nvSpPr>
          <p:cNvPr id="544" name="Google Shape;544;p10"/>
          <p:cNvSpPr txBox="1"/>
          <p:nvPr/>
        </p:nvSpPr>
        <p:spPr>
          <a:xfrm>
            <a:off x="2537460" y="3383280"/>
            <a:ext cx="1504188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Bedrock classifies question → course_information</a:t>
            </a:r>
            <a:endParaRPr/>
          </a:p>
        </p:txBody>
      </p:sp>
      <p:sp>
        <p:nvSpPr>
          <p:cNvPr id="546" name="Google Shape;546;p10"/>
          <p:cNvSpPr/>
          <p:nvPr/>
        </p:nvSpPr>
        <p:spPr>
          <a:xfrm>
            <a:off x="4297680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4416552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0"/>
          <p:cNvSpPr txBox="1"/>
          <p:nvPr/>
        </p:nvSpPr>
        <p:spPr>
          <a:xfrm>
            <a:off x="4507992" y="2322576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49" name="Google Shape;549;p10"/>
          <p:cNvSpPr txBox="1"/>
          <p:nvPr/>
        </p:nvSpPr>
        <p:spPr>
          <a:xfrm>
            <a:off x="4425696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Embed query</a:t>
            </a:r>
            <a:endParaRPr/>
          </a:p>
        </p:txBody>
      </p:sp>
      <p:sp>
        <p:nvSpPr>
          <p:cNvPr id="550" name="Google Shape;550;p10"/>
          <p:cNvSpPr txBox="1"/>
          <p:nvPr/>
        </p:nvSpPr>
        <p:spPr>
          <a:xfrm>
            <a:off x="4425696" y="3383280"/>
            <a:ext cx="150418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Titan Embed v2 converts question to vector</a:t>
            </a:r>
            <a:endParaRPr/>
          </a:p>
        </p:txBody>
      </p:sp>
      <p:sp>
        <p:nvSpPr>
          <p:cNvPr id="552" name="Google Shape;552;p10"/>
          <p:cNvSpPr/>
          <p:nvPr/>
        </p:nvSpPr>
        <p:spPr>
          <a:xfrm>
            <a:off x="6185916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0"/>
          <p:cNvSpPr/>
          <p:nvPr/>
        </p:nvSpPr>
        <p:spPr>
          <a:xfrm>
            <a:off x="6304788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0"/>
          <p:cNvSpPr txBox="1"/>
          <p:nvPr/>
        </p:nvSpPr>
        <p:spPr>
          <a:xfrm>
            <a:off x="6396228" y="2322576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55" name="Google Shape;555;p10"/>
          <p:cNvSpPr txBox="1"/>
          <p:nvPr/>
        </p:nvSpPr>
        <p:spPr>
          <a:xfrm>
            <a:off x="6313932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Vector search</a:t>
            </a:r>
            <a:endParaRPr/>
          </a:p>
        </p:txBody>
      </p:sp>
      <p:sp>
        <p:nvSpPr>
          <p:cNvPr id="556" name="Google Shape;556;p10"/>
          <p:cNvSpPr txBox="1"/>
          <p:nvPr/>
        </p:nvSpPr>
        <p:spPr>
          <a:xfrm>
            <a:off x="6313932" y="3383280"/>
            <a:ext cx="1504188" cy="61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ChromaDB provides relevant document chunks</a:t>
            </a:r>
            <a:endParaRPr/>
          </a:p>
        </p:txBody>
      </p:sp>
      <p:sp>
        <p:nvSpPr>
          <p:cNvPr id="558" name="Google Shape;558;p10"/>
          <p:cNvSpPr/>
          <p:nvPr/>
        </p:nvSpPr>
        <p:spPr>
          <a:xfrm>
            <a:off x="8074152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0"/>
          <p:cNvSpPr/>
          <p:nvPr/>
        </p:nvSpPr>
        <p:spPr>
          <a:xfrm>
            <a:off x="8193024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0"/>
          <p:cNvSpPr txBox="1"/>
          <p:nvPr/>
        </p:nvSpPr>
        <p:spPr>
          <a:xfrm>
            <a:off x="8284464" y="2322576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561" name="Google Shape;561;p10"/>
          <p:cNvSpPr txBox="1"/>
          <p:nvPr/>
        </p:nvSpPr>
        <p:spPr>
          <a:xfrm>
            <a:off x="8202168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Prompt assembly</a:t>
            </a:r>
            <a:endParaRPr/>
          </a:p>
        </p:txBody>
      </p:sp>
      <p:sp>
        <p:nvSpPr>
          <p:cNvPr id="562" name="Google Shape;562;p10"/>
          <p:cNvSpPr txBox="1"/>
          <p:nvPr/>
        </p:nvSpPr>
        <p:spPr>
          <a:xfrm>
            <a:off x="8202168" y="3383280"/>
            <a:ext cx="150418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LangChain combines question + context</a:t>
            </a:r>
            <a:endParaRPr/>
          </a:p>
        </p:txBody>
      </p:sp>
      <p:sp>
        <p:nvSpPr>
          <p:cNvPr id="564" name="Google Shape;564;p10"/>
          <p:cNvSpPr/>
          <p:nvPr/>
        </p:nvSpPr>
        <p:spPr>
          <a:xfrm>
            <a:off x="9962388" y="2121408"/>
            <a:ext cx="1732788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CE6EF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0"/>
          <p:cNvSpPr/>
          <p:nvPr/>
        </p:nvSpPr>
        <p:spPr>
          <a:xfrm>
            <a:off x="10081260" y="2276856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0"/>
          <p:cNvSpPr txBox="1"/>
          <p:nvPr/>
        </p:nvSpPr>
        <p:spPr>
          <a:xfrm>
            <a:off x="10172700" y="2322576"/>
            <a:ext cx="237744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567" name="Google Shape;567;p10"/>
          <p:cNvSpPr txBox="1"/>
          <p:nvPr/>
        </p:nvSpPr>
        <p:spPr>
          <a:xfrm>
            <a:off x="10090404" y="2852928"/>
            <a:ext cx="151333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LLM response</a:t>
            </a:r>
            <a:endParaRPr/>
          </a:p>
        </p:txBody>
      </p:sp>
      <p:sp>
        <p:nvSpPr>
          <p:cNvPr id="568" name="Google Shape;568;p10"/>
          <p:cNvSpPr txBox="1"/>
          <p:nvPr/>
        </p:nvSpPr>
        <p:spPr>
          <a:xfrm>
            <a:off x="10090404" y="3383280"/>
            <a:ext cx="1504188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Bedrock Gemma generates grounded answer</a:t>
            </a:r>
            <a:endParaRPr/>
          </a:p>
        </p:txBody>
      </p:sp>
      <p:sp>
        <p:nvSpPr>
          <p:cNvPr id="569" name="Google Shape;569;p10"/>
          <p:cNvSpPr/>
          <p:nvPr/>
        </p:nvSpPr>
        <p:spPr>
          <a:xfrm>
            <a:off x="786384" y="4974336"/>
            <a:ext cx="10652760" cy="804672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0"/>
          <p:cNvSpPr txBox="1"/>
          <p:nvPr/>
        </p:nvSpPr>
        <p:spPr>
          <a:xfrm>
            <a:off x="987552" y="5157216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C3568"/>
                </a:solidFill>
                <a:latin typeface="Arial"/>
                <a:ea typeface="Arial"/>
                <a:cs typeface="Arial"/>
                <a:sym typeface="Arial"/>
              </a:rPr>
              <a:t>Routing decision: only course_information uses RAG; other routes use their own advising workflows.</a:t>
            </a:r>
            <a:endParaRPr/>
          </a:p>
        </p:txBody>
      </p:sp>
      <p:sp>
        <p:nvSpPr>
          <p:cNvPr id="571" name="Google Shape;571;p10"/>
          <p:cNvSpPr txBox="1"/>
          <p:nvPr/>
        </p:nvSpPr>
        <p:spPr>
          <a:xfrm>
            <a:off x="530352" y="651967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96E88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539" name="Google Shape;539;p10"/>
          <p:cNvSpPr txBox="1"/>
          <p:nvPr/>
        </p:nvSpPr>
        <p:spPr>
          <a:xfrm>
            <a:off x="2258568" y="3136392"/>
            <a:ext cx="164592" cy="32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lvl="1"/>
            <a:r>
              <a:rPr lang="en-US" sz="1700" b="1" i="0" u="none" strike="noStrike" cap="none" dirty="0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dirty="0"/>
          </a:p>
        </p:txBody>
      </p:sp>
      <p:sp>
        <p:nvSpPr>
          <p:cNvPr id="545" name="Google Shape;545;p10"/>
          <p:cNvSpPr txBox="1"/>
          <p:nvPr/>
        </p:nvSpPr>
        <p:spPr>
          <a:xfrm>
            <a:off x="4146804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dirty="0"/>
          </a:p>
        </p:txBody>
      </p:sp>
      <p:sp>
        <p:nvSpPr>
          <p:cNvPr id="551" name="Google Shape;551;p10"/>
          <p:cNvSpPr txBox="1"/>
          <p:nvPr/>
        </p:nvSpPr>
        <p:spPr>
          <a:xfrm>
            <a:off x="6035040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dirty="0"/>
          </a:p>
        </p:txBody>
      </p:sp>
      <p:sp>
        <p:nvSpPr>
          <p:cNvPr id="557" name="Google Shape;557;p10"/>
          <p:cNvSpPr txBox="1"/>
          <p:nvPr/>
        </p:nvSpPr>
        <p:spPr>
          <a:xfrm>
            <a:off x="7923276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dirty="0"/>
          </a:p>
        </p:txBody>
      </p:sp>
      <p:sp>
        <p:nvSpPr>
          <p:cNvPr id="563" name="Google Shape;563;p10"/>
          <p:cNvSpPr txBox="1"/>
          <p:nvPr/>
        </p:nvSpPr>
        <p:spPr>
          <a:xfrm>
            <a:off x="9811512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 dirty="0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58A6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578" name="Google Shape;578;p11"/>
          <p:cNvSpPr txBox="1"/>
          <p:nvPr/>
        </p:nvSpPr>
        <p:spPr>
          <a:xfrm>
            <a:off x="548640" y="704088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Path B: Student Academic Record Retrieval</a:t>
            </a:r>
            <a:endParaRPr/>
          </a:p>
        </p:txBody>
      </p:sp>
      <p:sp>
        <p:nvSpPr>
          <p:cNvPr id="579" name="Google Shape;579;p11"/>
          <p:cNvSpPr/>
          <p:nvPr/>
        </p:nvSpPr>
        <p:spPr>
          <a:xfrm>
            <a:off x="502920" y="1289304"/>
            <a:ext cx="11475720" cy="22860"/>
          </a:xfrm>
          <a:prstGeom prst="rect">
            <a:avLst/>
          </a:prstGeom>
          <a:solidFill>
            <a:srgbClr val="C5D2D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1"/>
          <p:cNvSpPr txBox="1"/>
          <p:nvPr/>
        </p:nvSpPr>
        <p:spPr>
          <a:xfrm>
            <a:off x="777240" y="1481328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LangChain routes student-record questions to authenticated academic data retrieval</a:t>
            </a:r>
            <a:endParaRPr/>
          </a:p>
        </p:txBody>
      </p:sp>
      <p:sp>
        <p:nvSpPr>
          <p:cNvPr id="581" name="Google Shape;581;p11"/>
          <p:cNvSpPr/>
          <p:nvPr/>
        </p:nvSpPr>
        <p:spPr>
          <a:xfrm>
            <a:off x="530352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64922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 txBox="1"/>
          <p:nvPr/>
        </p:nvSpPr>
        <p:spPr>
          <a:xfrm>
            <a:off x="754380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584" name="Google Shape;584;p11"/>
          <p:cNvSpPr txBox="1"/>
          <p:nvPr/>
        </p:nvSpPr>
        <p:spPr>
          <a:xfrm>
            <a:off x="685800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585" name="Google Shape;585;p11"/>
          <p:cNvSpPr txBox="1"/>
          <p:nvPr/>
        </p:nvSpPr>
        <p:spPr>
          <a:xfrm>
            <a:off x="685800" y="3438144"/>
            <a:ext cx="14996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“What courses have I taken?”</a:t>
            </a:r>
            <a:endParaRPr/>
          </a:p>
        </p:txBody>
      </p:sp>
      <p:sp>
        <p:nvSpPr>
          <p:cNvPr id="586" name="Google Shape;586;p11"/>
          <p:cNvSpPr/>
          <p:nvPr/>
        </p:nvSpPr>
        <p:spPr>
          <a:xfrm>
            <a:off x="2468880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2587752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 txBox="1"/>
          <p:nvPr/>
        </p:nvSpPr>
        <p:spPr>
          <a:xfrm>
            <a:off x="2692908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589" name="Google Shape;589;p11"/>
          <p:cNvSpPr txBox="1"/>
          <p:nvPr/>
        </p:nvSpPr>
        <p:spPr>
          <a:xfrm>
            <a:off x="2624328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LLM routing</a:t>
            </a:r>
            <a:endParaRPr/>
          </a:p>
        </p:txBody>
      </p:sp>
      <p:sp>
        <p:nvSpPr>
          <p:cNvPr id="590" name="Google Shape;590;p11"/>
          <p:cNvSpPr txBox="1"/>
          <p:nvPr/>
        </p:nvSpPr>
        <p:spPr>
          <a:xfrm>
            <a:off x="2624328" y="3438144"/>
            <a:ext cx="1499616" cy="65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Bedrock classifies question →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student_record</a:t>
            </a:r>
            <a:endParaRPr/>
          </a:p>
        </p:txBody>
      </p:sp>
      <p:sp>
        <p:nvSpPr>
          <p:cNvPr id="591" name="Google Shape;591;p11"/>
          <p:cNvSpPr/>
          <p:nvPr/>
        </p:nvSpPr>
        <p:spPr>
          <a:xfrm>
            <a:off x="4407408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4526280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 txBox="1"/>
          <p:nvPr/>
        </p:nvSpPr>
        <p:spPr>
          <a:xfrm>
            <a:off x="4631436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594" name="Google Shape;594;p11"/>
          <p:cNvSpPr txBox="1"/>
          <p:nvPr/>
        </p:nvSpPr>
        <p:spPr>
          <a:xfrm>
            <a:off x="4562856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Student identity</a:t>
            </a:r>
            <a:endParaRPr/>
          </a:p>
        </p:txBody>
      </p:sp>
      <p:sp>
        <p:nvSpPr>
          <p:cNvPr id="595" name="Google Shape;595;p11"/>
          <p:cNvSpPr txBox="1"/>
          <p:nvPr/>
        </p:nvSpPr>
        <p:spPr>
          <a:xfrm>
            <a:off x="4562856" y="3438144"/>
            <a:ext cx="14996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Cognito identifies the authenticated student</a:t>
            </a:r>
            <a:endParaRPr/>
          </a:p>
        </p:txBody>
      </p:sp>
      <p:sp>
        <p:nvSpPr>
          <p:cNvPr id="596" name="Google Shape;596;p11"/>
          <p:cNvSpPr/>
          <p:nvPr/>
        </p:nvSpPr>
        <p:spPr>
          <a:xfrm>
            <a:off x="6345936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6464808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 txBox="1"/>
          <p:nvPr/>
        </p:nvSpPr>
        <p:spPr>
          <a:xfrm>
            <a:off x="6569964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599" name="Google Shape;599;p11"/>
          <p:cNvSpPr txBox="1"/>
          <p:nvPr/>
        </p:nvSpPr>
        <p:spPr>
          <a:xfrm>
            <a:off x="6501384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Student record</a:t>
            </a:r>
            <a:endParaRPr/>
          </a:p>
        </p:txBody>
      </p:sp>
      <p:sp>
        <p:nvSpPr>
          <p:cNvPr id="600" name="Google Shape;600;p11"/>
          <p:cNvSpPr txBox="1"/>
          <p:nvPr/>
        </p:nvSpPr>
        <p:spPr>
          <a:xfrm>
            <a:off x="6459040" y="3438144"/>
            <a:ext cx="1706552" cy="65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Query DynamoDB for completed courses, grades &amp; credits</a:t>
            </a:r>
            <a:endParaRPr/>
          </a:p>
        </p:txBody>
      </p:sp>
      <p:sp>
        <p:nvSpPr>
          <p:cNvPr id="601" name="Google Shape;601;p11"/>
          <p:cNvSpPr/>
          <p:nvPr/>
        </p:nvSpPr>
        <p:spPr>
          <a:xfrm>
            <a:off x="8284464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8403336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 txBox="1"/>
          <p:nvPr/>
        </p:nvSpPr>
        <p:spPr>
          <a:xfrm>
            <a:off x="8508492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04" name="Google Shape;604;p11"/>
          <p:cNvSpPr txBox="1"/>
          <p:nvPr/>
        </p:nvSpPr>
        <p:spPr>
          <a:xfrm>
            <a:off x="8439912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Record summary</a:t>
            </a:r>
            <a:endParaRPr/>
          </a:p>
        </p:txBody>
      </p:sp>
      <p:sp>
        <p:nvSpPr>
          <p:cNvPr id="605" name="Google Shape;605;p11"/>
          <p:cNvSpPr txBox="1"/>
          <p:nvPr/>
        </p:nvSpPr>
        <p:spPr>
          <a:xfrm>
            <a:off x="8439912" y="3438144"/>
            <a:ext cx="14996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Python organizes records and calculates totals from available data</a:t>
            </a:r>
            <a:endParaRPr/>
          </a:p>
        </p:txBody>
      </p:sp>
      <p:sp>
        <p:nvSpPr>
          <p:cNvPr id="606" name="Google Shape;606;p11"/>
          <p:cNvSpPr/>
          <p:nvPr/>
        </p:nvSpPr>
        <p:spPr>
          <a:xfrm>
            <a:off x="10222992" y="2148840"/>
            <a:ext cx="1773936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D8E4E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1034186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D3162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1"/>
          <p:cNvSpPr txBox="1"/>
          <p:nvPr/>
        </p:nvSpPr>
        <p:spPr>
          <a:xfrm>
            <a:off x="10447020" y="23682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09" name="Google Shape;609;p11"/>
          <p:cNvSpPr txBox="1"/>
          <p:nvPr/>
        </p:nvSpPr>
        <p:spPr>
          <a:xfrm>
            <a:off x="10378440" y="2898648"/>
            <a:ext cx="15087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LLM response</a:t>
            </a:r>
            <a:endParaRPr/>
          </a:p>
        </p:txBody>
      </p:sp>
      <p:sp>
        <p:nvSpPr>
          <p:cNvPr id="610" name="Google Shape;610;p11"/>
          <p:cNvSpPr txBox="1"/>
          <p:nvPr/>
        </p:nvSpPr>
        <p:spPr>
          <a:xfrm>
            <a:off x="10378440" y="3438144"/>
            <a:ext cx="1499616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Bedrock explains the student’s courses, grades &amp; credits</a:t>
            </a:r>
            <a:endParaRPr/>
          </a:p>
        </p:txBody>
      </p:sp>
      <p:sp>
        <p:nvSpPr>
          <p:cNvPr id="611" name="Google Shape;611;p11"/>
          <p:cNvSpPr/>
          <p:nvPr/>
        </p:nvSpPr>
        <p:spPr>
          <a:xfrm>
            <a:off x="786384" y="5001768"/>
            <a:ext cx="10634472" cy="804672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1"/>
          <p:cNvSpPr txBox="1"/>
          <p:nvPr/>
        </p:nvSpPr>
        <p:spPr>
          <a:xfrm>
            <a:off x="1024128" y="5248656"/>
            <a:ext cx="10149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D3162"/>
                </a:solidFill>
                <a:latin typeface="Arial"/>
                <a:ea typeface="Arial"/>
                <a:cs typeface="Arial"/>
                <a:sym typeface="Arial"/>
              </a:rPr>
              <a:t>Routing decision: student_record → verified student identity → DynamoDB → organized academic records → explained result.</a:t>
            </a:r>
            <a:endParaRPr/>
          </a:p>
        </p:txBody>
      </p:sp>
      <p:sp>
        <p:nvSpPr>
          <p:cNvPr id="613" name="Google Shape;613;p11"/>
          <p:cNvSpPr txBox="1"/>
          <p:nvPr/>
        </p:nvSpPr>
        <p:spPr>
          <a:xfrm>
            <a:off x="566928" y="653796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46C89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614" name="Google Shape;614;p11"/>
          <p:cNvSpPr txBox="1"/>
          <p:nvPr/>
        </p:nvSpPr>
        <p:spPr>
          <a:xfrm>
            <a:off x="2290467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5" name="Google Shape;615;p11"/>
          <p:cNvSpPr txBox="1"/>
          <p:nvPr/>
        </p:nvSpPr>
        <p:spPr>
          <a:xfrm>
            <a:off x="4229147" y="3118670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6" name="Google Shape;616;p11"/>
          <p:cNvSpPr txBox="1"/>
          <p:nvPr/>
        </p:nvSpPr>
        <p:spPr>
          <a:xfrm>
            <a:off x="6178460" y="3122208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7" name="Google Shape;617;p11"/>
          <p:cNvSpPr txBox="1"/>
          <p:nvPr/>
        </p:nvSpPr>
        <p:spPr>
          <a:xfrm>
            <a:off x="8117135" y="3125746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8" name="Google Shape;618;p11"/>
          <p:cNvSpPr txBox="1"/>
          <p:nvPr/>
        </p:nvSpPr>
        <p:spPr>
          <a:xfrm>
            <a:off x="10055810" y="311865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19" name="Google Shape;619;p11"/>
          <p:cNvSpPr txBox="1"/>
          <p:nvPr/>
        </p:nvSpPr>
        <p:spPr>
          <a:xfrm>
            <a:off x="5136730" y="2291126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1"/>
          <p:cNvSpPr txBox="1"/>
          <p:nvPr/>
        </p:nvSpPr>
        <p:spPr>
          <a:xfrm>
            <a:off x="7075258" y="2274774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1"/>
          <p:cNvSpPr txBox="1"/>
          <p:nvPr/>
        </p:nvSpPr>
        <p:spPr>
          <a:xfrm>
            <a:off x="9022823" y="2321121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366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 txBox="1"/>
          <p:nvPr/>
        </p:nvSpPr>
        <p:spPr>
          <a:xfrm>
            <a:off x="539496" y="2743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549D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628" name="Google Shape;628;p12"/>
          <p:cNvSpPr txBox="1"/>
          <p:nvPr/>
        </p:nvSpPr>
        <p:spPr>
          <a:xfrm>
            <a:off x="539496" y="66751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Path B: Student Course Eligibility</a:t>
            </a:r>
            <a:endParaRPr/>
          </a:p>
        </p:txBody>
      </p:sp>
      <p:sp>
        <p:nvSpPr>
          <p:cNvPr id="629" name="Google Shape;629;p12"/>
          <p:cNvSpPr/>
          <p:nvPr/>
        </p:nvSpPr>
        <p:spPr>
          <a:xfrm>
            <a:off x="512064" y="1280160"/>
            <a:ext cx="11384280" cy="22860"/>
          </a:xfrm>
          <a:prstGeom prst="rect">
            <a:avLst/>
          </a:prstGeom>
          <a:solidFill>
            <a:srgbClr val="C7D3D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 txBox="1"/>
          <p:nvPr/>
        </p:nvSpPr>
        <p:spPr>
          <a:xfrm>
            <a:off x="768096" y="14813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LangChain routes student-specific questions to structured academic rule checks</a:t>
            </a:r>
            <a:endParaRPr/>
          </a:p>
        </p:txBody>
      </p:sp>
      <p:sp>
        <p:nvSpPr>
          <p:cNvPr id="631" name="Google Shape;631;p12"/>
          <p:cNvSpPr/>
          <p:nvPr/>
        </p:nvSpPr>
        <p:spPr>
          <a:xfrm>
            <a:off x="544068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521207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64922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2"/>
          <p:cNvSpPr txBox="1"/>
          <p:nvPr/>
        </p:nvSpPr>
        <p:spPr>
          <a:xfrm>
            <a:off x="649224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35" name="Google Shape;635;p12"/>
          <p:cNvSpPr txBox="1"/>
          <p:nvPr/>
        </p:nvSpPr>
        <p:spPr>
          <a:xfrm>
            <a:off x="676656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636" name="Google Shape;636;p12"/>
          <p:cNvSpPr txBox="1"/>
          <p:nvPr/>
        </p:nvSpPr>
        <p:spPr>
          <a:xfrm>
            <a:off x="676656" y="3419856"/>
            <a:ext cx="1479804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“Can I take CSE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4308?”</a:t>
            </a:r>
            <a:endParaRPr/>
          </a:p>
        </p:txBody>
      </p:sp>
      <p:sp>
        <p:nvSpPr>
          <p:cNvPr id="637" name="Google Shape;637;p12"/>
          <p:cNvSpPr/>
          <p:nvPr/>
        </p:nvSpPr>
        <p:spPr>
          <a:xfrm>
            <a:off x="2435352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2412492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2540508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12"/>
          <p:cNvSpPr txBox="1"/>
          <p:nvPr/>
        </p:nvSpPr>
        <p:spPr>
          <a:xfrm>
            <a:off x="2540508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41" name="Google Shape;641;p12"/>
          <p:cNvSpPr txBox="1"/>
          <p:nvPr/>
        </p:nvSpPr>
        <p:spPr>
          <a:xfrm>
            <a:off x="2567940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LLM routing</a:t>
            </a:r>
            <a:endParaRPr/>
          </a:p>
        </p:txBody>
      </p:sp>
      <p:sp>
        <p:nvSpPr>
          <p:cNvPr id="642" name="Google Shape;642;p12"/>
          <p:cNvSpPr txBox="1"/>
          <p:nvPr/>
        </p:nvSpPr>
        <p:spPr>
          <a:xfrm>
            <a:off x="2567940" y="3419856"/>
            <a:ext cx="147980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Bedrock classifies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question →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course_eligibility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4326636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4303776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4431792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2"/>
          <p:cNvSpPr txBox="1"/>
          <p:nvPr/>
        </p:nvSpPr>
        <p:spPr>
          <a:xfrm>
            <a:off x="4431792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647" name="Google Shape;647;p12"/>
          <p:cNvSpPr txBox="1"/>
          <p:nvPr/>
        </p:nvSpPr>
        <p:spPr>
          <a:xfrm>
            <a:off x="4459224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Student record</a:t>
            </a:r>
            <a:endParaRPr/>
          </a:p>
        </p:txBody>
      </p:sp>
      <p:sp>
        <p:nvSpPr>
          <p:cNvPr id="648" name="Google Shape;648;p12"/>
          <p:cNvSpPr txBox="1"/>
          <p:nvPr/>
        </p:nvSpPr>
        <p:spPr>
          <a:xfrm>
            <a:off x="4459224" y="3419856"/>
            <a:ext cx="147980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Query DynamoDB for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completed courses,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grades &amp; credits</a:t>
            </a:r>
            <a:endParaRPr/>
          </a:p>
        </p:txBody>
      </p:sp>
      <p:sp>
        <p:nvSpPr>
          <p:cNvPr id="649" name="Google Shape;649;p12"/>
          <p:cNvSpPr/>
          <p:nvPr/>
        </p:nvSpPr>
        <p:spPr>
          <a:xfrm>
            <a:off x="6217920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6195060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6323076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2"/>
          <p:cNvSpPr txBox="1"/>
          <p:nvPr/>
        </p:nvSpPr>
        <p:spPr>
          <a:xfrm>
            <a:off x="6323076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653" name="Google Shape;653;p12"/>
          <p:cNvSpPr txBox="1"/>
          <p:nvPr/>
        </p:nvSpPr>
        <p:spPr>
          <a:xfrm>
            <a:off x="6350508" y="2907791"/>
            <a:ext cx="14706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Prerequisites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2"/>
          <p:cNvSpPr txBox="1"/>
          <p:nvPr/>
        </p:nvSpPr>
        <p:spPr>
          <a:xfrm>
            <a:off x="6350508" y="3419856"/>
            <a:ext cx="1479804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Query DynamoDB for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CSE 4308 prerequisites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and course rules</a:t>
            </a:r>
            <a:endParaRPr/>
          </a:p>
        </p:txBody>
      </p:sp>
      <p:sp>
        <p:nvSpPr>
          <p:cNvPr id="655" name="Google Shape;655;p12"/>
          <p:cNvSpPr/>
          <p:nvPr/>
        </p:nvSpPr>
        <p:spPr>
          <a:xfrm>
            <a:off x="8109204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8086344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8214360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2"/>
          <p:cNvSpPr txBox="1"/>
          <p:nvPr/>
        </p:nvSpPr>
        <p:spPr>
          <a:xfrm>
            <a:off x="8214360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59" name="Google Shape;659;p12"/>
          <p:cNvSpPr txBox="1"/>
          <p:nvPr/>
        </p:nvSpPr>
        <p:spPr>
          <a:xfrm>
            <a:off x="8241792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Eligibility check</a:t>
            </a:r>
            <a:endParaRPr/>
          </a:p>
        </p:txBody>
      </p:sp>
      <p:sp>
        <p:nvSpPr>
          <p:cNvPr id="660" name="Google Shape;660;p12"/>
          <p:cNvSpPr txBox="1"/>
          <p:nvPr/>
        </p:nvSpPr>
        <p:spPr>
          <a:xfrm>
            <a:off x="8194916" y="3419856"/>
            <a:ext cx="1612968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Python validates grades and prerequisites using Dynamodb records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10000488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9977628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1010564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2"/>
          <p:cNvSpPr txBox="1"/>
          <p:nvPr/>
        </p:nvSpPr>
        <p:spPr>
          <a:xfrm>
            <a:off x="10105644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665" name="Google Shape;665;p12"/>
          <p:cNvSpPr txBox="1"/>
          <p:nvPr/>
        </p:nvSpPr>
        <p:spPr>
          <a:xfrm>
            <a:off x="10133076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LLM response</a:t>
            </a:r>
            <a:endParaRPr/>
          </a:p>
        </p:txBody>
      </p:sp>
      <p:sp>
        <p:nvSpPr>
          <p:cNvPr id="666" name="Google Shape;666;p12"/>
          <p:cNvSpPr txBox="1"/>
          <p:nvPr/>
        </p:nvSpPr>
        <p:spPr>
          <a:xfrm>
            <a:off x="10133076" y="3419856"/>
            <a:ext cx="1479804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Bedrock explains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Eligible / Not eligible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and the reason</a:t>
            </a:r>
            <a:endParaRPr/>
          </a:p>
        </p:txBody>
      </p:sp>
      <p:sp>
        <p:nvSpPr>
          <p:cNvPr id="667" name="Google Shape;667;p12"/>
          <p:cNvSpPr/>
          <p:nvPr/>
        </p:nvSpPr>
        <p:spPr>
          <a:xfrm>
            <a:off x="804672" y="4974336"/>
            <a:ext cx="10762488" cy="813816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2"/>
          <p:cNvSpPr txBox="1"/>
          <p:nvPr/>
        </p:nvSpPr>
        <p:spPr>
          <a:xfrm>
            <a:off x="1051560" y="5230368"/>
            <a:ext cx="10287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Routing decision: course_eligibility → structured student data + Python rule validation → explained result.</a:t>
            </a:r>
            <a:endParaRPr/>
          </a:p>
        </p:txBody>
      </p:sp>
      <p:sp>
        <p:nvSpPr>
          <p:cNvPr id="669" name="Google Shape;669;p12"/>
          <p:cNvSpPr txBox="1"/>
          <p:nvPr/>
        </p:nvSpPr>
        <p:spPr>
          <a:xfrm>
            <a:off x="539496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670" name="Google Shape;670;p12"/>
          <p:cNvSpPr txBox="1"/>
          <p:nvPr/>
        </p:nvSpPr>
        <p:spPr>
          <a:xfrm>
            <a:off x="2258568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1" name="Google Shape;671;p12"/>
          <p:cNvSpPr txBox="1"/>
          <p:nvPr/>
        </p:nvSpPr>
        <p:spPr>
          <a:xfrm>
            <a:off x="4154716" y="3118670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2" name="Google Shape;672;p12"/>
          <p:cNvSpPr txBox="1"/>
          <p:nvPr/>
        </p:nvSpPr>
        <p:spPr>
          <a:xfrm>
            <a:off x="6040231" y="3122208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3" name="Google Shape;673;p12"/>
          <p:cNvSpPr txBox="1"/>
          <p:nvPr/>
        </p:nvSpPr>
        <p:spPr>
          <a:xfrm>
            <a:off x="7925746" y="3125746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4" name="Google Shape;674;p12"/>
          <p:cNvSpPr txBox="1"/>
          <p:nvPr/>
        </p:nvSpPr>
        <p:spPr>
          <a:xfrm>
            <a:off x="9821890" y="311865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5" name="Google Shape;675;p12"/>
          <p:cNvSpPr txBox="1"/>
          <p:nvPr/>
        </p:nvSpPr>
        <p:spPr>
          <a:xfrm>
            <a:off x="4957572" y="2287812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2"/>
          <p:cNvSpPr txBox="1"/>
          <p:nvPr/>
        </p:nvSpPr>
        <p:spPr>
          <a:xfrm>
            <a:off x="6894576" y="2280493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2"/>
          <p:cNvSpPr txBox="1"/>
          <p:nvPr/>
        </p:nvSpPr>
        <p:spPr>
          <a:xfrm>
            <a:off x="8740140" y="2268372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366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3"/>
          <p:cNvSpPr txBox="1"/>
          <p:nvPr/>
        </p:nvSpPr>
        <p:spPr>
          <a:xfrm>
            <a:off x="539496" y="274320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549D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684" name="Google Shape;684;p13"/>
          <p:cNvSpPr txBox="1"/>
          <p:nvPr/>
        </p:nvSpPr>
        <p:spPr>
          <a:xfrm>
            <a:off x="539496" y="667512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Path B: Personalized Degree Plan Generation</a:t>
            </a:r>
            <a:endParaRPr/>
          </a:p>
        </p:txBody>
      </p:sp>
      <p:sp>
        <p:nvSpPr>
          <p:cNvPr id="685" name="Google Shape;685;p13"/>
          <p:cNvSpPr/>
          <p:nvPr/>
        </p:nvSpPr>
        <p:spPr>
          <a:xfrm>
            <a:off x="512064" y="1280160"/>
            <a:ext cx="11384280" cy="22860"/>
          </a:xfrm>
          <a:prstGeom prst="rect">
            <a:avLst/>
          </a:prstGeom>
          <a:solidFill>
            <a:srgbClr val="C7D3D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3"/>
          <p:cNvSpPr txBox="1"/>
          <p:nvPr/>
        </p:nvSpPr>
        <p:spPr>
          <a:xfrm>
            <a:off x="768096" y="1481328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LangChain routes degree-plan requests to student records and degree requirement analysis</a:t>
            </a:r>
            <a:endParaRPr/>
          </a:p>
        </p:txBody>
      </p:sp>
      <p:sp>
        <p:nvSpPr>
          <p:cNvPr id="687" name="Google Shape;687;p13"/>
          <p:cNvSpPr/>
          <p:nvPr/>
        </p:nvSpPr>
        <p:spPr>
          <a:xfrm>
            <a:off x="544068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521207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3"/>
          <p:cNvSpPr/>
          <p:nvPr/>
        </p:nvSpPr>
        <p:spPr>
          <a:xfrm>
            <a:off x="64922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3"/>
          <p:cNvSpPr txBox="1"/>
          <p:nvPr/>
        </p:nvSpPr>
        <p:spPr>
          <a:xfrm>
            <a:off x="649224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1" name="Google Shape;691;p13"/>
          <p:cNvSpPr txBox="1"/>
          <p:nvPr/>
        </p:nvSpPr>
        <p:spPr>
          <a:xfrm>
            <a:off x="676656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/>
          </a:p>
        </p:txBody>
      </p:sp>
      <p:sp>
        <p:nvSpPr>
          <p:cNvPr id="692" name="Google Shape;692;p13"/>
          <p:cNvSpPr txBox="1"/>
          <p:nvPr/>
        </p:nvSpPr>
        <p:spPr>
          <a:xfrm>
            <a:off x="676656" y="3419856"/>
            <a:ext cx="1479804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“Generate my</a:t>
            </a:r>
            <a:b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degree plan.”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3"/>
          <p:cNvSpPr/>
          <p:nvPr/>
        </p:nvSpPr>
        <p:spPr>
          <a:xfrm>
            <a:off x="2435352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2412492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2540508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3"/>
          <p:cNvSpPr txBox="1"/>
          <p:nvPr/>
        </p:nvSpPr>
        <p:spPr>
          <a:xfrm>
            <a:off x="2540508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7" name="Google Shape;697;p13"/>
          <p:cNvSpPr txBox="1"/>
          <p:nvPr/>
        </p:nvSpPr>
        <p:spPr>
          <a:xfrm>
            <a:off x="2567940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LLM routing</a:t>
            </a:r>
            <a:endParaRPr/>
          </a:p>
        </p:txBody>
      </p:sp>
      <p:sp>
        <p:nvSpPr>
          <p:cNvPr id="698" name="Google Shape;698;p13"/>
          <p:cNvSpPr txBox="1"/>
          <p:nvPr/>
        </p:nvSpPr>
        <p:spPr>
          <a:xfrm>
            <a:off x="2567940" y="3419856"/>
            <a:ext cx="1479804" cy="10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Bedrock classifies</a:t>
            </a:r>
            <a:b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 question →</a:t>
            </a:r>
            <a:b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degree_plan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4326636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4303776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4431792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3"/>
          <p:cNvSpPr txBox="1"/>
          <p:nvPr/>
        </p:nvSpPr>
        <p:spPr>
          <a:xfrm>
            <a:off x="4431792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3" name="Google Shape;703;p13"/>
          <p:cNvSpPr txBox="1"/>
          <p:nvPr/>
        </p:nvSpPr>
        <p:spPr>
          <a:xfrm>
            <a:off x="4459224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Student record</a:t>
            </a:r>
            <a:endParaRPr/>
          </a:p>
        </p:txBody>
      </p:sp>
      <p:sp>
        <p:nvSpPr>
          <p:cNvPr id="704" name="Google Shape;704;p13"/>
          <p:cNvSpPr txBox="1"/>
          <p:nvPr/>
        </p:nvSpPr>
        <p:spPr>
          <a:xfrm>
            <a:off x="4459224" y="3419856"/>
            <a:ext cx="1479804" cy="10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Query DynamoDB for</a:t>
            </a:r>
            <a:b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completed courses,</a:t>
            </a:r>
            <a:b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 i="0" u="none" strike="noStrike" cap="none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grades &amp; program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6217920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6195060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6323076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 txBox="1"/>
          <p:nvPr/>
        </p:nvSpPr>
        <p:spPr>
          <a:xfrm>
            <a:off x="6323076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709" name="Google Shape;709;p13"/>
          <p:cNvSpPr txBox="1"/>
          <p:nvPr/>
        </p:nvSpPr>
        <p:spPr>
          <a:xfrm>
            <a:off x="6336792" y="2790969"/>
            <a:ext cx="1470660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Degree requirements</a:t>
            </a:r>
            <a:endParaRPr/>
          </a:p>
        </p:txBody>
      </p:sp>
      <p:sp>
        <p:nvSpPr>
          <p:cNvPr id="710" name="Google Shape;710;p13"/>
          <p:cNvSpPr/>
          <p:nvPr/>
        </p:nvSpPr>
        <p:spPr>
          <a:xfrm>
            <a:off x="8109204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8086344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8214360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3"/>
          <p:cNvSpPr txBox="1"/>
          <p:nvPr/>
        </p:nvSpPr>
        <p:spPr>
          <a:xfrm>
            <a:off x="8214360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714" name="Google Shape;714;p13"/>
          <p:cNvSpPr txBox="1"/>
          <p:nvPr/>
        </p:nvSpPr>
        <p:spPr>
          <a:xfrm>
            <a:off x="8241792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Requirement analysis</a:t>
            </a:r>
            <a:endParaRPr/>
          </a:p>
        </p:txBody>
      </p:sp>
      <p:sp>
        <p:nvSpPr>
          <p:cNvPr id="715" name="Google Shape;715;p13"/>
          <p:cNvSpPr txBox="1"/>
          <p:nvPr/>
        </p:nvSpPr>
        <p:spPr>
          <a:xfrm>
            <a:off x="8241792" y="3419856"/>
            <a:ext cx="1479804" cy="100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Compare completed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courses against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degree requirements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10000488" y="2180844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E3E8E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9977628" y="2139696"/>
            <a:ext cx="1735836" cy="23957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DCE7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10105644" y="2295144"/>
            <a:ext cx="393192" cy="393192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3"/>
          <p:cNvSpPr txBox="1"/>
          <p:nvPr/>
        </p:nvSpPr>
        <p:spPr>
          <a:xfrm>
            <a:off x="10105644" y="2340864"/>
            <a:ext cx="3931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720" name="Google Shape;720;p13"/>
          <p:cNvSpPr txBox="1"/>
          <p:nvPr/>
        </p:nvSpPr>
        <p:spPr>
          <a:xfrm>
            <a:off x="10133076" y="2907791"/>
            <a:ext cx="14706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LLM response</a:t>
            </a:r>
            <a:endParaRPr/>
          </a:p>
        </p:txBody>
      </p:sp>
      <p:sp>
        <p:nvSpPr>
          <p:cNvPr id="721" name="Google Shape;721;p13"/>
          <p:cNvSpPr txBox="1"/>
          <p:nvPr/>
        </p:nvSpPr>
        <p:spPr>
          <a:xfrm>
            <a:off x="10133076" y="3419856"/>
            <a:ext cx="1479804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Bedrock explains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remaining courses &amp;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degree requirements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804672" y="4974336"/>
            <a:ext cx="10762488" cy="813816"/>
          </a:xfrm>
          <a:prstGeom prst="roundRect">
            <a:avLst>
              <a:gd name="adj" fmla="val 16667"/>
            </a:avLst>
          </a:prstGeom>
          <a:solidFill>
            <a:srgbClr val="E9F2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13"/>
          <p:cNvSpPr txBox="1"/>
          <p:nvPr/>
        </p:nvSpPr>
        <p:spPr>
          <a:xfrm>
            <a:off x="1051560" y="5230368"/>
            <a:ext cx="102870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Routing decision: degree_plan → student data + degree rules → remaining requirements → explained result.</a:t>
            </a:r>
            <a:endParaRPr/>
          </a:p>
        </p:txBody>
      </p:sp>
      <p:sp>
        <p:nvSpPr>
          <p:cNvPr id="724" name="Google Shape;724;p13"/>
          <p:cNvSpPr txBox="1"/>
          <p:nvPr/>
        </p:nvSpPr>
        <p:spPr>
          <a:xfrm>
            <a:off x="539496" y="6537960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725" name="Google Shape;725;p13"/>
          <p:cNvSpPr txBox="1"/>
          <p:nvPr/>
        </p:nvSpPr>
        <p:spPr>
          <a:xfrm>
            <a:off x="6302203" y="3412761"/>
            <a:ext cx="147980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Query DynamoDB for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required courses,</a:t>
            </a:r>
            <a:b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50" b="0">
                <a:solidFill>
                  <a:srgbClr val="536B87"/>
                </a:solidFill>
                <a:latin typeface="Arial"/>
                <a:ea typeface="Arial"/>
                <a:cs typeface="Arial"/>
                <a:sym typeface="Arial"/>
              </a:rPr>
              <a:t>credits &amp; prerequisites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3"/>
          <p:cNvSpPr txBox="1"/>
          <p:nvPr/>
        </p:nvSpPr>
        <p:spPr>
          <a:xfrm>
            <a:off x="2258568" y="313639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27" name="Google Shape;727;p13"/>
          <p:cNvSpPr txBox="1"/>
          <p:nvPr/>
        </p:nvSpPr>
        <p:spPr>
          <a:xfrm>
            <a:off x="4154716" y="313993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28" name="Google Shape;728;p13"/>
          <p:cNvSpPr txBox="1"/>
          <p:nvPr/>
        </p:nvSpPr>
        <p:spPr>
          <a:xfrm>
            <a:off x="6040227" y="3143471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29" name="Google Shape;729;p13"/>
          <p:cNvSpPr txBox="1"/>
          <p:nvPr/>
        </p:nvSpPr>
        <p:spPr>
          <a:xfrm>
            <a:off x="7925738" y="3147012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30" name="Google Shape;730;p13"/>
          <p:cNvSpPr txBox="1"/>
          <p:nvPr/>
        </p:nvSpPr>
        <p:spPr>
          <a:xfrm>
            <a:off x="9832511" y="3139917"/>
            <a:ext cx="1645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57725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31" name="Google Shape;731;p13"/>
          <p:cNvSpPr txBox="1"/>
          <p:nvPr/>
        </p:nvSpPr>
        <p:spPr>
          <a:xfrm>
            <a:off x="8846917" y="2293135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13"/>
          <p:cNvSpPr txBox="1"/>
          <p:nvPr/>
        </p:nvSpPr>
        <p:spPr>
          <a:xfrm>
            <a:off x="6940296" y="2286118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13"/>
          <p:cNvSpPr txBox="1"/>
          <p:nvPr/>
        </p:nvSpPr>
        <p:spPr>
          <a:xfrm>
            <a:off x="4973791" y="2299825"/>
            <a:ext cx="6536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Advisor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0D3669"/>
                </a:solidFill>
                <a:latin typeface="Arial"/>
                <a:ea typeface="Arial"/>
                <a:cs typeface="Arial"/>
                <a:sym typeface="Arial"/>
              </a:rPr>
              <a:t>tool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2"/>
          <p:cNvSpPr/>
          <p:nvPr/>
        </p:nvSpPr>
        <p:spPr>
          <a:xfrm>
            <a:off x="-17983" y="14035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Conversation State Across Turns</a:t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1010" name="Subtitle"/>
          <p:cNvSpPr txBox="1"/>
          <p:nvPr/>
        </p:nvSpPr>
        <p:spPr>
          <a:xfrm>
            <a:off x="502920" y="137160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Arial"/>
              </a:rPr>
              <a:t>Follow-up questions work because every request carries the recent conversation (requirement 6)</a:t>
            </a:r>
          </a:p>
        </p:txBody>
      </p:sp>
      <p:sp>
        <p:nvSpPr>
          <p:cNvPr id="1011" name="Code panel"/>
          <p:cNvSpPr/>
          <p:nvPr/>
        </p:nvSpPr>
        <p:spPr>
          <a:xfrm>
            <a:off x="548640" y="1810512"/>
            <a:ext cx="6492240" cy="4343400"/>
          </a:xfrm>
          <a:prstGeom prst="roundRect">
            <a:avLst>
              <a:gd name="adj" fmla="val 6000"/>
            </a:avLst>
          </a:prstGeom>
          <a:solidFill>
            <a:srgbClr val="11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2" name="Code label"/>
          <p:cNvSpPr txBox="1"/>
          <p:nvPr/>
        </p:nvSpPr>
        <p:spPr>
          <a:xfrm>
            <a:off x="777240" y="1965960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6D3E2"/>
                </a:solidFill>
                <a:latin typeface="Arial"/>
              </a:rPr>
              <a:t>ACTUAL CODE  •  main.py  (FastAPI /chat endpoint)</a:t>
            </a:r>
          </a:p>
        </p:txBody>
      </p:sp>
      <p:sp>
        <p:nvSpPr>
          <p:cNvPr id="1013" name="Code"/>
          <p:cNvSpPr txBox="1"/>
          <p:nvPr/>
        </p:nvSpPr>
        <p:spPr>
          <a:xfrm>
            <a:off x="777240" y="2377440"/>
            <a:ext cx="617220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76D3E2"/>
                </a:solidFill>
                <a:latin typeface="Consolas"/>
              </a:rPr>
              <a:t># The UI sends the last 12 chat turns with each message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history = [m.model_dump() for m in request.history]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</a:t>
            </a:r>
          </a:p>
          <a:p>
            <a:pPr algn="l"/>
            <a:r>
              <a:rPr sz="1100" b="0" i="0">
                <a:solidFill>
                  <a:srgbClr val="76D3E2"/>
                </a:solidFill>
                <a:latin typeface="Consolas"/>
              </a:rPr>
              <a:t># 1. Router reads the history to classify follow-ups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route = route_question(question=request.message,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                      history=history)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</a:t>
            </a:r>
          </a:p>
          <a:p>
            <a:pPr algn="l"/>
            <a:r>
              <a:rPr sz="1100" b="0" i="0">
                <a:solidFill>
                  <a:srgbClr val="76D3E2"/>
                </a:solidFill>
                <a:latin typeface="Consolas"/>
              </a:rPr>
              <a:t># 2. Resolve “it” / “that course” from earlier turns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course_id = resolve_course(question=request.message,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                          history=history)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if course_id and not codes_in(question):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   question = f"{question} (Course: {course_id})"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 </a:t>
            </a:r>
          </a:p>
          <a:p>
            <a:pPr algn="l"/>
            <a:r>
              <a:rPr sz="1100" b="0" i="0">
                <a:solidFill>
                  <a:srgbClr val="76D3E2"/>
                </a:solidFill>
                <a:latin typeface="Consolas"/>
              </a:rPr>
              <a:t># 3. Remember the active route for this student's session</a:t>
            </a:r>
          </a:p>
          <a:p>
            <a:pPr algn="l"/>
            <a:r>
              <a:rPr sz="1100" b="0" i="0">
                <a:solidFill>
                  <a:srgbClr val="E7EFF9"/>
                </a:solidFill>
                <a:latin typeface="Consolas"/>
              </a:rPr>
              <a:t>session.update(session_id, student_id, last_route=route)</a:t>
            </a:r>
          </a:p>
        </p:txBody>
      </p:sp>
      <p:sp>
        <p:nvSpPr>
          <p:cNvPr id="1014" name="Example panel"/>
          <p:cNvSpPr/>
          <p:nvPr/>
        </p:nvSpPr>
        <p:spPr>
          <a:xfrm>
            <a:off x="7269480" y="1810512"/>
            <a:ext cx="4352544" cy="4343400"/>
          </a:xfrm>
          <a:prstGeom prst="roundRect">
            <a:avLst>
              <a:gd name="adj" fmla="val 6000"/>
            </a:avLst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5" name="Example label"/>
          <p:cNvSpPr txBox="1"/>
          <p:nvPr/>
        </p:nvSpPr>
        <p:spPr>
          <a:xfrm>
            <a:off x="7498079" y="196596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C2340"/>
                </a:solidFill>
                <a:latin typeface="Arial"/>
              </a:rPr>
              <a:t>EXAMPLE FROM OUR DEMO</a:t>
            </a:r>
          </a:p>
        </p:txBody>
      </p:sp>
      <p:sp>
        <p:nvSpPr>
          <p:cNvPr id="1016" name="Step 1 circle"/>
          <p:cNvSpPr/>
          <p:nvPr/>
        </p:nvSpPr>
        <p:spPr>
          <a:xfrm>
            <a:off x="7498079" y="2441448"/>
            <a:ext cx="329184" cy="329184"/>
          </a:xfrm>
          <a:prstGeom prst="ellipse">
            <a:avLst/>
          </a:prstGeom>
          <a:solidFill>
            <a:srgbClr val="12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7" name="Step 1 number"/>
          <p:cNvSpPr txBox="1"/>
          <p:nvPr/>
        </p:nvSpPr>
        <p:spPr>
          <a:xfrm>
            <a:off x="7498079" y="24414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18" name="Step 1 head"/>
          <p:cNvSpPr txBox="1"/>
          <p:nvPr/>
        </p:nvSpPr>
        <p:spPr>
          <a:xfrm>
            <a:off x="7973568" y="24231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63B4"/>
                </a:solidFill>
                <a:latin typeface="Arial"/>
              </a:rPr>
              <a:t>“What is CSE 4308 about?”</a:t>
            </a:r>
          </a:p>
        </p:txBody>
      </p:sp>
      <p:sp>
        <p:nvSpPr>
          <p:cNvPr id="1019" name="Step 1 body"/>
          <p:cNvSpPr txBox="1"/>
          <p:nvPr/>
        </p:nvSpPr>
        <p:spPr>
          <a:xfrm>
            <a:off x="7973568" y="2724912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Arial"/>
              </a:rPr>
              <a:t>Routed to course_information; RAG answers from the catalog.</a:t>
            </a:r>
          </a:p>
        </p:txBody>
      </p:sp>
      <p:sp>
        <p:nvSpPr>
          <p:cNvPr id="1020" name="Step 2 circle"/>
          <p:cNvSpPr/>
          <p:nvPr/>
        </p:nvSpPr>
        <p:spPr>
          <a:xfrm>
            <a:off x="7498079" y="3429000"/>
            <a:ext cx="329184" cy="329184"/>
          </a:xfrm>
          <a:prstGeom prst="ellipse">
            <a:avLst/>
          </a:prstGeom>
          <a:solidFill>
            <a:srgbClr val="12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1" name="Step 2 number"/>
          <p:cNvSpPr txBox="1"/>
          <p:nvPr/>
        </p:nvSpPr>
        <p:spPr>
          <a:xfrm>
            <a:off x="7498079" y="34290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22" name="Step 2 head"/>
          <p:cNvSpPr txBox="1"/>
          <p:nvPr/>
        </p:nvSpPr>
        <p:spPr>
          <a:xfrm>
            <a:off x="7973568" y="341071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63B4"/>
                </a:solidFill>
                <a:latin typeface="Arial"/>
              </a:rPr>
              <a:t>“Can I take it?”</a:t>
            </a:r>
          </a:p>
        </p:txBody>
      </p:sp>
      <p:sp>
        <p:nvSpPr>
          <p:cNvPr id="1023" name="Step 2 body"/>
          <p:cNvSpPr txBox="1"/>
          <p:nvPr/>
        </p:nvSpPr>
        <p:spPr>
          <a:xfrm>
            <a:off x="7973568" y="3712463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Arial"/>
              </a:rPr>
              <a:t>History shows the course is CSE 4308; routed to course_eligibility.</a:t>
            </a:r>
          </a:p>
        </p:txBody>
      </p:sp>
      <p:sp>
        <p:nvSpPr>
          <p:cNvPr id="1024" name="Step 3 circle"/>
          <p:cNvSpPr/>
          <p:nvPr/>
        </p:nvSpPr>
        <p:spPr>
          <a:xfrm>
            <a:off x="7498079" y="4416552"/>
            <a:ext cx="329184" cy="329184"/>
          </a:xfrm>
          <a:prstGeom prst="ellipse">
            <a:avLst/>
          </a:prstGeom>
          <a:solidFill>
            <a:srgbClr val="126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5" name="Step 3 number"/>
          <p:cNvSpPr txBox="1"/>
          <p:nvPr/>
        </p:nvSpPr>
        <p:spPr>
          <a:xfrm>
            <a:off x="7498079" y="44165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26" name="Step 3 head"/>
          <p:cNvSpPr txBox="1"/>
          <p:nvPr/>
        </p:nvSpPr>
        <p:spPr>
          <a:xfrm>
            <a:off x="7973568" y="4398264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263B4"/>
                </a:solidFill>
                <a:latin typeface="Arial"/>
              </a:rPr>
              <a:t>Eligibility answer</a:t>
            </a:r>
          </a:p>
        </p:txBody>
      </p:sp>
      <p:sp>
        <p:nvSpPr>
          <p:cNvPr id="1027" name="Step 3 body"/>
          <p:cNvSpPr txBox="1"/>
          <p:nvPr/>
        </p:nvSpPr>
        <p:spPr>
          <a:xfrm>
            <a:off x="7973568" y="4700016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Arial"/>
              </a:rPr>
              <a:t>Python checks the transcript: missing CSE 3318 and IE 3301 / MATH 3313.</a:t>
            </a:r>
          </a:p>
        </p:txBody>
      </p:sp>
      <p:sp>
        <p:nvSpPr>
          <p:cNvPr id="1028" name="Session note"/>
          <p:cNvSpPr txBox="1"/>
          <p:nvPr/>
        </p:nvSpPr>
        <p:spPr>
          <a:xfrm>
            <a:off x="7498079" y="5394960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0C2340"/>
                </a:solidFill>
                <a:latin typeface="Arial"/>
              </a:rPr>
              <a:t>Sessions are keyed by student ID + chat ID, so “New Chat” starts a fresh conversation.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5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264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5"/>
          <p:cNvSpPr txBox="1"/>
          <p:nvPr/>
        </p:nvSpPr>
        <p:spPr>
          <a:xfrm>
            <a:off x="548640" y="210312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D5B9C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782" name="Google Shape;782;p15"/>
          <p:cNvSpPr txBox="1"/>
          <p:nvPr/>
        </p:nvSpPr>
        <p:spPr>
          <a:xfrm>
            <a:off x="548640" y="6400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LangChain: Natural Language Response Generation</a:t>
            </a:r>
            <a:endParaRPr/>
          </a:p>
        </p:txBody>
      </p:sp>
      <p:sp>
        <p:nvSpPr>
          <p:cNvPr id="783" name="Google Shape;783;p15"/>
          <p:cNvSpPr txBox="1"/>
          <p:nvPr/>
        </p:nvSpPr>
        <p:spPr>
          <a:xfrm>
            <a:off x="685800" y="132588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The response prompt guides Bedrock to explain verified advising results in student-friendly language.</a:t>
            </a:r>
            <a:endParaRPr/>
          </a:p>
        </p:txBody>
      </p:sp>
      <p:sp>
        <p:nvSpPr>
          <p:cNvPr id="784" name="Google Shape;784;p15"/>
          <p:cNvSpPr/>
          <p:nvPr/>
        </p:nvSpPr>
        <p:spPr>
          <a:xfrm>
            <a:off x="566928" y="1938528"/>
            <a:ext cx="3794760" cy="832104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566928" y="1938528"/>
            <a:ext cx="68580" cy="83210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5"/>
          <p:cNvSpPr txBox="1"/>
          <p:nvPr/>
        </p:nvSpPr>
        <p:spPr>
          <a:xfrm>
            <a:off x="758952" y="201168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SYSTEM INSTRUCTIONS</a:t>
            </a:r>
            <a:endParaRPr/>
          </a:p>
        </p:txBody>
      </p:sp>
      <p:sp>
        <p:nvSpPr>
          <p:cNvPr id="787" name="Google Shape;787;p15"/>
          <p:cNvSpPr txBox="1"/>
          <p:nvPr/>
        </p:nvSpPr>
        <p:spPr>
          <a:xfrm>
            <a:off x="758952" y="2286000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Explain clearly • Use supplied evidence • Do not invent requirements</a:t>
            </a:r>
            <a:endParaRPr/>
          </a:p>
        </p:txBody>
      </p:sp>
      <p:sp>
        <p:nvSpPr>
          <p:cNvPr id="788" name="Google Shape;788;p15"/>
          <p:cNvSpPr/>
          <p:nvPr/>
        </p:nvSpPr>
        <p:spPr>
          <a:xfrm>
            <a:off x="566928" y="2962656"/>
            <a:ext cx="3794760" cy="832104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5"/>
          <p:cNvSpPr/>
          <p:nvPr/>
        </p:nvSpPr>
        <p:spPr>
          <a:xfrm>
            <a:off x="566928" y="2962656"/>
            <a:ext cx="68580" cy="83210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5"/>
          <p:cNvSpPr txBox="1"/>
          <p:nvPr/>
        </p:nvSpPr>
        <p:spPr>
          <a:xfrm>
            <a:off x="758952" y="3035808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ACADEMIC CONTEXT</a:t>
            </a:r>
            <a:endParaRPr/>
          </a:p>
        </p:txBody>
      </p:sp>
      <p:sp>
        <p:nvSpPr>
          <p:cNvPr id="791" name="Google Shape;791;p15"/>
          <p:cNvSpPr txBox="1"/>
          <p:nvPr/>
        </p:nvSpPr>
        <p:spPr>
          <a:xfrm>
            <a:off x="758952" y="3310128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Retrieved catalog passages or validated advising-tool results</a:t>
            </a:r>
            <a:endParaRPr/>
          </a:p>
        </p:txBody>
      </p:sp>
      <p:sp>
        <p:nvSpPr>
          <p:cNvPr id="792" name="Google Shape;792;p15"/>
          <p:cNvSpPr/>
          <p:nvPr/>
        </p:nvSpPr>
        <p:spPr>
          <a:xfrm>
            <a:off x="566928" y="3986784"/>
            <a:ext cx="3794760" cy="832104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15"/>
          <p:cNvSpPr/>
          <p:nvPr/>
        </p:nvSpPr>
        <p:spPr>
          <a:xfrm>
            <a:off x="566928" y="3986784"/>
            <a:ext cx="68580" cy="832104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5"/>
          <p:cNvSpPr txBox="1"/>
          <p:nvPr/>
        </p:nvSpPr>
        <p:spPr>
          <a:xfrm>
            <a:off x="758952" y="4059936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STUDENT QUESTION</a:t>
            </a:r>
            <a:endParaRPr/>
          </a:p>
        </p:txBody>
      </p:sp>
      <p:sp>
        <p:nvSpPr>
          <p:cNvPr id="795" name="Google Shape;795;p15"/>
          <p:cNvSpPr txBox="1"/>
          <p:nvPr/>
        </p:nvSpPr>
        <p:spPr>
          <a:xfrm>
            <a:off x="758952" y="4334256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“Can I take CSE 4308?”</a:t>
            </a:r>
            <a:endParaRPr/>
          </a:p>
        </p:txBody>
      </p:sp>
      <p:sp>
        <p:nvSpPr>
          <p:cNvPr id="796" name="Google Shape;796;p15"/>
          <p:cNvSpPr txBox="1"/>
          <p:nvPr/>
        </p:nvSpPr>
        <p:spPr>
          <a:xfrm>
            <a:off x="4462272" y="2788920"/>
            <a:ext cx="502920" cy="48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58A2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797" name="Google Shape;797;p15"/>
          <p:cNvSpPr/>
          <p:nvPr/>
        </p:nvSpPr>
        <p:spPr>
          <a:xfrm>
            <a:off x="4983480" y="2231136"/>
            <a:ext cx="2907792" cy="2286000"/>
          </a:xfrm>
          <a:prstGeom prst="roundRect">
            <a:avLst>
              <a:gd name="adj" fmla="val 16667"/>
            </a:avLst>
          </a:prstGeom>
          <a:solidFill>
            <a:srgbClr val="E0EBF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5"/>
          <p:cNvSpPr txBox="1"/>
          <p:nvPr/>
        </p:nvSpPr>
        <p:spPr>
          <a:xfrm>
            <a:off x="5193792" y="2450592"/>
            <a:ext cx="2514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ChatPromptTemplate</a:t>
            </a:r>
            <a:endParaRPr/>
          </a:p>
        </p:txBody>
      </p:sp>
      <p:sp>
        <p:nvSpPr>
          <p:cNvPr id="799" name="Google Shape;799;p15"/>
          <p:cNvSpPr txBox="1"/>
          <p:nvPr/>
        </p:nvSpPr>
        <p:spPr>
          <a:xfrm>
            <a:off x="5230368" y="2990088"/>
            <a:ext cx="24323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Combines instructions, context, and the student question</a:t>
            </a:r>
            <a:endParaRPr/>
          </a:p>
        </p:txBody>
      </p:sp>
      <p:sp>
        <p:nvSpPr>
          <p:cNvPr id="800" name="Google Shape;800;p15"/>
          <p:cNvSpPr txBox="1"/>
          <p:nvPr/>
        </p:nvSpPr>
        <p:spPr>
          <a:xfrm>
            <a:off x="7936992" y="2788920"/>
            <a:ext cx="475488" cy="489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F58A2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801" name="Google Shape;801;p15"/>
          <p:cNvSpPr/>
          <p:nvPr/>
        </p:nvSpPr>
        <p:spPr>
          <a:xfrm>
            <a:off x="8476488" y="2231136"/>
            <a:ext cx="3063240" cy="2286000"/>
          </a:xfrm>
          <a:prstGeom prst="roundRect">
            <a:avLst>
              <a:gd name="adj" fmla="val 16667"/>
            </a:avLst>
          </a:prstGeom>
          <a:solidFill>
            <a:srgbClr val="0D264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5"/>
          <p:cNvSpPr txBox="1"/>
          <p:nvPr/>
        </p:nvSpPr>
        <p:spPr>
          <a:xfrm>
            <a:off x="8668512" y="2450592"/>
            <a:ext cx="2697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Amazon Bedrock</a:t>
            </a:r>
            <a:endParaRPr/>
          </a:p>
        </p:txBody>
      </p:sp>
      <p:sp>
        <p:nvSpPr>
          <p:cNvPr id="803" name="Google Shape;803;p15"/>
          <p:cNvSpPr txBox="1"/>
          <p:nvPr/>
        </p:nvSpPr>
        <p:spPr>
          <a:xfrm>
            <a:off x="8732520" y="299008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E5EEF7"/>
                </a:solidFill>
                <a:latin typeface="Arial"/>
                <a:ea typeface="Arial"/>
                <a:cs typeface="Arial"/>
                <a:sym typeface="Arial"/>
              </a:rPr>
              <a:t>Gemma generates a clear, grounded explanation</a:t>
            </a:r>
            <a:endParaRPr/>
          </a:p>
        </p:txBody>
      </p:sp>
      <p:sp>
        <p:nvSpPr>
          <p:cNvPr id="804" name="Google Shape;804;p15"/>
          <p:cNvSpPr/>
          <p:nvPr/>
        </p:nvSpPr>
        <p:spPr>
          <a:xfrm>
            <a:off x="576072" y="4951476"/>
            <a:ext cx="10972800" cy="1234440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15"/>
          <p:cNvSpPr txBox="1"/>
          <p:nvPr/>
        </p:nvSpPr>
        <p:spPr>
          <a:xfrm>
            <a:off x="795528" y="506030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D5B9C"/>
                </a:solidFill>
                <a:latin typeface="Arial"/>
                <a:ea typeface="Arial"/>
                <a:cs typeface="Arial"/>
                <a:sym typeface="Arial"/>
              </a:rPr>
              <a:t>EXAMPLE STUDENT-FACING RESPONSE</a:t>
            </a:r>
            <a:endParaRPr/>
          </a:p>
        </p:txBody>
      </p:sp>
      <p:sp>
        <p:nvSpPr>
          <p:cNvPr id="806" name="Google Shape;806;p15"/>
          <p:cNvSpPr txBox="1"/>
          <p:nvPr/>
        </p:nvSpPr>
        <p:spPr>
          <a:xfrm>
            <a:off x="800100" y="5394960"/>
            <a:ext cx="10469880" cy="612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0D2648"/>
                </a:solidFill>
                <a:latin typeface="Arial"/>
                <a:ea typeface="Arial"/>
                <a:cs typeface="Arial"/>
                <a:sym typeface="Arial"/>
              </a:rPr>
              <a:t>“Based on your academic record, you have not yet met all prerequisites for CSE 4308. Here is the requirement you still need to complete…”</a:t>
            </a:r>
            <a:endParaRPr/>
          </a:p>
        </p:txBody>
      </p:sp>
      <p:sp>
        <p:nvSpPr>
          <p:cNvPr id="807" name="Google Shape;807;p15"/>
          <p:cNvSpPr txBox="1"/>
          <p:nvPr/>
        </p:nvSpPr>
        <p:spPr>
          <a:xfrm>
            <a:off x="566928" y="652881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B71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2A5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16"/>
          <p:cNvSpPr txBox="1"/>
          <p:nvPr/>
        </p:nvSpPr>
        <p:spPr>
          <a:xfrm>
            <a:off x="521207" y="21945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814" name="Google Shape;814;p16"/>
          <p:cNvSpPr txBox="1"/>
          <p:nvPr/>
        </p:nvSpPr>
        <p:spPr>
          <a:xfrm>
            <a:off x="521207" y="603504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D2A50"/>
                </a:solidFill>
                <a:latin typeface="Arial"/>
                <a:ea typeface="Arial"/>
                <a:cs typeface="Arial"/>
                <a:sym typeface="Arial"/>
              </a:rPr>
              <a:t>LangChain: Prompt Instructions for Student Responses</a:t>
            </a:r>
            <a:endParaRPr/>
          </a:p>
        </p:txBody>
      </p:sp>
      <p:sp>
        <p:nvSpPr>
          <p:cNvPr id="815" name="Google Shape;815;p16"/>
          <p:cNvSpPr txBox="1"/>
          <p:nvPr/>
        </p:nvSpPr>
        <p:spPr>
          <a:xfrm>
            <a:off x="566928" y="1207008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The response prompt controls how Bedrock explains validated results in natural language.</a:t>
            </a:r>
            <a:endParaRPr/>
          </a:p>
        </p:txBody>
      </p:sp>
      <p:sp>
        <p:nvSpPr>
          <p:cNvPr id="816" name="Google Shape;816;p16"/>
          <p:cNvSpPr/>
          <p:nvPr/>
        </p:nvSpPr>
        <p:spPr>
          <a:xfrm>
            <a:off x="548640" y="1764792"/>
            <a:ext cx="6492240" cy="4233672"/>
          </a:xfrm>
          <a:prstGeom prst="roundRect">
            <a:avLst>
              <a:gd name="adj" fmla="val 16667"/>
            </a:avLst>
          </a:prstGeom>
          <a:solidFill>
            <a:srgbClr val="11233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6"/>
          <p:cNvSpPr txBox="1"/>
          <p:nvPr/>
        </p:nvSpPr>
        <p:spPr>
          <a:xfrm>
            <a:off x="786384" y="193852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76D3E2"/>
                </a:solidFill>
                <a:latin typeface="Arial"/>
                <a:ea typeface="Arial"/>
                <a:cs typeface="Arial"/>
                <a:sym typeface="Arial"/>
              </a:rPr>
              <a:t>ACTUAL CODE  •  SELECTED EXCERPTS</a:t>
            </a:r>
            <a:endParaRPr/>
          </a:p>
        </p:txBody>
      </p:sp>
      <p:sp>
        <p:nvSpPr>
          <p:cNvPr id="818" name="Google Shape;818;p16"/>
          <p:cNvSpPr txBox="1"/>
          <p:nvPr/>
        </p:nvSpPr>
        <p:spPr>
          <a:xfrm>
            <a:off x="768096" y="2295144"/>
            <a:ext cx="6080760" cy="360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phrase_prompt = ChatPromptTemplate.from_messages([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("system", """You are the UTA AI Advisor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talking with {student_name}.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Explain RESULT in response to the student's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question. Use ONLY information in RESULT.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GENERAL RULES: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Speak directly to the student.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Keep answers short, clear, professional.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Never invent courses, grades, or credits.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COURSE ELIGIBILITY: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Python eligibility calculations are authoritative.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Never recalculate or override results.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DEGREE PLANNING: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- If complete is false, state plan is incomplete.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RESULT: {result}"""),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  ("human", "{question}"),</a:t>
            </a:r>
            <a:b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300" b="0">
                <a:solidFill>
                  <a:srgbClr val="E7EFF9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</p:txBody>
      </p:sp>
      <p:sp>
        <p:nvSpPr>
          <p:cNvPr id="819" name="Google Shape;819;p16"/>
          <p:cNvSpPr/>
          <p:nvPr/>
        </p:nvSpPr>
        <p:spPr>
          <a:xfrm>
            <a:off x="7269480" y="1764792"/>
            <a:ext cx="4352544" cy="4233672"/>
          </a:xfrm>
          <a:prstGeom prst="roundRect">
            <a:avLst>
              <a:gd name="adj" fmla="val 16667"/>
            </a:avLst>
          </a:prstGeom>
          <a:solidFill>
            <a:srgbClr val="ECF3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6"/>
          <p:cNvSpPr txBox="1"/>
          <p:nvPr/>
        </p:nvSpPr>
        <p:spPr>
          <a:xfrm>
            <a:off x="7516368" y="194767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D2A50"/>
                </a:solidFill>
                <a:latin typeface="Arial"/>
                <a:ea typeface="Arial"/>
                <a:cs typeface="Arial"/>
                <a:sym typeface="Arial"/>
              </a:rPr>
              <a:t>HOW THE PROMPT IS STRUCTURED</a:t>
            </a:r>
            <a:endParaRPr/>
          </a:p>
        </p:txBody>
      </p:sp>
      <p:sp>
        <p:nvSpPr>
          <p:cNvPr id="821" name="Google Shape;821;p16"/>
          <p:cNvSpPr txBox="1"/>
          <p:nvPr/>
        </p:nvSpPr>
        <p:spPr>
          <a:xfrm>
            <a:off x="7534656" y="2432304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1  Role &amp; personalization</a:t>
            </a:r>
            <a:endParaRPr/>
          </a:p>
        </p:txBody>
      </p:sp>
      <p:sp>
        <p:nvSpPr>
          <p:cNvPr id="822" name="Google Shape;822;p16"/>
          <p:cNvSpPr txBox="1"/>
          <p:nvPr/>
        </p:nvSpPr>
        <p:spPr>
          <a:xfrm>
            <a:off x="7534656" y="2688336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UTA AI Advisor → {student_name}</a:t>
            </a:r>
            <a:endParaRPr/>
          </a:p>
        </p:txBody>
      </p:sp>
      <p:sp>
        <p:nvSpPr>
          <p:cNvPr id="823" name="Google Shape;823;p16"/>
          <p:cNvSpPr txBox="1"/>
          <p:nvPr/>
        </p:nvSpPr>
        <p:spPr>
          <a:xfrm>
            <a:off x="7534656" y="2990088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2  Grounding</a:t>
            </a:r>
            <a:endParaRPr/>
          </a:p>
        </p:txBody>
      </p:sp>
      <p:sp>
        <p:nvSpPr>
          <p:cNvPr id="824" name="Google Shape;824;p16"/>
          <p:cNvSpPr txBox="1"/>
          <p:nvPr/>
        </p:nvSpPr>
        <p:spPr>
          <a:xfrm>
            <a:off x="7534656" y="3246120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Use ONLY the supplied {result}</a:t>
            </a:r>
            <a:endParaRPr/>
          </a:p>
        </p:txBody>
      </p:sp>
      <p:sp>
        <p:nvSpPr>
          <p:cNvPr id="825" name="Google Shape;825;p16"/>
          <p:cNvSpPr txBox="1"/>
          <p:nvPr/>
        </p:nvSpPr>
        <p:spPr>
          <a:xfrm>
            <a:off x="7534656" y="3547872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3  Communication rules</a:t>
            </a:r>
            <a:endParaRPr/>
          </a:p>
        </p:txBody>
      </p:sp>
      <p:sp>
        <p:nvSpPr>
          <p:cNvPr id="826" name="Google Shape;826;p16"/>
          <p:cNvSpPr txBox="1"/>
          <p:nvPr/>
        </p:nvSpPr>
        <p:spPr>
          <a:xfrm>
            <a:off x="7534656" y="3803904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Short, professional, direct answers</a:t>
            </a:r>
            <a:endParaRPr/>
          </a:p>
        </p:txBody>
      </p:sp>
      <p:sp>
        <p:nvSpPr>
          <p:cNvPr id="827" name="Google Shape;827;p16"/>
          <p:cNvSpPr txBox="1"/>
          <p:nvPr/>
        </p:nvSpPr>
        <p:spPr>
          <a:xfrm>
            <a:off x="7534656" y="4105656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4  Domain safeguards</a:t>
            </a:r>
            <a:endParaRPr/>
          </a:p>
        </p:txBody>
      </p:sp>
      <p:sp>
        <p:nvSpPr>
          <p:cNvPr id="828" name="Google Shape;828;p16"/>
          <p:cNvSpPr txBox="1"/>
          <p:nvPr/>
        </p:nvSpPr>
        <p:spPr>
          <a:xfrm>
            <a:off x="7534656" y="4361688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Respect Python eligibility; preserve AND/OR</a:t>
            </a:r>
            <a:endParaRPr/>
          </a:p>
        </p:txBody>
      </p:sp>
      <p:sp>
        <p:nvSpPr>
          <p:cNvPr id="829" name="Google Shape;829;p16"/>
          <p:cNvSpPr txBox="1"/>
          <p:nvPr/>
        </p:nvSpPr>
        <p:spPr>
          <a:xfrm>
            <a:off x="7534656" y="4663440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5  Answer formatting</a:t>
            </a:r>
            <a:endParaRPr/>
          </a:p>
        </p:txBody>
      </p:sp>
      <p:sp>
        <p:nvSpPr>
          <p:cNvPr id="830" name="Google Shape;830;p16"/>
          <p:cNvSpPr txBox="1"/>
          <p:nvPr/>
        </p:nvSpPr>
        <p:spPr>
          <a:xfrm>
            <a:off x="7534656" y="4919472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Explain degree-plan gaps; no invented facts</a:t>
            </a:r>
            <a:endParaRPr/>
          </a:p>
        </p:txBody>
      </p:sp>
      <p:sp>
        <p:nvSpPr>
          <p:cNvPr id="831" name="Google Shape;831;p16"/>
          <p:cNvSpPr txBox="1"/>
          <p:nvPr/>
        </p:nvSpPr>
        <p:spPr>
          <a:xfrm>
            <a:off x="7534656" y="5221224"/>
            <a:ext cx="3749039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E5D9D"/>
                </a:solidFill>
                <a:latin typeface="Arial"/>
                <a:ea typeface="Arial"/>
                <a:cs typeface="Arial"/>
                <a:sym typeface="Arial"/>
              </a:rPr>
              <a:t>6  Student request</a:t>
            </a:r>
            <a:endParaRPr/>
          </a:p>
        </p:txBody>
      </p:sp>
      <p:sp>
        <p:nvSpPr>
          <p:cNvPr id="832" name="Google Shape;832;p16"/>
          <p:cNvSpPr txBox="1"/>
          <p:nvPr/>
        </p:nvSpPr>
        <p:spPr>
          <a:xfrm>
            <a:off x="7534656" y="5477256"/>
            <a:ext cx="374903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536C8B"/>
                </a:solidFill>
                <a:latin typeface="Arial"/>
                <a:ea typeface="Arial"/>
                <a:cs typeface="Arial"/>
                <a:sym typeface="Arial"/>
              </a:rPr>
              <a:t>Human message → {question}</a:t>
            </a:r>
            <a:endParaRPr/>
          </a:p>
        </p:txBody>
      </p:sp>
      <p:sp>
        <p:nvSpPr>
          <p:cNvPr id="833" name="Google Shape;833;p16"/>
          <p:cNvSpPr/>
          <p:nvPr/>
        </p:nvSpPr>
        <p:spPr>
          <a:xfrm>
            <a:off x="548640" y="6144768"/>
            <a:ext cx="11073384" cy="411480"/>
          </a:xfrm>
          <a:prstGeom prst="roundRect">
            <a:avLst>
              <a:gd name="adj" fmla="val 16667"/>
            </a:avLst>
          </a:prstGeom>
          <a:solidFill>
            <a:srgbClr val="0D2A5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16"/>
          <p:cNvSpPr txBox="1"/>
          <p:nvPr/>
        </p:nvSpPr>
        <p:spPr>
          <a:xfrm>
            <a:off x="786384" y="6217920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18275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POINT  •  The LLM explains the tool result; it does not override academic validation.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17"/>
          <p:cNvSpPr txBox="1"/>
          <p:nvPr/>
        </p:nvSpPr>
        <p:spPr>
          <a:xfrm>
            <a:off x="548640" y="21945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1C5DA0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840" name="Google Shape;840;p17"/>
          <p:cNvSpPr txBox="1"/>
          <p:nvPr/>
        </p:nvSpPr>
        <p:spPr>
          <a:xfrm>
            <a:off x="548640" y="630936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DynamoDB: Student &amp; Academic Data Structure</a:t>
            </a:r>
            <a:endParaRPr/>
          </a:p>
        </p:txBody>
      </p:sp>
      <p:sp>
        <p:nvSpPr>
          <p:cNvPr id="841" name="Google Shape;841;p17"/>
          <p:cNvSpPr/>
          <p:nvPr/>
        </p:nvSpPr>
        <p:spPr>
          <a:xfrm>
            <a:off x="548640" y="1344168"/>
            <a:ext cx="11064240" cy="32004"/>
          </a:xfrm>
          <a:prstGeom prst="roundRect">
            <a:avLst>
              <a:gd name="adj" fmla="val 16667"/>
            </a:avLst>
          </a:prstGeom>
          <a:solidFill>
            <a:srgbClr val="F58A2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17"/>
          <p:cNvSpPr txBox="1"/>
          <p:nvPr/>
        </p:nvSpPr>
        <p:spPr>
          <a:xfrm>
            <a:off x="758952" y="1508760"/>
            <a:ext cx="107899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Structured records used by Python Advisor Tools for personalized advising</a:t>
            </a:r>
            <a:endParaRPr/>
          </a:p>
        </p:txBody>
      </p:sp>
      <p:sp>
        <p:nvSpPr>
          <p:cNvPr id="843" name="Google Shape;843;p17"/>
          <p:cNvSpPr/>
          <p:nvPr/>
        </p:nvSpPr>
        <p:spPr>
          <a:xfrm>
            <a:off x="576072" y="2176272"/>
            <a:ext cx="2761488" cy="2487168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7"/>
          <p:cNvSpPr/>
          <p:nvPr/>
        </p:nvSpPr>
        <p:spPr>
          <a:xfrm>
            <a:off x="576072" y="2176272"/>
            <a:ext cx="2761488" cy="512064"/>
          </a:xfrm>
          <a:prstGeom prst="roundRect">
            <a:avLst>
              <a:gd name="adj" fmla="val 16667"/>
            </a:avLst>
          </a:prstGeom>
          <a:solidFill>
            <a:srgbClr val="126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17"/>
          <p:cNvSpPr txBox="1"/>
          <p:nvPr/>
        </p:nvSpPr>
        <p:spPr>
          <a:xfrm>
            <a:off x="731520" y="2276856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PROFILE</a:t>
            </a:r>
            <a:endParaRPr/>
          </a:p>
        </p:txBody>
      </p:sp>
      <p:sp>
        <p:nvSpPr>
          <p:cNvPr id="846" name="Google Shape;846;p17"/>
          <p:cNvSpPr txBox="1"/>
          <p:nvPr/>
        </p:nvSpPr>
        <p:spPr>
          <a:xfrm>
            <a:off x="731520" y="2834640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student_id  •  program / major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student_name  •  catalog year</a:t>
            </a:r>
            <a:endParaRPr/>
          </a:p>
        </p:txBody>
      </p:sp>
      <p:sp>
        <p:nvSpPr>
          <p:cNvPr id="847" name="Google Shape;847;p17"/>
          <p:cNvSpPr txBox="1"/>
          <p:nvPr/>
        </p:nvSpPr>
        <p:spPr>
          <a:xfrm>
            <a:off x="731520" y="3968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Authenticated student context</a:t>
            </a:r>
            <a:endParaRPr/>
          </a:p>
        </p:txBody>
      </p:sp>
      <p:sp>
        <p:nvSpPr>
          <p:cNvPr id="848" name="Google Shape;848;p17"/>
          <p:cNvSpPr/>
          <p:nvPr/>
        </p:nvSpPr>
        <p:spPr>
          <a:xfrm>
            <a:off x="3483864" y="2176272"/>
            <a:ext cx="2761488" cy="2487168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7"/>
          <p:cNvSpPr/>
          <p:nvPr/>
        </p:nvSpPr>
        <p:spPr>
          <a:xfrm>
            <a:off x="3483864" y="2176272"/>
            <a:ext cx="2761488" cy="512064"/>
          </a:xfrm>
          <a:prstGeom prst="roundRect">
            <a:avLst>
              <a:gd name="adj" fmla="val 16667"/>
            </a:avLst>
          </a:prstGeom>
          <a:solidFill>
            <a:srgbClr val="126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17"/>
          <p:cNvSpPr txBox="1"/>
          <p:nvPr/>
        </p:nvSpPr>
        <p:spPr>
          <a:xfrm>
            <a:off x="3639312" y="2276856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ACADEMIC RECORD</a:t>
            </a:r>
            <a:endParaRPr/>
          </a:p>
        </p:txBody>
      </p:sp>
      <p:sp>
        <p:nvSpPr>
          <p:cNvPr id="851" name="Google Shape;851;p17"/>
          <p:cNvSpPr txBox="1"/>
          <p:nvPr/>
        </p:nvSpPr>
        <p:spPr>
          <a:xfrm>
            <a:off x="3639312" y="2834640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student_id  •  course_code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grade  •  credits  •  term</a:t>
            </a:r>
            <a:endParaRPr/>
          </a:p>
        </p:txBody>
      </p:sp>
      <p:sp>
        <p:nvSpPr>
          <p:cNvPr id="852" name="Google Shape;852;p17"/>
          <p:cNvSpPr txBox="1"/>
          <p:nvPr/>
        </p:nvSpPr>
        <p:spPr>
          <a:xfrm>
            <a:off x="3639312" y="3968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Completed courses and transcript</a:t>
            </a:r>
            <a:endParaRPr/>
          </a:p>
        </p:txBody>
      </p:sp>
      <p:sp>
        <p:nvSpPr>
          <p:cNvPr id="853" name="Google Shape;853;p17"/>
          <p:cNvSpPr/>
          <p:nvPr/>
        </p:nvSpPr>
        <p:spPr>
          <a:xfrm>
            <a:off x="6391656" y="2176272"/>
            <a:ext cx="2761488" cy="2487168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6391656" y="2176272"/>
            <a:ext cx="2761488" cy="512064"/>
          </a:xfrm>
          <a:prstGeom prst="roundRect">
            <a:avLst>
              <a:gd name="adj" fmla="val 16667"/>
            </a:avLst>
          </a:prstGeom>
          <a:solidFill>
            <a:srgbClr val="126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7"/>
          <p:cNvSpPr txBox="1"/>
          <p:nvPr/>
        </p:nvSpPr>
        <p:spPr>
          <a:xfrm>
            <a:off x="6547104" y="2276856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COURSE REQUIREMENTS</a:t>
            </a:r>
            <a:endParaRPr/>
          </a:p>
        </p:txBody>
      </p:sp>
      <p:sp>
        <p:nvSpPr>
          <p:cNvPr id="856" name="Google Shape;856;p17"/>
          <p:cNvSpPr txBox="1"/>
          <p:nvPr/>
        </p:nvSpPr>
        <p:spPr>
          <a:xfrm>
            <a:off x="6547104" y="2834640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course_code  •  credit_hours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prerequisite groups  •  min_grade</a:t>
            </a:r>
            <a:endParaRPr/>
          </a:p>
        </p:txBody>
      </p:sp>
      <p:sp>
        <p:nvSpPr>
          <p:cNvPr id="857" name="Google Shape;857;p17"/>
          <p:cNvSpPr txBox="1"/>
          <p:nvPr/>
        </p:nvSpPr>
        <p:spPr>
          <a:xfrm>
            <a:off x="6547104" y="3968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Eligibility rules and course metadata</a:t>
            </a:r>
            <a:endParaRPr/>
          </a:p>
        </p:txBody>
      </p:sp>
      <p:sp>
        <p:nvSpPr>
          <p:cNvPr id="858" name="Google Shape;858;p17"/>
          <p:cNvSpPr/>
          <p:nvPr/>
        </p:nvSpPr>
        <p:spPr>
          <a:xfrm>
            <a:off x="9299448" y="2176272"/>
            <a:ext cx="2761488" cy="2487168"/>
          </a:xfrm>
          <a:prstGeom prst="roundRect">
            <a:avLst>
              <a:gd name="adj" fmla="val 16667"/>
            </a:avLst>
          </a:prstGeom>
          <a:solidFill>
            <a:srgbClr val="EDF4F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7"/>
          <p:cNvSpPr/>
          <p:nvPr/>
        </p:nvSpPr>
        <p:spPr>
          <a:xfrm>
            <a:off x="9299448" y="2176272"/>
            <a:ext cx="2761488" cy="512064"/>
          </a:xfrm>
          <a:prstGeom prst="roundRect">
            <a:avLst>
              <a:gd name="adj" fmla="val 16667"/>
            </a:avLst>
          </a:prstGeom>
          <a:solidFill>
            <a:srgbClr val="1262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17"/>
          <p:cNvSpPr txBox="1"/>
          <p:nvPr/>
        </p:nvSpPr>
        <p:spPr>
          <a:xfrm>
            <a:off x="9454896" y="2276856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DEGREE REQUIREMENTS</a:t>
            </a:r>
            <a:endParaRPr/>
          </a:p>
        </p:txBody>
      </p:sp>
      <p:sp>
        <p:nvSpPr>
          <p:cNvPr id="861" name="Google Shape;861;p17"/>
          <p:cNvSpPr txBox="1"/>
          <p:nvPr/>
        </p:nvSpPr>
        <p:spPr>
          <a:xfrm>
            <a:off x="9454896" y="2834640"/>
            <a:ext cx="2487168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program  •  required_courses</a:t>
            </a:r>
            <a:endParaRPr/>
          </a:p>
          <a:p>
            <a:pPr marL="0" marR="0" lvl="0" indent="0" algn="l" rtl="0">
              <a:spcBef>
                <a:spcPts val="70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103463"/>
                </a:solidFill>
                <a:latin typeface="Arial"/>
                <a:ea typeface="Arial"/>
                <a:cs typeface="Arial"/>
                <a:sym typeface="Arial"/>
              </a:rPr>
              <a:t>credit requirements  •  electives</a:t>
            </a:r>
            <a:endParaRPr/>
          </a:p>
        </p:txBody>
      </p:sp>
      <p:sp>
        <p:nvSpPr>
          <p:cNvPr id="862" name="Google Shape;862;p17"/>
          <p:cNvSpPr txBox="1"/>
          <p:nvPr/>
        </p:nvSpPr>
        <p:spPr>
          <a:xfrm>
            <a:off x="9454896" y="3968496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Remaining-degree analysis</a:t>
            </a:r>
            <a:endParaRPr/>
          </a:p>
        </p:txBody>
      </p:sp>
      <p:sp>
        <p:nvSpPr>
          <p:cNvPr id="863" name="Google Shape;863;p17"/>
          <p:cNvSpPr/>
          <p:nvPr/>
        </p:nvSpPr>
        <p:spPr>
          <a:xfrm>
            <a:off x="685800" y="4956048"/>
            <a:ext cx="10826496" cy="713232"/>
          </a:xfrm>
          <a:prstGeom prst="roundRect">
            <a:avLst>
              <a:gd name="adj" fmla="val 16667"/>
            </a:avLst>
          </a:prstGeom>
          <a:solidFill>
            <a:srgbClr val="103463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17"/>
          <p:cNvSpPr txBox="1"/>
          <p:nvPr/>
        </p:nvSpPr>
        <p:spPr>
          <a:xfrm>
            <a:off x="941832" y="5111496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LangChain selects route  →  Python Advisor Tools query DynamoDB  →  Bedrock explains results</a:t>
            </a:r>
            <a:endParaRPr/>
          </a:p>
        </p:txBody>
      </p:sp>
      <p:sp>
        <p:nvSpPr>
          <p:cNvPr id="865" name="Google Shape;865;p17"/>
          <p:cNvSpPr txBox="1"/>
          <p:nvPr/>
        </p:nvSpPr>
        <p:spPr>
          <a:xfrm>
            <a:off x="585216" y="651052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25" tIns="27425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536C8A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866" name="Google Shape;866;p17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D264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8"/>
          <p:cNvSpPr/>
          <p:nvPr/>
        </p:nvSpPr>
        <p:spPr>
          <a:xfrm>
            <a:off x="0" y="12546"/>
            <a:ext cx="12191695" cy="118872"/>
          </a:xfrm>
          <a:prstGeom prst="rect">
            <a:avLst/>
          </a:prstGeom>
          <a:solidFill>
            <a:srgbClr val="0D2D5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18"/>
          <p:cNvSpPr/>
          <p:nvPr/>
        </p:nvSpPr>
        <p:spPr>
          <a:xfrm>
            <a:off x="502920" y="420624"/>
            <a:ext cx="73152" cy="393192"/>
          </a:xfrm>
          <a:prstGeom prst="rect">
            <a:avLst/>
          </a:prstGeom>
          <a:solidFill>
            <a:srgbClr val="F48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8"/>
          <p:cNvSpPr txBox="1"/>
          <p:nvPr/>
        </p:nvSpPr>
        <p:spPr>
          <a:xfrm>
            <a:off x="704088" y="384048"/>
            <a:ext cx="10515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UTA  •  TEAM 2 AI ADVISOR</a:t>
            </a:r>
            <a:endParaRPr/>
          </a:p>
        </p:txBody>
      </p:sp>
      <p:sp>
        <p:nvSpPr>
          <p:cNvPr id="874" name="Google Shape;874;p18"/>
          <p:cNvSpPr txBox="1"/>
          <p:nvPr/>
        </p:nvSpPr>
        <p:spPr>
          <a:xfrm>
            <a:off x="704088" y="777240"/>
            <a:ext cx="1078992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Eight Fictional Student Test Profiles</a:t>
            </a:r>
            <a:endParaRPr/>
          </a:p>
        </p:txBody>
      </p:sp>
      <p:sp>
        <p:nvSpPr>
          <p:cNvPr id="875" name="Google Shape;875;p18"/>
          <p:cNvSpPr txBox="1"/>
          <p:nvPr/>
        </p:nvSpPr>
        <p:spPr>
          <a:xfrm>
            <a:off x="713232" y="1353312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>
                <a:solidFill>
                  <a:srgbClr val="5E7086"/>
                </a:solidFill>
                <a:latin typeface="Arial"/>
                <a:ea typeface="Arial"/>
                <a:cs typeface="Arial"/>
                <a:sym typeface="Arial"/>
              </a:rPr>
              <a:t>Transcript-based test cases for eligibility checks and personalized degree planning</a:t>
            </a:r>
            <a:endParaRPr/>
          </a:p>
        </p:txBody>
      </p:sp>
      <p:sp>
        <p:nvSpPr>
          <p:cNvPr id="876" name="Google Shape;876;p18"/>
          <p:cNvSpPr/>
          <p:nvPr/>
        </p:nvSpPr>
        <p:spPr>
          <a:xfrm>
            <a:off x="594360" y="1856231"/>
            <a:ext cx="11000232" cy="438912"/>
          </a:xfrm>
          <a:prstGeom prst="roundRect">
            <a:avLst>
              <a:gd name="adj" fmla="val 16667"/>
            </a:avLst>
          </a:prstGeom>
          <a:solidFill>
            <a:srgbClr val="0D2D5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8"/>
          <p:cNvSpPr txBox="1"/>
          <p:nvPr/>
        </p:nvSpPr>
        <p:spPr>
          <a:xfrm>
            <a:off x="667512" y="195681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 ID</a:t>
            </a:r>
            <a:endParaRPr/>
          </a:p>
        </p:txBody>
      </p:sp>
      <p:sp>
        <p:nvSpPr>
          <p:cNvPr id="878" name="Google Shape;878;p18"/>
          <p:cNvSpPr txBox="1"/>
          <p:nvPr/>
        </p:nvSpPr>
        <p:spPr>
          <a:xfrm>
            <a:off x="2130552" y="1956816"/>
            <a:ext cx="201167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879" name="Google Shape;879;p18"/>
          <p:cNvSpPr txBox="1"/>
          <p:nvPr/>
        </p:nvSpPr>
        <p:spPr>
          <a:xfrm>
            <a:off x="4233672" y="1956816"/>
            <a:ext cx="13990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USERNAME</a:t>
            </a:r>
            <a:endParaRPr/>
          </a:p>
        </p:txBody>
      </p:sp>
      <p:sp>
        <p:nvSpPr>
          <p:cNvPr id="880" name="Google Shape;880;p18"/>
          <p:cNvSpPr txBox="1"/>
          <p:nvPr/>
        </p:nvSpPr>
        <p:spPr>
          <a:xfrm>
            <a:off x="5724144" y="1956816"/>
            <a:ext cx="100583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</a:t>
            </a:r>
            <a:endParaRPr/>
          </a:p>
        </p:txBody>
      </p:sp>
      <p:sp>
        <p:nvSpPr>
          <p:cNvPr id="881" name="Google Shape;881;p18"/>
          <p:cNvSpPr txBox="1"/>
          <p:nvPr/>
        </p:nvSpPr>
        <p:spPr>
          <a:xfrm>
            <a:off x="6821424" y="1956816"/>
            <a:ext cx="79552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CREDITS</a:t>
            </a:r>
            <a:endParaRPr/>
          </a:p>
        </p:txBody>
      </p:sp>
      <p:sp>
        <p:nvSpPr>
          <p:cNvPr id="882" name="Google Shape;882;p18"/>
          <p:cNvSpPr txBox="1"/>
          <p:nvPr/>
        </p:nvSpPr>
        <p:spPr>
          <a:xfrm>
            <a:off x="7708392" y="195681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SCENARIO</a:t>
            </a:r>
            <a:endParaRPr/>
          </a:p>
        </p:txBody>
      </p:sp>
      <p:sp>
        <p:nvSpPr>
          <p:cNvPr id="883" name="Google Shape;883;p18"/>
          <p:cNvSpPr/>
          <p:nvPr/>
        </p:nvSpPr>
        <p:spPr>
          <a:xfrm>
            <a:off x="594360" y="2340864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1F6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18"/>
          <p:cNvSpPr txBox="1"/>
          <p:nvPr/>
        </p:nvSpPr>
        <p:spPr>
          <a:xfrm>
            <a:off x="667512" y="2436876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1002000101</a:t>
            </a:r>
            <a:endParaRPr/>
          </a:p>
        </p:txBody>
      </p:sp>
      <p:sp>
        <p:nvSpPr>
          <p:cNvPr id="885" name="Google Shape;885;p18"/>
          <p:cNvSpPr txBox="1"/>
          <p:nvPr/>
        </p:nvSpPr>
        <p:spPr>
          <a:xfrm>
            <a:off x="2130552" y="2436876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Emily Johnson</a:t>
            </a:r>
            <a:endParaRPr/>
          </a:p>
        </p:txBody>
      </p:sp>
      <p:sp>
        <p:nvSpPr>
          <p:cNvPr id="886" name="Google Shape;886;p18"/>
          <p:cNvSpPr txBox="1"/>
          <p:nvPr/>
        </p:nvSpPr>
        <p:spPr>
          <a:xfrm>
            <a:off x="4233672" y="2436876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emily1234</a:t>
            </a:r>
            <a:endParaRPr/>
          </a:p>
        </p:txBody>
      </p:sp>
      <p:sp>
        <p:nvSpPr>
          <p:cNvPr id="887" name="Google Shape;887;p18"/>
          <p:cNvSpPr txBox="1"/>
          <p:nvPr/>
        </p:nvSpPr>
        <p:spPr>
          <a:xfrm>
            <a:off x="5724144" y="2436876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888" name="Google Shape;888;p18"/>
          <p:cNvSpPr txBox="1"/>
          <p:nvPr/>
        </p:nvSpPr>
        <p:spPr>
          <a:xfrm>
            <a:off x="6821424" y="2436876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89" name="Google Shape;889;p18"/>
          <p:cNvSpPr txBox="1"/>
          <p:nvPr/>
        </p:nvSpPr>
        <p:spPr>
          <a:xfrm>
            <a:off x="7708392" y="2436876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New freshman; no completed courses</a:t>
            </a:r>
            <a:endParaRPr/>
          </a:p>
        </p:txBody>
      </p:sp>
      <p:sp>
        <p:nvSpPr>
          <p:cNvPr id="890" name="Google Shape;890;p18"/>
          <p:cNvSpPr/>
          <p:nvPr/>
        </p:nvSpPr>
        <p:spPr>
          <a:xfrm>
            <a:off x="594360" y="2770632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18"/>
          <p:cNvSpPr txBox="1"/>
          <p:nvPr/>
        </p:nvSpPr>
        <p:spPr>
          <a:xfrm>
            <a:off x="667512" y="2866644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1002000102</a:t>
            </a:r>
            <a:endParaRPr/>
          </a:p>
        </p:txBody>
      </p:sp>
      <p:sp>
        <p:nvSpPr>
          <p:cNvPr id="892" name="Google Shape;892;p18"/>
          <p:cNvSpPr txBox="1"/>
          <p:nvPr/>
        </p:nvSpPr>
        <p:spPr>
          <a:xfrm>
            <a:off x="2130552" y="2866644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Michael Smith</a:t>
            </a:r>
            <a:endParaRPr/>
          </a:p>
        </p:txBody>
      </p:sp>
      <p:sp>
        <p:nvSpPr>
          <p:cNvPr id="893" name="Google Shape;893;p18"/>
          <p:cNvSpPr txBox="1"/>
          <p:nvPr/>
        </p:nvSpPr>
        <p:spPr>
          <a:xfrm>
            <a:off x="4233672" y="2866644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michael1234</a:t>
            </a:r>
            <a:endParaRPr/>
          </a:p>
        </p:txBody>
      </p:sp>
      <p:sp>
        <p:nvSpPr>
          <p:cNvPr id="894" name="Google Shape;894;p18"/>
          <p:cNvSpPr txBox="1"/>
          <p:nvPr/>
        </p:nvSpPr>
        <p:spPr>
          <a:xfrm>
            <a:off x="5724144" y="2866644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895" name="Google Shape;895;p18"/>
          <p:cNvSpPr txBox="1"/>
          <p:nvPr/>
        </p:nvSpPr>
        <p:spPr>
          <a:xfrm>
            <a:off x="6821424" y="2866644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896" name="Google Shape;896;p18"/>
          <p:cNvSpPr txBox="1"/>
          <p:nvPr/>
        </p:nvSpPr>
        <p:spPr>
          <a:xfrm>
            <a:off x="7708392" y="2866644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Sophomore progressing normally</a:t>
            </a:r>
            <a:endParaRPr/>
          </a:p>
        </p:txBody>
      </p:sp>
      <p:sp>
        <p:nvSpPr>
          <p:cNvPr id="897" name="Google Shape;897;p18"/>
          <p:cNvSpPr/>
          <p:nvPr/>
        </p:nvSpPr>
        <p:spPr>
          <a:xfrm>
            <a:off x="594360" y="3200400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1F6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18"/>
          <p:cNvSpPr txBox="1"/>
          <p:nvPr/>
        </p:nvSpPr>
        <p:spPr>
          <a:xfrm>
            <a:off x="667512" y="3296412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1002000103</a:t>
            </a:r>
            <a:endParaRPr/>
          </a:p>
        </p:txBody>
      </p:sp>
      <p:sp>
        <p:nvSpPr>
          <p:cNvPr id="899" name="Google Shape;899;p18"/>
          <p:cNvSpPr txBox="1"/>
          <p:nvPr/>
        </p:nvSpPr>
        <p:spPr>
          <a:xfrm>
            <a:off x="2130552" y="3296412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Sarah Williams</a:t>
            </a:r>
            <a:endParaRPr/>
          </a:p>
        </p:txBody>
      </p:sp>
      <p:sp>
        <p:nvSpPr>
          <p:cNvPr id="900" name="Google Shape;900;p18"/>
          <p:cNvSpPr txBox="1"/>
          <p:nvPr/>
        </p:nvSpPr>
        <p:spPr>
          <a:xfrm>
            <a:off x="4233672" y="3296412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sarah1234</a:t>
            </a:r>
            <a:endParaRPr/>
          </a:p>
        </p:txBody>
      </p:sp>
      <p:sp>
        <p:nvSpPr>
          <p:cNvPr id="901" name="Google Shape;901;p18"/>
          <p:cNvSpPr txBox="1"/>
          <p:nvPr/>
        </p:nvSpPr>
        <p:spPr>
          <a:xfrm>
            <a:off x="5724144" y="3296412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902" name="Google Shape;902;p18"/>
          <p:cNvSpPr txBox="1"/>
          <p:nvPr/>
        </p:nvSpPr>
        <p:spPr>
          <a:xfrm>
            <a:off x="6821424" y="3296412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/>
          </a:p>
        </p:txBody>
      </p:sp>
      <p:sp>
        <p:nvSpPr>
          <p:cNvPr id="903" name="Google Shape;903;p18"/>
          <p:cNvSpPr txBox="1"/>
          <p:nvPr/>
        </p:nvSpPr>
        <p:spPr>
          <a:xfrm>
            <a:off x="7708392" y="3296412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Junior with strong grades</a:t>
            </a:r>
            <a:endParaRPr/>
          </a:p>
        </p:txBody>
      </p:sp>
      <p:sp>
        <p:nvSpPr>
          <p:cNvPr id="904" name="Google Shape;904;p18"/>
          <p:cNvSpPr/>
          <p:nvPr/>
        </p:nvSpPr>
        <p:spPr>
          <a:xfrm>
            <a:off x="594360" y="3630168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18"/>
          <p:cNvSpPr txBox="1"/>
          <p:nvPr/>
        </p:nvSpPr>
        <p:spPr>
          <a:xfrm>
            <a:off x="667512" y="3726180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1002000104</a:t>
            </a:r>
            <a:endParaRPr/>
          </a:p>
        </p:txBody>
      </p:sp>
      <p:sp>
        <p:nvSpPr>
          <p:cNvPr id="906" name="Google Shape;906;p18"/>
          <p:cNvSpPr txBox="1"/>
          <p:nvPr/>
        </p:nvSpPr>
        <p:spPr>
          <a:xfrm>
            <a:off x="2130552" y="3726180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James Brown</a:t>
            </a:r>
            <a:endParaRPr/>
          </a:p>
        </p:txBody>
      </p:sp>
      <p:sp>
        <p:nvSpPr>
          <p:cNvPr id="907" name="Google Shape;907;p18"/>
          <p:cNvSpPr txBox="1"/>
          <p:nvPr/>
        </p:nvSpPr>
        <p:spPr>
          <a:xfrm>
            <a:off x="4233672" y="3726180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james1234</a:t>
            </a:r>
            <a:endParaRPr/>
          </a:p>
        </p:txBody>
      </p:sp>
      <p:sp>
        <p:nvSpPr>
          <p:cNvPr id="908" name="Google Shape;908;p18"/>
          <p:cNvSpPr txBox="1"/>
          <p:nvPr/>
        </p:nvSpPr>
        <p:spPr>
          <a:xfrm>
            <a:off x="5724144" y="3726180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909" name="Google Shape;909;p18"/>
          <p:cNvSpPr txBox="1"/>
          <p:nvPr/>
        </p:nvSpPr>
        <p:spPr>
          <a:xfrm>
            <a:off x="6821424" y="3726180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13*</a:t>
            </a:r>
            <a:endParaRPr/>
          </a:p>
        </p:txBody>
      </p:sp>
      <p:sp>
        <p:nvSpPr>
          <p:cNvPr id="910" name="Google Shape;910;p18"/>
          <p:cNvSpPr txBox="1"/>
          <p:nvPr/>
        </p:nvSpPr>
        <p:spPr>
          <a:xfrm>
            <a:off x="7708392" y="3726180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Low grade (D) blocks prerequisites</a:t>
            </a:r>
            <a:endParaRPr/>
          </a:p>
        </p:txBody>
      </p:sp>
      <p:sp>
        <p:nvSpPr>
          <p:cNvPr id="911" name="Google Shape;911;p18"/>
          <p:cNvSpPr/>
          <p:nvPr/>
        </p:nvSpPr>
        <p:spPr>
          <a:xfrm>
            <a:off x="594360" y="4059935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1F6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18"/>
          <p:cNvSpPr txBox="1"/>
          <p:nvPr/>
        </p:nvSpPr>
        <p:spPr>
          <a:xfrm>
            <a:off x="667512" y="4155948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1002000105</a:t>
            </a:r>
            <a:endParaRPr/>
          </a:p>
        </p:txBody>
      </p:sp>
      <p:sp>
        <p:nvSpPr>
          <p:cNvPr id="913" name="Google Shape;913;p18"/>
          <p:cNvSpPr txBox="1"/>
          <p:nvPr/>
        </p:nvSpPr>
        <p:spPr>
          <a:xfrm>
            <a:off x="2130552" y="4155948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Jessica Davis</a:t>
            </a:r>
            <a:endParaRPr/>
          </a:p>
        </p:txBody>
      </p:sp>
      <p:sp>
        <p:nvSpPr>
          <p:cNvPr id="914" name="Google Shape;914;p18"/>
          <p:cNvSpPr txBox="1"/>
          <p:nvPr/>
        </p:nvSpPr>
        <p:spPr>
          <a:xfrm>
            <a:off x="4233672" y="4155948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jessica1234</a:t>
            </a:r>
            <a:endParaRPr/>
          </a:p>
        </p:txBody>
      </p:sp>
      <p:sp>
        <p:nvSpPr>
          <p:cNvPr id="915" name="Google Shape;915;p18"/>
          <p:cNvSpPr txBox="1"/>
          <p:nvPr/>
        </p:nvSpPr>
        <p:spPr>
          <a:xfrm>
            <a:off x="5724144" y="4155948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BS-SE</a:t>
            </a:r>
            <a:endParaRPr/>
          </a:p>
        </p:txBody>
      </p:sp>
      <p:sp>
        <p:nvSpPr>
          <p:cNvPr id="916" name="Google Shape;916;p18"/>
          <p:cNvSpPr txBox="1"/>
          <p:nvPr/>
        </p:nvSpPr>
        <p:spPr>
          <a:xfrm>
            <a:off x="6821424" y="4155948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/>
          </a:p>
        </p:txBody>
      </p:sp>
      <p:sp>
        <p:nvSpPr>
          <p:cNvPr id="917" name="Google Shape;917;p18"/>
          <p:cNvSpPr txBox="1"/>
          <p:nvPr/>
        </p:nvSpPr>
        <p:spPr>
          <a:xfrm>
            <a:off x="7708392" y="4155948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Senior; design II and elective remain</a:t>
            </a:r>
            <a:endParaRPr/>
          </a:p>
        </p:txBody>
      </p:sp>
      <p:sp>
        <p:nvSpPr>
          <p:cNvPr id="918" name="Google Shape;918;p18"/>
          <p:cNvSpPr/>
          <p:nvPr/>
        </p:nvSpPr>
        <p:spPr>
          <a:xfrm>
            <a:off x="594360" y="4489704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18"/>
          <p:cNvSpPr txBox="1"/>
          <p:nvPr/>
        </p:nvSpPr>
        <p:spPr>
          <a:xfrm>
            <a:off x="667512" y="4585716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1002000106</a:t>
            </a:r>
            <a:endParaRPr/>
          </a:p>
        </p:txBody>
      </p:sp>
      <p:sp>
        <p:nvSpPr>
          <p:cNvPr id="920" name="Google Shape;920;p18"/>
          <p:cNvSpPr txBox="1"/>
          <p:nvPr/>
        </p:nvSpPr>
        <p:spPr>
          <a:xfrm>
            <a:off x="2130552" y="4585716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David Miller</a:t>
            </a:r>
            <a:endParaRPr/>
          </a:p>
        </p:txBody>
      </p:sp>
      <p:sp>
        <p:nvSpPr>
          <p:cNvPr id="921" name="Google Shape;921;p18"/>
          <p:cNvSpPr txBox="1"/>
          <p:nvPr/>
        </p:nvSpPr>
        <p:spPr>
          <a:xfrm>
            <a:off x="4233672" y="4585716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david1234</a:t>
            </a:r>
            <a:endParaRPr/>
          </a:p>
        </p:txBody>
      </p:sp>
      <p:sp>
        <p:nvSpPr>
          <p:cNvPr id="922" name="Google Shape;922;p18"/>
          <p:cNvSpPr txBox="1"/>
          <p:nvPr/>
        </p:nvSpPr>
        <p:spPr>
          <a:xfrm>
            <a:off x="5724144" y="4585716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923" name="Google Shape;923;p18"/>
          <p:cNvSpPr txBox="1"/>
          <p:nvPr/>
        </p:nvSpPr>
        <p:spPr>
          <a:xfrm>
            <a:off x="6821424" y="4585716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/>
          </a:p>
        </p:txBody>
      </p:sp>
      <p:sp>
        <p:nvSpPr>
          <p:cNvPr id="924" name="Google Shape;924;p18"/>
          <p:cNvSpPr txBox="1"/>
          <p:nvPr/>
        </p:nvSpPr>
        <p:spPr>
          <a:xfrm>
            <a:off x="7708392" y="4585716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Failed, retook, and withdrew</a:t>
            </a:r>
            <a:endParaRPr/>
          </a:p>
        </p:txBody>
      </p:sp>
      <p:sp>
        <p:nvSpPr>
          <p:cNvPr id="925" name="Google Shape;925;p18"/>
          <p:cNvSpPr/>
          <p:nvPr/>
        </p:nvSpPr>
        <p:spPr>
          <a:xfrm>
            <a:off x="594360" y="4919472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1F6F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18"/>
          <p:cNvSpPr txBox="1"/>
          <p:nvPr/>
        </p:nvSpPr>
        <p:spPr>
          <a:xfrm>
            <a:off x="667512" y="5015484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1002000107</a:t>
            </a:r>
            <a:endParaRPr/>
          </a:p>
        </p:txBody>
      </p:sp>
      <p:sp>
        <p:nvSpPr>
          <p:cNvPr id="927" name="Google Shape;927;p18"/>
          <p:cNvSpPr txBox="1"/>
          <p:nvPr/>
        </p:nvSpPr>
        <p:spPr>
          <a:xfrm>
            <a:off x="2130552" y="5015484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Sofia Martinez</a:t>
            </a:r>
            <a:endParaRPr/>
          </a:p>
        </p:txBody>
      </p:sp>
      <p:sp>
        <p:nvSpPr>
          <p:cNvPr id="928" name="Google Shape;928;p18"/>
          <p:cNvSpPr txBox="1"/>
          <p:nvPr/>
        </p:nvSpPr>
        <p:spPr>
          <a:xfrm>
            <a:off x="4233672" y="5015484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sofia1234</a:t>
            </a:r>
            <a:endParaRPr/>
          </a:p>
        </p:txBody>
      </p:sp>
      <p:sp>
        <p:nvSpPr>
          <p:cNvPr id="929" name="Google Shape;929;p18"/>
          <p:cNvSpPr txBox="1"/>
          <p:nvPr/>
        </p:nvSpPr>
        <p:spPr>
          <a:xfrm>
            <a:off x="5724144" y="5015484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BS-SE</a:t>
            </a:r>
            <a:endParaRPr/>
          </a:p>
        </p:txBody>
      </p:sp>
      <p:sp>
        <p:nvSpPr>
          <p:cNvPr id="930" name="Google Shape;930;p18"/>
          <p:cNvSpPr txBox="1"/>
          <p:nvPr/>
        </p:nvSpPr>
        <p:spPr>
          <a:xfrm>
            <a:off x="6821424" y="5015484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931" name="Google Shape;931;p18"/>
          <p:cNvSpPr txBox="1"/>
          <p:nvPr/>
        </p:nvSpPr>
        <p:spPr>
          <a:xfrm>
            <a:off x="7708392" y="5015484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Changed major from CS to SE</a:t>
            </a:r>
            <a:endParaRPr/>
          </a:p>
        </p:txBody>
      </p:sp>
      <p:sp>
        <p:nvSpPr>
          <p:cNvPr id="932" name="Google Shape;932;p18"/>
          <p:cNvSpPr/>
          <p:nvPr/>
        </p:nvSpPr>
        <p:spPr>
          <a:xfrm>
            <a:off x="594360" y="5349240"/>
            <a:ext cx="11000232" cy="4069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18"/>
          <p:cNvSpPr txBox="1"/>
          <p:nvPr/>
        </p:nvSpPr>
        <p:spPr>
          <a:xfrm>
            <a:off x="667512" y="5445252"/>
            <a:ext cx="136245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1002000108</a:t>
            </a:r>
            <a:endParaRPr/>
          </a:p>
        </p:txBody>
      </p:sp>
      <p:sp>
        <p:nvSpPr>
          <p:cNvPr id="934" name="Google Shape;934;p18"/>
          <p:cNvSpPr txBox="1"/>
          <p:nvPr/>
        </p:nvSpPr>
        <p:spPr>
          <a:xfrm>
            <a:off x="2130552" y="5445252"/>
            <a:ext cx="2002536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Daniel Taylor</a:t>
            </a:r>
            <a:endParaRPr/>
          </a:p>
        </p:txBody>
      </p:sp>
      <p:sp>
        <p:nvSpPr>
          <p:cNvPr id="935" name="Google Shape;935;p18"/>
          <p:cNvSpPr txBox="1"/>
          <p:nvPr/>
        </p:nvSpPr>
        <p:spPr>
          <a:xfrm>
            <a:off x="4233672" y="5445252"/>
            <a:ext cx="1389887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daniel1234</a:t>
            </a:r>
            <a:endParaRPr/>
          </a:p>
        </p:txBody>
      </p:sp>
      <p:sp>
        <p:nvSpPr>
          <p:cNvPr id="936" name="Google Shape;936;p18"/>
          <p:cNvSpPr txBox="1"/>
          <p:nvPr/>
        </p:nvSpPr>
        <p:spPr>
          <a:xfrm>
            <a:off x="5724144" y="5445252"/>
            <a:ext cx="99669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BS-CS</a:t>
            </a:r>
            <a:endParaRPr/>
          </a:p>
        </p:txBody>
      </p:sp>
      <p:sp>
        <p:nvSpPr>
          <p:cNvPr id="937" name="Google Shape;937;p18"/>
          <p:cNvSpPr txBox="1"/>
          <p:nvPr/>
        </p:nvSpPr>
        <p:spPr>
          <a:xfrm>
            <a:off x="6821424" y="5445252"/>
            <a:ext cx="78638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11569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938" name="Google Shape;938;p18"/>
          <p:cNvSpPr txBox="1"/>
          <p:nvPr/>
        </p:nvSpPr>
        <p:spPr>
          <a:xfrm>
            <a:off x="7708392" y="5445252"/>
            <a:ext cx="3877055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0" b="0">
                <a:solidFill>
                  <a:srgbClr val="0D2D54"/>
                </a:solidFill>
                <a:latin typeface="Arial"/>
                <a:ea typeface="Arial"/>
                <a:cs typeface="Arial"/>
                <a:sym typeface="Arial"/>
              </a:rPr>
              <a:t>Part-time, including summer courses</a:t>
            </a:r>
            <a:endParaRPr/>
          </a:p>
        </p:txBody>
      </p:sp>
      <p:sp>
        <p:nvSpPr>
          <p:cNvPr id="939" name="Google Shape;939;p18"/>
          <p:cNvSpPr/>
          <p:nvPr/>
        </p:nvSpPr>
        <p:spPr>
          <a:xfrm>
            <a:off x="612648" y="5952744"/>
            <a:ext cx="59436" cy="484632"/>
          </a:xfrm>
          <a:prstGeom prst="rect">
            <a:avLst/>
          </a:prstGeom>
          <a:solidFill>
            <a:srgbClr val="F48A2B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18"/>
          <p:cNvSpPr txBox="1"/>
          <p:nvPr/>
        </p:nvSpPr>
        <p:spPr>
          <a:xfrm>
            <a:off x="786384" y="5943600"/>
            <a:ext cx="106984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5E7086"/>
                </a:solidFill>
                <a:latin typeface="Arial"/>
                <a:ea typeface="Arial"/>
                <a:cs typeface="Arial"/>
                <a:sym typeface="Arial"/>
              </a:rPr>
              <a:t>Credits estimated from transcript courses (3 credits each; MATH 1426 / 2425 = 4). F and W excluded; retakes counted once. *James includes a D (3 credits), which does not satisfy C-minimum prerequisites.</a:t>
            </a:r>
            <a:endParaRPr/>
          </a:p>
        </p:txBody>
      </p:sp>
      <p:sp>
        <p:nvSpPr>
          <p:cNvPr id="941" name="Google Shape;941;p18"/>
          <p:cNvSpPr txBox="1"/>
          <p:nvPr/>
        </p:nvSpPr>
        <p:spPr>
          <a:xfrm>
            <a:off x="612648" y="6574536"/>
            <a:ext cx="10058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22850" rIns="91425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E7086"/>
                </a:solidFill>
                <a:latin typeface="Arial"/>
                <a:ea typeface="Arial"/>
                <a:cs typeface="Arial"/>
                <a:sym typeface="Arial"/>
              </a:rPr>
              <a:t>CSE 4392 / 5320   •   TEAM ASSIGNMENT 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2"/>
          <p:cNvSpPr/>
          <p:nvPr/>
        </p:nvSpPr>
        <p:spPr>
          <a:xfrm>
            <a:off x="-17983" y="14035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System Demo Screenshots</a:t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pic>
        <p:nvPicPr>
          <p:cNvPr id="1010" name="Google Shape;10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68" y="1572768"/>
            <a:ext cx="5056632" cy="335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22"/>
          <p:cNvSpPr txBox="1"/>
          <p:nvPr/>
        </p:nvSpPr>
        <p:spPr>
          <a:xfrm>
            <a:off x="685800" y="5138928"/>
            <a:ext cx="496519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SECURE SIGN-IN</a:t>
            </a:r>
            <a:endParaRPr/>
          </a:p>
        </p:txBody>
      </p:sp>
      <p:sp>
        <p:nvSpPr>
          <p:cNvPr id="1013" name="Google Shape;1013;p22"/>
          <p:cNvSpPr txBox="1"/>
          <p:nvPr/>
        </p:nvSpPr>
        <p:spPr>
          <a:xfrm>
            <a:off x="685800" y="54864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Cognito-backed student login screen</a:t>
            </a:r>
            <a:endParaRPr/>
          </a:p>
        </p:txBody>
      </p:sp>
      <p:sp>
        <p:nvSpPr>
          <p:cNvPr id="1014" name="Google Shape;1014;p22"/>
          <p:cNvSpPr txBox="1"/>
          <p:nvPr/>
        </p:nvSpPr>
        <p:spPr>
          <a:xfrm>
            <a:off x="6016752" y="5138928"/>
            <a:ext cx="5449824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STUDENT CHAT EXPERIENCE</a:t>
            </a:r>
            <a:endParaRPr/>
          </a:p>
        </p:txBody>
      </p:sp>
      <p:sp>
        <p:nvSpPr>
          <p:cNvPr id="1015" name="Google Shape;1015;p22"/>
          <p:cNvSpPr txBox="1"/>
          <p:nvPr/>
        </p:nvSpPr>
        <p:spPr>
          <a:xfrm>
            <a:off x="6016752" y="5486400"/>
            <a:ext cx="53949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Course, prerequisite and degree-planning requests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263511-BDFD-AF41-AD9C-774C14349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396" y="1527048"/>
            <a:ext cx="6044609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2"/>
          <p:cNvSpPr/>
          <p:nvPr/>
        </p:nvSpPr>
        <p:spPr>
          <a:xfrm>
            <a:off x="-17983" y="14035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Demo: Course Question and Follow-Up Eligibility</a:t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1010" name="Screenshot frame"/>
          <p:cNvSpPr/>
          <p:nvPr/>
        </p:nvSpPr>
        <p:spPr>
          <a:xfrm>
            <a:off x="548640" y="1481328"/>
            <a:ext cx="7516367" cy="3914889"/>
          </a:xfrm>
          <a:prstGeom prst="roundRect">
            <a:avLst>
              <a:gd name="adj" fmla="val 2000"/>
            </a:avLst>
          </a:prstGeom>
          <a:solidFill>
            <a:srgbClr val="DD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1" name="Demo screenshot" descr="shot_eli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36192"/>
            <a:ext cx="7406640" cy="3805161"/>
          </a:xfrm>
          <a:prstGeom prst="rect">
            <a:avLst/>
          </a:prstGeom>
        </p:spPr>
      </p:pic>
      <p:sp>
        <p:nvSpPr>
          <p:cNvPr id="1012" name="Screenshot caption"/>
          <p:cNvSpPr txBox="1"/>
          <p:nvPr/>
        </p:nvSpPr>
        <p:spPr>
          <a:xfrm>
            <a:off x="548640" y="5515089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Logged in as Michael Smith (michael1234): BS-CS sophomore test profile, 17 credits completed</a:t>
            </a:r>
          </a:p>
        </p:txBody>
      </p:sp>
      <p:sp>
        <p:nvSpPr>
          <p:cNvPr id="1013" name="Explanation panel"/>
          <p:cNvSpPr/>
          <p:nvPr/>
        </p:nvSpPr>
        <p:spPr>
          <a:xfrm>
            <a:off x="8275320" y="1481328"/>
            <a:ext cx="33832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4" name="INPUT 1 label"/>
          <p:cNvSpPr txBox="1"/>
          <p:nvPr/>
        </p:nvSpPr>
        <p:spPr>
          <a:xfrm>
            <a:off x="8476488" y="166420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63B4"/>
                </a:solidFill>
                <a:latin typeface="Arial"/>
              </a:rPr>
              <a:t>INPUT 1</a:t>
            </a:r>
          </a:p>
        </p:txBody>
      </p:sp>
      <p:sp>
        <p:nvSpPr>
          <p:cNvPr id="1015" name="INPUT 1 text"/>
          <p:cNvSpPr txBox="1"/>
          <p:nvPr/>
        </p:nvSpPr>
        <p:spPr>
          <a:xfrm>
            <a:off x="8476488" y="1911095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“what is cse 4308 about?”</a:t>
            </a:r>
          </a:p>
        </p:txBody>
      </p:sp>
      <p:sp>
        <p:nvSpPr>
          <p:cNvPr id="1016" name="OUTPUT 1 label"/>
          <p:cNvSpPr txBox="1"/>
          <p:nvPr/>
        </p:nvSpPr>
        <p:spPr>
          <a:xfrm>
            <a:off x="8476488" y="225856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7B4F"/>
                </a:solidFill>
                <a:latin typeface="Arial"/>
              </a:rPr>
              <a:t>OUTPUT 1</a:t>
            </a:r>
          </a:p>
        </p:txBody>
      </p:sp>
      <p:sp>
        <p:nvSpPr>
          <p:cNvPr id="1017" name="OUTPUT 1 text"/>
          <p:cNvSpPr txBox="1"/>
          <p:nvPr/>
        </p:nvSpPr>
        <p:spPr>
          <a:xfrm>
            <a:off x="8476488" y="2505456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Course description, 3 credit hours and catalog prerequisites, retrieved with RAG.</a:t>
            </a:r>
          </a:p>
        </p:txBody>
      </p:sp>
      <p:sp>
        <p:nvSpPr>
          <p:cNvPr id="1018" name="INPUT 2 label"/>
          <p:cNvSpPr txBox="1"/>
          <p:nvPr/>
        </p:nvSpPr>
        <p:spPr>
          <a:xfrm>
            <a:off x="8476488" y="321868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63B4"/>
                </a:solidFill>
                <a:latin typeface="Arial"/>
              </a:rPr>
              <a:t>INPUT 2</a:t>
            </a:r>
          </a:p>
        </p:txBody>
      </p:sp>
      <p:sp>
        <p:nvSpPr>
          <p:cNvPr id="1019" name="INPUT 2 text"/>
          <p:cNvSpPr txBox="1"/>
          <p:nvPr/>
        </p:nvSpPr>
        <p:spPr>
          <a:xfrm>
            <a:off x="8476488" y="3465576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“can i take it?” (no course named)</a:t>
            </a:r>
          </a:p>
        </p:txBody>
      </p:sp>
      <p:sp>
        <p:nvSpPr>
          <p:cNvPr id="1020" name="OUTPUT 2 label"/>
          <p:cNvSpPr txBox="1"/>
          <p:nvPr/>
        </p:nvSpPr>
        <p:spPr>
          <a:xfrm>
            <a:off x="8476488" y="381304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7B4F"/>
                </a:solidFill>
                <a:latin typeface="Arial"/>
              </a:rPr>
              <a:t>OUTPUT 2</a:t>
            </a:r>
          </a:p>
        </p:txBody>
      </p:sp>
      <p:sp>
        <p:nvSpPr>
          <p:cNvPr id="1021" name="OUTPUT 2 text"/>
          <p:cNvSpPr txBox="1"/>
          <p:nvPr/>
        </p:nvSpPr>
        <p:spPr>
          <a:xfrm>
            <a:off x="8476488" y="4059936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“it” resolved to CSE 4308 from history. Python checked the transcript: not eligible, missing CSE 3318 and IE 3301 or MATH 3313 (C or better).</a:t>
            </a:r>
          </a:p>
        </p:txBody>
      </p:sp>
      <p:sp>
        <p:nvSpPr>
          <p:cNvPr id="1022" name="Requirements chip"/>
          <p:cNvSpPr/>
          <p:nvPr/>
        </p:nvSpPr>
        <p:spPr>
          <a:xfrm>
            <a:off x="8476488" y="5532120"/>
            <a:ext cx="2980944" cy="54864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3" name="Requirements text"/>
          <p:cNvSpPr txBox="1"/>
          <p:nvPr/>
        </p:nvSpPr>
        <p:spPr>
          <a:xfrm>
            <a:off x="8595360" y="5532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263B4"/>
                </a:solidFill>
                <a:latin typeface="Arial"/>
              </a:rPr>
              <a:t>Shows requirements 3, 4(a) and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22"/>
          <p:cNvSpPr/>
          <p:nvPr/>
        </p:nvSpPr>
        <p:spPr>
          <a:xfrm>
            <a:off x="-17983" y="14035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1007" name="Google Shape;1007;p22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Demo: Degree Plan Generation</a:t>
            </a:r>
            <a:endParaRPr/>
          </a:p>
        </p:txBody>
      </p:sp>
      <p:sp>
        <p:nvSpPr>
          <p:cNvPr id="1008" name="Google Shape;1008;p22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2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1010" name="Screenshot frame"/>
          <p:cNvSpPr/>
          <p:nvPr/>
        </p:nvSpPr>
        <p:spPr>
          <a:xfrm>
            <a:off x="548640" y="1481328"/>
            <a:ext cx="7516367" cy="3914889"/>
          </a:xfrm>
          <a:prstGeom prst="roundRect">
            <a:avLst>
              <a:gd name="adj" fmla="val 2000"/>
            </a:avLst>
          </a:prstGeom>
          <a:solidFill>
            <a:srgbClr val="DD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1" name="Demo screenshot" descr="shot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36192"/>
            <a:ext cx="7406640" cy="3805161"/>
          </a:xfrm>
          <a:prstGeom prst="rect">
            <a:avLst/>
          </a:prstGeom>
        </p:spPr>
      </p:pic>
      <p:sp>
        <p:nvSpPr>
          <p:cNvPr id="1012" name="Screenshot caption"/>
          <p:cNvSpPr txBox="1"/>
          <p:nvPr/>
        </p:nvSpPr>
        <p:spPr>
          <a:xfrm>
            <a:off x="548640" y="5515089"/>
            <a:ext cx="7406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Arial"/>
              </a:rPr>
              <a:t>Logged in as Michael Smith (michael1234): BS-CS sophomore test profile, 17 credits completed</a:t>
            </a:r>
          </a:p>
        </p:txBody>
      </p:sp>
      <p:sp>
        <p:nvSpPr>
          <p:cNvPr id="1013" name="Explanation panel"/>
          <p:cNvSpPr/>
          <p:nvPr/>
        </p:nvSpPr>
        <p:spPr>
          <a:xfrm>
            <a:off x="8275320" y="1481328"/>
            <a:ext cx="3383280" cy="4754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4" name="INPUT label"/>
          <p:cNvSpPr txBox="1"/>
          <p:nvPr/>
        </p:nvSpPr>
        <p:spPr>
          <a:xfrm>
            <a:off x="8476488" y="166420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263B4"/>
                </a:solidFill>
                <a:latin typeface="Arial"/>
              </a:rPr>
              <a:t>INPUT</a:t>
            </a:r>
          </a:p>
        </p:txBody>
      </p:sp>
      <p:sp>
        <p:nvSpPr>
          <p:cNvPr id="1015" name="INPUT text"/>
          <p:cNvSpPr txBox="1"/>
          <p:nvPr/>
        </p:nvSpPr>
        <p:spPr>
          <a:xfrm>
            <a:off x="8476488" y="1911095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“generate my degree plan without summer semesters”</a:t>
            </a:r>
          </a:p>
        </p:txBody>
      </p:sp>
      <p:sp>
        <p:nvSpPr>
          <p:cNvPr id="1016" name="OUTPUT label"/>
          <p:cNvSpPr txBox="1"/>
          <p:nvPr/>
        </p:nvSpPr>
        <p:spPr>
          <a:xfrm>
            <a:off x="8476488" y="244144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7B4F"/>
                </a:solidFill>
                <a:latin typeface="Arial"/>
              </a:rPr>
              <a:t>OUTPUT</a:t>
            </a:r>
          </a:p>
        </p:txBody>
      </p:sp>
      <p:sp>
        <p:nvSpPr>
          <p:cNvPr id="1017" name="OUTPUT text"/>
          <p:cNvSpPr txBox="1"/>
          <p:nvPr/>
        </p:nvSpPr>
        <p:spPr>
          <a:xfrm>
            <a:off x="8476488" y="2688336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A complete plan: 5 semesters, 2027-SP to 2029-SP, 73 credits.</a:t>
            </a:r>
          </a:p>
        </p:txBody>
      </p:sp>
      <p:sp>
        <p:nvSpPr>
          <p:cNvPr id="1018" name="WHAT IT SHOWS label"/>
          <p:cNvSpPr txBox="1"/>
          <p:nvPr/>
        </p:nvSpPr>
        <p:spPr>
          <a:xfrm>
            <a:off x="8476488" y="3218688"/>
            <a:ext cx="2980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C2340"/>
                </a:solidFill>
                <a:latin typeface="Arial"/>
              </a:rPr>
              <a:t>WHAT IT SHOWS</a:t>
            </a:r>
          </a:p>
        </p:txBody>
      </p:sp>
      <p:sp>
        <p:nvSpPr>
          <p:cNvPr id="1019" name="WHAT IT SHOWS text"/>
          <p:cNvSpPr txBox="1"/>
          <p:nvPr/>
        </p:nvSpPr>
        <p:spPr>
          <a:xfrm>
            <a:off x="8476488" y="3465576"/>
            <a:ext cx="298094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0C2340"/>
                </a:solidFill>
                <a:latin typeface="Arial"/>
              </a:rPr>
              <a:t>Fall and spring terms only, as the student asked. At most 15 credits per term. Prerequisites come first (CSE 3318 before CSE 4308). Built from Michael’s transcript.</a:t>
            </a:r>
          </a:p>
        </p:txBody>
      </p:sp>
      <p:sp>
        <p:nvSpPr>
          <p:cNvPr id="1020" name="Requirements chip"/>
          <p:cNvSpPr/>
          <p:nvPr/>
        </p:nvSpPr>
        <p:spPr>
          <a:xfrm>
            <a:off x="8476488" y="5532120"/>
            <a:ext cx="2980944" cy="54864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1" name="Requirements text"/>
          <p:cNvSpPr txBox="1"/>
          <p:nvPr/>
        </p:nvSpPr>
        <p:spPr>
          <a:xfrm>
            <a:off x="8595360" y="55321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263B4"/>
                </a:solidFill>
                <a:latin typeface="Arial"/>
              </a:rPr>
              <a:t>Shows requirements 2 and 4(a)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C39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58A2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19"/>
          <p:cNvSpPr txBox="1"/>
          <p:nvPr/>
        </p:nvSpPr>
        <p:spPr>
          <a:xfrm>
            <a:off x="914400" y="594360"/>
            <a:ext cx="10360152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Play"/>
              <a:buNone/>
            </a:pPr>
            <a:r>
              <a:rPr lang="en-US" sz="19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UTA  •  TEAM 2 AI ADVISOR</a:t>
            </a:r>
            <a:endParaRPr/>
          </a:p>
        </p:txBody>
      </p:sp>
      <p:sp>
        <p:nvSpPr>
          <p:cNvPr id="948" name="Google Shape;948;p19"/>
          <p:cNvSpPr txBox="1"/>
          <p:nvPr/>
        </p:nvSpPr>
        <p:spPr>
          <a:xfrm>
            <a:off x="640080" y="2240280"/>
            <a:ext cx="10908792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TEAM 2 AI ADVISOR</a:t>
            </a:r>
            <a:endParaRPr/>
          </a:p>
        </p:txBody>
      </p:sp>
      <p:sp>
        <p:nvSpPr>
          <p:cNvPr id="949" name="Google Shape;949;p19"/>
          <p:cNvSpPr/>
          <p:nvPr/>
        </p:nvSpPr>
        <p:spPr>
          <a:xfrm>
            <a:off x="5239512" y="3584448"/>
            <a:ext cx="1719072" cy="64008"/>
          </a:xfrm>
          <a:prstGeom prst="rect">
            <a:avLst/>
          </a:prstGeom>
          <a:solidFill>
            <a:srgbClr val="F58A27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9"/>
          <p:cNvSpPr txBox="1"/>
          <p:nvPr/>
        </p:nvSpPr>
        <p:spPr>
          <a:xfrm>
            <a:off x="914400" y="3977639"/>
            <a:ext cx="10360152" cy="63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Play"/>
              <a:buNone/>
            </a:pPr>
            <a:r>
              <a:rPr lang="en-US" sz="35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LIVE DEMO</a:t>
            </a:r>
            <a:endParaRPr/>
          </a:p>
        </p:txBody>
      </p:sp>
      <p:sp>
        <p:nvSpPr>
          <p:cNvPr id="951" name="Google Shape;951;p19"/>
          <p:cNvSpPr txBox="1"/>
          <p:nvPr/>
        </p:nvSpPr>
        <p:spPr>
          <a:xfrm>
            <a:off x="914400" y="6272784"/>
            <a:ext cx="103601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B3CC"/>
              </a:buClr>
              <a:buSzPts val="1200"/>
              <a:buFont typeface="Play"/>
              <a:buNone/>
            </a:pPr>
            <a:r>
              <a:rPr lang="en-US" sz="1200" b="0" i="0" u="none" strike="noStrike" cap="none">
                <a:solidFill>
                  <a:srgbClr val="9AB3CC"/>
                </a:solidFill>
                <a:latin typeface="Play"/>
                <a:ea typeface="Play"/>
                <a:cs typeface="Play"/>
                <a:sym typeface="Play"/>
              </a:rPr>
              <a:t>CSE 4392 / 5320   •   TEAM ASSIGNMENT 2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0"/>
          <p:cNvSpPr txBox="1"/>
          <p:nvPr/>
        </p:nvSpPr>
        <p:spPr>
          <a:xfrm>
            <a:off x="502920" y="2468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5BAE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958" name="Google Shape;958;p20"/>
          <p:cNvSpPr txBox="1"/>
          <p:nvPr/>
        </p:nvSpPr>
        <p:spPr>
          <a:xfrm>
            <a:off x="502920" y="6217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0D2646"/>
                </a:solidFill>
                <a:latin typeface="Arial"/>
                <a:ea typeface="Arial"/>
                <a:cs typeface="Arial"/>
                <a:sym typeface="Arial"/>
              </a:rPr>
              <a:t>Lessons Learned</a:t>
            </a:r>
            <a:endParaRPr/>
          </a:p>
        </p:txBody>
      </p:sp>
      <p:sp>
        <p:nvSpPr>
          <p:cNvPr id="959" name="Google Shape;959;p20"/>
          <p:cNvSpPr/>
          <p:nvPr/>
        </p:nvSpPr>
        <p:spPr>
          <a:xfrm>
            <a:off x="502920" y="1261872"/>
            <a:ext cx="11201400" cy="20116"/>
          </a:xfrm>
          <a:prstGeom prst="rect">
            <a:avLst/>
          </a:prstGeom>
          <a:solidFill>
            <a:srgbClr val="C7D0D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20"/>
          <p:cNvSpPr/>
          <p:nvPr/>
        </p:nvSpPr>
        <p:spPr>
          <a:xfrm>
            <a:off x="667512" y="1655064"/>
            <a:ext cx="5394960" cy="3611880"/>
          </a:xfrm>
          <a:prstGeom prst="roundRect">
            <a:avLst>
              <a:gd name="adj" fmla="val 16667"/>
            </a:avLst>
          </a:prstGeom>
          <a:solidFill>
            <a:srgbClr val="DBE1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0"/>
          <p:cNvSpPr/>
          <p:nvPr/>
        </p:nvSpPr>
        <p:spPr>
          <a:xfrm>
            <a:off x="621792" y="1600200"/>
            <a:ext cx="5394960" cy="3611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20"/>
          <p:cNvSpPr/>
          <p:nvPr/>
        </p:nvSpPr>
        <p:spPr>
          <a:xfrm>
            <a:off x="585216" y="1600200"/>
            <a:ext cx="68580" cy="3611880"/>
          </a:xfrm>
          <a:prstGeom prst="rect">
            <a:avLst/>
          </a:prstGeom>
          <a:solidFill>
            <a:srgbClr val="FF831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0"/>
          <p:cNvSpPr txBox="1"/>
          <p:nvPr/>
        </p:nvSpPr>
        <p:spPr>
          <a:xfrm>
            <a:off x="795528" y="1810512"/>
            <a:ext cx="49834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D2646"/>
                </a:solidFill>
                <a:latin typeface="Arial"/>
                <a:ea typeface="Arial"/>
                <a:cs typeface="Arial"/>
                <a:sym typeface="Arial"/>
              </a:rPr>
              <a:t>What we learned</a:t>
            </a:r>
            <a:endParaRPr/>
          </a:p>
        </p:txBody>
      </p:sp>
      <p:sp>
        <p:nvSpPr>
          <p:cNvPr id="964" name="Google Shape;964;p20"/>
          <p:cNvSpPr txBox="1"/>
          <p:nvPr/>
        </p:nvSpPr>
        <p:spPr>
          <a:xfrm>
            <a:off x="804672" y="2313432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LLMs interpret student questions; Python enforces academic rules.</a:t>
            </a:r>
            <a:endParaRPr/>
          </a:p>
        </p:txBody>
      </p:sp>
      <p:sp>
        <p:nvSpPr>
          <p:cNvPr id="965" name="Google Shape;965;p20"/>
          <p:cNvSpPr txBox="1"/>
          <p:nvPr/>
        </p:nvSpPr>
        <p:spPr>
          <a:xfrm>
            <a:off x="804672" y="2935224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DynamoDB provides catalog-year-specific courses, programs and transcripts.</a:t>
            </a:r>
            <a:endParaRPr/>
          </a:p>
        </p:txBody>
      </p:sp>
      <p:sp>
        <p:nvSpPr>
          <p:cNvPr id="966" name="Google Shape;966;p20"/>
          <p:cNvSpPr txBox="1"/>
          <p:nvPr/>
        </p:nvSpPr>
        <p:spPr>
          <a:xfrm>
            <a:off x="804672" y="3557015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RAG retrieves supporting catalog text instead of relying on model memory.</a:t>
            </a:r>
            <a:endParaRPr/>
          </a:p>
        </p:txBody>
      </p:sp>
      <p:sp>
        <p:nvSpPr>
          <p:cNvPr id="967" name="Google Shape;967;p20"/>
          <p:cNvSpPr txBox="1"/>
          <p:nvPr/>
        </p:nvSpPr>
        <p:spPr>
          <a:xfrm>
            <a:off x="804672" y="4178808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Modular AWS services simplify testing, deployment and troubleshooting.</a:t>
            </a:r>
            <a:endParaRPr/>
          </a:p>
        </p:txBody>
      </p:sp>
      <p:sp>
        <p:nvSpPr>
          <p:cNvPr id="968" name="Google Shape;968;p20"/>
          <p:cNvSpPr/>
          <p:nvPr/>
        </p:nvSpPr>
        <p:spPr>
          <a:xfrm>
            <a:off x="6291072" y="1655064"/>
            <a:ext cx="5394960" cy="3611880"/>
          </a:xfrm>
          <a:prstGeom prst="roundRect">
            <a:avLst>
              <a:gd name="adj" fmla="val 16667"/>
            </a:avLst>
          </a:prstGeom>
          <a:solidFill>
            <a:srgbClr val="DBE1E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0"/>
          <p:cNvSpPr/>
          <p:nvPr/>
        </p:nvSpPr>
        <p:spPr>
          <a:xfrm>
            <a:off x="6245352" y="1600200"/>
            <a:ext cx="5394960" cy="3611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0"/>
          <p:cNvSpPr/>
          <p:nvPr/>
        </p:nvSpPr>
        <p:spPr>
          <a:xfrm>
            <a:off x="6208776" y="1600200"/>
            <a:ext cx="68580" cy="3611880"/>
          </a:xfrm>
          <a:prstGeom prst="rect">
            <a:avLst/>
          </a:prstGeom>
          <a:solidFill>
            <a:srgbClr val="FF831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0"/>
          <p:cNvSpPr txBox="1"/>
          <p:nvPr/>
        </p:nvSpPr>
        <p:spPr>
          <a:xfrm>
            <a:off x="6419088" y="1810512"/>
            <a:ext cx="498348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D2646"/>
                </a:solidFill>
                <a:latin typeface="Arial"/>
                <a:ea typeface="Arial"/>
                <a:cs typeface="Arial"/>
                <a:sym typeface="Arial"/>
              </a:rPr>
              <a:t>Challenges &amp; improvements</a:t>
            </a:r>
            <a:endParaRPr/>
          </a:p>
        </p:txBody>
      </p:sp>
      <p:sp>
        <p:nvSpPr>
          <p:cNvPr id="972" name="Google Shape;972;p20"/>
          <p:cNvSpPr txBox="1"/>
          <p:nvPr/>
        </p:nvSpPr>
        <p:spPr>
          <a:xfrm>
            <a:off x="6428232" y="2313432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Prerequisite text must be translated into accurate, validated rules.</a:t>
            </a:r>
            <a:endParaRPr/>
          </a:p>
        </p:txBody>
      </p:sp>
      <p:sp>
        <p:nvSpPr>
          <p:cNvPr id="973" name="Google Shape;973;p20"/>
          <p:cNvSpPr txBox="1"/>
          <p:nvPr/>
        </p:nvSpPr>
        <p:spPr>
          <a:xfrm>
            <a:off x="6428232" y="2935224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Concurrent prerequisites and section conflicts require careful checks.</a:t>
            </a:r>
            <a:endParaRPr/>
          </a:p>
        </p:txBody>
      </p:sp>
      <p:sp>
        <p:nvSpPr>
          <p:cNvPr id="974" name="Google Shape;974;p20"/>
          <p:cNvSpPr txBox="1"/>
          <p:nvPr/>
        </p:nvSpPr>
        <p:spPr>
          <a:xfrm>
            <a:off x="6428232" y="3557015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Missing or unvalidated catalog data can prevent complete degree plans.</a:t>
            </a:r>
            <a:endParaRPr/>
          </a:p>
        </p:txBody>
      </p:sp>
      <p:sp>
        <p:nvSpPr>
          <p:cNvPr id="975" name="Google Shape;975;p20"/>
          <p:cNvSpPr txBox="1"/>
          <p:nvPr/>
        </p:nvSpPr>
        <p:spPr>
          <a:xfrm>
            <a:off x="6428232" y="4178808"/>
            <a:ext cx="4965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• Diverse student scenarios reveal edge cases before real-world use.</a:t>
            </a:r>
            <a:endParaRPr/>
          </a:p>
        </p:txBody>
      </p:sp>
      <p:sp>
        <p:nvSpPr>
          <p:cNvPr id="976" name="Google Shape;976;p20"/>
          <p:cNvSpPr txBox="1"/>
          <p:nvPr/>
        </p:nvSpPr>
        <p:spPr>
          <a:xfrm>
            <a:off x="512064" y="6519672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596F8F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977" name="Google Shape;977;p20"/>
          <p:cNvSpPr/>
          <p:nvPr/>
        </p:nvSpPr>
        <p:spPr>
          <a:xfrm>
            <a:off x="0" y="12546"/>
            <a:ext cx="12191695" cy="118872"/>
          </a:xfrm>
          <a:prstGeom prst="rect">
            <a:avLst/>
          </a:prstGeom>
          <a:solidFill>
            <a:srgbClr val="0D2D5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1"/>
          <p:cNvSpPr/>
          <p:nvPr/>
        </p:nvSpPr>
        <p:spPr>
          <a:xfrm>
            <a:off x="-11887" y="9144"/>
            <a:ext cx="128016" cy="6858000"/>
          </a:xfrm>
          <a:prstGeom prst="rect">
            <a:avLst/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1"/>
          <p:cNvSpPr txBox="1"/>
          <p:nvPr/>
        </p:nvSpPr>
        <p:spPr>
          <a:xfrm>
            <a:off x="493776" y="22860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UTA • TEAM 2 AI ADVISOR</a:t>
            </a:r>
            <a:endParaRPr/>
          </a:p>
        </p:txBody>
      </p:sp>
      <p:sp>
        <p:nvSpPr>
          <p:cNvPr id="985" name="Google Shape;985;p21"/>
          <p:cNvSpPr txBox="1"/>
          <p:nvPr/>
        </p:nvSpPr>
        <p:spPr>
          <a:xfrm>
            <a:off x="493776" y="56692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Conclusions and Future Work</a:t>
            </a:r>
            <a:endParaRPr/>
          </a:p>
        </p:txBody>
      </p:sp>
      <p:sp>
        <p:nvSpPr>
          <p:cNvPr id="986" name="Google Shape;986;p21"/>
          <p:cNvSpPr/>
          <p:nvPr/>
        </p:nvSpPr>
        <p:spPr>
          <a:xfrm>
            <a:off x="493776" y="1234440"/>
            <a:ext cx="11109960" cy="20116"/>
          </a:xfrm>
          <a:prstGeom prst="rect">
            <a:avLst/>
          </a:prstGeom>
          <a:solidFill>
            <a:srgbClr val="DDE6E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21"/>
          <p:cNvSpPr txBox="1"/>
          <p:nvPr/>
        </p:nvSpPr>
        <p:spPr>
          <a:xfrm>
            <a:off x="502920" y="6528816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CSE 4392 / 5320  •  TEAM ASSIGNMENT 2</a:t>
            </a:r>
            <a:endParaRPr/>
          </a:p>
        </p:txBody>
      </p:sp>
      <p:sp>
        <p:nvSpPr>
          <p:cNvPr id="988" name="Google Shape;988;p21"/>
          <p:cNvSpPr/>
          <p:nvPr/>
        </p:nvSpPr>
        <p:spPr>
          <a:xfrm>
            <a:off x="612648" y="1554480"/>
            <a:ext cx="10881360" cy="1216152"/>
          </a:xfrm>
          <a:prstGeom prst="roundRect">
            <a:avLst>
              <a:gd name="adj" fmla="val 13000"/>
            </a:avLst>
          </a:prstGeom>
          <a:solidFill>
            <a:srgbClr val="0C234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1"/>
          <p:cNvSpPr txBox="1"/>
          <p:nvPr/>
        </p:nvSpPr>
        <p:spPr>
          <a:xfrm>
            <a:off x="896112" y="1783080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integrated AI advising prototype</a:t>
            </a:r>
            <a:endParaRPr/>
          </a:p>
        </p:txBody>
      </p:sp>
      <p:sp>
        <p:nvSpPr>
          <p:cNvPr id="990" name="Google Shape;990;p21"/>
          <p:cNvSpPr txBox="1"/>
          <p:nvPr/>
        </p:nvSpPr>
        <p:spPr>
          <a:xfrm>
            <a:off x="914400" y="2267712"/>
            <a:ext cx="9784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C8DFF4"/>
                </a:solidFill>
                <a:latin typeface="Arial"/>
                <a:ea typeface="Arial"/>
                <a:cs typeface="Arial"/>
                <a:sym typeface="Arial"/>
              </a:rPr>
              <a:t>Natural-language interaction + retrieval + academic rules + cloud deployment</a:t>
            </a:r>
            <a:endParaRPr/>
          </a:p>
        </p:txBody>
      </p:sp>
      <p:sp>
        <p:nvSpPr>
          <p:cNvPr id="991" name="Google Shape;991;p21"/>
          <p:cNvSpPr/>
          <p:nvPr/>
        </p:nvSpPr>
        <p:spPr>
          <a:xfrm>
            <a:off x="612648" y="3072384"/>
            <a:ext cx="5239512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1"/>
          <p:cNvSpPr/>
          <p:nvPr/>
        </p:nvSpPr>
        <p:spPr>
          <a:xfrm>
            <a:off x="612648" y="3072384"/>
            <a:ext cx="64008" cy="2240280"/>
          </a:xfrm>
          <a:prstGeom prst="rect">
            <a:avLst/>
          </a:prstGeom>
          <a:solidFill>
            <a:srgbClr val="1263B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21"/>
          <p:cNvSpPr txBox="1"/>
          <p:nvPr/>
        </p:nvSpPr>
        <p:spPr>
          <a:xfrm>
            <a:off x="813816" y="3246120"/>
            <a:ext cx="48554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Achievements</a:t>
            </a:r>
            <a:endParaRPr/>
          </a:p>
        </p:txBody>
      </p:sp>
      <p:sp>
        <p:nvSpPr>
          <p:cNvPr id="994" name="Google Shape;994;p21"/>
          <p:cNvSpPr txBox="1"/>
          <p:nvPr/>
        </p:nvSpPr>
        <p:spPr>
          <a:xfrm>
            <a:off x="813816" y="3730752"/>
            <a:ext cx="4855464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Working student login and chat interface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RAG-based course information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Prerequisite checks and degree-plan generation</a:t>
            </a:r>
            <a:endParaRPr/>
          </a:p>
        </p:txBody>
      </p:sp>
      <p:sp>
        <p:nvSpPr>
          <p:cNvPr id="995" name="Google Shape;995;p21"/>
          <p:cNvSpPr/>
          <p:nvPr/>
        </p:nvSpPr>
        <p:spPr>
          <a:xfrm>
            <a:off x="6172200" y="3072384"/>
            <a:ext cx="5321808" cy="22402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1"/>
          <p:cNvSpPr/>
          <p:nvPr/>
        </p:nvSpPr>
        <p:spPr>
          <a:xfrm>
            <a:off x="6172200" y="3072384"/>
            <a:ext cx="64008" cy="2240280"/>
          </a:xfrm>
          <a:prstGeom prst="rect">
            <a:avLst/>
          </a:prstGeom>
          <a:solidFill>
            <a:srgbClr val="F58A28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1"/>
          <p:cNvSpPr txBox="1"/>
          <p:nvPr/>
        </p:nvSpPr>
        <p:spPr>
          <a:xfrm>
            <a:off x="6373368" y="3246120"/>
            <a:ext cx="49377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0C2340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/>
          </a:p>
        </p:txBody>
      </p:sp>
      <p:sp>
        <p:nvSpPr>
          <p:cNvPr id="998" name="Google Shape;998;p21"/>
          <p:cNvSpPr txBox="1"/>
          <p:nvPr/>
        </p:nvSpPr>
        <p:spPr>
          <a:xfrm>
            <a:off x="6373368" y="3730752"/>
            <a:ext cx="4937760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Expand validated catalog and technical electives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Improve schedule optimization and plan visualization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Add deeper testing and academic-policy coverage</a:t>
            </a:r>
            <a:endParaRPr/>
          </a:p>
        </p:txBody>
      </p:sp>
      <p:sp>
        <p:nvSpPr>
          <p:cNvPr id="999" name="Google Shape;999;p21"/>
          <p:cNvSpPr txBox="1"/>
          <p:nvPr/>
        </p:nvSpPr>
        <p:spPr>
          <a:xfrm>
            <a:off x="658368" y="5879592"/>
            <a:ext cx="10881360" cy="39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70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1263B4"/>
                </a:solidFill>
                <a:latin typeface="Arial"/>
                <a:ea typeface="Arial"/>
                <a:cs typeface="Arial"/>
                <a:sym typeface="Arial"/>
              </a:rPr>
              <a:t>THANK YOU  • 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3478</Words>
  <Application>Microsoft Macintosh PowerPoint</Application>
  <PresentationFormat>Widescreen</PresentationFormat>
  <Paragraphs>629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Calibri</vt:lpstr>
      <vt:lpstr>Consolas</vt:lpstr>
      <vt:lpstr>Arial</vt:lpstr>
      <vt:lpstr>Play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Marvin Wellington</cp:lastModifiedBy>
  <cp:revision>11</cp:revision>
  <dcterms:created xsi:type="dcterms:W3CDTF">2013-01-27T09:14:16Z</dcterms:created>
  <dcterms:modified xsi:type="dcterms:W3CDTF">2026-10-24T13:25:31Z</dcterms:modified>
</cp:coreProperties>
</file>