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29"/>
  </p:notesMasterIdLst>
  <p:sldIdLst>
    <p:sldId id="256" r:id="rId3"/>
    <p:sldId id="257" r:id="rId4"/>
    <p:sldId id="300" r:id="rId5"/>
    <p:sldId id="259" r:id="rId6"/>
    <p:sldId id="287" r:id="rId7"/>
    <p:sldId id="302" r:id="rId8"/>
    <p:sldId id="261" r:id="rId9"/>
    <p:sldId id="294" r:id="rId10"/>
    <p:sldId id="264" r:id="rId11"/>
    <p:sldId id="265" r:id="rId12"/>
    <p:sldId id="295" r:id="rId13"/>
    <p:sldId id="267" r:id="rId14"/>
    <p:sldId id="268" r:id="rId15"/>
    <p:sldId id="269" r:id="rId16"/>
    <p:sldId id="270" r:id="rId17"/>
    <p:sldId id="272" r:id="rId18"/>
    <p:sldId id="273" r:id="rId19"/>
    <p:sldId id="301" r:id="rId20"/>
    <p:sldId id="274" r:id="rId21"/>
    <p:sldId id="275" r:id="rId22"/>
    <p:sldId id="279" r:id="rId23"/>
    <p:sldId id="297" r:id="rId24"/>
    <p:sldId id="296" r:id="rId25"/>
    <p:sldId id="276" r:id="rId26"/>
    <p:sldId id="277" r:id="rId27"/>
    <p:sldId id="278" r:id="rId28"/>
  </p:sldIdLst>
  <p:sldSz cx="12192000" cy="6858000"/>
  <p:notesSz cx="6858000" cy="9144000"/>
  <p:embeddedFontLst>
    <p:embeddedFont>
      <p:font typeface="Consolas" panose="020B0609020204030204" pitchFamily="49" charset="0"/>
      <p:regular r:id="rId30"/>
      <p:bold r:id="rId31"/>
      <p:italic r:id="rId32"/>
      <p:boldItalic r:id="rId33"/>
    </p:embeddedFont>
    <p:embeddedFont>
      <p:font typeface="Play"/>
      <p:regular r:id="rId34"/>
      <p:bold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6" roundtripDataSignature="AMtx7mjcUIlunbVXKnqiZpJ6hMnwH0UF/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font" Target="fonts/font5.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4.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3.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customschemas.google.com/relationships/presentationmetadata" Target="meta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1" name="Google Shape;161;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 name="Google Shape;162;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6" name="Google Shape;26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h128d44af2f21f154_127_7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7" name="Google Shape;397;h128d44af2f21f154_127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5" name="Google Shape;45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7" name="Google Shape;52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4" name="Google Shape;62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0" name="Google Shape;680;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8" name="Google Shape;77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0" name="Google Shape;810;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7" name="Google Shape;837;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9" name="Google Shape;869;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2" name="Google Shape;1002;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4" name="Google Shape;944;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2"/>
        <p:cNvGrpSpPr/>
        <p:nvPr/>
      </p:nvGrpSpPr>
      <p:grpSpPr>
        <a:xfrm>
          <a:off x="0" y="0"/>
          <a:ext cx="0" cy="0"/>
          <a:chOff x="0" y="0"/>
          <a:chExt cx="0" cy="0"/>
        </a:xfrm>
      </p:grpSpPr>
      <p:sp>
        <p:nvSpPr>
          <p:cNvPr id="953" name="Google Shape;953;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4" name="Google Shape;95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8"/>
        <p:cNvGrpSpPr/>
        <p:nvPr/>
      </p:nvGrpSpPr>
      <p:grpSpPr>
        <a:xfrm>
          <a:off x="0" y="0"/>
          <a:ext cx="0" cy="0"/>
          <a:chOff x="0" y="0"/>
          <a:chExt cx="0" cy="0"/>
        </a:xfrm>
      </p:grpSpPr>
      <p:sp>
        <p:nvSpPr>
          <p:cNvPr id="979" name="Google Shape;979;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80" name="Google Shape;980;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25"/>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25"/>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22" name="Google Shape;22;p2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2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2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2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2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8" name="Google Shape;28;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27"/>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7"/>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0" name="Google Shape;40;p2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1" name="Google Shape;41;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2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7" name="Google Shape;47;p2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8" name="Google Shape;48;p2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9" name="Google Shape;49;p2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0" name="Google Shape;50;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3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1"/>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1"/>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1" name="Google Shape;61;p31"/>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2" name="Google Shape;62;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2"/>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2"/>
          <p:cNvSpPr>
            <a:spLocks noGrp="1"/>
          </p:cNvSpPr>
          <p:nvPr>
            <p:ph type="pic" idx="2"/>
          </p:nvPr>
        </p:nvSpPr>
        <p:spPr>
          <a:xfrm>
            <a:off x="1792288" y="612775"/>
            <a:ext cx="5486400" cy="4114800"/>
          </a:xfrm>
          <a:prstGeom prst="rect">
            <a:avLst/>
          </a:prstGeom>
          <a:noFill/>
          <a:ln>
            <a:noFill/>
          </a:ln>
        </p:spPr>
      </p:sp>
      <p:sp>
        <p:nvSpPr>
          <p:cNvPr id="68" name="Google Shape;68;p32"/>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9" name="Google Shape;69;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3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34"/>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34"/>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h128d44af2f21f154_127_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h128d44af2f21f154_127_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h128d44af2f21f154_127_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4"/>
        <p:cNvGrpSpPr/>
        <p:nvPr/>
      </p:nvGrpSpPr>
      <p:grpSpPr>
        <a:xfrm>
          <a:off x="0" y="0"/>
          <a:ext cx="0" cy="0"/>
          <a:chOff x="0" y="0"/>
          <a:chExt cx="0" cy="0"/>
        </a:xfrm>
      </p:grpSpPr>
      <p:sp>
        <p:nvSpPr>
          <p:cNvPr id="95" name="Google Shape;95;h128d44af2f21f154_127_1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6" name="Google Shape;96;h128d44af2f21f154_127_1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97" name="Google Shape;97;h128d44af2f21f154_127_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h128d44af2f21f154_127_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9" name="Google Shape;99;h128d44af2f21f154_127_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00"/>
        <p:cNvGrpSpPr/>
        <p:nvPr/>
      </p:nvGrpSpPr>
      <p:grpSpPr>
        <a:xfrm>
          <a:off x="0" y="0"/>
          <a:ext cx="0" cy="0"/>
          <a:chOff x="0" y="0"/>
          <a:chExt cx="0" cy="0"/>
        </a:xfrm>
      </p:grpSpPr>
      <p:sp>
        <p:nvSpPr>
          <p:cNvPr id="101" name="Google Shape;101;h128d44af2f21f154_127_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h128d44af2f21f154_127_1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03" name="Google Shape;103;h128d44af2f21f154_127_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h128d44af2f21f154_127_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5" name="Google Shape;105;h128d44af2f21f154_127_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06"/>
        <p:cNvGrpSpPr/>
        <p:nvPr/>
      </p:nvGrpSpPr>
      <p:grpSpPr>
        <a:xfrm>
          <a:off x="0" y="0"/>
          <a:ext cx="0" cy="0"/>
          <a:chOff x="0" y="0"/>
          <a:chExt cx="0" cy="0"/>
        </a:xfrm>
      </p:grpSpPr>
      <p:sp>
        <p:nvSpPr>
          <p:cNvPr id="107" name="Google Shape;107;h128d44af2f21f154_127_2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 name="Google Shape;108;h128d44af2f21f154_127_2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109" name="Google Shape;109;h128d44af2f21f154_127_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0" name="Google Shape;110;h128d44af2f21f154_127_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1" name="Google Shape;111;h128d44af2f21f154_127_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12"/>
        <p:cNvGrpSpPr/>
        <p:nvPr/>
      </p:nvGrpSpPr>
      <p:grpSpPr>
        <a:xfrm>
          <a:off x="0" y="0"/>
          <a:ext cx="0" cy="0"/>
          <a:chOff x="0" y="0"/>
          <a:chExt cx="0" cy="0"/>
        </a:xfrm>
      </p:grpSpPr>
      <p:sp>
        <p:nvSpPr>
          <p:cNvPr id="113" name="Google Shape;113;h128d44af2f21f154_127_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4" name="Google Shape;114;h128d44af2f21f154_127_2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115" name="Google Shape;115;h128d44af2f21f154_127_2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116" name="Google Shape;116;h128d44af2f21f154_127_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h128d44af2f21f154_127_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8" name="Google Shape;118;h128d44af2f21f154_127_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19"/>
        <p:cNvGrpSpPr/>
        <p:nvPr/>
      </p:nvGrpSpPr>
      <p:grpSpPr>
        <a:xfrm>
          <a:off x="0" y="0"/>
          <a:ext cx="0" cy="0"/>
          <a:chOff x="0" y="0"/>
          <a:chExt cx="0" cy="0"/>
        </a:xfrm>
      </p:grpSpPr>
      <p:sp>
        <p:nvSpPr>
          <p:cNvPr id="120" name="Google Shape;120;h128d44af2f21f154_127_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h128d44af2f21f154_127_3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122" name="Google Shape;122;h128d44af2f21f154_127_3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123" name="Google Shape;123;h128d44af2f21f154_127_3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124" name="Google Shape;124;h128d44af2f21f154_127_3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125" name="Google Shape;125;h128d44af2f21f154_127_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6" name="Google Shape;126;h128d44af2f21f154_127_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h128d44af2f21f154_127_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8"/>
        <p:cNvGrpSpPr/>
        <p:nvPr/>
      </p:nvGrpSpPr>
      <p:grpSpPr>
        <a:xfrm>
          <a:off x="0" y="0"/>
          <a:ext cx="0" cy="0"/>
          <a:chOff x="0" y="0"/>
          <a:chExt cx="0" cy="0"/>
        </a:xfrm>
      </p:grpSpPr>
      <p:sp>
        <p:nvSpPr>
          <p:cNvPr id="129" name="Google Shape;129;h128d44af2f21f154_127_4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0" name="Google Shape;130;h128d44af2f21f154_127_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1" name="Google Shape;131;h128d44af2f21f154_127_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2" name="Google Shape;132;h128d44af2f21f154_127_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33"/>
        <p:cNvGrpSpPr/>
        <p:nvPr/>
      </p:nvGrpSpPr>
      <p:grpSpPr>
        <a:xfrm>
          <a:off x="0" y="0"/>
          <a:ext cx="0" cy="0"/>
          <a:chOff x="0" y="0"/>
          <a:chExt cx="0" cy="0"/>
        </a:xfrm>
      </p:grpSpPr>
      <p:sp>
        <p:nvSpPr>
          <p:cNvPr id="134" name="Google Shape;134;h128d44af2f21f154_127_4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5" name="Google Shape;135;h128d44af2f21f154_127_4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136" name="Google Shape;136;h128d44af2f21f154_127_4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37" name="Google Shape;137;h128d44af2f21f154_127_4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8" name="Google Shape;138;h128d44af2f21f154_127_4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9" name="Google Shape;139;h128d44af2f21f154_127_4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40"/>
        <p:cNvGrpSpPr/>
        <p:nvPr/>
      </p:nvGrpSpPr>
      <p:grpSpPr>
        <a:xfrm>
          <a:off x="0" y="0"/>
          <a:ext cx="0" cy="0"/>
          <a:chOff x="0" y="0"/>
          <a:chExt cx="0" cy="0"/>
        </a:xfrm>
      </p:grpSpPr>
      <p:sp>
        <p:nvSpPr>
          <p:cNvPr id="141" name="Google Shape;141;h128d44af2f21f154_127_5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2" name="Google Shape;142;h128d44af2f21f154_127_56"/>
          <p:cNvSpPr>
            <a:spLocks noGrp="1"/>
          </p:cNvSpPr>
          <p:nvPr>
            <p:ph type="pic" idx="2"/>
          </p:nvPr>
        </p:nvSpPr>
        <p:spPr>
          <a:xfrm>
            <a:off x="1792288" y="612775"/>
            <a:ext cx="5486400" cy="4114800"/>
          </a:xfrm>
          <a:prstGeom prst="rect">
            <a:avLst/>
          </a:prstGeom>
          <a:noFill/>
          <a:ln>
            <a:noFill/>
          </a:ln>
        </p:spPr>
      </p:sp>
      <p:sp>
        <p:nvSpPr>
          <p:cNvPr id="143" name="Google Shape;143;h128d44af2f21f154_127_5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44" name="Google Shape;144;h128d44af2f21f154_127_5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5" name="Google Shape;145;h128d44af2f21f154_127_5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6" name="Google Shape;146;h128d44af2f21f154_127_5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47"/>
        <p:cNvGrpSpPr/>
        <p:nvPr/>
      </p:nvGrpSpPr>
      <p:grpSpPr>
        <a:xfrm>
          <a:off x="0" y="0"/>
          <a:ext cx="0" cy="0"/>
          <a:chOff x="0" y="0"/>
          <a:chExt cx="0" cy="0"/>
        </a:xfrm>
      </p:grpSpPr>
      <p:sp>
        <p:nvSpPr>
          <p:cNvPr id="148" name="Google Shape;148;h128d44af2f21f154_127_6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h128d44af2f21f154_127_6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50" name="Google Shape;150;h128d44af2f21f154_127_6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1" name="Google Shape;151;h128d44af2f21f154_127_6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2" name="Google Shape;152;h128d44af2f21f154_127_6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53"/>
        <p:cNvGrpSpPr/>
        <p:nvPr/>
      </p:nvGrpSpPr>
      <p:grpSpPr>
        <a:xfrm>
          <a:off x="0" y="0"/>
          <a:ext cx="0" cy="0"/>
          <a:chOff x="0" y="0"/>
          <a:chExt cx="0" cy="0"/>
        </a:xfrm>
      </p:grpSpPr>
      <p:sp>
        <p:nvSpPr>
          <p:cNvPr id="154" name="Google Shape;154;h128d44af2f21f154_127_6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5" name="Google Shape;155;h128d44af2f21f154_127_6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56" name="Google Shape;156;h128d44af2f21f154_127_6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7" name="Google Shape;157;h128d44af2f21f154_127_6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8" name="Google Shape;158;h128d44af2f21f154_127_6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
        <p:cNvGrpSpPr/>
        <p:nvPr/>
      </p:nvGrpSpPr>
      <p:grpSpPr>
        <a:xfrm>
          <a:off x="0" y="0"/>
          <a:ext cx="0" cy="0"/>
          <a:chOff x="0" y="0"/>
          <a:chExt cx="0" cy="0"/>
        </a:xfrm>
      </p:grpSpPr>
      <p:sp>
        <p:nvSpPr>
          <p:cNvPr id="85" name="Google Shape;85;h128d44af2f21f154_127_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6" name="Google Shape;86;h128d44af2f21f154_127_0"/>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7" name="Google Shape;87;h128d44af2f21f154_127_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8" name="Google Shape;88;h128d44af2f21f154_127_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h128d44af2f21f154_127_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
          <p:cNvSpPr/>
          <p:nvPr/>
        </p:nvSpPr>
        <p:spPr>
          <a:xfrm>
            <a:off x="-12241" y="0"/>
            <a:ext cx="12191695"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5" name="Google Shape;165;p1"/>
          <p:cNvSpPr/>
          <p:nvPr/>
        </p:nvSpPr>
        <p:spPr>
          <a:xfrm>
            <a:off x="0" y="0"/>
            <a:ext cx="164592" cy="6858000"/>
          </a:xfrm>
          <a:prstGeom prst="rect">
            <a:avLst/>
          </a:prstGeom>
          <a:solidFill>
            <a:srgbClr val="F58A2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6" name="Google Shape;166;p1"/>
          <p:cNvSpPr/>
          <p:nvPr/>
        </p:nvSpPr>
        <p:spPr>
          <a:xfrm>
            <a:off x="7406640" y="0"/>
            <a:ext cx="4785055" cy="6858000"/>
          </a:xfrm>
          <a:prstGeom prst="rect">
            <a:avLst/>
          </a:prstGeom>
          <a:solidFill>
            <a:srgbClr val="102F53"/>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167" name="Google Shape;167;p1" descr="image.png"/>
          <p:cNvPicPr preferRelativeResize="0"/>
          <p:nvPr/>
        </p:nvPicPr>
        <p:blipFill rotWithShape="1">
          <a:blip r:embed="rId3">
            <a:alphaModFix/>
          </a:blip>
          <a:srcRect/>
          <a:stretch/>
        </p:blipFill>
        <p:spPr>
          <a:xfrm>
            <a:off x="7452360" y="960120"/>
            <a:ext cx="4343400" cy="4663440"/>
          </a:xfrm>
          <a:prstGeom prst="rect">
            <a:avLst/>
          </a:prstGeom>
          <a:noFill/>
          <a:ln>
            <a:noFill/>
          </a:ln>
        </p:spPr>
      </p:pic>
      <p:sp>
        <p:nvSpPr>
          <p:cNvPr id="168" name="Google Shape;168;p1"/>
          <p:cNvSpPr/>
          <p:nvPr/>
        </p:nvSpPr>
        <p:spPr>
          <a:xfrm>
            <a:off x="658368" y="694944"/>
            <a:ext cx="4251960" cy="338328"/>
          </a:xfrm>
          <a:prstGeom prst="roundRect">
            <a:avLst>
              <a:gd name="adj" fmla="val 13000"/>
            </a:avLst>
          </a:prstGeom>
          <a:solidFill>
            <a:srgbClr val="1262B4"/>
          </a:solidFill>
          <a:ln w="9525" cap="flat" cmpd="sng">
            <a:solidFill>
              <a:srgbClr val="0C234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9" name="Google Shape;169;p1"/>
          <p:cNvSpPr txBox="1"/>
          <p:nvPr/>
        </p:nvSpPr>
        <p:spPr>
          <a:xfrm>
            <a:off x="731519" y="745236"/>
            <a:ext cx="4105656" cy="228600"/>
          </a:xfrm>
          <a:prstGeom prst="rect">
            <a:avLst/>
          </a:prstGeom>
          <a:solidFill>
            <a:srgbClr val="1262B4"/>
          </a:solidFill>
          <a:ln>
            <a:noFill/>
          </a:ln>
        </p:spPr>
        <p:txBody>
          <a:bodyPr spcFirstLastPara="1" wrap="square" lIns="0" tIns="13700" rIns="0" bIns="0" anchor="t" anchorCtr="0">
            <a:spAutoFit/>
          </a:bodyPr>
          <a:lstStyle/>
          <a:p>
            <a:pPr marL="0" marR="0" lvl="0" indent="0" algn="ctr" rtl="0">
              <a:spcBef>
                <a:spcPts val="0"/>
              </a:spcBef>
              <a:spcAft>
                <a:spcPts val="0"/>
              </a:spcAft>
              <a:buNone/>
            </a:pPr>
            <a:r>
              <a:rPr lang="en-US" sz="1000" b="1" i="0" u="none" strike="noStrike" cap="none">
                <a:solidFill>
                  <a:srgbClr val="FFFFFF"/>
                </a:solidFill>
                <a:latin typeface="Arial"/>
                <a:ea typeface="Arial"/>
                <a:cs typeface="Arial"/>
                <a:sym typeface="Arial"/>
              </a:rPr>
              <a:t>SOFTWARE ENGINEERING WITH GENERATIVE AI</a:t>
            </a:r>
            <a:endParaRPr/>
          </a:p>
        </p:txBody>
      </p:sp>
      <p:sp>
        <p:nvSpPr>
          <p:cNvPr id="170" name="Google Shape;170;p1"/>
          <p:cNvSpPr txBox="1"/>
          <p:nvPr/>
        </p:nvSpPr>
        <p:spPr>
          <a:xfrm>
            <a:off x="658368" y="1371600"/>
            <a:ext cx="5943600" cy="50292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100" b="1" i="0" u="none" strike="noStrike" cap="none">
                <a:solidFill>
                  <a:srgbClr val="32A9D8"/>
                </a:solidFill>
                <a:latin typeface="Arial"/>
                <a:ea typeface="Arial"/>
                <a:cs typeface="Arial"/>
                <a:sym typeface="Arial"/>
              </a:rPr>
              <a:t>UTA  |  TEAM 2</a:t>
            </a:r>
            <a:endParaRPr/>
          </a:p>
        </p:txBody>
      </p:sp>
      <p:sp>
        <p:nvSpPr>
          <p:cNvPr id="171" name="Google Shape;171;p1"/>
          <p:cNvSpPr txBox="1"/>
          <p:nvPr/>
        </p:nvSpPr>
        <p:spPr>
          <a:xfrm>
            <a:off x="658368" y="1874519"/>
            <a:ext cx="6583680" cy="150876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4300" b="1" i="0" u="none" strike="noStrike" cap="none">
                <a:solidFill>
                  <a:srgbClr val="FFFFFF"/>
                </a:solidFill>
                <a:latin typeface="Arial"/>
                <a:ea typeface="Arial"/>
                <a:cs typeface="Arial"/>
                <a:sym typeface="Arial"/>
              </a:rPr>
              <a:t>AI Academic</a:t>
            </a:r>
            <a:endParaRPr/>
          </a:p>
          <a:p>
            <a:pPr marL="0" marR="0" lvl="0" indent="0" algn="l" rtl="0">
              <a:spcBef>
                <a:spcPts val="400"/>
              </a:spcBef>
              <a:spcAft>
                <a:spcPts val="0"/>
              </a:spcAft>
              <a:buNone/>
            </a:pPr>
            <a:r>
              <a:rPr lang="en-US" sz="4300" b="1" i="0" u="none" strike="noStrike" cap="none">
                <a:solidFill>
                  <a:srgbClr val="FFFFFF"/>
                </a:solidFill>
                <a:latin typeface="Arial"/>
                <a:ea typeface="Arial"/>
                <a:cs typeface="Arial"/>
                <a:sym typeface="Arial"/>
              </a:rPr>
              <a:t>Advisor</a:t>
            </a:r>
            <a:endParaRPr/>
          </a:p>
        </p:txBody>
      </p:sp>
      <p:sp>
        <p:nvSpPr>
          <p:cNvPr id="172" name="Google Shape;172;p1"/>
          <p:cNvSpPr txBox="1"/>
          <p:nvPr/>
        </p:nvSpPr>
        <p:spPr>
          <a:xfrm>
            <a:off x="694944" y="3767328"/>
            <a:ext cx="6217920" cy="10058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000" b="0" i="0" u="none" strike="noStrike" cap="none">
                <a:solidFill>
                  <a:srgbClr val="CBD9E9"/>
                </a:solidFill>
                <a:latin typeface="Arial"/>
                <a:ea typeface="Arial"/>
                <a:cs typeface="Arial"/>
                <a:sym typeface="Arial"/>
              </a:rPr>
              <a:t>An AI-powered student advising assistant built with LangChain, Amazon Bedrock, and AWS.</a:t>
            </a:r>
            <a:endParaRPr/>
          </a:p>
        </p:txBody>
      </p:sp>
      <p:sp>
        <p:nvSpPr>
          <p:cNvPr id="173" name="Google Shape;173;p1"/>
          <p:cNvSpPr/>
          <p:nvPr/>
        </p:nvSpPr>
        <p:spPr>
          <a:xfrm>
            <a:off x="685800" y="5303520"/>
            <a:ext cx="6126480" cy="18288"/>
          </a:xfrm>
          <a:prstGeom prst="rect">
            <a:avLst/>
          </a:prstGeom>
          <a:solidFill>
            <a:srgbClr val="47627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74" name="Google Shape;174;p1"/>
          <p:cNvSpPr txBox="1"/>
          <p:nvPr/>
        </p:nvSpPr>
        <p:spPr>
          <a:xfrm>
            <a:off x="694944" y="5541264"/>
            <a:ext cx="6035040" cy="465256"/>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300" b="0" i="0" u="none" strike="noStrike" cap="none">
                <a:solidFill>
                  <a:srgbClr val="FFFFFF"/>
                </a:solidFill>
                <a:latin typeface="Arial"/>
                <a:ea typeface="Arial"/>
                <a:cs typeface="Arial"/>
                <a:sym typeface="Arial"/>
              </a:rPr>
              <a:t>Team: Marvin Wellington • Joseph Fitchett • Ryan Patterson </a:t>
            </a:r>
            <a:endParaRPr sz="18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None/>
            </a:pPr>
            <a:r>
              <a:rPr lang="en-US" sz="1300" b="0" i="0" u="none" strike="noStrike" cap="none">
                <a:solidFill>
                  <a:srgbClr val="FFFFFF"/>
                </a:solidFill>
                <a:latin typeface="Arial"/>
                <a:ea typeface="Arial"/>
                <a:cs typeface="Arial"/>
                <a:sym typeface="Arial"/>
              </a:rPr>
              <a:t>Sarthak Wadhawan • Emily Ford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
          <p:cNvSpPr/>
          <p:nvPr/>
        </p:nvSpPr>
        <p:spPr>
          <a:xfrm>
            <a:off x="-19670" y="292183"/>
            <a:ext cx="12191695" cy="6858000"/>
          </a:xfrm>
          <a:prstGeom prst="rect">
            <a:avLst/>
          </a:prstGeom>
          <a:solidFill>
            <a:srgbClr val="F7F9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0" name="Google Shape;180;p2"/>
          <p:cNvSpPr txBox="1"/>
          <p:nvPr/>
        </p:nvSpPr>
        <p:spPr>
          <a:xfrm>
            <a:off x="502920" y="228600"/>
            <a:ext cx="6400800"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000" b="1" i="0" u="none" strike="noStrike" cap="none">
                <a:solidFill>
                  <a:srgbClr val="13569E"/>
                </a:solidFill>
                <a:latin typeface="Arial"/>
                <a:ea typeface="Arial"/>
                <a:cs typeface="Arial"/>
                <a:sym typeface="Arial"/>
              </a:rPr>
              <a:t>UTA  •  TEAM 2 AI ADVISOR</a:t>
            </a:r>
            <a:endParaRPr/>
          </a:p>
        </p:txBody>
      </p:sp>
      <p:sp>
        <p:nvSpPr>
          <p:cNvPr id="181" name="Google Shape;181;p2"/>
          <p:cNvSpPr txBox="1"/>
          <p:nvPr/>
        </p:nvSpPr>
        <p:spPr>
          <a:xfrm>
            <a:off x="491542" y="610636"/>
            <a:ext cx="10058400" cy="5232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3100" b="1" i="0" u="none" strike="noStrike" cap="none">
                <a:solidFill>
                  <a:srgbClr val="0C2C52"/>
                </a:solidFill>
                <a:latin typeface="Arial"/>
                <a:ea typeface="Arial"/>
                <a:cs typeface="Arial"/>
                <a:sym typeface="Arial"/>
              </a:rPr>
              <a:t>Overview of Presentation</a:t>
            </a:r>
            <a:endParaRPr/>
          </a:p>
        </p:txBody>
      </p:sp>
      <p:sp>
        <p:nvSpPr>
          <p:cNvPr id="182" name="Google Shape;182;p2"/>
          <p:cNvSpPr txBox="1"/>
          <p:nvPr/>
        </p:nvSpPr>
        <p:spPr>
          <a:xfrm>
            <a:off x="530352" y="1188720"/>
            <a:ext cx="10058400" cy="32004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400" b="0" i="0" u="none" strike="noStrike" cap="none">
                <a:solidFill>
                  <a:srgbClr val="55677D"/>
                </a:solidFill>
                <a:latin typeface="Arial"/>
                <a:ea typeface="Arial"/>
                <a:cs typeface="Arial"/>
                <a:sym typeface="Arial"/>
              </a:rPr>
              <a:t>From the academic advising challenge to our working AWS + LangChain solution</a:t>
            </a:r>
            <a:endParaRPr/>
          </a:p>
        </p:txBody>
      </p:sp>
      <p:sp>
        <p:nvSpPr>
          <p:cNvPr id="183" name="Google Shape;183;p2"/>
          <p:cNvSpPr/>
          <p:nvPr/>
        </p:nvSpPr>
        <p:spPr>
          <a:xfrm>
            <a:off x="521207" y="176479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4" name="Google Shape;184;p2"/>
          <p:cNvSpPr/>
          <p:nvPr/>
        </p:nvSpPr>
        <p:spPr>
          <a:xfrm>
            <a:off x="521207" y="1764792"/>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5" name="Google Shape;185;p2"/>
          <p:cNvSpPr/>
          <p:nvPr/>
        </p:nvSpPr>
        <p:spPr>
          <a:xfrm>
            <a:off x="713231" y="195681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6" name="Google Shape;186;p2"/>
          <p:cNvSpPr txBox="1"/>
          <p:nvPr/>
        </p:nvSpPr>
        <p:spPr>
          <a:xfrm>
            <a:off x="777240" y="206654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01</a:t>
            </a:r>
            <a:endParaRPr/>
          </a:p>
        </p:txBody>
      </p:sp>
      <p:sp>
        <p:nvSpPr>
          <p:cNvPr id="187" name="Google Shape;187;p2"/>
          <p:cNvSpPr txBox="1"/>
          <p:nvPr/>
        </p:nvSpPr>
        <p:spPr>
          <a:xfrm>
            <a:off x="1417319" y="1911095"/>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Project overview &amp; requirements</a:t>
            </a:r>
            <a:endParaRPr/>
          </a:p>
        </p:txBody>
      </p:sp>
      <p:sp>
        <p:nvSpPr>
          <p:cNvPr id="188" name="Google Shape;188;p2"/>
          <p:cNvSpPr txBox="1"/>
          <p:nvPr/>
        </p:nvSpPr>
        <p:spPr>
          <a:xfrm>
            <a:off x="1426464" y="228600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Implemented features and student advising use cases</a:t>
            </a:r>
            <a:endParaRPr/>
          </a:p>
        </p:txBody>
      </p:sp>
      <p:sp>
        <p:nvSpPr>
          <p:cNvPr id="189" name="Google Shape;189;p2"/>
          <p:cNvSpPr/>
          <p:nvPr/>
        </p:nvSpPr>
        <p:spPr>
          <a:xfrm>
            <a:off x="6327648" y="176479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0" name="Google Shape;190;p2"/>
          <p:cNvSpPr/>
          <p:nvPr/>
        </p:nvSpPr>
        <p:spPr>
          <a:xfrm>
            <a:off x="6327648" y="1764792"/>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1" name="Google Shape;191;p2"/>
          <p:cNvSpPr/>
          <p:nvPr/>
        </p:nvSpPr>
        <p:spPr>
          <a:xfrm>
            <a:off x="6519672" y="195681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2" name="Google Shape;192;p2"/>
          <p:cNvSpPr txBox="1"/>
          <p:nvPr/>
        </p:nvSpPr>
        <p:spPr>
          <a:xfrm>
            <a:off x="6583680" y="206654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02</a:t>
            </a:r>
            <a:endParaRPr/>
          </a:p>
        </p:txBody>
      </p:sp>
      <p:sp>
        <p:nvSpPr>
          <p:cNvPr id="193" name="Google Shape;193;p2"/>
          <p:cNvSpPr txBox="1"/>
          <p:nvPr/>
        </p:nvSpPr>
        <p:spPr>
          <a:xfrm>
            <a:off x="7223760" y="1911095"/>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Assumptions &amp; constraints</a:t>
            </a:r>
            <a:endParaRPr sz="1800" b="0" i="0" u="none" strike="noStrike" cap="none">
              <a:solidFill>
                <a:schemeClr val="dk1"/>
              </a:solidFill>
              <a:latin typeface="Calibri"/>
              <a:ea typeface="Calibri"/>
              <a:cs typeface="Calibri"/>
              <a:sym typeface="Calibri"/>
            </a:endParaRPr>
          </a:p>
        </p:txBody>
      </p:sp>
      <p:sp>
        <p:nvSpPr>
          <p:cNvPr id="194" name="Google Shape;194;p2"/>
          <p:cNvSpPr txBox="1"/>
          <p:nvPr/>
        </p:nvSpPr>
        <p:spPr>
          <a:xfrm>
            <a:off x="7232904" y="228600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Project data, prerequisite rules, and boundaries</a:t>
            </a:r>
            <a:endParaRPr/>
          </a:p>
        </p:txBody>
      </p:sp>
      <p:sp>
        <p:nvSpPr>
          <p:cNvPr id="195" name="Google Shape;195;p2"/>
          <p:cNvSpPr/>
          <p:nvPr/>
        </p:nvSpPr>
        <p:spPr>
          <a:xfrm>
            <a:off x="521207" y="286207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6" name="Google Shape;196;p2"/>
          <p:cNvSpPr/>
          <p:nvPr/>
        </p:nvSpPr>
        <p:spPr>
          <a:xfrm>
            <a:off x="521207" y="2862072"/>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7" name="Google Shape;197;p2"/>
          <p:cNvSpPr/>
          <p:nvPr/>
        </p:nvSpPr>
        <p:spPr>
          <a:xfrm>
            <a:off x="713231" y="305409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8" name="Google Shape;198;p2"/>
          <p:cNvSpPr txBox="1"/>
          <p:nvPr/>
        </p:nvSpPr>
        <p:spPr>
          <a:xfrm>
            <a:off x="777240" y="316382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03</a:t>
            </a:r>
            <a:endParaRPr/>
          </a:p>
        </p:txBody>
      </p:sp>
      <p:sp>
        <p:nvSpPr>
          <p:cNvPr id="199" name="Google Shape;199;p2"/>
          <p:cNvSpPr txBox="1"/>
          <p:nvPr/>
        </p:nvSpPr>
        <p:spPr>
          <a:xfrm>
            <a:off x="1417319" y="3008376"/>
            <a:ext cx="4498848" cy="283464"/>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AWS architecture &amp; RAG ingestion</a:t>
            </a:r>
            <a:endParaRPr/>
          </a:p>
        </p:txBody>
      </p:sp>
      <p:sp>
        <p:nvSpPr>
          <p:cNvPr id="200" name="Google Shape;200;p2"/>
          <p:cNvSpPr txBox="1"/>
          <p:nvPr/>
        </p:nvSpPr>
        <p:spPr>
          <a:xfrm>
            <a:off x="1426464" y="3383279"/>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AWS services, deployment, and document indexing</a:t>
            </a:r>
            <a:endParaRPr/>
          </a:p>
        </p:txBody>
      </p:sp>
      <p:sp>
        <p:nvSpPr>
          <p:cNvPr id="201" name="Google Shape;201;p2"/>
          <p:cNvSpPr/>
          <p:nvPr/>
        </p:nvSpPr>
        <p:spPr>
          <a:xfrm>
            <a:off x="6327648" y="286207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2" name="Google Shape;202;p2"/>
          <p:cNvSpPr/>
          <p:nvPr/>
        </p:nvSpPr>
        <p:spPr>
          <a:xfrm>
            <a:off x="6327648" y="2862072"/>
            <a:ext cx="64008" cy="950976"/>
          </a:xfrm>
          <a:prstGeom prst="rect">
            <a:avLst/>
          </a:prstGeom>
          <a:solidFill>
            <a:srgbClr val="EF853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3" name="Google Shape;203;p2"/>
          <p:cNvSpPr/>
          <p:nvPr/>
        </p:nvSpPr>
        <p:spPr>
          <a:xfrm>
            <a:off x="6519672" y="305409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4" name="Google Shape;204;p2"/>
          <p:cNvSpPr txBox="1"/>
          <p:nvPr/>
        </p:nvSpPr>
        <p:spPr>
          <a:xfrm>
            <a:off x="6583680" y="316382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04</a:t>
            </a:r>
            <a:endParaRPr/>
          </a:p>
        </p:txBody>
      </p:sp>
      <p:sp>
        <p:nvSpPr>
          <p:cNvPr id="205" name="Google Shape;205;p2"/>
          <p:cNvSpPr txBox="1"/>
          <p:nvPr/>
        </p:nvSpPr>
        <p:spPr>
          <a:xfrm>
            <a:off x="7223760" y="3008376"/>
            <a:ext cx="4498848" cy="283464"/>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LangChain routing &amp; RAG retrieval</a:t>
            </a:r>
            <a:endParaRPr/>
          </a:p>
        </p:txBody>
      </p:sp>
      <p:sp>
        <p:nvSpPr>
          <p:cNvPr id="206" name="Google Shape;206;p2"/>
          <p:cNvSpPr txBox="1"/>
          <p:nvPr/>
        </p:nvSpPr>
        <p:spPr>
          <a:xfrm>
            <a:off x="7232904" y="3383279"/>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Six intents, three paths, and router implementation</a:t>
            </a:r>
            <a:endParaRPr/>
          </a:p>
        </p:txBody>
      </p:sp>
      <p:sp>
        <p:nvSpPr>
          <p:cNvPr id="207" name="Google Shape;207;p2"/>
          <p:cNvSpPr/>
          <p:nvPr/>
        </p:nvSpPr>
        <p:spPr>
          <a:xfrm>
            <a:off x="521207" y="395935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8" name="Google Shape;208;p2"/>
          <p:cNvSpPr/>
          <p:nvPr/>
        </p:nvSpPr>
        <p:spPr>
          <a:xfrm>
            <a:off x="521207" y="3959352"/>
            <a:ext cx="64008" cy="950976"/>
          </a:xfrm>
          <a:prstGeom prst="rect">
            <a:avLst/>
          </a:prstGeom>
          <a:solidFill>
            <a:srgbClr val="EF853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9" name="Google Shape;209;p2"/>
          <p:cNvSpPr/>
          <p:nvPr/>
        </p:nvSpPr>
        <p:spPr>
          <a:xfrm>
            <a:off x="713231" y="415137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0" name="Google Shape;210;p2"/>
          <p:cNvSpPr txBox="1"/>
          <p:nvPr/>
        </p:nvSpPr>
        <p:spPr>
          <a:xfrm>
            <a:off x="777240" y="426110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05</a:t>
            </a:r>
            <a:endParaRPr/>
          </a:p>
        </p:txBody>
      </p:sp>
      <p:sp>
        <p:nvSpPr>
          <p:cNvPr id="211" name="Google Shape;211;p2"/>
          <p:cNvSpPr txBox="1"/>
          <p:nvPr/>
        </p:nvSpPr>
        <p:spPr>
          <a:xfrm>
            <a:off x="1417319" y="4105656"/>
            <a:ext cx="4498848" cy="283464"/>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Structured advising workflows</a:t>
            </a:r>
            <a:endParaRPr/>
          </a:p>
        </p:txBody>
      </p:sp>
      <p:sp>
        <p:nvSpPr>
          <p:cNvPr id="212" name="Google Shape;212;p2"/>
          <p:cNvSpPr txBox="1"/>
          <p:nvPr/>
        </p:nvSpPr>
        <p:spPr>
          <a:xfrm>
            <a:off x="1426464" y="448056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Student records, eligibility, and degree requirements</a:t>
            </a:r>
            <a:endParaRPr/>
          </a:p>
        </p:txBody>
      </p:sp>
      <p:sp>
        <p:nvSpPr>
          <p:cNvPr id="213" name="Google Shape;213;p2"/>
          <p:cNvSpPr/>
          <p:nvPr/>
        </p:nvSpPr>
        <p:spPr>
          <a:xfrm>
            <a:off x="6327648" y="395935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4" name="Google Shape;214;p2"/>
          <p:cNvSpPr/>
          <p:nvPr/>
        </p:nvSpPr>
        <p:spPr>
          <a:xfrm>
            <a:off x="6327648" y="3959352"/>
            <a:ext cx="64008" cy="950976"/>
          </a:xfrm>
          <a:prstGeom prst="rect">
            <a:avLst/>
          </a:prstGeom>
          <a:solidFill>
            <a:srgbClr val="EF853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5" name="Google Shape;215;p2"/>
          <p:cNvSpPr/>
          <p:nvPr/>
        </p:nvSpPr>
        <p:spPr>
          <a:xfrm>
            <a:off x="6519672" y="415137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6" name="Google Shape;216;p2"/>
          <p:cNvSpPr txBox="1"/>
          <p:nvPr/>
        </p:nvSpPr>
        <p:spPr>
          <a:xfrm>
            <a:off x="6583680" y="426110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06</a:t>
            </a:r>
            <a:endParaRPr/>
          </a:p>
        </p:txBody>
      </p:sp>
      <p:sp>
        <p:nvSpPr>
          <p:cNvPr id="217" name="Google Shape;217;p2"/>
          <p:cNvSpPr txBox="1"/>
          <p:nvPr/>
        </p:nvSpPr>
        <p:spPr>
          <a:xfrm>
            <a:off x="7223760" y="4105656"/>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Response generation &amp; degree planning</a:t>
            </a:r>
            <a:endParaRPr sz="1800" b="0" i="0" u="none" strike="noStrike" cap="none">
              <a:solidFill>
                <a:schemeClr val="dk1"/>
              </a:solidFill>
              <a:latin typeface="Calibri"/>
              <a:ea typeface="Calibri"/>
              <a:cs typeface="Calibri"/>
              <a:sym typeface="Calibri"/>
            </a:endParaRPr>
          </a:p>
        </p:txBody>
      </p:sp>
      <p:sp>
        <p:nvSpPr>
          <p:cNvPr id="218" name="Google Shape;218;p2"/>
          <p:cNvSpPr txBox="1"/>
          <p:nvPr/>
        </p:nvSpPr>
        <p:spPr>
          <a:xfrm>
            <a:off x="7232904" y="448056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Prompt instructions and Python advising tools</a:t>
            </a:r>
            <a:endParaRPr/>
          </a:p>
        </p:txBody>
      </p:sp>
      <p:sp>
        <p:nvSpPr>
          <p:cNvPr id="219" name="Google Shape;219;p2"/>
          <p:cNvSpPr/>
          <p:nvPr/>
        </p:nvSpPr>
        <p:spPr>
          <a:xfrm>
            <a:off x="521207" y="5056631"/>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0" name="Google Shape;220;p2"/>
          <p:cNvSpPr/>
          <p:nvPr/>
        </p:nvSpPr>
        <p:spPr>
          <a:xfrm>
            <a:off x="521207" y="5056631"/>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1" name="Google Shape;221;p2"/>
          <p:cNvSpPr/>
          <p:nvPr/>
        </p:nvSpPr>
        <p:spPr>
          <a:xfrm>
            <a:off x="713231" y="5248655"/>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2" name="Google Shape;222;p2"/>
          <p:cNvSpPr txBox="1"/>
          <p:nvPr/>
        </p:nvSpPr>
        <p:spPr>
          <a:xfrm>
            <a:off x="777240" y="535838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07</a:t>
            </a:r>
            <a:endParaRPr/>
          </a:p>
        </p:txBody>
      </p:sp>
      <p:sp>
        <p:nvSpPr>
          <p:cNvPr id="223" name="Google Shape;223;p2"/>
          <p:cNvSpPr txBox="1"/>
          <p:nvPr/>
        </p:nvSpPr>
        <p:spPr>
          <a:xfrm>
            <a:off x="1417319" y="5202936"/>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Testing &amp; live demonstration</a:t>
            </a:r>
            <a:endParaRPr/>
          </a:p>
        </p:txBody>
      </p:sp>
      <p:sp>
        <p:nvSpPr>
          <p:cNvPr id="224" name="Google Shape;224;p2"/>
          <p:cNvSpPr txBox="1"/>
          <p:nvPr/>
        </p:nvSpPr>
        <p:spPr>
          <a:xfrm>
            <a:off x="1426464" y="557784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Fictional students, live demo, and app screenshots</a:t>
            </a:r>
            <a:endParaRPr/>
          </a:p>
        </p:txBody>
      </p:sp>
      <p:sp>
        <p:nvSpPr>
          <p:cNvPr id="225" name="Google Shape;225;p2"/>
          <p:cNvSpPr/>
          <p:nvPr/>
        </p:nvSpPr>
        <p:spPr>
          <a:xfrm>
            <a:off x="6327648" y="5056631"/>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6" name="Google Shape;226;p2"/>
          <p:cNvSpPr/>
          <p:nvPr/>
        </p:nvSpPr>
        <p:spPr>
          <a:xfrm>
            <a:off x="6327648" y="5056631"/>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7" name="Google Shape;227;p2"/>
          <p:cNvSpPr/>
          <p:nvPr/>
        </p:nvSpPr>
        <p:spPr>
          <a:xfrm>
            <a:off x="6519672" y="5248655"/>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8" name="Google Shape;228;p2"/>
          <p:cNvSpPr txBox="1"/>
          <p:nvPr/>
        </p:nvSpPr>
        <p:spPr>
          <a:xfrm>
            <a:off x="6583680" y="535838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08</a:t>
            </a:r>
            <a:endParaRPr/>
          </a:p>
        </p:txBody>
      </p:sp>
      <p:sp>
        <p:nvSpPr>
          <p:cNvPr id="229" name="Google Shape;229;p2"/>
          <p:cNvSpPr txBox="1"/>
          <p:nvPr/>
        </p:nvSpPr>
        <p:spPr>
          <a:xfrm>
            <a:off x="7223760" y="5202936"/>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Lessons learned &amp; future work</a:t>
            </a:r>
            <a:endParaRPr sz="1800" b="0" i="0" u="none" strike="noStrike" cap="none">
              <a:solidFill>
                <a:schemeClr val="dk1"/>
              </a:solidFill>
              <a:latin typeface="Calibri"/>
              <a:ea typeface="Calibri"/>
              <a:cs typeface="Calibri"/>
              <a:sym typeface="Calibri"/>
            </a:endParaRPr>
          </a:p>
        </p:txBody>
      </p:sp>
      <p:sp>
        <p:nvSpPr>
          <p:cNvPr id="230" name="Google Shape;230;p2"/>
          <p:cNvSpPr txBox="1"/>
          <p:nvPr/>
        </p:nvSpPr>
        <p:spPr>
          <a:xfrm>
            <a:off x="7232904" y="557784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Challenges, improvements, and future work</a:t>
            </a:r>
            <a:endParaRPr/>
          </a:p>
        </p:txBody>
      </p:sp>
      <p:sp>
        <p:nvSpPr>
          <p:cNvPr id="231" name="Google Shape;231;p2"/>
          <p:cNvSpPr/>
          <p:nvPr/>
        </p:nvSpPr>
        <p:spPr>
          <a:xfrm>
            <a:off x="502920" y="6355080"/>
            <a:ext cx="11201400" cy="12801"/>
          </a:xfrm>
          <a:prstGeom prst="rect">
            <a:avLst/>
          </a:prstGeom>
          <a:solidFill>
            <a:srgbClr val="DCE3E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32" name="Google Shape;232;p2"/>
          <p:cNvSpPr txBox="1"/>
          <p:nvPr/>
        </p:nvSpPr>
        <p:spPr>
          <a:xfrm>
            <a:off x="530352" y="6501384"/>
            <a:ext cx="7315200" cy="18288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900" b="0" i="0" u="none" strike="noStrike" cap="none">
                <a:solidFill>
                  <a:srgbClr val="55677D"/>
                </a:solidFill>
                <a:latin typeface="Arial"/>
                <a:ea typeface="Arial"/>
                <a:cs typeface="Arial"/>
                <a:sym typeface="Arial"/>
              </a:rPr>
              <a:t>CSE 4392 / 5320  •  TEAM ASSIGNMENT 2</a:t>
            </a:r>
            <a:endParaRPr/>
          </a:p>
        </p:txBody>
      </p:sp>
      <p:sp>
        <p:nvSpPr>
          <p:cNvPr id="233" name="Google Shape;233;p2"/>
          <p:cNvSpPr/>
          <p:nvPr/>
        </p:nvSpPr>
        <p:spPr>
          <a:xfrm>
            <a:off x="-19670" y="0"/>
            <a:ext cx="128016" cy="6858000"/>
          </a:xfrm>
          <a:prstGeom prst="rect">
            <a:avLst/>
          </a:prstGeom>
          <a:solidFill>
            <a:srgbClr val="0F243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F243E"/>
              </a:solidFill>
              <a:latin typeface="Calibri"/>
              <a:ea typeface="Calibri"/>
              <a:cs typeface="Calibri"/>
              <a:sym typeface="Calibri"/>
            </a:endParaRPr>
          </a:p>
        </p:txBody>
      </p:sp>
      <p:sp>
        <p:nvSpPr>
          <p:cNvPr id="234" name="Google Shape;234;p2"/>
          <p:cNvSpPr/>
          <p:nvPr/>
        </p:nvSpPr>
        <p:spPr>
          <a:xfrm>
            <a:off x="530352" y="1510057"/>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429332"/>
          </a:xfrm>
          <a:prstGeom prst="rect">
            <a:avLst/>
          </a:prstGeom>
          <a:noFill/>
          <a:ln>
            <a:noFill/>
          </a:ln>
        </p:spPr>
        <p:txBody>
          <a:bodyPr spcFirstLastPara="1" wrap="square" lIns="0" tIns="13700" rIns="0" bIns="0" anchor="t" anchorCtr="0">
            <a:spAutoFit/>
          </a:bodyPr>
          <a:lstStyle/>
          <a:p>
            <a:pPr lvl="0"/>
            <a:r>
              <a:rPr lang="en-US" sz="2700" b="1" dirty="0">
                <a:solidFill>
                  <a:srgbClr val="0C2340"/>
                </a:solidFill>
              </a:rPr>
              <a:t>Functional Requirements Implemented</a:t>
            </a:r>
            <a:endParaRPr lang="en-US" sz="2800" dirty="0"/>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i="0">
                <a:solidFill>
                  <a:srgbClr val="64748B"/>
                </a:solidFill>
                <a:latin typeface="Arial"/>
              </a:rPr>
              <a:t>How each functional requirement in the assignment is met by our implementation</a:t>
            </a:r>
          </a:p>
        </p:txBody>
      </p:sp>
      <p:graphicFrame>
        <p:nvGraphicFramePr>
          <p:cNvPr id="1011" name="Coverage table"/>
          <p:cNvGraphicFramePr>
            <a:graphicFrameLocks noGrp="1"/>
          </p:cNvGraphicFramePr>
          <p:nvPr>
            <p:extLst>
              <p:ext uri="{D42A27DB-BD31-4B8C-83A1-F6EECF244321}">
                <p14:modId xmlns:p14="http://schemas.microsoft.com/office/powerpoint/2010/main" val="3069662327"/>
              </p:ext>
            </p:extLst>
          </p:nvPr>
        </p:nvGraphicFramePr>
        <p:xfrm>
          <a:off x="548640" y="1783080"/>
          <a:ext cx="11064240" cy="4041648"/>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84048">
                <a:tc>
                  <a:txBody>
                    <a:bodyPr/>
                    <a:lstStyle/>
                    <a:p>
                      <a:pPr algn="ctr"/>
                      <a:r>
                        <a:rPr sz="1200" b="1">
                          <a:solidFill>
                            <a:srgbClr val="FFFFFF"/>
                          </a:solidFill>
                          <a:latin typeface="Arial"/>
                        </a:rPr>
                        <a:t>#</a:t>
                      </a:r>
                    </a:p>
                  </a:txBody>
                  <a:tcPr marT="36576" marB="36576" anchor="ctr">
                    <a:solidFill>
                      <a:srgbClr val="0C2340"/>
                    </a:solidFill>
                  </a:tcPr>
                </a:tc>
                <a:tc>
                  <a:txBody>
                    <a:bodyPr/>
                    <a:lstStyle/>
                    <a:p>
                      <a:pPr algn="l"/>
                      <a:r>
                        <a:rPr sz="1200" b="1">
                          <a:solidFill>
                            <a:srgbClr val="FFFFFF"/>
                          </a:solidFill>
                          <a:latin typeface="Arial"/>
                        </a:rPr>
                        <a:t>Requirement</a:t>
                      </a:r>
                    </a:p>
                  </a:txBody>
                  <a:tcPr marT="36576" marB="36576" anchor="ctr">
                    <a:solidFill>
                      <a:srgbClr val="0C2340"/>
                    </a:solidFill>
                  </a:tcPr>
                </a:tc>
                <a:tc>
                  <a:txBody>
                    <a:bodyPr/>
                    <a:lstStyle/>
                    <a:p>
                      <a:pPr algn="l"/>
                      <a:r>
                        <a:rPr sz="1200" b="1">
                          <a:solidFill>
                            <a:srgbClr val="FFFFFF"/>
                          </a:solidFill>
                          <a:latin typeface="Arial"/>
                        </a:rPr>
                        <a:t>How the AI Advisor meets it</a:t>
                      </a:r>
                    </a:p>
                  </a:txBody>
                  <a:tcPr marT="36576" marB="36576" anchor="ctr">
                    <a:solidFill>
                      <a:srgbClr val="0C2340"/>
                    </a:solidFill>
                  </a:tcPr>
                </a:tc>
                <a:tc>
                  <a:txBody>
                    <a:bodyPr/>
                    <a:lstStyle/>
                    <a:p>
                      <a:pPr algn="ctr"/>
                      <a:r>
                        <a:rPr sz="1200" b="1">
                          <a:solidFill>
                            <a:srgbClr val="FFFFFF"/>
                          </a:solidFill>
                          <a:latin typeface="Arial"/>
                        </a:rPr>
                        <a:t>Status</a:t>
                      </a:r>
                    </a:p>
                  </a:txBody>
                  <a:tcPr marT="36576" marB="36576" anchor="ctr">
                    <a:solidFill>
                      <a:srgbClr val="0C2340"/>
                    </a:solidFill>
                  </a:tcPr>
                </a:tc>
                <a:extLst>
                  <a:ext uri="{0D108BD9-81ED-4DB2-BD59-A6C34878D82A}">
                    <a16:rowId xmlns:a16="http://schemas.microsoft.com/office/drawing/2014/main" val="10000"/>
                  </a:ext>
                </a:extLst>
              </a:tr>
              <a:tr h="457200">
                <a:tc>
                  <a:txBody>
                    <a:bodyPr/>
                    <a:lstStyle/>
                    <a:p>
                      <a:pPr algn="ctr"/>
                      <a:r>
                        <a:rPr sz="1200" b="1">
                          <a:solidFill>
                            <a:srgbClr val="1263B4"/>
                          </a:solidFill>
                          <a:latin typeface="Arial"/>
                        </a:rPr>
                        <a:t>1</a:t>
                      </a:r>
                    </a:p>
                  </a:txBody>
                  <a:tcPr marT="36576" marB="36576" anchor="ctr">
                    <a:solidFill>
                      <a:srgbClr val="FFFFFF"/>
                    </a:solidFill>
                  </a:tcPr>
                </a:tc>
                <a:tc>
                  <a:txBody>
                    <a:bodyPr/>
                    <a:lstStyle/>
                    <a:p>
                      <a:pPr algn="l"/>
                      <a:r>
                        <a:rPr sz="1200" b="1">
                          <a:solidFill>
                            <a:srgbClr val="0C2340"/>
                          </a:solidFill>
                          <a:latin typeface="Arial"/>
                        </a:rPr>
                        <a:t>User interface</a:t>
                      </a:r>
                    </a:p>
                  </a:txBody>
                  <a:tcPr marT="36576" marB="36576" anchor="ctr">
                    <a:solidFill>
                      <a:srgbClr val="FFFFFF"/>
                    </a:solidFill>
                  </a:tcPr>
                </a:tc>
                <a:tc>
                  <a:txBody>
                    <a:bodyPr/>
                    <a:lstStyle/>
                    <a:p>
                      <a:pPr algn="l"/>
                      <a:r>
                        <a:rPr sz="1100" b="0">
                          <a:solidFill>
                            <a:srgbClr val="64748B"/>
                          </a:solidFill>
                          <a:latin typeface="Arial"/>
                        </a:rPr>
                        <a:t>Streamlit web chat UI (prompt-based queries) with Cognito student sign-in</a:t>
                      </a:r>
                    </a:p>
                  </a:txBody>
                  <a:tcPr marT="36576" marB="36576" anchor="ctr">
                    <a:solidFill>
                      <a:srgbClr val="FFFFFF"/>
                    </a:solidFill>
                  </a:tcPr>
                </a:tc>
                <a:tc>
                  <a:txBody>
                    <a:bodyPr/>
                    <a:lstStyle/>
                    <a:p>
                      <a:pPr algn="ctr"/>
                      <a:r>
                        <a:rPr sz="1200" b="1">
                          <a:solidFill>
                            <a:srgbClr val="1E7B4F"/>
                          </a:solidFill>
                          <a:latin typeface="Arial"/>
                        </a:rPr>
                        <a:t>Implemented</a:t>
                      </a:r>
                    </a:p>
                  </a:txBody>
                  <a:tcPr marT="36576" marB="36576" anchor="ctr">
                    <a:solidFill>
                      <a:srgbClr val="FFFFFF"/>
                    </a:solidFill>
                  </a:tcPr>
                </a:tc>
                <a:extLst>
                  <a:ext uri="{0D108BD9-81ED-4DB2-BD59-A6C34878D82A}">
                    <a16:rowId xmlns:a16="http://schemas.microsoft.com/office/drawing/2014/main" val="10001"/>
                  </a:ext>
                </a:extLst>
              </a:tr>
              <a:tr h="457200">
                <a:tc>
                  <a:txBody>
                    <a:bodyPr/>
                    <a:lstStyle/>
                    <a:p>
                      <a:pPr algn="ctr"/>
                      <a:r>
                        <a:rPr sz="1200" b="1">
                          <a:solidFill>
                            <a:srgbClr val="1263B4"/>
                          </a:solidFill>
                          <a:latin typeface="Arial"/>
                        </a:rPr>
                        <a:t>2</a:t>
                      </a:r>
                    </a:p>
                  </a:txBody>
                  <a:tcPr marT="36576" marB="36576" anchor="ctr">
                    <a:solidFill>
                      <a:srgbClr val="F1F6FC"/>
                    </a:solidFill>
                  </a:tcPr>
                </a:tc>
                <a:tc>
                  <a:txBody>
                    <a:bodyPr/>
                    <a:lstStyle/>
                    <a:p>
                      <a:pPr algn="l"/>
                      <a:r>
                        <a:rPr sz="1200" b="1">
                          <a:solidFill>
                            <a:srgbClr val="0C2340"/>
                          </a:solidFill>
                          <a:latin typeface="Arial"/>
                        </a:rPr>
                        <a:t>Multi-year degree plan</a:t>
                      </a:r>
                    </a:p>
                  </a:txBody>
                  <a:tcPr marT="36576" marB="36576" anchor="ctr">
                    <a:solidFill>
                      <a:srgbClr val="F1F6FC"/>
                    </a:solidFill>
                  </a:tcPr>
                </a:tc>
                <a:tc>
                  <a:txBody>
                    <a:bodyPr/>
                    <a:lstStyle/>
                    <a:p>
                      <a:pPr algn="l"/>
                      <a:r>
                        <a:rPr sz="1100" b="0">
                          <a:solidFill>
                            <a:srgbClr val="64748B"/>
                          </a:solidFill>
                          <a:latin typeface="Arial"/>
                        </a:rPr>
                        <a:t>degree_plan route: Python planner builds a semester-by-semester plan from the transcript; summers optional</a:t>
                      </a:r>
                    </a:p>
                  </a:txBody>
                  <a:tcPr marT="36576" marB="36576" anchor="ctr">
                    <a:solidFill>
                      <a:srgbClr val="F1F6FC"/>
                    </a:solidFill>
                  </a:tcPr>
                </a:tc>
                <a:tc>
                  <a:txBody>
                    <a:bodyPr/>
                    <a:lstStyle/>
                    <a:p>
                      <a:pPr algn="ctr"/>
                      <a:r>
                        <a:rPr sz="1200" b="1">
                          <a:solidFill>
                            <a:srgbClr val="1E7B4F"/>
                          </a:solidFill>
                          <a:latin typeface="Arial"/>
                        </a:rPr>
                        <a:t>Implemented</a:t>
                      </a:r>
                    </a:p>
                  </a:txBody>
                  <a:tcPr marT="36576" marB="36576" anchor="ctr">
                    <a:solidFill>
                      <a:srgbClr val="F1F6FC"/>
                    </a:solidFill>
                  </a:tcPr>
                </a:tc>
                <a:extLst>
                  <a:ext uri="{0D108BD9-81ED-4DB2-BD59-A6C34878D82A}">
                    <a16:rowId xmlns:a16="http://schemas.microsoft.com/office/drawing/2014/main" val="10002"/>
                  </a:ext>
                </a:extLst>
              </a:tr>
              <a:tr h="457200">
                <a:tc>
                  <a:txBody>
                    <a:bodyPr/>
                    <a:lstStyle/>
                    <a:p>
                      <a:pPr algn="ctr"/>
                      <a:r>
                        <a:rPr sz="1200" b="1">
                          <a:solidFill>
                            <a:srgbClr val="1263B4"/>
                          </a:solidFill>
                          <a:latin typeface="Arial"/>
                        </a:rPr>
                        <a:t>3</a:t>
                      </a:r>
                    </a:p>
                  </a:txBody>
                  <a:tcPr marT="36576" marB="36576" anchor="ctr">
                    <a:solidFill>
                      <a:srgbClr val="FFFFFF"/>
                    </a:solidFill>
                  </a:tcPr>
                </a:tc>
                <a:tc>
                  <a:txBody>
                    <a:bodyPr/>
                    <a:lstStyle/>
                    <a:p>
                      <a:pPr algn="l"/>
                      <a:r>
                        <a:rPr sz="1200" b="1">
                          <a:solidFill>
                            <a:srgbClr val="0C2340"/>
                          </a:solidFill>
                          <a:latin typeface="Arial"/>
                        </a:rPr>
                        <a:t>Exact &amp; semantic queries</a:t>
                      </a:r>
                    </a:p>
                  </a:txBody>
                  <a:tcPr marT="36576" marB="36576" anchor="ctr">
                    <a:solidFill>
                      <a:srgbClr val="FFFFFF"/>
                    </a:solidFill>
                  </a:tcPr>
                </a:tc>
                <a:tc>
                  <a:txBody>
                    <a:bodyPr/>
                    <a:lstStyle/>
                    <a:p>
                      <a:pPr algn="l"/>
                      <a:r>
                        <a:rPr sz="1100" b="0">
                          <a:solidFill>
                            <a:srgbClr val="64748B"/>
                          </a:solidFill>
                          <a:latin typeface="Arial"/>
                        </a:rPr>
                        <a:t>Exact: DynamoDB records + exact course lookup. Semantic: Titan embeddings + ChromaDB (RAG)</a:t>
                      </a:r>
                    </a:p>
                  </a:txBody>
                  <a:tcPr marT="36576" marB="36576" anchor="ctr">
                    <a:solidFill>
                      <a:srgbClr val="FFFFFF"/>
                    </a:solidFill>
                  </a:tcPr>
                </a:tc>
                <a:tc>
                  <a:txBody>
                    <a:bodyPr/>
                    <a:lstStyle/>
                    <a:p>
                      <a:pPr algn="ctr"/>
                      <a:r>
                        <a:rPr sz="1200" b="1">
                          <a:solidFill>
                            <a:srgbClr val="1E7B4F"/>
                          </a:solidFill>
                          <a:latin typeface="Arial"/>
                        </a:rPr>
                        <a:t>Implemented*</a:t>
                      </a:r>
                    </a:p>
                  </a:txBody>
                  <a:tcPr marT="36576" marB="36576" anchor="ctr">
                    <a:solidFill>
                      <a:srgbClr val="FFFFFF"/>
                    </a:solidFill>
                  </a:tcPr>
                </a:tc>
                <a:extLst>
                  <a:ext uri="{0D108BD9-81ED-4DB2-BD59-A6C34878D82A}">
                    <a16:rowId xmlns:a16="http://schemas.microsoft.com/office/drawing/2014/main" val="10003"/>
                  </a:ext>
                </a:extLst>
              </a:tr>
              <a:tr h="457200">
                <a:tc>
                  <a:txBody>
                    <a:bodyPr/>
                    <a:lstStyle/>
                    <a:p>
                      <a:pPr algn="ctr"/>
                      <a:r>
                        <a:rPr sz="1200" b="1">
                          <a:solidFill>
                            <a:srgbClr val="1263B4"/>
                          </a:solidFill>
                          <a:latin typeface="Arial"/>
                        </a:rPr>
                        <a:t>4</a:t>
                      </a:r>
                    </a:p>
                  </a:txBody>
                  <a:tcPr marT="36576" marB="36576" anchor="ctr">
                    <a:solidFill>
                      <a:srgbClr val="F1F6FC"/>
                    </a:solidFill>
                  </a:tcPr>
                </a:tc>
                <a:tc>
                  <a:txBody>
                    <a:bodyPr/>
                    <a:lstStyle/>
                    <a:p>
                      <a:pPr algn="l"/>
                      <a:r>
                        <a:rPr sz="1200" b="1">
                          <a:solidFill>
                            <a:srgbClr val="0C2340"/>
                          </a:solidFill>
                          <a:latin typeface="Arial"/>
                        </a:rPr>
                        <a:t>Verify before recommending</a:t>
                      </a:r>
                    </a:p>
                  </a:txBody>
                  <a:tcPr marT="36576" marB="36576" anchor="ctr">
                    <a:solidFill>
                      <a:srgbClr val="F1F6FC"/>
                    </a:solidFill>
                  </a:tcPr>
                </a:tc>
                <a:tc>
                  <a:txBody>
                    <a:bodyPr/>
                    <a:lstStyle/>
                    <a:p>
                      <a:pPr algn="l"/>
                      <a:r>
                        <a:rPr sz="1100" b="0">
                          <a:solidFill>
                            <a:srgbClr val="64748B"/>
                          </a:solidFill>
                          <a:latin typeface="Arial"/>
                        </a:rPr>
                        <a:t>Python checks AND / OR prerequisite groups and minimum grades against the transcript</a:t>
                      </a:r>
                    </a:p>
                  </a:txBody>
                  <a:tcPr marT="36576" marB="36576" anchor="ctr">
                    <a:solidFill>
                      <a:srgbClr val="F1F6FC"/>
                    </a:solidFill>
                  </a:tcPr>
                </a:tc>
                <a:tc>
                  <a:txBody>
                    <a:bodyPr/>
                    <a:lstStyle/>
                    <a:p>
                      <a:pPr algn="ctr"/>
                      <a:r>
                        <a:rPr sz="1200" b="1">
                          <a:solidFill>
                            <a:srgbClr val="B45309"/>
                          </a:solidFill>
                          <a:latin typeface="Arial"/>
                        </a:rPr>
                        <a:t>Partial*</a:t>
                      </a:r>
                    </a:p>
                  </a:txBody>
                  <a:tcPr marT="36576" marB="36576" anchor="ctr">
                    <a:solidFill>
                      <a:srgbClr val="F1F6FC"/>
                    </a:solidFill>
                  </a:tcPr>
                </a:tc>
                <a:extLst>
                  <a:ext uri="{0D108BD9-81ED-4DB2-BD59-A6C34878D82A}">
                    <a16:rowId xmlns:a16="http://schemas.microsoft.com/office/drawing/2014/main" val="10004"/>
                  </a:ext>
                </a:extLst>
              </a:tr>
              <a:tr h="457200">
                <a:tc>
                  <a:txBody>
                    <a:bodyPr/>
                    <a:lstStyle/>
                    <a:p>
                      <a:pPr algn="ctr"/>
                      <a:r>
                        <a:rPr sz="1200" b="1">
                          <a:solidFill>
                            <a:srgbClr val="1263B4"/>
                          </a:solidFill>
                          <a:latin typeface="Arial"/>
                        </a:rPr>
                        <a:t>5</a:t>
                      </a:r>
                    </a:p>
                  </a:txBody>
                  <a:tcPr marT="36576" marB="36576" anchor="ctr">
                    <a:solidFill>
                      <a:srgbClr val="FFFFFF"/>
                    </a:solidFill>
                  </a:tcPr>
                </a:tc>
                <a:tc>
                  <a:txBody>
                    <a:bodyPr/>
                    <a:lstStyle/>
                    <a:p>
                      <a:pPr algn="l"/>
                      <a:r>
                        <a:rPr sz="1200" b="1">
                          <a:solidFill>
                            <a:srgbClr val="0C2340"/>
                          </a:solidFill>
                          <a:latin typeface="Arial"/>
                        </a:rPr>
                        <a:t>Change plan / switch major</a:t>
                      </a:r>
                    </a:p>
                  </a:txBody>
                  <a:tcPr marT="36576" marB="36576" anchor="ctr">
                    <a:solidFill>
                      <a:srgbClr val="FFFFFF"/>
                    </a:solidFill>
                  </a:tcPr>
                </a:tc>
                <a:tc>
                  <a:txBody>
                    <a:bodyPr/>
                    <a:lstStyle/>
                    <a:p>
                      <a:pPr algn="l"/>
                      <a:r>
                        <a:rPr sz="1100" b="0">
                          <a:solidFill>
                            <a:srgbClr val="64748B"/>
                          </a:solidFill>
                          <a:latin typeface="Arial"/>
                        </a:rPr>
                        <a:t>Plan follow-ups (e.g. “without summer semesters”) and the compare_plans route</a:t>
                      </a:r>
                    </a:p>
                  </a:txBody>
                  <a:tcPr marT="36576" marB="36576" anchor="ctr">
                    <a:solidFill>
                      <a:srgbClr val="FFFFFF"/>
                    </a:solidFill>
                  </a:tcPr>
                </a:tc>
                <a:tc>
                  <a:txBody>
                    <a:bodyPr/>
                    <a:lstStyle/>
                    <a:p>
                      <a:pPr algn="ctr"/>
                      <a:r>
                        <a:rPr sz="1200" b="1">
                          <a:solidFill>
                            <a:srgbClr val="B45309"/>
                          </a:solidFill>
                          <a:latin typeface="Arial"/>
                        </a:rPr>
                        <a:t>Partial</a:t>
                      </a:r>
                    </a:p>
                  </a:txBody>
                  <a:tcPr marT="36576" marB="36576" anchor="ctr">
                    <a:solidFill>
                      <a:srgbClr val="FFFFFF"/>
                    </a:solidFill>
                  </a:tcPr>
                </a:tc>
                <a:extLst>
                  <a:ext uri="{0D108BD9-81ED-4DB2-BD59-A6C34878D82A}">
                    <a16:rowId xmlns:a16="http://schemas.microsoft.com/office/drawing/2014/main" val="10005"/>
                  </a:ext>
                </a:extLst>
              </a:tr>
              <a:tr h="457200">
                <a:tc>
                  <a:txBody>
                    <a:bodyPr/>
                    <a:lstStyle/>
                    <a:p>
                      <a:pPr algn="ctr"/>
                      <a:r>
                        <a:rPr sz="1200" b="1">
                          <a:solidFill>
                            <a:srgbClr val="1263B4"/>
                          </a:solidFill>
                          <a:latin typeface="Arial"/>
                        </a:rPr>
                        <a:t>6</a:t>
                      </a:r>
                    </a:p>
                  </a:txBody>
                  <a:tcPr marT="36576" marB="36576" anchor="ctr">
                    <a:solidFill>
                      <a:srgbClr val="F1F6FC"/>
                    </a:solidFill>
                  </a:tcPr>
                </a:tc>
                <a:tc>
                  <a:txBody>
                    <a:bodyPr/>
                    <a:lstStyle/>
                    <a:p>
                      <a:pPr algn="l"/>
                      <a:r>
                        <a:rPr sz="1200" b="1">
                          <a:solidFill>
                            <a:srgbClr val="0C2340"/>
                          </a:solidFill>
                          <a:latin typeface="Arial"/>
                        </a:rPr>
                        <a:t>Conversation state</a:t>
                      </a:r>
                    </a:p>
                  </a:txBody>
                  <a:tcPr marT="36576" marB="36576" anchor="ctr">
                    <a:solidFill>
                      <a:srgbClr val="F1F6FC"/>
                    </a:solidFill>
                  </a:tcPr>
                </a:tc>
                <a:tc>
                  <a:txBody>
                    <a:bodyPr/>
                    <a:lstStyle/>
                    <a:p>
                      <a:pPr algn="l"/>
                      <a:r>
                        <a:rPr lang="en-US" sz="1100" b="0" dirty="0">
                          <a:solidFill>
                            <a:srgbClr val="64748B"/>
                          </a:solidFill>
                          <a:latin typeface="+mn-lt"/>
                        </a:rPr>
                        <a:t>Chat history sent every turn; older turns summarized by the LLM (LangChain); router and course resolver use it</a:t>
                      </a:r>
                    </a:p>
                  </a:txBody>
                  <a:tcPr marT="36576" marB="36576" anchor="ctr">
                    <a:solidFill>
                      <a:srgbClr val="F1F6FC"/>
                    </a:solidFill>
                  </a:tcPr>
                </a:tc>
                <a:tc>
                  <a:txBody>
                    <a:bodyPr/>
                    <a:lstStyle/>
                    <a:p>
                      <a:pPr algn="ctr"/>
                      <a:r>
                        <a:rPr sz="1200" b="1">
                          <a:solidFill>
                            <a:srgbClr val="1E7B4F"/>
                          </a:solidFill>
                          <a:latin typeface="Arial"/>
                        </a:rPr>
                        <a:t>Implemented</a:t>
                      </a:r>
                    </a:p>
                  </a:txBody>
                  <a:tcPr marT="36576" marB="36576" anchor="ctr">
                    <a:solidFill>
                      <a:srgbClr val="F1F6FC"/>
                    </a:solidFill>
                  </a:tcPr>
                </a:tc>
                <a:extLst>
                  <a:ext uri="{0D108BD9-81ED-4DB2-BD59-A6C34878D82A}">
                    <a16:rowId xmlns:a16="http://schemas.microsoft.com/office/drawing/2014/main" val="10006"/>
                  </a:ext>
                </a:extLst>
              </a:tr>
              <a:tr h="457200">
                <a:tc>
                  <a:txBody>
                    <a:bodyPr/>
                    <a:lstStyle/>
                    <a:p>
                      <a:pPr algn="ctr"/>
                      <a:r>
                        <a:rPr sz="1200" b="1">
                          <a:solidFill>
                            <a:srgbClr val="1263B4"/>
                          </a:solidFill>
                          <a:latin typeface="Arial"/>
                        </a:rPr>
                        <a:t>7</a:t>
                      </a:r>
                    </a:p>
                  </a:txBody>
                  <a:tcPr marT="36576" marB="36576" anchor="ctr">
                    <a:solidFill>
                      <a:srgbClr val="FFFFFF"/>
                    </a:solidFill>
                  </a:tcPr>
                </a:tc>
                <a:tc>
                  <a:txBody>
                    <a:bodyPr/>
                    <a:lstStyle/>
                    <a:p>
                      <a:pPr algn="l"/>
                      <a:r>
                        <a:rPr sz="1200" b="1">
                          <a:solidFill>
                            <a:srgbClr val="0C2340"/>
                          </a:solidFill>
                          <a:latin typeface="Arial"/>
                        </a:rPr>
                        <a:t>Structured + unstructured data</a:t>
                      </a:r>
                    </a:p>
                  </a:txBody>
                  <a:tcPr marT="36576" marB="36576" anchor="ctr">
                    <a:solidFill>
                      <a:srgbClr val="FFFFFF"/>
                    </a:solidFill>
                  </a:tcPr>
                </a:tc>
                <a:tc>
                  <a:txBody>
                    <a:bodyPr/>
                    <a:lstStyle/>
                    <a:p>
                      <a:pPr algn="l"/>
                      <a:r>
                        <a:rPr sz="1100" b="0">
                          <a:solidFill>
                            <a:srgbClr val="64748B"/>
                          </a:solidFill>
                          <a:latin typeface="Arial"/>
                        </a:rPr>
                        <a:t>DynamoDB: students, transcripts, courses, programs. ChromaDB: catalogs and degree requirements</a:t>
                      </a:r>
                    </a:p>
                  </a:txBody>
                  <a:tcPr marT="36576" marB="36576" anchor="ctr">
                    <a:solidFill>
                      <a:srgbClr val="FFFFFF"/>
                    </a:solidFill>
                  </a:tcPr>
                </a:tc>
                <a:tc>
                  <a:txBody>
                    <a:bodyPr/>
                    <a:lstStyle/>
                    <a:p>
                      <a:pPr algn="ctr"/>
                      <a:r>
                        <a:rPr sz="1200" b="1" dirty="0">
                          <a:solidFill>
                            <a:srgbClr val="1E7B4F"/>
                          </a:solidFill>
                          <a:latin typeface="Arial"/>
                        </a:rPr>
                        <a:t>Implemented</a:t>
                      </a:r>
                    </a:p>
                  </a:txBody>
                  <a:tcPr marT="36576" marB="36576" anchor="ctr">
                    <a:solidFill>
                      <a:srgbClr val="FFFFFF"/>
                    </a:solidFill>
                  </a:tcPr>
                </a:tc>
                <a:extLst>
                  <a:ext uri="{0D108BD9-81ED-4DB2-BD59-A6C34878D82A}">
                    <a16:rowId xmlns:a16="http://schemas.microsoft.com/office/drawing/2014/main" val="10007"/>
                  </a:ext>
                </a:extLst>
              </a:tr>
              <a:tr h="457200">
                <a:tc>
                  <a:txBody>
                    <a:bodyPr/>
                    <a:lstStyle/>
                    <a:p>
                      <a:pPr algn="ctr"/>
                      <a:r>
                        <a:rPr sz="1200" b="1">
                          <a:solidFill>
                            <a:srgbClr val="1263B4"/>
                          </a:solidFill>
                          <a:latin typeface="Arial"/>
                        </a:rPr>
                        <a:t>8</a:t>
                      </a:r>
                    </a:p>
                  </a:txBody>
                  <a:tcPr marT="36576" marB="36576" anchor="ctr">
                    <a:solidFill>
                      <a:srgbClr val="F1F6FC"/>
                    </a:solidFill>
                  </a:tcPr>
                </a:tc>
                <a:tc>
                  <a:txBody>
                    <a:bodyPr/>
                    <a:lstStyle/>
                    <a:p>
                      <a:pPr algn="l"/>
                      <a:r>
                        <a:rPr sz="1200" b="1">
                          <a:solidFill>
                            <a:srgbClr val="0C2340"/>
                          </a:solidFill>
                          <a:latin typeface="Arial"/>
                        </a:rPr>
                        <a:t>Multiple DBMS</a:t>
                      </a:r>
                    </a:p>
                  </a:txBody>
                  <a:tcPr marT="36576" marB="36576" anchor="ctr">
                    <a:solidFill>
                      <a:srgbClr val="F1F6FC"/>
                    </a:solidFill>
                  </a:tcPr>
                </a:tc>
                <a:tc>
                  <a:txBody>
                    <a:bodyPr/>
                    <a:lstStyle/>
                    <a:p>
                      <a:pPr algn="l"/>
                      <a:r>
                        <a:rPr sz="1100" b="0" dirty="0">
                          <a:solidFill>
                            <a:srgbClr val="64748B"/>
                          </a:solidFill>
                          <a:latin typeface="Arial"/>
                        </a:rPr>
                        <a:t>DynamoDB (NoSQL) + </a:t>
                      </a:r>
                      <a:r>
                        <a:rPr sz="1100" b="0" dirty="0" err="1">
                          <a:solidFill>
                            <a:srgbClr val="64748B"/>
                          </a:solidFill>
                          <a:latin typeface="Arial"/>
                        </a:rPr>
                        <a:t>ChromaDB</a:t>
                      </a:r>
                      <a:r>
                        <a:rPr sz="1100" b="0" dirty="0">
                          <a:solidFill>
                            <a:srgbClr val="64748B"/>
                          </a:solidFill>
                          <a:latin typeface="Arial"/>
                        </a:rPr>
                        <a:t> (vector database); </a:t>
                      </a:r>
                    </a:p>
                  </a:txBody>
                  <a:tcPr marT="36576" marB="36576" anchor="ctr">
                    <a:solidFill>
                      <a:srgbClr val="F1F6FC"/>
                    </a:solidFill>
                  </a:tcPr>
                </a:tc>
                <a:tc>
                  <a:txBody>
                    <a:bodyPr/>
                    <a:lstStyle/>
                    <a:p>
                      <a:pPr algn="ctr"/>
                      <a:r>
                        <a:rPr lang="en-US" sz="1200" b="1" dirty="0">
                          <a:solidFill>
                            <a:srgbClr val="1E7B4F"/>
                          </a:solidFill>
                          <a:latin typeface="+mn-lt"/>
                        </a:rPr>
                        <a:t>Implemented</a:t>
                      </a:r>
                      <a:endParaRPr sz="1200" b="1" dirty="0">
                        <a:solidFill>
                          <a:srgbClr val="B45309"/>
                        </a:solidFill>
                        <a:latin typeface="Arial"/>
                      </a:endParaRPr>
                    </a:p>
                  </a:txBody>
                  <a:tcPr marT="36576" marB="36576" anchor="ctr">
                    <a:solidFill>
                      <a:srgbClr val="F1F6FC"/>
                    </a:solidFill>
                  </a:tcPr>
                </a:tc>
                <a:extLst>
                  <a:ext uri="{0D108BD9-81ED-4DB2-BD59-A6C34878D82A}">
                    <a16:rowId xmlns:a16="http://schemas.microsoft.com/office/drawing/2014/main" val="10008"/>
                  </a:ext>
                </a:extLst>
              </a:tr>
            </a:tbl>
          </a:graphicData>
        </a:graphic>
      </p:graphicFrame>
      <p:sp>
        <p:nvSpPr>
          <p:cNvPr id="1012" name="Footnote"/>
          <p:cNvSpPr txBox="1"/>
          <p:nvPr/>
        </p:nvSpPr>
        <p:spPr>
          <a:xfrm>
            <a:off x="548640" y="6035040"/>
            <a:ext cx="11064240" cy="365760"/>
          </a:xfrm>
          <a:prstGeom prst="rect">
            <a:avLst/>
          </a:prstGeom>
          <a:noFill/>
        </p:spPr>
        <p:txBody>
          <a:bodyPr wrap="square" lIns="0" tIns="0" rIns="0" bIns="0" anchor="t">
            <a:spAutoFit/>
          </a:bodyPr>
          <a:lstStyle/>
          <a:p>
            <a:pPr algn="l"/>
            <a:r>
              <a:rPr sz="1100" b="0" i="0">
                <a:solidFill>
                  <a:srgbClr val="64748B"/>
                </a:solidFill>
                <a:latin typeface="Arial"/>
              </a:rPr>
              <a:t>* Class schedule, add/drop queries and schedule-conflict checks (requirement 3 and 4d) are out of scope for this submission per the instructor.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
          <p:cNvSpPr/>
          <p:nvPr/>
        </p:nvSpPr>
        <p:spPr>
          <a:xfrm>
            <a:off x="0"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69" name="Google Shape;269;p4"/>
          <p:cNvSpPr/>
          <p:nvPr/>
        </p:nvSpPr>
        <p:spPr>
          <a:xfrm>
            <a:off x="0" y="0"/>
            <a:ext cx="128016" cy="6858000"/>
          </a:xfrm>
          <a:prstGeom prst="rect">
            <a:avLst/>
          </a:prstGeom>
          <a:solidFill>
            <a:srgbClr val="0F243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0" name="Google Shape;270;p4"/>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i="0" u="none" strike="noStrike" cap="none">
                <a:solidFill>
                  <a:srgbClr val="1263B4"/>
                </a:solidFill>
                <a:latin typeface="Arial"/>
                <a:ea typeface="Arial"/>
                <a:cs typeface="Arial"/>
                <a:sym typeface="Arial"/>
              </a:rPr>
              <a:t>UTA • TEAM 2 AI ADVISOR</a:t>
            </a:r>
            <a:endParaRPr/>
          </a:p>
        </p:txBody>
      </p:sp>
      <p:sp>
        <p:nvSpPr>
          <p:cNvPr id="271" name="Google Shape;271;p4"/>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i="0" u="none" strike="noStrike" cap="none">
                <a:solidFill>
                  <a:srgbClr val="0C2340"/>
                </a:solidFill>
                <a:latin typeface="Arial"/>
                <a:ea typeface="Arial"/>
                <a:cs typeface="Arial"/>
                <a:sym typeface="Arial"/>
              </a:rPr>
              <a:t>Assumptions and Constraints</a:t>
            </a:r>
            <a:endParaRPr/>
          </a:p>
        </p:txBody>
      </p:sp>
      <p:sp>
        <p:nvSpPr>
          <p:cNvPr id="272" name="Google Shape;272;p4"/>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3" name="Google Shape;273;p4"/>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i="0" u="none" strike="noStrike" cap="none">
                <a:solidFill>
                  <a:srgbClr val="64748B"/>
                </a:solidFill>
                <a:latin typeface="Arial"/>
                <a:ea typeface="Arial"/>
                <a:cs typeface="Arial"/>
                <a:sym typeface="Arial"/>
              </a:rPr>
              <a:t>CSE 4392 / 5320  •  TEAM ASSIGNMENT 2</a:t>
            </a:r>
            <a:endParaRPr/>
          </a:p>
        </p:txBody>
      </p:sp>
      <p:sp>
        <p:nvSpPr>
          <p:cNvPr id="274" name="Google Shape;274;p4"/>
          <p:cNvSpPr/>
          <p:nvPr/>
        </p:nvSpPr>
        <p:spPr>
          <a:xfrm>
            <a:off x="594360" y="1572768"/>
            <a:ext cx="5321808" cy="333756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5" name="Google Shape;275;p4"/>
          <p:cNvSpPr/>
          <p:nvPr/>
        </p:nvSpPr>
        <p:spPr>
          <a:xfrm>
            <a:off x="594360" y="1572768"/>
            <a:ext cx="64008" cy="3337560"/>
          </a:xfrm>
          <a:prstGeom prst="rect">
            <a:avLst/>
          </a:prstGeom>
          <a:solidFill>
            <a:srgbClr val="1263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6" name="Google Shape;276;p4"/>
          <p:cNvSpPr txBox="1"/>
          <p:nvPr/>
        </p:nvSpPr>
        <p:spPr>
          <a:xfrm>
            <a:off x="795528" y="1746504"/>
            <a:ext cx="4937760"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i="0" u="none" strike="noStrike" cap="none">
                <a:solidFill>
                  <a:srgbClr val="0C2340"/>
                </a:solidFill>
                <a:latin typeface="Arial"/>
                <a:ea typeface="Arial"/>
                <a:cs typeface="Arial"/>
                <a:sym typeface="Arial"/>
              </a:rPr>
              <a:t>Project assumptions</a:t>
            </a:r>
            <a:endParaRPr/>
          </a:p>
        </p:txBody>
      </p:sp>
      <p:sp>
        <p:nvSpPr>
          <p:cNvPr id="277" name="Google Shape;277;p4"/>
          <p:cNvSpPr txBox="1"/>
          <p:nvPr/>
        </p:nvSpPr>
        <p:spPr>
          <a:xfrm>
            <a:off x="795528" y="2231136"/>
            <a:ext cx="4937760" cy="257860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Arial"/>
                <a:ea typeface="Arial"/>
                <a:cs typeface="Arial"/>
                <a:sym typeface="Arial"/>
              </a:rPr>
              <a:t>• Academic data comes from structured course and program records.</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Students are fictional; records are for demonstration.</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Simplified course-based prerequisite rules.</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Results depend on available validated project data.</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Earlier planned prerequisites are assumed to be passed.</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Class schedules and add/drop questions are out of scope for this submission (instructor guidance).</a:t>
            </a:r>
            <a:endParaRPr/>
          </a:p>
        </p:txBody>
      </p:sp>
      <p:sp>
        <p:nvSpPr>
          <p:cNvPr id="278" name="Google Shape;278;p4"/>
          <p:cNvSpPr/>
          <p:nvPr/>
        </p:nvSpPr>
        <p:spPr>
          <a:xfrm>
            <a:off x="6190488" y="1572768"/>
            <a:ext cx="5321808" cy="333756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9" name="Google Shape;279;p4"/>
          <p:cNvSpPr/>
          <p:nvPr/>
        </p:nvSpPr>
        <p:spPr>
          <a:xfrm>
            <a:off x="6190488" y="1572768"/>
            <a:ext cx="64008" cy="3337560"/>
          </a:xfrm>
          <a:prstGeom prst="rect">
            <a:avLst/>
          </a:prstGeom>
          <a:solidFill>
            <a:srgbClr val="F58A2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0" name="Google Shape;280;p4"/>
          <p:cNvSpPr txBox="1"/>
          <p:nvPr/>
        </p:nvSpPr>
        <p:spPr>
          <a:xfrm>
            <a:off x="6391655" y="1746504"/>
            <a:ext cx="4937760"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i="0" u="none" strike="noStrike" cap="none">
                <a:solidFill>
                  <a:srgbClr val="0C2340"/>
                </a:solidFill>
                <a:latin typeface="Arial"/>
                <a:ea typeface="Arial"/>
                <a:cs typeface="Arial"/>
                <a:sym typeface="Arial"/>
              </a:rPr>
              <a:t>Operational constraints</a:t>
            </a:r>
            <a:endParaRPr/>
          </a:p>
        </p:txBody>
      </p:sp>
      <p:sp>
        <p:nvSpPr>
          <p:cNvPr id="281" name="Google Shape;281;p4"/>
          <p:cNvSpPr txBox="1"/>
          <p:nvPr/>
        </p:nvSpPr>
        <p:spPr>
          <a:xfrm>
            <a:off x="6391655" y="2231136"/>
            <a:ext cx="4937760" cy="257860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Arial"/>
                <a:ea typeface="Arial"/>
                <a:cs typeface="Arial"/>
                <a:sym typeface="Arial"/>
              </a:rPr>
              <a:t>• Prerequisite groups follow AND / OR logic.</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Minimum grades and completed courses affect eligibility.</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Course records must be validated for project rules.</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Missing or unvalidated rules limit advising conclusions.</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Required prerequisite order and concurrent options.</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Data stores: DynamoDB (NoSQL) and ChromaDB (vectors); no SQL DBMS in this prototype.</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Incomplete plans are reported and not saved.</a:t>
            </a:r>
            <a:endParaRPr/>
          </a:p>
        </p:txBody>
      </p:sp>
      <p:sp>
        <p:nvSpPr>
          <p:cNvPr id="282" name="Google Shape;282;p4"/>
          <p:cNvSpPr/>
          <p:nvPr/>
        </p:nvSpPr>
        <p:spPr>
          <a:xfrm>
            <a:off x="603504" y="5230368"/>
            <a:ext cx="10899648" cy="704088"/>
          </a:xfrm>
          <a:prstGeom prst="roundRect">
            <a:avLst>
              <a:gd name="adj" fmla="val 13000"/>
            </a:avLst>
          </a:prstGeom>
          <a:solidFill>
            <a:srgbClr val="E8F1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3" name="Google Shape;283;p4"/>
          <p:cNvSpPr txBox="1"/>
          <p:nvPr/>
        </p:nvSpPr>
        <p:spPr>
          <a:xfrm>
            <a:off x="859536" y="5449824"/>
            <a:ext cx="10424160" cy="27432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400" b="1" i="0" u="none" strike="noStrike" cap="none">
                <a:solidFill>
                  <a:srgbClr val="0C2340"/>
                </a:solidFill>
                <a:latin typeface="Arial"/>
                <a:ea typeface="Arial"/>
                <a:cs typeface="Arial"/>
                <a:sym typeface="Arial"/>
              </a:rPr>
              <a:t>Scope note: prototype advising support — not an official degree audit, registration, or UTA approval.</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61041-C45B-CAFF-9F87-77B613D40A6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743C4A-D573-8B8B-BEED-9B6506324D6B}"/>
              </a:ext>
            </a:extLst>
          </p:cNvPr>
          <p:cNvSpPr/>
          <p:nvPr/>
        </p:nvSpPr>
        <p:spPr>
          <a:xfrm>
            <a:off x="0" y="0"/>
            <a:ext cx="12191695" cy="777240"/>
          </a:xfrm>
          <a:prstGeom prst="rect">
            <a:avLst/>
          </a:prstGeom>
          <a:solidFill>
            <a:srgbClr val="102F55"/>
          </a:solidFill>
          <a:ln w="15240">
            <a:solidFill>
              <a:srgbClr val="102F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13F71D7-FA61-277F-D1F1-5211553D05A5}"/>
              </a:ext>
            </a:extLst>
          </p:cNvPr>
          <p:cNvSpPr/>
          <p:nvPr/>
        </p:nvSpPr>
        <p:spPr>
          <a:xfrm>
            <a:off x="402336" y="173736"/>
            <a:ext cx="68580" cy="429768"/>
          </a:xfrm>
          <a:prstGeom prst="rect">
            <a:avLst/>
          </a:prstGeom>
          <a:solidFill>
            <a:srgbClr val="F28C32"/>
          </a:solidFill>
          <a:ln w="15240">
            <a:solidFill>
              <a:srgbClr val="F28C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8634671-366C-628E-E5EC-63736EAAFAAF}"/>
              </a:ext>
            </a:extLst>
          </p:cNvPr>
          <p:cNvSpPr txBox="1"/>
          <p:nvPr/>
        </p:nvSpPr>
        <p:spPr>
          <a:xfrm>
            <a:off x="640080" y="155448"/>
            <a:ext cx="10972800" cy="411480"/>
          </a:xfrm>
          <a:prstGeom prst="rect">
            <a:avLst/>
          </a:prstGeom>
          <a:noFill/>
        </p:spPr>
        <p:txBody>
          <a:bodyPr wrap="square" lIns="27432" tIns="27432" rIns="27432">
            <a:spAutoFit/>
          </a:bodyPr>
          <a:lstStyle/>
          <a:p>
            <a:pPr>
              <a:spcAft>
                <a:spcPts val="200"/>
              </a:spcAft>
              <a:defRPr sz="2500" b="1">
                <a:solidFill>
                  <a:srgbClr val="FFFFFF"/>
                </a:solidFill>
                <a:latin typeface="Aptos"/>
              </a:defRPr>
            </a:pPr>
            <a:r>
              <a:t>AWS SYSTEM ARCHITECTURE</a:t>
            </a:r>
          </a:p>
        </p:txBody>
      </p:sp>
      <p:sp>
        <p:nvSpPr>
          <p:cNvPr id="5" name="TextBox 4">
            <a:extLst>
              <a:ext uri="{FF2B5EF4-FFF2-40B4-BE49-F238E27FC236}">
                <a16:creationId xmlns:a16="http://schemas.microsoft.com/office/drawing/2014/main" id="{D4150381-9451-B82C-48AB-20BDAB731186}"/>
              </a:ext>
            </a:extLst>
          </p:cNvPr>
          <p:cNvSpPr txBox="1"/>
          <p:nvPr/>
        </p:nvSpPr>
        <p:spPr>
          <a:xfrm>
            <a:off x="594360" y="932688"/>
            <a:ext cx="10972800" cy="320040"/>
          </a:xfrm>
          <a:prstGeom prst="rect">
            <a:avLst/>
          </a:prstGeom>
          <a:noFill/>
        </p:spPr>
        <p:txBody>
          <a:bodyPr wrap="square" lIns="27432" tIns="27432" rIns="27432">
            <a:spAutoFit/>
          </a:bodyPr>
          <a:lstStyle/>
          <a:p>
            <a:pPr>
              <a:spcAft>
                <a:spcPts val="200"/>
              </a:spcAft>
              <a:defRPr sz="1400" b="0">
                <a:solidFill>
                  <a:srgbClr val="57708A"/>
                </a:solidFill>
                <a:latin typeface="Aptos"/>
              </a:defRPr>
            </a:pPr>
            <a:r>
              <a:t>Containerized application  •  Secure authentication  •  AI orchestration and data services</a:t>
            </a:r>
          </a:p>
        </p:txBody>
      </p:sp>
      <p:sp>
        <p:nvSpPr>
          <p:cNvPr id="51" name="Rectangle 50">
            <a:extLst>
              <a:ext uri="{FF2B5EF4-FFF2-40B4-BE49-F238E27FC236}">
                <a16:creationId xmlns:a16="http://schemas.microsoft.com/office/drawing/2014/main" id="{CEA383DE-291F-039B-D73E-E30698F0AEEE}"/>
              </a:ext>
            </a:extLst>
          </p:cNvPr>
          <p:cNvSpPr/>
          <p:nvPr/>
        </p:nvSpPr>
        <p:spPr>
          <a:xfrm>
            <a:off x="393192" y="6391656"/>
            <a:ext cx="11365992" cy="32004"/>
          </a:xfrm>
          <a:prstGeom prst="rect">
            <a:avLst/>
          </a:prstGeom>
          <a:solidFill>
            <a:srgbClr val="CFDAE5"/>
          </a:solidFill>
          <a:ln w="15240">
            <a:solidFill>
              <a:srgbClr val="CFD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55637741-D8EF-E4E4-B18E-A26991D50837}"/>
              </a:ext>
            </a:extLst>
          </p:cNvPr>
          <p:cNvSpPr txBox="1"/>
          <p:nvPr/>
        </p:nvSpPr>
        <p:spPr>
          <a:xfrm>
            <a:off x="502920" y="6464808"/>
            <a:ext cx="10972800" cy="246888"/>
          </a:xfrm>
          <a:prstGeom prst="rect">
            <a:avLst/>
          </a:prstGeom>
          <a:noFill/>
        </p:spPr>
        <p:txBody>
          <a:bodyPr wrap="square" lIns="27432" tIns="27432" rIns="27432">
            <a:spAutoFit/>
          </a:bodyPr>
          <a:lstStyle/>
          <a:p>
            <a:pPr>
              <a:spcAft>
                <a:spcPts val="200"/>
              </a:spcAft>
              <a:defRPr sz="1100" b="1">
                <a:solidFill>
                  <a:srgbClr val="102F55"/>
                </a:solidFill>
                <a:latin typeface="Aptos"/>
              </a:defRPr>
            </a:pPr>
            <a:r>
              <a:rPr dirty="0"/>
              <a:t>REQUEST FLOW    Browser → ALB → </a:t>
            </a:r>
            <a:r>
              <a:rPr dirty="0" err="1"/>
              <a:t>Streamlit</a:t>
            </a:r>
            <a:r>
              <a:rPr dirty="0"/>
              <a:t> Chat UI → LangChain API → </a:t>
            </a:r>
            <a:r>
              <a:rPr dirty="0" err="1"/>
              <a:t>ChromaDB</a:t>
            </a:r>
            <a:r>
              <a:rPr dirty="0"/>
              <a:t> / DynamoDB / Bedrock</a:t>
            </a:r>
          </a:p>
        </p:txBody>
      </p:sp>
      <p:pic>
        <p:nvPicPr>
          <p:cNvPr id="7" name="Picture 6">
            <a:extLst>
              <a:ext uri="{FF2B5EF4-FFF2-40B4-BE49-F238E27FC236}">
                <a16:creationId xmlns:a16="http://schemas.microsoft.com/office/drawing/2014/main" id="{3BE630B8-0752-8A6D-1F27-8957AE7CA912}"/>
              </a:ext>
            </a:extLst>
          </p:cNvPr>
          <p:cNvPicPr>
            <a:picLocks noChangeAspect="1"/>
          </p:cNvPicPr>
          <p:nvPr/>
        </p:nvPicPr>
        <p:blipFill>
          <a:blip r:embed="rId2"/>
          <a:stretch>
            <a:fillRect/>
          </a:stretch>
        </p:blipFill>
        <p:spPr>
          <a:xfrm>
            <a:off x="1844003" y="1146950"/>
            <a:ext cx="8290634" cy="5244706"/>
          </a:xfrm>
          <a:prstGeom prst="rect">
            <a:avLst/>
          </a:prstGeom>
        </p:spPr>
      </p:pic>
    </p:spTree>
    <p:extLst>
      <p:ext uri="{BB962C8B-B14F-4D97-AF65-F5344CB8AC3E}">
        <p14:creationId xmlns:p14="http://schemas.microsoft.com/office/powerpoint/2010/main" val="26536198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Models We Use: Gemma 3 27B IT and Titan Embeddings V2</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a:solidFill>
                  <a:srgbClr val="64748B"/>
                </a:solidFill>
                <a:latin typeface="Arial"/>
              </a:rPr>
              <a:t>Both models run on Amazon Bedrock: Gemma reads and writes text, Titan turns text into vectors for search</a:t>
            </a:r>
          </a:p>
        </p:txBody>
      </p:sp>
      <p:sp>
        <p:nvSpPr>
          <p:cNvPr id="1011" name="Gemma card"/>
          <p:cNvSpPr/>
          <p:nvPr/>
        </p:nvSpPr>
        <p:spPr>
          <a:xfrm>
            <a:off x="548640" y="1783080"/>
            <a:ext cx="5440680" cy="3611880"/>
          </a:xfrm>
          <a:prstGeom prst="roundRect">
            <a:avLst>
              <a:gd name="adj" fmla="val 5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2" name="Gemma kicker"/>
          <p:cNvSpPr txBox="1"/>
          <p:nvPr/>
        </p:nvSpPr>
        <p:spPr>
          <a:xfrm>
            <a:off x="822959" y="1984248"/>
            <a:ext cx="4892040" cy="228600"/>
          </a:xfrm>
          <a:prstGeom prst="rect">
            <a:avLst/>
          </a:prstGeom>
          <a:noFill/>
        </p:spPr>
        <p:txBody>
          <a:bodyPr wrap="square" lIns="0" tIns="0" rIns="0" bIns="0" anchor="t">
            <a:spAutoFit/>
          </a:bodyPr>
          <a:lstStyle/>
          <a:p>
            <a:pPr algn="l"/>
            <a:r>
              <a:rPr sz="1050" b="1">
                <a:solidFill>
                  <a:srgbClr val="1263B4"/>
                </a:solidFill>
                <a:latin typeface="Arial"/>
              </a:rPr>
              <a:t>LLM  •  google.gemma-3-27b-it</a:t>
            </a:r>
          </a:p>
        </p:txBody>
      </p:sp>
      <p:sp>
        <p:nvSpPr>
          <p:cNvPr id="1013" name="Gemma name"/>
          <p:cNvSpPr txBox="1"/>
          <p:nvPr/>
        </p:nvSpPr>
        <p:spPr>
          <a:xfrm>
            <a:off x="822959" y="2240280"/>
            <a:ext cx="4892040" cy="365760"/>
          </a:xfrm>
          <a:prstGeom prst="rect">
            <a:avLst/>
          </a:prstGeom>
          <a:noFill/>
        </p:spPr>
        <p:txBody>
          <a:bodyPr wrap="square" lIns="0" tIns="0" rIns="0" bIns="0" anchor="t">
            <a:spAutoFit/>
          </a:bodyPr>
          <a:lstStyle/>
          <a:p>
            <a:pPr algn="l"/>
            <a:r>
              <a:rPr sz="1800" b="1">
                <a:solidFill>
                  <a:srgbClr val="0C2340"/>
                </a:solidFill>
                <a:latin typeface="Arial"/>
              </a:rPr>
              <a:t>Google Gemma 3 27B IT</a:t>
            </a:r>
          </a:p>
        </p:txBody>
      </p:sp>
      <p:sp>
        <p:nvSpPr>
          <p:cNvPr id="1014" name="Gemma stat box"/>
          <p:cNvSpPr/>
          <p:nvPr/>
        </p:nvSpPr>
        <p:spPr>
          <a:xfrm>
            <a:off x="822959" y="2715768"/>
            <a:ext cx="1783080" cy="960120"/>
          </a:xfrm>
          <a:prstGeom prst="roundRect">
            <a:avLst>
              <a:gd name="adj" fmla="val 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5" name="Gemma stat"/>
          <p:cNvSpPr txBox="1"/>
          <p:nvPr/>
        </p:nvSpPr>
        <p:spPr>
          <a:xfrm>
            <a:off x="822959" y="2770632"/>
            <a:ext cx="1783080" cy="502920"/>
          </a:xfrm>
          <a:prstGeom prst="rect">
            <a:avLst/>
          </a:prstGeom>
          <a:noFill/>
        </p:spPr>
        <p:txBody>
          <a:bodyPr wrap="square" lIns="0" tIns="0" rIns="0" bIns="0" anchor="ctr">
            <a:spAutoFit/>
          </a:bodyPr>
          <a:lstStyle/>
          <a:p>
            <a:pPr algn="ctr"/>
            <a:r>
              <a:rPr sz="3000" b="1">
                <a:solidFill>
                  <a:srgbClr val="1263B4"/>
                </a:solidFill>
                <a:latin typeface="Arial"/>
              </a:rPr>
              <a:t>128K</a:t>
            </a:r>
          </a:p>
        </p:txBody>
      </p:sp>
      <p:sp>
        <p:nvSpPr>
          <p:cNvPr id="1016" name="Gemma stat label"/>
          <p:cNvSpPr txBox="1"/>
          <p:nvPr/>
        </p:nvSpPr>
        <p:spPr>
          <a:xfrm>
            <a:off x="896112" y="3264408"/>
            <a:ext cx="1645920" cy="365760"/>
          </a:xfrm>
          <a:prstGeom prst="rect">
            <a:avLst/>
          </a:prstGeom>
          <a:noFill/>
        </p:spPr>
        <p:txBody>
          <a:bodyPr wrap="square" lIns="0" tIns="0" rIns="0" bIns="0" anchor="t">
            <a:spAutoFit/>
          </a:bodyPr>
          <a:lstStyle/>
          <a:p>
            <a:pPr algn="ctr"/>
            <a:r>
              <a:rPr sz="1000" b="0">
                <a:solidFill>
                  <a:srgbClr val="0C2340"/>
                </a:solidFill>
                <a:latin typeface="Arial"/>
              </a:rPr>
              <a:t>token context window</a:t>
            </a:r>
          </a:p>
        </p:txBody>
      </p:sp>
      <p:sp>
        <p:nvSpPr>
          <p:cNvPr id="1017" name="Gemma facts"/>
          <p:cNvSpPr txBox="1"/>
          <p:nvPr/>
        </p:nvSpPr>
        <p:spPr>
          <a:xfrm>
            <a:off x="2834640" y="2743200"/>
            <a:ext cx="2880360" cy="960120"/>
          </a:xfrm>
          <a:prstGeom prst="rect">
            <a:avLst/>
          </a:prstGeom>
          <a:noFill/>
        </p:spPr>
        <p:txBody>
          <a:bodyPr wrap="square" lIns="0" tIns="0" rIns="0" bIns="0" anchor="ctr">
            <a:spAutoFit/>
          </a:bodyPr>
          <a:lstStyle/>
          <a:p>
            <a:pPr algn="l">
              <a:spcAft>
                <a:spcPts val="300"/>
              </a:spcAft>
            </a:pPr>
            <a:r>
              <a:rPr sz="1150" b="0">
                <a:solidFill>
                  <a:srgbClr val="64748B"/>
                </a:solidFill>
                <a:latin typeface="Arial"/>
              </a:rPr>
              <a:t>27 billion parameters, open-weight model from Google</a:t>
            </a:r>
          </a:p>
          <a:p>
            <a:pPr algn="l">
              <a:spcAft>
                <a:spcPts val="300"/>
              </a:spcAft>
            </a:pPr>
            <a:r>
              <a:rPr sz="1150" b="0">
                <a:solidFill>
                  <a:srgbClr val="64748B"/>
                </a:solidFill>
                <a:latin typeface="Arial"/>
              </a:rPr>
              <a:t>Text and image input, text output; 140+ languages</a:t>
            </a:r>
          </a:p>
          <a:p>
            <a:pPr algn="l">
              <a:spcAft>
                <a:spcPts val="300"/>
              </a:spcAft>
            </a:pPr>
            <a:r>
              <a:rPr sz="1150" b="0">
                <a:solidFill>
                  <a:srgbClr val="64748B"/>
                </a:solidFill>
                <a:latin typeface="Arial"/>
              </a:rPr>
              <a:t>Called through LangChain ChatBedrockConverse</a:t>
            </a:r>
          </a:p>
        </p:txBody>
      </p:sp>
      <p:sp>
        <p:nvSpPr>
          <p:cNvPr id="1018" name="Gemma uses title"/>
          <p:cNvSpPr txBox="1"/>
          <p:nvPr/>
        </p:nvSpPr>
        <p:spPr>
          <a:xfrm>
            <a:off x="822959" y="3867911"/>
            <a:ext cx="4892040" cy="228600"/>
          </a:xfrm>
          <a:prstGeom prst="rect">
            <a:avLst/>
          </a:prstGeom>
          <a:noFill/>
        </p:spPr>
        <p:txBody>
          <a:bodyPr wrap="square" lIns="0" tIns="0" rIns="0" bIns="0" anchor="t">
            <a:spAutoFit/>
          </a:bodyPr>
          <a:lstStyle/>
          <a:p>
            <a:pPr algn="l"/>
            <a:r>
              <a:rPr sz="1100" b="1">
                <a:solidFill>
                  <a:srgbClr val="0C2340"/>
                </a:solidFill>
                <a:latin typeface="Arial"/>
              </a:rPr>
              <a:t>WHAT WE USE IT FOR</a:t>
            </a:r>
          </a:p>
        </p:txBody>
      </p:sp>
      <p:sp>
        <p:nvSpPr>
          <p:cNvPr id="1019" name="Gemma uses"/>
          <p:cNvSpPr txBox="1"/>
          <p:nvPr/>
        </p:nvSpPr>
        <p:spPr>
          <a:xfrm>
            <a:off x="822959" y="4123944"/>
            <a:ext cx="4892040" cy="1188720"/>
          </a:xfrm>
          <a:prstGeom prst="rect">
            <a:avLst/>
          </a:prstGeom>
          <a:noFill/>
        </p:spPr>
        <p:txBody>
          <a:bodyPr wrap="square" lIns="0" tIns="0" rIns="0" bIns="0" anchor="t">
            <a:spAutoFit/>
          </a:bodyPr>
          <a:lstStyle/>
          <a:p>
            <a:pPr algn="l">
              <a:spcAft>
                <a:spcPts val="300"/>
              </a:spcAft>
            </a:pPr>
            <a:r>
              <a:rPr sz="1150" b="1">
                <a:solidFill>
                  <a:srgbClr val="1263B4"/>
                </a:solidFill>
                <a:latin typeface="Arial"/>
              </a:rPr>
              <a:t>1  </a:t>
            </a:r>
            <a:r>
              <a:rPr sz="1150" b="0">
                <a:solidFill>
                  <a:srgbClr val="0C2340"/>
                </a:solidFill>
                <a:latin typeface="Arial"/>
              </a:rPr>
              <a:t>Router: classify each question into a route (temperature 0)</a:t>
            </a:r>
          </a:p>
          <a:p>
            <a:pPr algn="l">
              <a:spcAft>
                <a:spcPts val="300"/>
              </a:spcAft>
            </a:pPr>
            <a:r>
              <a:rPr sz="1150" b="1">
                <a:solidFill>
                  <a:srgbClr val="1263B4"/>
                </a:solidFill>
                <a:latin typeface="Arial"/>
              </a:rPr>
              <a:t>2  </a:t>
            </a:r>
            <a:r>
              <a:rPr sz="1150" b="0">
                <a:solidFill>
                  <a:srgbClr val="0C2340"/>
                </a:solidFill>
                <a:latin typeface="Arial"/>
              </a:rPr>
              <a:t>RAG answers from retrieved catalog text (temperature 0.2)</a:t>
            </a:r>
          </a:p>
          <a:p>
            <a:pPr algn="l">
              <a:spcAft>
                <a:spcPts val="300"/>
              </a:spcAft>
            </a:pPr>
            <a:r>
              <a:rPr sz="1150" b="1">
                <a:solidFill>
                  <a:srgbClr val="1263B4"/>
                </a:solidFill>
                <a:latin typeface="Arial"/>
              </a:rPr>
              <a:t>3  </a:t>
            </a:r>
            <a:r>
              <a:rPr sz="1150" b="0">
                <a:solidFill>
                  <a:srgbClr val="0C2340"/>
                </a:solidFill>
                <a:latin typeface="Arial"/>
              </a:rPr>
              <a:t>Explain Python advising results: eligibility, degree plans</a:t>
            </a:r>
          </a:p>
          <a:p>
            <a:pPr algn="l">
              <a:spcAft>
                <a:spcPts val="300"/>
              </a:spcAft>
            </a:pPr>
            <a:r>
              <a:rPr sz="1150" b="1">
                <a:solidFill>
                  <a:srgbClr val="1263B4"/>
                </a:solidFill>
                <a:latin typeface="Arial"/>
              </a:rPr>
              <a:t>4  </a:t>
            </a:r>
            <a:r>
              <a:rPr sz="1150" b="0">
                <a:solidFill>
                  <a:srgbClr val="0C2340"/>
                </a:solidFill>
                <a:latin typeface="Arial"/>
              </a:rPr>
              <a:t>Summarize older chat history (max 300 output tokens)</a:t>
            </a:r>
          </a:p>
        </p:txBody>
      </p:sp>
      <p:sp>
        <p:nvSpPr>
          <p:cNvPr id="1020" name="Titan card"/>
          <p:cNvSpPr/>
          <p:nvPr/>
        </p:nvSpPr>
        <p:spPr>
          <a:xfrm>
            <a:off x="6172200" y="1783080"/>
            <a:ext cx="5440680" cy="3611880"/>
          </a:xfrm>
          <a:prstGeom prst="roundRect">
            <a:avLst>
              <a:gd name="adj" fmla="val 5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1" name="Titan kicker"/>
          <p:cNvSpPr txBox="1"/>
          <p:nvPr/>
        </p:nvSpPr>
        <p:spPr>
          <a:xfrm>
            <a:off x="6446520" y="1984248"/>
            <a:ext cx="4892040" cy="228600"/>
          </a:xfrm>
          <a:prstGeom prst="rect">
            <a:avLst/>
          </a:prstGeom>
          <a:noFill/>
        </p:spPr>
        <p:txBody>
          <a:bodyPr wrap="square" lIns="0" tIns="0" rIns="0" bIns="0" anchor="t">
            <a:spAutoFit/>
          </a:bodyPr>
          <a:lstStyle/>
          <a:p>
            <a:pPr algn="l"/>
            <a:r>
              <a:rPr sz="1050" b="1">
                <a:solidFill>
                  <a:srgbClr val="E07612"/>
                </a:solidFill>
                <a:latin typeface="Arial"/>
              </a:rPr>
              <a:t>EMBEDDINGS  •  amazon.titan-embed-text-v2:0</a:t>
            </a:r>
          </a:p>
        </p:txBody>
      </p:sp>
      <p:sp>
        <p:nvSpPr>
          <p:cNvPr id="1022" name="Titan name"/>
          <p:cNvSpPr txBox="1"/>
          <p:nvPr/>
        </p:nvSpPr>
        <p:spPr>
          <a:xfrm>
            <a:off x="6446520" y="2240280"/>
            <a:ext cx="4892040" cy="365760"/>
          </a:xfrm>
          <a:prstGeom prst="rect">
            <a:avLst/>
          </a:prstGeom>
          <a:noFill/>
        </p:spPr>
        <p:txBody>
          <a:bodyPr wrap="square" lIns="0" tIns="0" rIns="0" bIns="0" anchor="t">
            <a:spAutoFit/>
          </a:bodyPr>
          <a:lstStyle/>
          <a:p>
            <a:pPr algn="l"/>
            <a:r>
              <a:rPr sz="1800" b="1">
                <a:solidFill>
                  <a:srgbClr val="0C2340"/>
                </a:solidFill>
                <a:latin typeface="Arial"/>
              </a:rPr>
              <a:t>Amazon Titan Text Embeddings V2</a:t>
            </a:r>
          </a:p>
        </p:txBody>
      </p:sp>
      <p:sp>
        <p:nvSpPr>
          <p:cNvPr id="1023" name="Titan stat box"/>
          <p:cNvSpPr/>
          <p:nvPr/>
        </p:nvSpPr>
        <p:spPr>
          <a:xfrm>
            <a:off x="6446520" y="2715768"/>
            <a:ext cx="1783080" cy="960120"/>
          </a:xfrm>
          <a:prstGeom prst="roundRect">
            <a:avLst>
              <a:gd name="adj" fmla="val 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4" name="Titan stat"/>
          <p:cNvSpPr txBox="1"/>
          <p:nvPr/>
        </p:nvSpPr>
        <p:spPr>
          <a:xfrm>
            <a:off x="6446520" y="2770632"/>
            <a:ext cx="1783080" cy="502920"/>
          </a:xfrm>
          <a:prstGeom prst="rect">
            <a:avLst/>
          </a:prstGeom>
          <a:noFill/>
        </p:spPr>
        <p:txBody>
          <a:bodyPr wrap="square" lIns="0" tIns="0" rIns="0" bIns="0" anchor="ctr">
            <a:spAutoFit/>
          </a:bodyPr>
          <a:lstStyle/>
          <a:p>
            <a:pPr algn="ctr"/>
            <a:r>
              <a:rPr sz="3000" b="1">
                <a:solidFill>
                  <a:srgbClr val="E07612"/>
                </a:solidFill>
                <a:latin typeface="Arial"/>
              </a:rPr>
              <a:t>8,192</a:t>
            </a:r>
          </a:p>
        </p:txBody>
      </p:sp>
      <p:sp>
        <p:nvSpPr>
          <p:cNvPr id="1025" name="Titan stat label"/>
          <p:cNvSpPr txBox="1"/>
          <p:nvPr/>
        </p:nvSpPr>
        <p:spPr>
          <a:xfrm>
            <a:off x="6519672" y="3264408"/>
            <a:ext cx="1645920" cy="365760"/>
          </a:xfrm>
          <a:prstGeom prst="rect">
            <a:avLst/>
          </a:prstGeom>
          <a:noFill/>
        </p:spPr>
        <p:txBody>
          <a:bodyPr wrap="square" lIns="0" tIns="0" rIns="0" bIns="0" anchor="t">
            <a:spAutoFit/>
          </a:bodyPr>
          <a:lstStyle/>
          <a:p>
            <a:pPr algn="ctr"/>
            <a:r>
              <a:rPr sz="1000" b="0">
                <a:solidFill>
                  <a:srgbClr val="0C2340"/>
                </a:solidFill>
                <a:latin typeface="Arial"/>
              </a:rPr>
              <a:t>max input tokens (50,000 chars)</a:t>
            </a:r>
          </a:p>
        </p:txBody>
      </p:sp>
      <p:sp>
        <p:nvSpPr>
          <p:cNvPr id="1026" name="Titan facts"/>
          <p:cNvSpPr txBox="1"/>
          <p:nvPr/>
        </p:nvSpPr>
        <p:spPr>
          <a:xfrm>
            <a:off x="8458200" y="2743200"/>
            <a:ext cx="2880360" cy="960120"/>
          </a:xfrm>
          <a:prstGeom prst="rect">
            <a:avLst/>
          </a:prstGeom>
          <a:noFill/>
        </p:spPr>
        <p:txBody>
          <a:bodyPr wrap="square" lIns="0" tIns="0" rIns="0" bIns="0" anchor="ctr">
            <a:spAutoFit/>
          </a:bodyPr>
          <a:lstStyle/>
          <a:p>
            <a:pPr algn="l">
              <a:spcAft>
                <a:spcPts val="300"/>
              </a:spcAft>
            </a:pPr>
            <a:r>
              <a:rPr sz="1150" b="0">
                <a:solidFill>
                  <a:srgbClr val="64748B"/>
                </a:solidFill>
                <a:latin typeface="Arial"/>
              </a:rPr>
              <a:t>Output vector: 1,024 dimensions (512 / 256 also available)</a:t>
            </a:r>
          </a:p>
          <a:p>
            <a:pPr algn="l">
              <a:spcAft>
                <a:spcPts val="300"/>
              </a:spcAft>
            </a:pPr>
            <a:r>
              <a:rPr sz="1150" b="0">
                <a:solidFill>
                  <a:srgbClr val="64748B"/>
                </a:solidFill>
                <a:latin typeface="Arial"/>
              </a:rPr>
              <a:t>We request normalized vectors for similarity search</a:t>
            </a:r>
          </a:p>
          <a:p>
            <a:pPr algn="l">
              <a:spcAft>
                <a:spcPts val="300"/>
              </a:spcAft>
            </a:pPr>
            <a:r>
              <a:rPr sz="1150" b="0">
                <a:solidFill>
                  <a:srgbClr val="64748B"/>
                </a:solidFill>
                <a:latin typeface="Arial"/>
              </a:rPr>
              <a:t>Called through LangChain BedrockEmbeddings and boto3</a:t>
            </a:r>
          </a:p>
        </p:txBody>
      </p:sp>
      <p:sp>
        <p:nvSpPr>
          <p:cNvPr id="1027" name="Titan uses title"/>
          <p:cNvSpPr txBox="1"/>
          <p:nvPr/>
        </p:nvSpPr>
        <p:spPr>
          <a:xfrm>
            <a:off x="6446520" y="3867911"/>
            <a:ext cx="4892040" cy="228600"/>
          </a:xfrm>
          <a:prstGeom prst="rect">
            <a:avLst/>
          </a:prstGeom>
          <a:noFill/>
        </p:spPr>
        <p:txBody>
          <a:bodyPr wrap="square" lIns="0" tIns="0" rIns="0" bIns="0" anchor="t">
            <a:spAutoFit/>
          </a:bodyPr>
          <a:lstStyle/>
          <a:p>
            <a:pPr algn="l"/>
            <a:r>
              <a:rPr sz="1100" b="1">
                <a:solidFill>
                  <a:srgbClr val="0C2340"/>
                </a:solidFill>
                <a:latin typeface="Arial"/>
              </a:rPr>
              <a:t>WHAT WE USE IT FOR</a:t>
            </a:r>
          </a:p>
        </p:txBody>
      </p:sp>
      <p:sp>
        <p:nvSpPr>
          <p:cNvPr id="1028" name="Titan uses"/>
          <p:cNvSpPr txBox="1"/>
          <p:nvPr/>
        </p:nvSpPr>
        <p:spPr>
          <a:xfrm>
            <a:off x="6446520" y="4123944"/>
            <a:ext cx="4892040" cy="1188720"/>
          </a:xfrm>
          <a:prstGeom prst="rect">
            <a:avLst/>
          </a:prstGeom>
          <a:noFill/>
        </p:spPr>
        <p:txBody>
          <a:bodyPr wrap="square" lIns="0" tIns="0" rIns="0" bIns="0" anchor="t">
            <a:spAutoFit/>
          </a:bodyPr>
          <a:lstStyle/>
          <a:p>
            <a:pPr algn="l">
              <a:spcAft>
                <a:spcPts val="300"/>
              </a:spcAft>
            </a:pPr>
            <a:r>
              <a:rPr sz="1150" b="1">
                <a:solidFill>
                  <a:srgbClr val="E07612"/>
                </a:solidFill>
                <a:latin typeface="Arial"/>
              </a:rPr>
              <a:t>1  </a:t>
            </a:r>
            <a:r>
              <a:rPr sz="1150" b="0">
                <a:solidFill>
                  <a:srgbClr val="0C2340"/>
                </a:solidFill>
                <a:latin typeface="Arial"/>
              </a:rPr>
              <a:t>Ingestion: Lambda embeds each 1,000-character catalog chunk (≈ 210 tokens)</a:t>
            </a:r>
          </a:p>
          <a:p>
            <a:pPr algn="l">
              <a:spcAft>
                <a:spcPts val="300"/>
              </a:spcAft>
            </a:pPr>
            <a:r>
              <a:rPr sz="1150" b="1">
                <a:solidFill>
                  <a:srgbClr val="E07612"/>
                </a:solidFill>
                <a:latin typeface="Arial"/>
              </a:rPr>
              <a:t>2  </a:t>
            </a:r>
            <a:r>
              <a:rPr sz="1150" b="0">
                <a:solidFill>
                  <a:srgbClr val="0C2340"/>
                </a:solidFill>
                <a:latin typeface="Arial"/>
              </a:rPr>
              <a:t>Query: embeds the student’s course question to search ChromaDB</a:t>
            </a:r>
          </a:p>
          <a:p>
            <a:pPr algn="l">
              <a:spcAft>
                <a:spcPts val="300"/>
              </a:spcAft>
            </a:pPr>
            <a:r>
              <a:rPr sz="1150" b="1">
                <a:solidFill>
                  <a:srgbClr val="E07612"/>
                </a:solidFill>
                <a:latin typeface="Arial"/>
              </a:rPr>
              <a:t>3  </a:t>
            </a:r>
            <a:r>
              <a:rPr sz="1150" b="0">
                <a:solidFill>
                  <a:srgbClr val="0C2340"/>
                </a:solidFill>
                <a:latin typeface="Arial"/>
              </a:rPr>
              <a:t>Same model and dimensions on both sides, so vectors compare</a:t>
            </a:r>
          </a:p>
        </p:txBody>
      </p:sp>
      <p:sp>
        <p:nvSpPr>
          <p:cNvPr id="1029" name="IT explanation band"/>
          <p:cNvSpPr/>
          <p:nvPr/>
        </p:nvSpPr>
        <p:spPr>
          <a:xfrm>
            <a:off x="548640" y="5532120"/>
            <a:ext cx="11064240" cy="804672"/>
          </a:xfrm>
          <a:prstGeom prst="roundRect">
            <a:avLst>
              <a:gd name="adj" fmla="val 5000"/>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0" name="IT explanation"/>
          <p:cNvSpPr txBox="1"/>
          <p:nvPr/>
        </p:nvSpPr>
        <p:spPr>
          <a:xfrm>
            <a:off x="777240" y="5532120"/>
            <a:ext cx="10607040" cy="804672"/>
          </a:xfrm>
          <a:prstGeom prst="rect">
            <a:avLst/>
          </a:prstGeom>
          <a:noFill/>
        </p:spPr>
        <p:txBody>
          <a:bodyPr wrap="square" lIns="0" tIns="0" rIns="0" bIns="0" anchor="ctr">
            <a:spAutoFit/>
          </a:bodyPr>
          <a:lstStyle/>
          <a:p>
            <a:pPr algn="l"/>
            <a:r>
              <a:rPr sz="1200" b="1">
                <a:solidFill>
                  <a:srgbClr val="76D3E2"/>
                </a:solidFill>
                <a:latin typeface="Arial"/>
              </a:rPr>
              <a:t>What “-it” means:  </a:t>
            </a:r>
            <a:r>
              <a:rPr sz="1200" b="1">
                <a:solidFill>
                  <a:srgbClr val="FFFFFF"/>
                </a:solidFill>
                <a:latin typeface="Arial"/>
              </a:rPr>
              <a:t>Instruction-Tuned. </a:t>
            </a:r>
            <a:r>
              <a:rPr sz="1200" b="0">
                <a:solidFill>
                  <a:srgbClr val="FFFFFF"/>
                </a:solidFill>
                <a:latin typeface="Arial"/>
              </a:rPr>
              <a:t>Google releases Gemma as PT (pre-trained: only continues text) and IT (further trained on instruction and chat examples to follow directions). Our prompts are instructions (“Return ONLY one route”, “Use ONLY RESULT”), so we use the IT version.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6"/>
          <p:cNvSpPr/>
          <p:nvPr/>
        </p:nvSpPr>
        <p:spPr>
          <a:xfrm>
            <a:off x="0" y="0"/>
            <a:ext cx="12192000" cy="76200"/>
          </a:xfrm>
          <a:prstGeom prst="rect">
            <a:avLst/>
          </a:prstGeom>
          <a:solidFill>
            <a:srgbClr val="0D3463"/>
          </a:solidFill>
          <a:ln w="9525" cap="flat" cmpd="sng">
            <a:solidFill>
              <a:srgbClr val="0D3463"/>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0" name="Google Shape;300;p6"/>
          <p:cNvSpPr txBox="1"/>
          <p:nvPr/>
        </p:nvSpPr>
        <p:spPr>
          <a:xfrm>
            <a:off x="533400" y="251460"/>
            <a:ext cx="7620000" cy="258982"/>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333" b="1" i="0" u="none" strike="noStrike" cap="none">
                <a:solidFill>
                  <a:srgbClr val="135AA4"/>
                </a:solidFill>
                <a:latin typeface="Arial"/>
                <a:ea typeface="Arial"/>
                <a:cs typeface="Arial"/>
                <a:sym typeface="Arial"/>
              </a:rPr>
              <a:t>UTA • TEAM 2 AI ADVISOR</a:t>
            </a:r>
            <a:endParaRPr/>
          </a:p>
        </p:txBody>
      </p:sp>
      <p:sp>
        <p:nvSpPr>
          <p:cNvPr id="301" name="Google Shape;301;p6"/>
          <p:cNvSpPr txBox="1"/>
          <p:nvPr/>
        </p:nvSpPr>
        <p:spPr>
          <a:xfrm>
            <a:off x="533400" y="632461"/>
            <a:ext cx="11430000" cy="46429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2667" b="1" i="0" u="none" strike="noStrike" cap="none">
                <a:solidFill>
                  <a:srgbClr val="0D3463"/>
                </a:solidFill>
                <a:latin typeface="Arial"/>
                <a:ea typeface="Arial"/>
                <a:cs typeface="Arial"/>
                <a:sym typeface="Arial"/>
              </a:rPr>
              <a:t>RAG Pipeline: Document Ingestion &amp; Indexing</a:t>
            </a:r>
            <a:endParaRPr/>
          </a:p>
        </p:txBody>
      </p:sp>
      <p:sp>
        <p:nvSpPr>
          <p:cNvPr id="302" name="Google Shape;302;p6"/>
          <p:cNvSpPr/>
          <p:nvPr/>
        </p:nvSpPr>
        <p:spPr>
          <a:xfrm>
            <a:off x="533400" y="1257300"/>
            <a:ext cx="11125200" cy="26670"/>
          </a:xfrm>
          <a:prstGeom prst="rect">
            <a:avLst/>
          </a:prstGeom>
          <a:solidFill>
            <a:srgbClr val="CEDAE6"/>
          </a:solidFill>
          <a:ln w="9525" cap="flat" cmpd="sng">
            <a:solidFill>
              <a:srgbClr val="CEDAE6"/>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3" name="Google Shape;303;p6"/>
          <p:cNvSpPr txBox="1"/>
          <p:nvPr/>
        </p:nvSpPr>
        <p:spPr>
          <a:xfrm>
            <a:off x="685800" y="1402080"/>
            <a:ext cx="10972800" cy="284693"/>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500" b="0" i="0" u="none" strike="noStrike" cap="none">
                <a:solidFill>
                  <a:srgbClr val="546B86"/>
                </a:solidFill>
                <a:latin typeface="Arial"/>
                <a:ea typeface="Arial"/>
                <a:cs typeface="Arial"/>
                <a:sym typeface="Arial"/>
              </a:rPr>
              <a:t>Offline / update-time pipeline — prepares searchable knowledge before students ask questions</a:t>
            </a:r>
            <a:endParaRPr/>
          </a:p>
        </p:txBody>
      </p:sp>
      <p:sp>
        <p:nvSpPr>
          <p:cNvPr id="304" name="Google Shape;304;p6"/>
          <p:cNvSpPr/>
          <p:nvPr/>
        </p:nvSpPr>
        <p:spPr>
          <a:xfrm>
            <a:off x="57150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5" name="Google Shape;305;p6"/>
          <p:cNvSpPr/>
          <p:nvPr/>
        </p:nvSpPr>
        <p:spPr>
          <a:xfrm>
            <a:off x="67818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6" name="Google Shape;306;p6"/>
          <p:cNvSpPr txBox="1"/>
          <p:nvPr/>
        </p:nvSpPr>
        <p:spPr>
          <a:xfrm>
            <a:off x="70866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01</a:t>
            </a:r>
            <a:endParaRPr/>
          </a:p>
        </p:txBody>
      </p:sp>
      <p:sp>
        <p:nvSpPr>
          <p:cNvPr id="307" name="Google Shape;307;p6"/>
          <p:cNvSpPr txBox="1"/>
          <p:nvPr/>
        </p:nvSpPr>
        <p:spPr>
          <a:xfrm>
            <a:off x="69342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GitHub Repository</a:t>
            </a:r>
            <a:endParaRPr/>
          </a:p>
        </p:txBody>
      </p:sp>
      <p:sp>
        <p:nvSpPr>
          <p:cNvPr id="308" name="Google Shape;308;p6"/>
          <p:cNvSpPr txBox="1"/>
          <p:nvPr/>
        </p:nvSpPr>
        <p:spPr>
          <a:xfrm>
            <a:off x="701040" y="2745394"/>
            <a:ext cx="2087880" cy="553806"/>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Team pushes documents to GitHub (PDF, Word, .txt, md, csv, json)</a:t>
            </a:r>
            <a:endParaRPr sz="1083" b="0" i="0" u="none" strike="noStrike" cap="none">
              <a:solidFill>
                <a:schemeClr val="dk1"/>
              </a:solidFill>
              <a:latin typeface="Calibri"/>
              <a:ea typeface="Calibri"/>
              <a:cs typeface="Calibri"/>
              <a:sym typeface="Calibri"/>
            </a:endParaRPr>
          </a:p>
        </p:txBody>
      </p:sp>
      <p:sp>
        <p:nvSpPr>
          <p:cNvPr id="309" name="Google Shape;309;p6"/>
          <p:cNvSpPr/>
          <p:nvPr/>
        </p:nvSpPr>
        <p:spPr>
          <a:xfrm>
            <a:off x="348996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0" name="Google Shape;310;p6"/>
          <p:cNvSpPr/>
          <p:nvPr/>
        </p:nvSpPr>
        <p:spPr>
          <a:xfrm>
            <a:off x="359664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1" name="Google Shape;311;p6"/>
          <p:cNvSpPr txBox="1"/>
          <p:nvPr/>
        </p:nvSpPr>
        <p:spPr>
          <a:xfrm>
            <a:off x="362712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02</a:t>
            </a:r>
            <a:endParaRPr/>
          </a:p>
        </p:txBody>
      </p:sp>
      <p:sp>
        <p:nvSpPr>
          <p:cNvPr id="312" name="Google Shape;312;p6"/>
          <p:cNvSpPr txBox="1"/>
          <p:nvPr/>
        </p:nvSpPr>
        <p:spPr>
          <a:xfrm>
            <a:off x="361188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GitHub Actions</a:t>
            </a:r>
            <a:endParaRPr/>
          </a:p>
        </p:txBody>
      </p:sp>
      <p:sp>
        <p:nvSpPr>
          <p:cNvPr id="313" name="Google Shape;313;p6"/>
          <p:cNvSpPr txBox="1"/>
          <p:nvPr/>
        </p:nvSpPr>
        <p:spPr>
          <a:xfrm>
            <a:off x="3611880" y="28346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Push triggers workflow to upload academic documents</a:t>
            </a:r>
            <a:endParaRPr/>
          </a:p>
        </p:txBody>
      </p:sp>
      <p:sp>
        <p:nvSpPr>
          <p:cNvPr id="314" name="Google Shape;314;p6"/>
          <p:cNvSpPr/>
          <p:nvPr/>
        </p:nvSpPr>
        <p:spPr>
          <a:xfrm>
            <a:off x="640842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5" name="Google Shape;315;p6"/>
          <p:cNvSpPr/>
          <p:nvPr/>
        </p:nvSpPr>
        <p:spPr>
          <a:xfrm>
            <a:off x="651510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6" name="Google Shape;316;p6"/>
          <p:cNvSpPr txBox="1"/>
          <p:nvPr/>
        </p:nvSpPr>
        <p:spPr>
          <a:xfrm>
            <a:off x="654558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03</a:t>
            </a:r>
            <a:endParaRPr/>
          </a:p>
        </p:txBody>
      </p:sp>
      <p:sp>
        <p:nvSpPr>
          <p:cNvPr id="317" name="Google Shape;317;p6"/>
          <p:cNvSpPr txBox="1"/>
          <p:nvPr/>
        </p:nvSpPr>
        <p:spPr>
          <a:xfrm>
            <a:off x="653034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Amazon S3</a:t>
            </a:r>
            <a:endParaRPr/>
          </a:p>
        </p:txBody>
      </p:sp>
      <p:sp>
        <p:nvSpPr>
          <p:cNvPr id="318" name="Google Shape;318;p6"/>
          <p:cNvSpPr txBox="1"/>
          <p:nvPr/>
        </p:nvSpPr>
        <p:spPr>
          <a:xfrm>
            <a:off x="6530340" y="2834640"/>
            <a:ext cx="2087880" cy="22051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Stores uploaded source files</a:t>
            </a:r>
            <a:endParaRPr/>
          </a:p>
        </p:txBody>
      </p:sp>
      <p:sp>
        <p:nvSpPr>
          <p:cNvPr id="319" name="Google Shape;319;p6"/>
          <p:cNvSpPr/>
          <p:nvPr/>
        </p:nvSpPr>
        <p:spPr>
          <a:xfrm>
            <a:off x="932688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0" name="Google Shape;320;p6"/>
          <p:cNvSpPr/>
          <p:nvPr/>
        </p:nvSpPr>
        <p:spPr>
          <a:xfrm>
            <a:off x="943356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1" name="Google Shape;321;p6"/>
          <p:cNvSpPr txBox="1"/>
          <p:nvPr/>
        </p:nvSpPr>
        <p:spPr>
          <a:xfrm>
            <a:off x="946404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04</a:t>
            </a:r>
            <a:endParaRPr/>
          </a:p>
        </p:txBody>
      </p:sp>
      <p:sp>
        <p:nvSpPr>
          <p:cNvPr id="322" name="Google Shape;322;p6"/>
          <p:cNvSpPr txBox="1"/>
          <p:nvPr/>
        </p:nvSpPr>
        <p:spPr>
          <a:xfrm>
            <a:off x="944880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AWS Lambda</a:t>
            </a:r>
            <a:endParaRPr/>
          </a:p>
        </p:txBody>
      </p:sp>
      <p:sp>
        <p:nvSpPr>
          <p:cNvPr id="323" name="Google Shape;323;p6"/>
          <p:cNvSpPr txBox="1"/>
          <p:nvPr/>
        </p:nvSpPr>
        <p:spPr>
          <a:xfrm>
            <a:off x="9448800" y="28346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S3 event triggers processing and text chunking</a:t>
            </a:r>
            <a:endParaRPr/>
          </a:p>
        </p:txBody>
      </p:sp>
      <p:sp>
        <p:nvSpPr>
          <p:cNvPr id="324" name="Google Shape;324;p6"/>
          <p:cNvSpPr/>
          <p:nvPr/>
        </p:nvSpPr>
        <p:spPr>
          <a:xfrm>
            <a:off x="2034540" y="39090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5" name="Google Shape;325;p6"/>
          <p:cNvSpPr/>
          <p:nvPr/>
        </p:nvSpPr>
        <p:spPr>
          <a:xfrm>
            <a:off x="2141220" y="40157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6" name="Google Shape;326;p6"/>
          <p:cNvSpPr txBox="1"/>
          <p:nvPr/>
        </p:nvSpPr>
        <p:spPr>
          <a:xfrm>
            <a:off x="2171700" y="40805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05</a:t>
            </a:r>
            <a:endParaRPr/>
          </a:p>
        </p:txBody>
      </p:sp>
      <p:sp>
        <p:nvSpPr>
          <p:cNvPr id="327" name="Google Shape;327;p6"/>
          <p:cNvSpPr txBox="1"/>
          <p:nvPr/>
        </p:nvSpPr>
        <p:spPr>
          <a:xfrm>
            <a:off x="2118499" y="4466450"/>
            <a:ext cx="2217300" cy="27180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a:solidFill>
                  <a:srgbClr val="0D3463"/>
                </a:solidFill>
              </a:rPr>
              <a:t>AWS </a:t>
            </a:r>
            <a:r>
              <a:rPr lang="en-US" sz="1417" b="1" i="0" u="none" strike="noStrike" cap="none">
                <a:solidFill>
                  <a:srgbClr val="0D3463"/>
                </a:solidFill>
                <a:latin typeface="Arial"/>
                <a:ea typeface="Arial"/>
                <a:cs typeface="Arial"/>
                <a:sym typeface="Arial"/>
              </a:rPr>
              <a:t>Titan Embed v2 (8K)</a:t>
            </a:r>
            <a:endParaRPr/>
          </a:p>
        </p:txBody>
      </p:sp>
      <p:sp>
        <p:nvSpPr>
          <p:cNvPr id="328" name="Google Shape;328;p6"/>
          <p:cNvSpPr txBox="1"/>
          <p:nvPr/>
        </p:nvSpPr>
        <p:spPr>
          <a:xfrm>
            <a:off x="2156460" y="48158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Creates vector embeddings from text chunks</a:t>
            </a:r>
            <a:endParaRPr/>
          </a:p>
        </p:txBody>
      </p:sp>
      <p:sp>
        <p:nvSpPr>
          <p:cNvPr id="329" name="Google Shape;329;p6"/>
          <p:cNvSpPr/>
          <p:nvPr/>
        </p:nvSpPr>
        <p:spPr>
          <a:xfrm>
            <a:off x="4953000" y="39090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0" name="Google Shape;330;p6"/>
          <p:cNvSpPr/>
          <p:nvPr/>
        </p:nvSpPr>
        <p:spPr>
          <a:xfrm>
            <a:off x="5059680" y="40157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1" name="Google Shape;331;p6"/>
          <p:cNvSpPr txBox="1"/>
          <p:nvPr/>
        </p:nvSpPr>
        <p:spPr>
          <a:xfrm>
            <a:off x="5090160" y="40805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06</a:t>
            </a:r>
            <a:endParaRPr/>
          </a:p>
        </p:txBody>
      </p:sp>
      <p:sp>
        <p:nvSpPr>
          <p:cNvPr id="332" name="Google Shape;332;p6"/>
          <p:cNvSpPr txBox="1"/>
          <p:nvPr/>
        </p:nvSpPr>
        <p:spPr>
          <a:xfrm>
            <a:off x="5074920" y="4503421"/>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ChromaDB</a:t>
            </a:r>
            <a:endParaRPr/>
          </a:p>
        </p:txBody>
      </p:sp>
      <p:sp>
        <p:nvSpPr>
          <p:cNvPr id="333" name="Google Shape;333;p6"/>
          <p:cNvSpPr txBox="1"/>
          <p:nvPr/>
        </p:nvSpPr>
        <p:spPr>
          <a:xfrm>
            <a:off x="5074920" y="48158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Stores vectors, source text, and metadata</a:t>
            </a:r>
            <a:endParaRPr/>
          </a:p>
        </p:txBody>
      </p:sp>
      <p:sp>
        <p:nvSpPr>
          <p:cNvPr id="334" name="Google Shape;334;p6"/>
          <p:cNvSpPr/>
          <p:nvPr/>
        </p:nvSpPr>
        <p:spPr>
          <a:xfrm>
            <a:off x="7871460" y="39090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5" name="Google Shape;335;p6"/>
          <p:cNvSpPr/>
          <p:nvPr/>
        </p:nvSpPr>
        <p:spPr>
          <a:xfrm>
            <a:off x="7978140" y="40157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6" name="Google Shape;336;p6"/>
          <p:cNvSpPr txBox="1"/>
          <p:nvPr/>
        </p:nvSpPr>
        <p:spPr>
          <a:xfrm>
            <a:off x="8008620" y="40805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07</a:t>
            </a:r>
            <a:endParaRPr/>
          </a:p>
        </p:txBody>
      </p:sp>
      <p:sp>
        <p:nvSpPr>
          <p:cNvPr id="337" name="Google Shape;337;p6"/>
          <p:cNvSpPr txBox="1"/>
          <p:nvPr/>
        </p:nvSpPr>
        <p:spPr>
          <a:xfrm>
            <a:off x="7993380" y="4503421"/>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Microsoft Teams</a:t>
            </a:r>
            <a:endParaRPr/>
          </a:p>
        </p:txBody>
      </p:sp>
      <p:sp>
        <p:nvSpPr>
          <p:cNvPr id="338" name="Google Shape;338;p6"/>
          <p:cNvSpPr txBox="1"/>
          <p:nvPr/>
        </p:nvSpPr>
        <p:spPr>
          <a:xfrm>
            <a:off x="7993380" y="48158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Success notification sent to team chat </a:t>
            </a:r>
            <a:endParaRPr/>
          </a:p>
        </p:txBody>
      </p:sp>
      <p:sp>
        <p:nvSpPr>
          <p:cNvPr id="339" name="Google Shape;339;p6"/>
          <p:cNvSpPr txBox="1"/>
          <p:nvPr/>
        </p:nvSpPr>
        <p:spPr>
          <a:xfrm>
            <a:off x="3002280" y="2514601"/>
            <a:ext cx="35814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0" name="Google Shape;340;p6"/>
          <p:cNvSpPr txBox="1"/>
          <p:nvPr/>
        </p:nvSpPr>
        <p:spPr>
          <a:xfrm>
            <a:off x="5920740" y="2514601"/>
            <a:ext cx="35814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1" name="Google Shape;341;p6"/>
          <p:cNvSpPr txBox="1"/>
          <p:nvPr/>
        </p:nvSpPr>
        <p:spPr>
          <a:xfrm>
            <a:off x="8839200" y="2514601"/>
            <a:ext cx="35814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2" name="Google Shape;342;p6"/>
          <p:cNvSpPr txBox="1"/>
          <p:nvPr/>
        </p:nvSpPr>
        <p:spPr>
          <a:xfrm>
            <a:off x="4503420" y="4434841"/>
            <a:ext cx="36576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3" name="Google Shape;343;p6"/>
          <p:cNvSpPr txBox="1"/>
          <p:nvPr/>
        </p:nvSpPr>
        <p:spPr>
          <a:xfrm>
            <a:off x="7421880" y="4434841"/>
            <a:ext cx="36576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4" name="Google Shape;344;p6"/>
          <p:cNvSpPr/>
          <p:nvPr/>
        </p:nvSpPr>
        <p:spPr>
          <a:xfrm>
            <a:off x="723900" y="5745480"/>
            <a:ext cx="10744200" cy="548640"/>
          </a:xfrm>
          <a:prstGeom prst="roundRect">
            <a:avLst>
              <a:gd name="adj" fmla="val 16667"/>
            </a:avLst>
          </a:prstGeom>
          <a:solidFill>
            <a:srgbClr val="EAF2FA"/>
          </a:solidFill>
          <a:ln w="9525" cap="flat" cmpd="sng">
            <a:solidFill>
              <a:srgbClr val="EAF2F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45" name="Google Shape;345;p6"/>
          <p:cNvSpPr txBox="1"/>
          <p:nvPr/>
        </p:nvSpPr>
        <p:spPr>
          <a:xfrm>
            <a:off x="906780" y="5905500"/>
            <a:ext cx="1524000" cy="258982"/>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333" b="1" i="0" u="none" strike="noStrike" cap="none">
                <a:solidFill>
                  <a:srgbClr val="0D3463"/>
                </a:solidFill>
                <a:latin typeface="Arial"/>
                <a:ea typeface="Arial"/>
                <a:cs typeface="Arial"/>
                <a:sym typeface="Arial"/>
              </a:rPr>
              <a:t>Indexed output</a:t>
            </a:r>
            <a:endParaRPr/>
          </a:p>
        </p:txBody>
      </p:sp>
      <p:sp>
        <p:nvSpPr>
          <p:cNvPr id="346" name="Google Shape;346;p6"/>
          <p:cNvSpPr txBox="1"/>
          <p:nvPr/>
        </p:nvSpPr>
        <p:spPr>
          <a:xfrm>
            <a:off x="2651760" y="5905500"/>
            <a:ext cx="8534400" cy="246221"/>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250" b="0" i="0" u="none" strike="noStrike" cap="none">
                <a:solidFill>
                  <a:srgbClr val="0D3463"/>
                </a:solidFill>
                <a:latin typeface="Arial"/>
                <a:ea typeface="Arial"/>
                <a:cs typeface="Arial"/>
                <a:sym typeface="Arial"/>
              </a:rPr>
              <a:t>Text chunks  •  1024-dimensional vectors  •  source metadata  •  Teams success alert</a:t>
            </a:r>
            <a:endParaRPr/>
          </a:p>
        </p:txBody>
      </p:sp>
      <p:sp>
        <p:nvSpPr>
          <p:cNvPr id="347" name="Google Shape;347;p6"/>
          <p:cNvSpPr txBox="1"/>
          <p:nvPr/>
        </p:nvSpPr>
        <p:spPr>
          <a:xfrm>
            <a:off x="533400" y="6553200"/>
            <a:ext cx="6858000" cy="182038"/>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833" b="0" i="0" u="none" strike="noStrike" cap="none">
                <a:solidFill>
                  <a:srgbClr val="546B86"/>
                </a:solidFill>
                <a:latin typeface="Arial"/>
                <a:ea typeface="Arial"/>
                <a:cs typeface="Arial"/>
                <a:sym typeface="Arial"/>
              </a:rPr>
              <a:t>CSE 4392 / 5320  •  TEAM ASSIGNMENT 2</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21920"/>
          </a:xfrm>
          <a:prstGeom prst="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 name="TextBox 2"/>
          <p:cNvSpPr txBox="1"/>
          <p:nvPr/>
        </p:nvSpPr>
        <p:spPr>
          <a:xfrm>
            <a:off x="571500" y="274320"/>
            <a:ext cx="6858000" cy="241156"/>
          </a:xfrm>
          <a:prstGeom prst="rect">
            <a:avLst/>
          </a:prstGeom>
          <a:noFill/>
        </p:spPr>
        <p:txBody>
          <a:bodyPr wrap="square" lIns="30480" tIns="15240" rIns="15240">
            <a:spAutoFit/>
          </a:bodyPr>
          <a:lstStyle/>
          <a:p>
            <a:pPr>
              <a:defRPr sz="1400" b="1">
                <a:solidFill>
                  <a:srgbClr val="1B4C77"/>
                </a:solidFill>
                <a:latin typeface="Aptos"/>
              </a:defRPr>
            </a:pPr>
            <a:r>
              <a:rPr sz="1167"/>
              <a:t>UTA • TEAM 2 AI ADVISOR</a:t>
            </a:r>
          </a:p>
        </p:txBody>
      </p:sp>
      <p:sp>
        <p:nvSpPr>
          <p:cNvPr id="4" name="TextBox 3"/>
          <p:cNvSpPr txBox="1"/>
          <p:nvPr/>
        </p:nvSpPr>
        <p:spPr>
          <a:xfrm>
            <a:off x="571500" y="632460"/>
            <a:ext cx="11430000" cy="459036"/>
          </a:xfrm>
          <a:prstGeom prst="rect">
            <a:avLst/>
          </a:prstGeom>
          <a:noFill/>
        </p:spPr>
        <p:txBody>
          <a:bodyPr wrap="square" lIns="30480" tIns="15240" rIns="15240">
            <a:spAutoFit/>
          </a:bodyPr>
          <a:lstStyle/>
          <a:p>
            <a:pPr>
              <a:defRPr sz="3100" b="1">
                <a:solidFill>
                  <a:srgbClr val="0D213E"/>
                </a:solidFill>
                <a:latin typeface="Aptos"/>
              </a:defRPr>
            </a:pPr>
            <a:r>
              <a:rPr sz="2583"/>
              <a:t>AWS Lambda: LangChain RAG Document Ingestion</a:t>
            </a:r>
          </a:p>
        </p:txBody>
      </p:sp>
      <p:sp>
        <p:nvSpPr>
          <p:cNvPr id="5" name="TextBox 4"/>
          <p:cNvSpPr txBox="1"/>
          <p:nvPr/>
        </p:nvSpPr>
        <p:spPr>
          <a:xfrm>
            <a:off x="571500" y="1181100"/>
            <a:ext cx="11430000" cy="279628"/>
          </a:xfrm>
          <a:prstGeom prst="rect">
            <a:avLst/>
          </a:prstGeom>
          <a:noFill/>
        </p:spPr>
        <p:txBody>
          <a:bodyPr wrap="square" lIns="30480" tIns="15240" rIns="15240">
            <a:spAutoFit/>
          </a:bodyPr>
          <a:lstStyle/>
          <a:p>
            <a:pPr>
              <a:defRPr sz="1700" b="0">
                <a:solidFill>
                  <a:srgbClr val="607187"/>
                </a:solidFill>
                <a:latin typeface="Aptos"/>
              </a:defRPr>
            </a:pPr>
            <a:r>
              <a:rPr sz="1417"/>
              <a:t>Actual code excerpts from our S3-triggered document ingestion Lambda</a:t>
            </a:r>
          </a:p>
        </p:txBody>
      </p:sp>
      <p:sp>
        <p:nvSpPr>
          <p:cNvPr id="6" name="Rounded Rectangle 5"/>
          <p:cNvSpPr/>
          <p:nvPr/>
        </p:nvSpPr>
        <p:spPr>
          <a:xfrm>
            <a:off x="548640" y="16611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7" name="Rounded Rectangle 6"/>
          <p:cNvSpPr/>
          <p:nvPr/>
        </p:nvSpPr>
        <p:spPr>
          <a:xfrm>
            <a:off x="685799" y="17830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8" name="TextBox 7"/>
          <p:cNvSpPr txBox="1"/>
          <p:nvPr/>
        </p:nvSpPr>
        <p:spPr>
          <a:xfrm>
            <a:off x="723900" y="18288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01</a:t>
            </a:r>
          </a:p>
        </p:txBody>
      </p:sp>
      <p:sp>
        <p:nvSpPr>
          <p:cNvPr id="9" name="TextBox 8"/>
          <p:cNvSpPr txBox="1"/>
          <p:nvPr/>
        </p:nvSpPr>
        <p:spPr>
          <a:xfrm>
            <a:off x="1211579" y="17907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PARSE DOCUMENT</a:t>
            </a:r>
          </a:p>
        </p:txBody>
      </p:sp>
      <p:sp>
        <p:nvSpPr>
          <p:cNvPr id="10" name="TextBox 9"/>
          <p:cNvSpPr txBox="1"/>
          <p:nvPr/>
        </p:nvSpPr>
        <p:spPr>
          <a:xfrm>
            <a:off x="777240" y="21640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Custom Python extraction</a:t>
            </a:r>
          </a:p>
        </p:txBody>
      </p:sp>
      <p:sp>
        <p:nvSpPr>
          <p:cNvPr id="11" name="Rounded Rectangle 10"/>
          <p:cNvSpPr/>
          <p:nvPr/>
        </p:nvSpPr>
        <p:spPr>
          <a:xfrm>
            <a:off x="716280" y="24155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12" name="TextBox 11"/>
          <p:cNvSpPr txBox="1"/>
          <p:nvPr/>
        </p:nvSpPr>
        <p:spPr>
          <a:xfrm>
            <a:off x="830579" y="2484120"/>
            <a:ext cx="4991100" cy="908326"/>
          </a:xfrm>
          <a:prstGeom prst="rect">
            <a:avLst/>
          </a:prstGeom>
          <a:noFill/>
        </p:spPr>
        <p:txBody>
          <a:bodyPr wrap="square" lIns="30480" tIns="15240" rIns="15240">
            <a:spAutoFit/>
          </a:bodyPr>
          <a:lstStyle/>
          <a:p>
            <a:pPr>
              <a:defRPr sz="1100" b="0">
                <a:solidFill>
                  <a:srgbClr val="F5F8FF"/>
                </a:solidFill>
                <a:latin typeface="Aptos Mono"/>
              </a:defRPr>
            </a:pPr>
            <a:r>
              <a:rPr sz="917"/>
              <a:t>if extension == ".pdf":</a:t>
            </a:r>
          </a:p>
          <a:p>
            <a:pPr>
              <a:defRPr sz="1100" b="0">
                <a:solidFill>
                  <a:srgbClr val="F5F8FF"/>
                </a:solidFill>
                <a:latin typeface="Aptos Mono"/>
              </a:defRPr>
            </a:pPr>
            <a:r>
              <a:rPr sz="917"/>
              <a:t>    reader = PdfReader(io.BytesIO(file_bytes))</a:t>
            </a:r>
          </a:p>
          <a:p>
            <a:pPr>
              <a:defRPr sz="1100" b="0">
                <a:solidFill>
                  <a:srgbClr val="F5F8FF"/>
                </a:solidFill>
                <a:latin typeface="Aptos Mono"/>
              </a:defRPr>
            </a:pPr>
            <a:r>
              <a:rPr sz="917"/>
              <a:t>    return "\n".join(</a:t>
            </a:r>
          </a:p>
          <a:p>
            <a:pPr>
              <a:defRPr sz="1100" b="0">
                <a:solidFill>
                  <a:srgbClr val="F5F8FF"/>
                </a:solidFill>
                <a:latin typeface="Aptos Mono"/>
              </a:defRPr>
            </a:pPr>
            <a:r>
              <a:rPr sz="917"/>
              <a:t>        page.extract_text() or ""</a:t>
            </a:r>
          </a:p>
          <a:p>
            <a:pPr>
              <a:defRPr sz="1100" b="0">
                <a:solidFill>
                  <a:srgbClr val="F5F8FF"/>
                </a:solidFill>
                <a:latin typeface="Aptos Mono"/>
              </a:defRPr>
            </a:pPr>
            <a:r>
              <a:rPr sz="917"/>
              <a:t>        for page in reader.pages</a:t>
            </a:r>
          </a:p>
          <a:p>
            <a:pPr>
              <a:defRPr sz="1100" b="0">
                <a:solidFill>
                  <a:srgbClr val="F5F8FF"/>
                </a:solidFill>
                <a:latin typeface="Aptos Mono"/>
              </a:defRPr>
            </a:pPr>
            <a:r>
              <a:rPr sz="917"/>
              <a:t>    )</a:t>
            </a:r>
          </a:p>
        </p:txBody>
      </p:sp>
      <p:sp>
        <p:nvSpPr>
          <p:cNvPr id="13" name="TextBox 12"/>
          <p:cNvSpPr txBox="1"/>
          <p:nvPr/>
        </p:nvSpPr>
        <p:spPr>
          <a:xfrm>
            <a:off x="777240" y="36880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PDF, DOCX, TXT, MD, CSV, JSON</a:t>
            </a:r>
          </a:p>
        </p:txBody>
      </p:sp>
      <p:sp>
        <p:nvSpPr>
          <p:cNvPr id="14" name="Rounded Rectangle 13"/>
          <p:cNvSpPr/>
          <p:nvPr/>
        </p:nvSpPr>
        <p:spPr>
          <a:xfrm>
            <a:off x="6301740" y="16611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15" name="Rounded Rectangle 14"/>
          <p:cNvSpPr/>
          <p:nvPr/>
        </p:nvSpPr>
        <p:spPr>
          <a:xfrm>
            <a:off x="6438899" y="17830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16" name="TextBox 15"/>
          <p:cNvSpPr txBox="1"/>
          <p:nvPr/>
        </p:nvSpPr>
        <p:spPr>
          <a:xfrm>
            <a:off x="6477000" y="18288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02</a:t>
            </a:r>
          </a:p>
        </p:txBody>
      </p:sp>
      <p:sp>
        <p:nvSpPr>
          <p:cNvPr id="17" name="TextBox 16"/>
          <p:cNvSpPr txBox="1"/>
          <p:nvPr/>
        </p:nvSpPr>
        <p:spPr>
          <a:xfrm>
            <a:off x="6964679" y="17907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CHUNK TEXT</a:t>
            </a:r>
          </a:p>
        </p:txBody>
      </p:sp>
      <p:sp>
        <p:nvSpPr>
          <p:cNvPr id="18" name="TextBox 17"/>
          <p:cNvSpPr txBox="1"/>
          <p:nvPr/>
        </p:nvSpPr>
        <p:spPr>
          <a:xfrm>
            <a:off x="6530340" y="21640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LangChain • RecursiveCharacterTextSplitter</a:t>
            </a:r>
          </a:p>
        </p:txBody>
      </p:sp>
      <p:sp>
        <p:nvSpPr>
          <p:cNvPr id="19" name="Rounded Rectangle 18"/>
          <p:cNvSpPr/>
          <p:nvPr/>
        </p:nvSpPr>
        <p:spPr>
          <a:xfrm>
            <a:off x="6469380" y="24155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0" name="TextBox 19"/>
          <p:cNvSpPr txBox="1"/>
          <p:nvPr/>
        </p:nvSpPr>
        <p:spPr>
          <a:xfrm>
            <a:off x="6583679" y="2484120"/>
            <a:ext cx="4991100" cy="1190582"/>
          </a:xfrm>
          <a:prstGeom prst="rect">
            <a:avLst/>
          </a:prstGeom>
          <a:noFill/>
        </p:spPr>
        <p:txBody>
          <a:bodyPr wrap="square" lIns="30480" tIns="15240" rIns="15240">
            <a:spAutoFit/>
          </a:bodyPr>
          <a:lstStyle/>
          <a:p>
            <a:pPr>
              <a:defRPr sz="1100" b="0">
                <a:solidFill>
                  <a:srgbClr val="F5F8FF"/>
                </a:solidFill>
                <a:latin typeface="Aptos Mono"/>
              </a:defRPr>
            </a:pPr>
            <a:r>
              <a:rPr sz="917"/>
              <a:t>CHUNK_SIZE = 1000</a:t>
            </a:r>
          </a:p>
          <a:p>
            <a:pPr>
              <a:defRPr sz="1100" b="0">
                <a:solidFill>
                  <a:srgbClr val="F5F8FF"/>
                </a:solidFill>
                <a:latin typeface="Aptos Mono"/>
              </a:defRPr>
            </a:pPr>
            <a:r>
              <a:rPr sz="917"/>
              <a:t>CHUNK_OVERLAP = 150</a:t>
            </a:r>
          </a:p>
          <a:p>
            <a:pPr>
              <a:defRPr sz="1100" b="0">
                <a:solidFill>
                  <a:srgbClr val="F5F8FF"/>
                </a:solidFill>
                <a:latin typeface="Aptos Mono"/>
              </a:defRPr>
            </a:pPr>
            <a:r>
              <a:rPr sz="917"/>
              <a:t>splitter = RecursiveCharacterTextSplitter(</a:t>
            </a:r>
          </a:p>
          <a:p>
            <a:pPr>
              <a:defRPr sz="1100" b="0">
                <a:solidFill>
                  <a:srgbClr val="F5F8FF"/>
                </a:solidFill>
                <a:latin typeface="Aptos Mono"/>
              </a:defRPr>
            </a:pPr>
            <a:r>
              <a:rPr sz="917"/>
              <a:t>    chunk_size=CHUNK_SIZE,</a:t>
            </a:r>
          </a:p>
          <a:p>
            <a:pPr>
              <a:defRPr sz="1100" b="0">
                <a:solidFill>
                  <a:srgbClr val="F5F8FF"/>
                </a:solidFill>
                <a:latin typeface="Aptos Mono"/>
              </a:defRPr>
            </a:pPr>
            <a:r>
              <a:rPr sz="917"/>
              <a:t>    chunk_overlap=CHUNK_OVERLAP,</a:t>
            </a:r>
          </a:p>
          <a:p>
            <a:pPr>
              <a:defRPr sz="1100" b="0">
                <a:solidFill>
                  <a:srgbClr val="F5F8FF"/>
                </a:solidFill>
                <a:latin typeface="Aptos Mono"/>
              </a:defRPr>
            </a:pPr>
            <a:r>
              <a:rPr sz="917"/>
              <a:t>    separators=["\n\n", "\n", ". ", " ", ""]</a:t>
            </a:r>
          </a:p>
          <a:p>
            <a:pPr>
              <a:defRPr sz="1100" b="0">
                <a:solidFill>
                  <a:srgbClr val="F5F8FF"/>
                </a:solidFill>
                <a:latin typeface="Aptos Mono"/>
              </a:defRPr>
            </a:pPr>
            <a:r>
              <a:rPr sz="917"/>
              <a:t>)</a:t>
            </a:r>
          </a:p>
          <a:p>
            <a:pPr>
              <a:defRPr sz="1100" b="0">
                <a:solidFill>
                  <a:srgbClr val="F5F8FF"/>
                </a:solidFill>
                <a:latin typeface="Aptos Mono"/>
              </a:defRPr>
            </a:pPr>
            <a:r>
              <a:rPr sz="917"/>
              <a:t>chunks = splitter.split_text(text)</a:t>
            </a:r>
          </a:p>
        </p:txBody>
      </p:sp>
      <p:sp>
        <p:nvSpPr>
          <p:cNvPr id="21" name="TextBox 20"/>
          <p:cNvSpPr txBox="1"/>
          <p:nvPr/>
        </p:nvSpPr>
        <p:spPr>
          <a:xfrm>
            <a:off x="6530340" y="36880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~250 tokens per 1,000 characters (estimate)</a:t>
            </a:r>
          </a:p>
        </p:txBody>
      </p:sp>
      <p:sp>
        <p:nvSpPr>
          <p:cNvPr id="22" name="Rounded Rectangle 21"/>
          <p:cNvSpPr/>
          <p:nvPr/>
        </p:nvSpPr>
        <p:spPr>
          <a:xfrm>
            <a:off x="548640" y="40233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3" name="Rounded Rectangle 22"/>
          <p:cNvSpPr/>
          <p:nvPr/>
        </p:nvSpPr>
        <p:spPr>
          <a:xfrm>
            <a:off x="685799" y="41452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4" name="TextBox 23"/>
          <p:cNvSpPr txBox="1"/>
          <p:nvPr/>
        </p:nvSpPr>
        <p:spPr>
          <a:xfrm>
            <a:off x="723900" y="41910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03</a:t>
            </a:r>
          </a:p>
        </p:txBody>
      </p:sp>
      <p:sp>
        <p:nvSpPr>
          <p:cNvPr id="25" name="TextBox 24"/>
          <p:cNvSpPr txBox="1"/>
          <p:nvPr/>
        </p:nvSpPr>
        <p:spPr>
          <a:xfrm>
            <a:off x="1211579" y="41529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GENERATE EMBEDDINGS</a:t>
            </a:r>
          </a:p>
        </p:txBody>
      </p:sp>
      <p:sp>
        <p:nvSpPr>
          <p:cNvPr id="26" name="TextBox 25"/>
          <p:cNvSpPr txBox="1"/>
          <p:nvPr/>
        </p:nvSpPr>
        <p:spPr>
          <a:xfrm>
            <a:off x="777240" y="45262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LangChain • BedrockEmbeddings</a:t>
            </a:r>
          </a:p>
        </p:txBody>
      </p:sp>
      <p:sp>
        <p:nvSpPr>
          <p:cNvPr id="27" name="Rounded Rectangle 26"/>
          <p:cNvSpPr/>
          <p:nvPr/>
        </p:nvSpPr>
        <p:spPr>
          <a:xfrm>
            <a:off x="716280" y="47777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8" name="TextBox 27"/>
          <p:cNvSpPr txBox="1"/>
          <p:nvPr/>
        </p:nvSpPr>
        <p:spPr>
          <a:xfrm>
            <a:off x="830579" y="4846320"/>
            <a:ext cx="4991100" cy="1343316"/>
          </a:xfrm>
          <a:prstGeom prst="rect">
            <a:avLst/>
          </a:prstGeom>
          <a:noFill/>
        </p:spPr>
        <p:txBody>
          <a:bodyPr wrap="square" lIns="30480" tIns="15240" rIns="15240">
            <a:spAutoFit/>
          </a:bodyPr>
          <a:lstStyle/>
          <a:p>
            <a:pPr>
              <a:defRPr sz="1000" b="0">
                <a:solidFill>
                  <a:srgbClr val="F5F8FF"/>
                </a:solidFill>
                <a:latin typeface="Aptos Mono"/>
              </a:defRPr>
            </a:pPr>
            <a:r>
              <a:rPr sz="833"/>
              <a:t>embeddings = BedrockEmbeddings(</a:t>
            </a:r>
          </a:p>
          <a:p>
            <a:pPr>
              <a:defRPr sz="1000" b="0">
                <a:solidFill>
                  <a:srgbClr val="F5F8FF"/>
                </a:solidFill>
                <a:latin typeface="Aptos Mono"/>
              </a:defRPr>
            </a:pPr>
            <a:r>
              <a:rPr sz="833"/>
              <a:t>    model_id=EMBEDDING_MODEL_ID,</a:t>
            </a:r>
          </a:p>
          <a:p>
            <a:pPr>
              <a:defRPr sz="1000" b="0">
                <a:solidFill>
                  <a:srgbClr val="F5F8FF"/>
                </a:solidFill>
                <a:latin typeface="Aptos Mono"/>
              </a:defRPr>
            </a:pPr>
            <a:r>
              <a:rPr sz="833"/>
              <a:t>    region_name=AWS_REGION,</a:t>
            </a:r>
          </a:p>
          <a:p>
            <a:pPr>
              <a:defRPr sz="1000" b="0">
                <a:solidFill>
                  <a:srgbClr val="F5F8FF"/>
                </a:solidFill>
                <a:latin typeface="Aptos Mono"/>
              </a:defRPr>
            </a:pPr>
            <a:r>
              <a:rPr sz="833"/>
              <a:t>    client=bedrock,</a:t>
            </a:r>
          </a:p>
          <a:p>
            <a:pPr>
              <a:defRPr sz="1000" b="0">
                <a:solidFill>
                  <a:srgbClr val="F5F8FF"/>
                </a:solidFill>
                <a:latin typeface="Aptos Mono"/>
              </a:defRPr>
            </a:pPr>
            <a:r>
              <a:rPr sz="833"/>
              <a:t>    model_kwargs={</a:t>
            </a:r>
          </a:p>
          <a:p>
            <a:pPr>
              <a:defRPr sz="1000" b="0">
                <a:solidFill>
                  <a:srgbClr val="F5F8FF"/>
                </a:solidFill>
                <a:latin typeface="Aptos Mono"/>
              </a:defRPr>
            </a:pPr>
            <a:r>
              <a:rPr sz="833"/>
              <a:t>        "dimensions": 1024,</a:t>
            </a:r>
          </a:p>
          <a:p>
            <a:pPr>
              <a:defRPr sz="1000" b="0">
                <a:solidFill>
                  <a:srgbClr val="F5F8FF"/>
                </a:solidFill>
                <a:latin typeface="Aptos Mono"/>
              </a:defRPr>
            </a:pPr>
            <a:r>
              <a:rPr sz="833"/>
              <a:t>        "normalize": True</a:t>
            </a:r>
          </a:p>
          <a:p>
            <a:pPr>
              <a:defRPr sz="1000" b="0">
                <a:solidFill>
                  <a:srgbClr val="F5F8FF"/>
                </a:solidFill>
                <a:latin typeface="Aptos Mono"/>
              </a:defRPr>
            </a:pPr>
            <a:r>
              <a:rPr sz="833"/>
              <a:t>    }</a:t>
            </a:r>
          </a:p>
          <a:p>
            <a:pPr>
              <a:defRPr sz="1000" b="0">
                <a:solidFill>
                  <a:srgbClr val="F5F8FF"/>
                </a:solidFill>
                <a:latin typeface="Aptos Mono"/>
              </a:defRPr>
            </a:pPr>
            <a:r>
              <a:rPr sz="833"/>
              <a:t>)</a:t>
            </a:r>
          </a:p>
          <a:p>
            <a:pPr>
              <a:defRPr sz="1000" b="0">
                <a:solidFill>
                  <a:srgbClr val="F5F8FF"/>
                </a:solidFill>
                <a:latin typeface="Aptos Mono"/>
              </a:defRPr>
            </a:pPr>
            <a:r>
              <a:rPr sz="833"/>
              <a:t>vectors = embeddings.embed_documents(chunks)</a:t>
            </a:r>
          </a:p>
        </p:txBody>
      </p:sp>
      <p:sp>
        <p:nvSpPr>
          <p:cNvPr id="29" name="TextBox 28"/>
          <p:cNvSpPr txBox="1"/>
          <p:nvPr/>
        </p:nvSpPr>
        <p:spPr>
          <a:xfrm>
            <a:off x="777240" y="60502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Amazon Titan Text Embeddings V2</a:t>
            </a:r>
          </a:p>
        </p:txBody>
      </p:sp>
      <p:sp>
        <p:nvSpPr>
          <p:cNvPr id="30" name="Rounded Rectangle 29"/>
          <p:cNvSpPr/>
          <p:nvPr/>
        </p:nvSpPr>
        <p:spPr>
          <a:xfrm>
            <a:off x="6301740" y="40233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1" name="Rounded Rectangle 30"/>
          <p:cNvSpPr/>
          <p:nvPr/>
        </p:nvSpPr>
        <p:spPr>
          <a:xfrm>
            <a:off x="6438899" y="41452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2" name="TextBox 31"/>
          <p:cNvSpPr txBox="1"/>
          <p:nvPr/>
        </p:nvSpPr>
        <p:spPr>
          <a:xfrm>
            <a:off x="6477000" y="41910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04</a:t>
            </a:r>
          </a:p>
        </p:txBody>
      </p:sp>
      <p:sp>
        <p:nvSpPr>
          <p:cNvPr id="33" name="TextBox 32"/>
          <p:cNvSpPr txBox="1"/>
          <p:nvPr/>
        </p:nvSpPr>
        <p:spPr>
          <a:xfrm>
            <a:off x="6964679" y="41529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INGEST INTO VECTOR DB</a:t>
            </a:r>
          </a:p>
        </p:txBody>
      </p:sp>
      <p:sp>
        <p:nvSpPr>
          <p:cNvPr id="34" name="TextBox 33"/>
          <p:cNvSpPr txBox="1"/>
          <p:nvPr/>
        </p:nvSpPr>
        <p:spPr>
          <a:xfrm>
            <a:off x="6530340" y="45262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Custom Python • ChromaDB REST API</a:t>
            </a:r>
          </a:p>
        </p:txBody>
      </p:sp>
      <p:sp>
        <p:nvSpPr>
          <p:cNvPr id="35" name="Rounded Rectangle 34"/>
          <p:cNvSpPr/>
          <p:nvPr/>
        </p:nvSpPr>
        <p:spPr>
          <a:xfrm>
            <a:off x="6469380" y="47777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6" name="TextBox 35"/>
          <p:cNvSpPr txBox="1"/>
          <p:nvPr/>
        </p:nvSpPr>
        <p:spPr>
          <a:xfrm>
            <a:off x="6583679" y="4846320"/>
            <a:ext cx="4991100" cy="1343316"/>
          </a:xfrm>
          <a:prstGeom prst="rect">
            <a:avLst/>
          </a:prstGeom>
          <a:noFill/>
        </p:spPr>
        <p:txBody>
          <a:bodyPr wrap="square" lIns="30480" tIns="15240" rIns="15240">
            <a:spAutoFit/>
          </a:bodyPr>
          <a:lstStyle/>
          <a:p>
            <a:pPr>
              <a:defRPr sz="1000" b="0">
                <a:solidFill>
                  <a:srgbClr val="F5F8FF"/>
                </a:solidFill>
                <a:latin typeface="Aptos Mono"/>
              </a:defRPr>
            </a:pPr>
            <a:r>
              <a:rPr sz="833"/>
              <a:t>chroma_request("upsert", {</a:t>
            </a:r>
          </a:p>
          <a:p>
            <a:pPr>
              <a:defRPr sz="1000" b="0">
                <a:solidFill>
                  <a:srgbClr val="F5F8FF"/>
                </a:solidFill>
                <a:latin typeface="Aptos Mono"/>
              </a:defRPr>
            </a:pPr>
            <a:r>
              <a:rPr sz="833"/>
              <a:t>    "ids": [chunk_id],</a:t>
            </a:r>
          </a:p>
          <a:p>
            <a:pPr>
              <a:defRPr sz="1000" b="0">
                <a:solidFill>
                  <a:srgbClr val="F5F8FF"/>
                </a:solidFill>
                <a:latin typeface="Aptos Mono"/>
              </a:defRPr>
            </a:pPr>
            <a:r>
              <a:rPr sz="833"/>
              <a:t>    "embeddings": [embedding],</a:t>
            </a:r>
          </a:p>
          <a:p>
            <a:pPr>
              <a:defRPr sz="1000" b="0">
                <a:solidFill>
                  <a:srgbClr val="F5F8FF"/>
                </a:solidFill>
                <a:latin typeface="Aptos Mono"/>
              </a:defRPr>
            </a:pPr>
            <a:r>
              <a:rPr sz="833"/>
              <a:t>    "documents": [text],</a:t>
            </a:r>
          </a:p>
          <a:p>
            <a:pPr>
              <a:defRPr sz="1000" b="0">
                <a:solidFill>
                  <a:srgbClr val="F5F8FF"/>
                </a:solidFill>
                <a:latin typeface="Aptos Mono"/>
              </a:defRPr>
            </a:pPr>
            <a:r>
              <a:rPr sz="833"/>
              <a:t>    "metadatas": [{</a:t>
            </a:r>
          </a:p>
          <a:p>
            <a:pPr>
              <a:defRPr sz="1000" b="0">
                <a:solidFill>
                  <a:srgbClr val="F5F8FF"/>
                </a:solidFill>
                <a:latin typeface="Aptos Mono"/>
              </a:defRPr>
            </a:pPr>
            <a:r>
              <a:rPr sz="833"/>
              <a:t>        "source": source,</a:t>
            </a:r>
          </a:p>
          <a:p>
            <a:pPr>
              <a:defRPr sz="1000" b="0">
                <a:solidFill>
                  <a:srgbClr val="F5F8FF"/>
                </a:solidFill>
                <a:latin typeface="Aptos Mono"/>
              </a:defRPr>
            </a:pPr>
            <a:r>
              <a:rPr sz="833"/>
              <a:t>        "chunk_index": chunk_index,</a:t>
            </a:r>
          </a:p>
          <a:p>
            <a:pPr>
              <a:defRPr sz="1000" b="0">
                <a:solidFill>
                  <a:srgbClr val="F5F8FF"/>
                </a:solidFill>
                <a:latin typeface="Aptos Mono"/>
              </a:defRPr>
            </a:pPr>
            <a:r>
              <a:rPr sz="833"/>
              <a:t>        "document_hash": document_hash</a:t>
            </a:r>
          </a:p>
          <a:p>
            <a:pPr>
              <a:defRPr sz="1000" b="0">
                <a:solidFill>
                  <a:srgbClr val="F5F8FF"/>
                </a:solidFill>
                <a:latin typeface="Aptos Mono"/>
              </a:defRPr>
            </a:pPr>
            <a:r>
              <a:rPr sz="833"/>
              <a:t>    }]</a:t>
            </a:r>
          </a:p>
          <a:p>
            <a:pPr>
              <a:defRPr sz="1000" b="0">
                <a:solidFill>
                  <a:srgbClr val="F5F8FF"/>
                </a:solidFill>
                <a:latin typeface="Aptos Mono"/>
              </a:defRPr>
            </a:pPr>
            <a:r>
              <a:rPr sz="833"/>
              <a:t>})</a:t>
            </a:r>
          </a:p>
        </p:txBody>
      </p:sp>
      <p:sp>
        <p:nvSpPr>
          <p:cNvPr id="37" name="TextBox 36"/>
          <p:cNvSpPr txBox="1"/>
          <p:nvPr/>
        </p:nvSpPr>
        <p:spPr>
          <a:xfrm>
            <a:off x="6530340" y="60502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ChromaDB stores vectors + text + metadata</a:t>
            </a:r>
          </a:p>
        </p:txBody>
      </p:sp>
      <p:sp>
        <p:nvSpPr>
          <p:cNvPr id="38" name="Rounded Rectangle 37"/>
          <p:cNvSpPr/>
          <p:nvPr/>
        </p:nvSpPr>
        <p:spPr>
          <a:xfrm>
            <a:off x="548640" y="6461760"/>
            <a:ext cx="11315700" cy="259080"/>
          </a:xfrm>
          <a:prstGeom prst="roundRect">
            <a:avLst/>
          </a:prstGeom>
          <a:solidFill>
            <a:srgbClr val="E4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9" name="TextBox 38"/>
          <p:cNvSpPr txBox="1"/>
          <p:nvPr/>
        </p:nvSpPr>
        <p:spPr>
          <a:xfrm>
            <a:off x="731520" y="6492240"/>
            <a:ext cx="10820400" cy="202684"/>
          </a:xfrm>
          <a:prstGeom prst="rect">
            <a:avLst/>
          </a:prstGeom>
          <a:noFill/>
        </p:spPr>
        <p:txBody>
          <a:bodyPr wrap="square" lIns="30480" tIns="15240" rIns="15240">
            <a:spAutoFit/>
          </a:bodyPr>
          <a:lstStyle/>
          <a:p>
            <a:pPr>
              <a:defRPr sz="1100" b="1">
                <a:solidFill>
                  <a:srgbClr val="1B4C77"/>
                </a:solidFill>
                <a:latin typeface="Aptos"/>
              </a:defRPr>
            </a:pPr>
            <a:r>
              <a:rPr sz="917"/>
              <a:t>DynamoDB prevents duplicate ingestion using document hashes, ETags, and processing locks.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h128d44af2f21f154_127_75"/>
          <p:cNvSpPr/>
          <p:nvPr/>
        </p:nvSpPr>
        <p:spPr>
          <a:xfrm>
            <a:off x="0" y="0"/>
            <a:ext cx="12192000" cy="6858000"/>
          </a:xfrm>
          <a:prstGeom prst="rect">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0" name="Google Shape;400;h128d44af2f21f154_127_75"/>
          <p:cNvSpPr txBox="1"/>
          <p:nvPr/>
        </p:nvSpPr>
        <p:spPr>
          <a:xfrm>
            <a:off x="419100" y="127000"/>
            <a:ext cx="110109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185DA5"/>
                </a:solidFill>
                <a:latin typeface="Arial"/>
                <a:ea typeface="Arial"/>
                <a:cs typeface="Arial"/>
                <a:sym typeface="Arial"/>
              </a:rPr>
              <a:t>UTA • TEAM 2 AI ADVISOR</a:t>
            </a:r>
            <a:endParaRPr/>
          </a:p>
        </p:txBody>
      </p:sp>
      <p:sp>
        <p:nvSpPr>
          <p:cNvPr id="401" name="Google Shape;401;h128d44af2f21f154_127_75"/>
          <p:cNvSpPr txBox="1"/>
          <p:nvPr/>
        </p:nvSpPr>
        <p:spPr>
          <a:xfrm>
            <a:off x="419100" y="469899"/>
            <a:ext cx="11010900" cy="43275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350" b="1" i="0" u="none" strike="noStrike" cap="none">
                <a:solidFill>
                  <a:srgbClr val="103763"/>
                </a:solidFill>
                <a:latin typeface="Arial"/>
                <a:ea typeface="Arial"/>
                <a:cs typeface="Arial"/>
                <a:sym typeface="Arial"/>
              </a:rPr>
              <a:t>RAG Lifecycle: Sourcing, Ingestion &amp; Confirmation</a:t>
            </a:r>
            <a:endParaRPr/>
          </a:p>
        </p:txBody>
      </p:sp>
      <p:sp>
        <p:nvSpPr>
          <p:cNvPr id="402" name="Google Shape;402;h128d44af2f21f154_127_75"/>
          <p:cNvSpPr/>
          <p:nvPr/>
        </p:nvSpPr>
        <p:spPr>
          <a:xfrm>
            <a:off x="419100" y="908050"/>
            <a:ext cx="11353800" cy="12700"/>
          </a:xfrm>
          <a:prstGeom prst="rect">
            <a:avLst/>
          </a:prstGeom>
          <a:solidFill>
            <a:srgbClr val="D1E0E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h128d44af2f21f154_127_75"/>
          <p:cNvSpPr txBox="1"/>
          <p:nvPr/>
        </p:nvSpPr>
        <p:spPr>
          <a:xfrm>
            <a:off x="419100" y="1047749"/>
            <a:ext cx="110109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0" i="0" u="none" strike="noStrike" cap="none">
                <a:solidFill>
                  <a:srgbClr val="526E8D"/>
                </a:solidFill>
                <a:latin typeface="Arial"/>
                <a:ea typeface="Arial"/>
                <a:cs typeface="Arial"/>
                <a:sym typeface="Arial"/>
              </a:rPr>
              <a:t>Official academic sources → searchable knowledge → ingestion confirmation</a:t>
            </a:r>
            <a:endParaRPr/>
          </a:p>
        </p:txBody>
      </p:sp>
      <p:sp>
        <p:nvSpPr>
          <p:cNvPr id="404" name="Google Shape;404;h128d44af2f21f154_127_75"/>
          <p:cNvSpPr/>
          <p:nvPr/>
        </p:nvSpPr>
        <p:spPr>
          <a:xfrm>
            <a:off x="419100" y="1441450"/>
            <a:ext cx="3517900" cy="4749800"/>
          </a:xfrm>
          <a:prstGeom prst="roundRect">
            <a:avLst>
              <a:gd name="adj" fmla="val 4332"/>
            </a:avLst>
          </a:prstGeom>
          <a:solidFill>
            <a:srgbClr val="F5F7FA"/>
          </a:solidFill>
          <a:ln w="12700" cap="flat" cmpd="sng">
            <a:solidFill>
              <a:srgbClr val="D1E0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5" name="Google Shape;405;h128d44af2f21f154_127_75"/>
          <p:cNvSpPr/>
          <p:nvPr/>
        </p:nvSpPr>
        <p:spPr>
          <a:xfrm>
            <a:off x="596900" y="1593850"/>
            <a:ext cx="393700" cy="317500"/>
          </a:xfrm>
          <a:prstGeom prst="roundRect">
            <a:avLst>
              <a:gd name="adj" fmla="val 10000"/>
            </a:avLst>
          </a:prstGeom>
          <a:solidFill>
            <a:srgbClr val="185DA5"/>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6" name="Google Shape;406;h128d44af2f21f154_127_75"/>
          <p:cNvSpPr txBox="1"/>
          <p:nvPr/>
        </p:nvSpPr>
        <p:spPr>
          <a:xfrm>
            <a:off x="711200" y="1663700"/>
            <a:ext cx="107188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FFFFFF"/>
                </a:solidFill>
                <a:latin typeface="Arial"/>
                <a:ea typeface="Arial"/>
                <a:cs typeface="Arial"/>
                <a:sym typeface="Arial"/>
              </a:rPr>
              <a:t>01</a:t>
            </a:r>
            <a:endParaRPr/>
          </a:p>
        </p:txBody>
      </p:sp>
      <p:sp>
        <p:nvSpPr>
          <p:cNvPr id="407" name="Google Shape;407;h128d44af2f21f154_127_75"/>
          <p:cNvSpPr txBox="1"/>
          <p:nvPr/>
        </p:nvSpPr>
        <p:spPr>
          <a:xfrm>
            <a:off x="1079500" y="1689100"/>
            <a:ext cx="103505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a:solidFill>
                  <a:srgbClr val="185DA5"/>
                </a:solidFill>
                <a:latin typeface="Arial"/>
                <a:ea typeface="Arial"/>
                <a:cs typeface="Arial"/>
                <a:sym typeface="Arial"/>
              </a:rPr>
              <a:t>COLLECT &amp; CHECK</a:t>
            </a:r>
            <a:endParaRPr/>
          </a:p>
        </p:txBody>
      </p:sp>
      <p:sp>
        <p:nvSpPr>
          <p:cNvPr id="408" name="Google Shape;408;h128d44af2f21f154_127_75"/>
          <p:cNvSpPr txBox="1"/>
          <p:nvPr/>
        </p:nvSpPr>
        <p:spPr>
          <a:xfrm>
            <a:off x="596900" y="2095499"/>
            <a:ext cx="108331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1" i="0" u="none" strike="noStrike" cap="none">
                <a:solidFill>
                  <a:srgbClr val="103763"/>
                </a:solidFill>
                <a:latin typeface="Arial"/>
                <a:ea typeface="Arial"/>
                <a:cs typeface="Arial"/>
                <a:sym typeface="Arial"/>
              </a:rPr>
              <a:t>Document Retrieval &amp; Sourcing</a:t>
            </a:r>
            <a:endParaRPr/>
          </a:p>
        </p:txBody>
      </p:sp>
      <p:sp>
        <p:nvSpPr>
          <p:cNvPr id="409" name="Google Shape;409;h128d44af2f21f154_127_75"/>
          <p:cNvSpPr/>
          <p:nvPr/>
        </p:nvSpPr>
        <p:spPr>
          <a:xfrm>
            <a:off x="4229100" y="1441450"/>
            <a:ext cx="3517900" cy="4749800"/>
          </a:xfrm>
          <a:prstGeom prst="roundRect">
            <a:avLst>
              <a:gd name="adj" fmla="val 4332"/>
            </a:avLst>
          </a:prstGeom>
          <a:solidFill>
            <a:srgbClr val="F5F7FA"/>
          </a:solidFill>
          <a:ln w="12700" cap="flat" cmpd="sng">
            <a:solidFill>
              <a:srgbClr val="D1E0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0" name="Google Shape;410;h128d44af2f21f154_127_75"/>
          <p:cNvSpPr/>
          <p:nvPr/>
        </p:nvSpPr>
        <p:spPr>
          <a:xfrm>
            <a:off x="4406900" y="1593850"/>
            <a:ext cx="393700" cy="317500"/>
          </a:xfrm>
          <a:prstGeom prst="roundRect">
            <a:avLst>
              <a:gd name="adj" fmla="val 10000"/>
            </a:avLst>
          </a:prstGeom>
          <a:solidFill>
            <a:srgbClr val="185DA5"/>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1" name="Google Shape;411;h128d44af2f21f154_127_75"/>
          <p:cNvSpPr txBox="1"/>
          <p:nvPr/>
        </p:nvSpPr>
        <p:spPr>
          <a:xfrm>
            <a:off x="4521200" y="1663700"/>
            <a:ext cx="69088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FFFFFF"/>
                </a:solidFill>
                <a:latin typeface="Arial"/>
                <a:ea typeface="Arial"/>
                <a:cs typeface="Arial"/>
                <a:sym typeface="Arial"/>
              </a:rPr>
              <a:t>02</a:t>
            </a:r>
            <a:endParaRPr/>
          </a:p>
        </p:txBody>
      </p:sp>
      <p:sp>
        <p:nvSpPr>
          <p:cNvPr id="412" name="Google Shape;412;h128d44af2f21f154_127_75"/>
          <p:cNvSpPr txBox="1"/>
          <p:nvPr/>
        </p:nvSpPr>
        <p:spPr>
          <a:xfrm>
            <a:off x="4889500" y="1689100"/>
            <a:ext cx="65405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a:solidFill>
                  <a:srgbClr val="185DA5"/>
                </a:solidFill>
                <a:latin typeface="Arial"/>
                <a:ea typeface="Arial"/>
                <a:cs typeface="Arial"/>
                <a:sym typeface="Arial"/>
              </a:rPr>
              <a:t>TRANSFORM</a:t>
            </a:r>
            <a:endParaRPr/>
          </a:p>
        </p:txBody>
      </p:sp>
      <p:sp>
        <p:nvSpPr>
          <p:cNvPr id="413" name="Google Shape;413;h128d44af2f21f154_127_75"/>
          <p:cNvSpPr txBox="1"/>
          <p:nvPr/>
        </p:nvSpPr>
        <p:spPr>
          <a:xfrm>
            <a:off x="4406900" y="2095499"/>
            <a:ext cx="70231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1" i="0" u="none" strike="noStrike" cap="none">
                <a:solidFill>
                  <a:srgbClr val="103763"/>
                </a:solidFill>
                <a:latin typeface="Arial"/>
                <a:ea typeface="Arial"/>
                <a:cs typeface="Arial"/>
                <a:sym typeface="Arial"/>
              </a:rPr>
              <a:t>Document Parsing &amp; Ingestion</a:t>
            </a:r>
            <a:endParaRPr/>
          </a:p>
        </p:txBody>
      </p:sp>
      <p:sp>
        <p:nvSpPr>
          <p:cNvPr id="414" name="Google Shape;414;h128d44af2f21f154_127_75"/>
          <p:cNvSpPr/>
          <p:nvPr/>
        </p:nvSpPr>
        <p:spPr>
          <a:xfrm>
            <a:off x="8039099" y="1441450"/>
            <a:ext cx="3517900" cy="4749800"/>
          </a:xfrm>
          <a:prstGeom prst="roundRect">
            <a:avLst>
              <a:gd name="adj" fmla="val 4332"/>
            </a:avLst>
          </a:prstGeom>
          <a:solidFill>
            <a:srgbClr val="F5F7FA"/>
          </a:solidFill>
          <a:ln w="12700" cap="flat" cmpd="sng">
            <a:solidFill>
              <a:srgbClr val="D1E0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5" name="Google Shape;415;h128d44af2f21f154_127_75"/>
          <p:cNvSpPr/>
          <p:nvPr/>
        </p:nvSpPr>
        <p:spPr>
          <a:xfrm>
            <a:off x="8216900" y="1593850"/>
            <a:ext cx="393700" cy="317500"/>
          </a:xfrm>
          <a:prstGeom prst="roundRect">
            <a:avLst>
              <a:gd name="adj" fmla="val 10000"/>
            </a:avLst>
          </a:prstGeom>
          <a:solidFill>
            <a:srgbClr val="185DA5"/>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6" name="Google Shape;416;h128d44af2f21f154_127_75"/>
          <p:cNvSpPr txBox="1"/>
          <p:nvPr/>
        </p:nvSpPr>
        <p:spPr>
          <a:xfrm>
            <a:off x="8331200" y="1663700"/>
            <a:ext cx="30988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FFFFFF"/>
                </a:solidFill>
                <a:latin typeface="Arial"/>
                <a:ea typeface="Arial"/>
                <a:cs typeface="Arial"/>
                <a:sym typeface="Arial"/>
              </a:rPr>
              <a:t>03</a:t>
            </a:r>
            <a:endParaRPr/>
          </a:p>
        </p:txBody>
      </p:sp>
      <p:sp>
        <p:nvSpPr>
          <p:cNvPr id="417" name="Google Shape;417;h128d44af2f21f154_127_75"/>
          <p:cNvSpPr txBox="1"/>
          <p:nvPr/>
        </p:nvSpPr>
        <p:spPr>
          <a:xfrm>
            <a:off x="8699500" y="1689100"/>
            <a:ext cx="27305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a:solidFill>
                  <a:srgbClr val="185DA5"/>
                </a:solidFill>
                <a:latin typeface="Arial"/>
                <a:ea typeface="Arial"/>
                <a:cs typeface="Arial"/>
                <a:sym typeface="Arial"/>
              </a:rPr>
              <a:t>CONFIRM</a:t>
            </a:r>
            <a:endParaRPr/>
          </a:p>
        </p:txBody>
      </p:sp>
      <p:sp>
        <p:nvSpPr>
          <p:cNvPr id="418" name="Google Shape;418;h128d44af2f21f154_127_75"/>
          <p:cNvSpPr txBox="1"/>
          <p:nvPr/>
        </p:nvSpPr>
        <p:spPr>
          <a:xfrm>
            <a:off x="8216900" y="2095499"/>
            <a:ext cx="32131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1" i="0" u="none" strike="noStrike" cap="none">
                <a:solidFill>
                  <a:srgbClr val="103763"/>
                </a:solidFill>
                <a:latin typeface="Arial"/>
                <a:ea typeface="Arial"/>
                <a:cs typeface="Arial"/>
                <a:sym typeface="Arial"/>
              </a:rPr>
              <a:t>Ingestion Confirmation</a:t>
            </a:r>
            <a:endParaRPr/>
          </a:p>
        </p:txBody>
      </p:sp>
      <p:pic>
        <p:nvPicPr>
          <p:cNvPr id="419" name="Google Shape;419;h128d44af2f21f154_127_75" descr="image.png"/>
          <p:cNvPicPr preferRelativeResize="0"/>
          <p:nvPr/>
        </p:nvPicPr>
        <p:blipFill rotWithShape="1">
          <a:blip r:embed="rId3">
            <a:alphaModFix/>
          </a:blip>
          <a:srcRect/>
          <a:stretch/>
        </p:blipFill>
        <p:spPr>
          <a:xfrm>
            <a:off x="596900" y="2425700"/>
            <a:ext cx="3162300" cy="1981199"/>
          </a:xfrm>
          <a:prstGeom prst="rect">
            <a:avLst/>
          </a:prstGeom>
          <a:noFill/>
          <a:ln>
            <a:noFill/>
          </a:ln>
        </p:spPr>
      </p:pic>
      <p:sp>
        <p:nvSpPr>
          <p:cNvPr id="420" name="Google Shape;420;h128d44af2f21f154_127_75"/>
          <p:cNvSpPr txBox="1"/>
          <p:nvPr/>
        </p:nvSpPr>
        <p:spPr>
          <a:xfrm>
            <a:off x="596900" y="45593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Collected official UTA catalogs, degree requirements,</a:t>
            </a:r>
            <a:endParaRPr/>
          </a:p>
        </p:txBody>
      </p:sp>
      <p:sp>
        <p:nvSpPr>
          <p:cNvPr id="421" name="Google Shape;421;h128d44af2f21f154_127_75"/>
          <p:cNvSpPr txBox="1"/>
          <p:nvPr/>
        </p:nvSpPr>
        <p:spPr>
          <a:xfrm>
            <a:off x="596900" y="47244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prerequisites, policies and schedules. Checked</a:t>
            </a:r>
            <a:endParaRPr/>
          </a:p>
        </p:txBody>
      </p:sp>
      <p:sp>
        <p:nvSpPr>
          <p:cNvPr id="422" name="Google Shape;422;h128d44af2f21f154_127_75"/>
          <p:cNvSpPr txBox="1"/>
          <p:nvPr/>
        </p:nvSpPr>
        <p:spPr>
          <a:xfrm>
            <a:off x="596900" y="48895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extracted content against published sources; preserved</a:t>
            </a:r>
            <a:endParaRPr/>
          </a:p>
        </p:txBody>
      </p:sp>
      <p:sp>
        <p:nvSpPr>
          <p:cNvPr id="423" name="Google Shape;423;h128d44af2f21f154_127_75"/>
          <p:cNvSpPr txBox="1"/>
          <p:nvPr/>
        </p:nvSpPr>
        <p:spPr>
          <a:xfrm>
            <a:off x="596900" y="50546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references and known limitations.</a:t>
            </a:r>
            <a:endParaRPr/>
          </a:p>
        </p:txBody>
      </p:sp>
      <p:sp>
        <p:nvSpPr>
          <p:cNvPr id="424" name="Google Shape;424;h128d44af2f21f154_127_75"/>
          <p:cNvSpPr txBox="1"/>
          <p:nvPr/>
        </p:nvSpPr>
        <p:spPr>
          <a:xfrm>
            <a:off x="628650" y="5295900"/>
            <a:ext cx="1080135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85DA5"/>
                </a:solidFill>
                <a:latin typeface="Arial"/>
                <a:ea typeface="Arial"/>
                <a:cs typeface="Arial"/>
                <a:sym typeface="Arial"/>
              </a:rPr>
              <a:t>•</a:t>
            </a:r>
            <a:endParaRPr/>
          </a:p>
        </p:txBody>
      </p:sp>
      <p:sp>
        <p:nvSpPr>
          <p:cNvPr id="425" name="Google Shape;425;h128d44af2f21f154_127_75"/>
          <p:cNvSpPr txBox="1"/>
          <p:nvPr/>
        </p:nvSpPr>
        <p:spPr>
          <a:xfrm>
            <a:off x="762000" y="5295900"/>
            <a:ext cx="106680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5 catalog years: 2022–2023 through 2026–2027</a:t>
            </a:r>
            <a:endParaRPr/>
          </a:p>
        </p:txBody>
      </p:sp>
      <p:sp>
        <p:nvSpPr>
          <p:cNvPr id="426" name="Google Shape;426;h128d44af2f21f154_127_75"/>
          <p:cNvSpPr txBox="1"/>
          <p:nvPr/>
        </p:nvSpPr>
        <p:spPr>
          <a:xfrm>
            <a:off x="628650" y="5530850"/>
            <a:ext cx="1080135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85DA5"/>
                </a:solidFill>
                <a:latin typeface="Arial"/>
                <a:ea typeface="Arial"/>
                <a:cs typeface="Arial"/>
                <a:sym typeface="Arial"/>
              </a:rPr>
              <a:t>•</a:t>
            </a:r>
            <a:endParaRPr/>
          </a:p>
        </p:txBody>
      </p:sp>
      <p:sp>
        <p:nvSpPr>
          <p:cNvPr id="427" name="Google Shape;427;h128d44af2f21f154_127_75"/>
          <p:cNvSpPr txBox="1"/>
          <p:nvPr/>
        </p:nvSpPr>
        <p:spPr>
          <a:xfrm>
            <a:off x="762000" y="5530850"/>
            <a:ext cx="106680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CS, Computer Engineering and Software Engineering</a:t>
            </a:r>
            <a:endParaRPr/>
          </a:p>
        </p:txBody>
      </p:sp>
      <p:sp>
        <p:nvSpPr>
          <p:cNvPr id="428" name="Google Shape;428;h128d44af2f21f154_127_75"/>
          <p:cNvSpPr txBox="1"/>
          <p:nvPr/>
        </p:nvSpPr>
        <p:spPr>
          <a:xfrm>
            <a:off x="628650" y="5765800"/>
            <a:ext cx="1080135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85DA5"/>
                </a:solidFill>
                <a:latin typeface="Arial"/>
                <a:ea typeface="Arial"/>
                <a:cs typeface="Arial"/>
                <a:sym typeface="Arial"/>
              </a:rPr>
              <a:t>•</a:t>
            </a:r>
            <a:endParaRPr/>
          </a:p>
        </p:txBody>
      </p:sp>
      <p:sp>
        <p:nvSpPr>
          <p:cNvPr id="429" name="Google Shape;429;h128d44af2f21f154_127_75"/>
          <p:cNvSpPr txBox="1"/>
          <p:nvPr/>
        </p:nvSpPr>
        <p:spPr>
          <a:xfrm>
            <a:off x="762000" y="5765800"/>
            <a:ext cx="106680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127 files organized for advisor ingestion</a:t>
            </a:r>
            <a:endParaRPr/>
          </a:p>
        </p:txBody>
      </p:sp>
      <p:pic>
        <p:nvPicPr>
          <p:cNvPr id="430" name="Google Shape;430;h128d44af2f21f154_127_75" descr="image.png"/>
          <p:cNvPicPr preferRelativeResize="0"/>
          <p:nvPr/>
        </p:nvPicPr>
        <p:blipFill rotWithShape="1">
          <a:blip r:embed="rId4">
            <a:alphaModFix/>
          </a:blip>
          <a:srcRect/>
          <a:stretch/>
        </p:blipFill>
        <p:spPr>
          <a:xfrm>
            <a:off x="4470400" y="2476500"/>
            <a:ext cx="984250" cy="835317"/>
          </a:xfrm>
          <a:prstGeom prst="rect">
            <a:avLst/>
          </a:prstGeom>
          <a:noFill/>
          <a:ln>
            <a:noFill/>
          </a:ln>
        </p:spPr>
      </p:pic>
      <p:sp>
        <p:nvSpPr>
          <p:cNvPr id="431" name="Google Shape;431;h128d44af2f21f154_127_75"/>
          <p:cNvSpPr txBox="1"/>
          <p:nvPr/>
        </p:nvSpPr>
        <p:spPr>
          <a:xfrm>
            <a:off x="5676900" y="265430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Documents</a:t>
            </a:r>
            <a:endParaRPr/>
          </a:p>
        </p:txBody>
      </p:sp>
      <p:sp>
        <p:nvSpPr>
          <p:cNvPr id="432" name="Google Shape;432;h128d44af2f21f154_127_75"/>
          <p:cNvSpPr txBox="1"/>
          <p:nvPr/>
        </p:nvSpPr>
        <p:spPr>
          <a:xfrm>
            <a:off x="5676900" y="287655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Academic source files</a:t>
            </a:r>
            <a:endParaRPr/>
          </a:p>
        </p:txBody>
      </p:sp>
      <p:pic>
        <p:nvPicPr>
          <p:cNvPr id="433" name="Google Shape;433;h128d44af2f21f154_127_75" descr="image.png"/>
          <p:cNvPicPr preferRelativeResize="0"/>
          <p:nvPr/>
        </p:nvPicPr>
        <p:blipFill rotWithShape="1">
          <a:blip r:embed="rId5">
            <a:alphaModFix/>
          </a:blip>
          <a:srcRect/>
          <a:stretch/>
        </p:blipFill>
        <p:spPr>
          <a:xfrm>
            <a:off x="4470400" y="3397250"/>
            <a:ext cx="984250" cy="548908"/>
          </a:xfrm>
          <a:prstGeom prst="rect">
            <a:avLst/>
          </a:prstGeom>
          <a:noFill/>
          <a:ln>
            <a:noFill/>
          </a:ln>
        </p:spPr>
      </p:pic>
      <p:sp>
        <p:nvSpPr>
          <p:cNvPr id="434" name="Google Shape;434;h128d44af2f21f154_127_75"/>
          <p:cNvSpPr txBox="1"/>
          <p:nvPr/>
        </p:nvSpPr>
        <p:spPr>
          <a:xfrm>
            <a:off x="5676900" y="357505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Text chunks</a:t>
            </a:r>
            <a:endParaRPr/>
          </a:p>
        </p:txBody>
      </p:sp>
      <p:sp>
        <p:nvSpPr>
          <p:cNvPr id="435" name="Google Shape;435;h128d44af2f21f154_127_75"/>
          <p:cNvSpPr txBox="1"/>
          <p:nvPr/>
        </p:nvSpPr>
        <p:spPr>
          <a:xfrm>
            <a:off x="5676900" y="379730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AWS Lambda</a:t>
            </a:r>
            <a:endParaRPr/>
          </a:p>
        </p:txBody>
      </p:sp>
      <p:pic>
        <p:nvPicPr>
          <p:cNvPr id="436" name="Google Shape;436;h128d44af2f21f154_127_75" descr="image.png"/>
          <p:cNvPicPr preferRelativeResize="0"/>
          <p:nvPr/>
        </p:nvPicPr>
        <p:blipFill rotWithShape="1">
          <a:blip r:embed="rId6">
            <a:alphaModFix/>
          </a:blip>
          <a:srcRect/>
          <a:stretch/>
        </p:blipFill>
        <p:spPr>
          <a:xfrm>
            <a:off x="4470400" y="4222750"/>
            <a:ext cx="984250" cy="511550"/>
          </a:xfrm>
          <a:prstGeom prst="rect">
            <a:avLst/>
          </a:prstGeom>
          <a:noFill/>
          <a:ln>
            <a:noFill/>
          </a:ln>
        </p:spPr>
      </p:pic>
      <p:sp>
        <p:nvSpPr>
          <p:cNvPr id="437" name="Google Shape;437;h128d44af2f21f154_127_75"/>
          <p:cNvSpPr txBox="1"/>
          <p:nvPr/>
        </p:nvSpPr>
        <p:spPr>
          <a:xfrm>
            <a:off x="5676900" y="440055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Embeddings</a:t>
            </a:r>
            <a:endParaRPr/>
          </a:p>
        </p:txBody>
      </p:sp>
      <p:sp>
        <p:nvSpPr>
          <p:cNvPr id="438" name="Google Shape;438;h128d44af2f21f154_127_75"/>
          <p:cNvSpPr txBox="1"/>
          <p:nvPr/>
        </p:nvSpPr>
        <p:spPr>
          <a:xfrm>
            <a:off x="5676900" y="462280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Amazon Titan v2</a:t>
            </a:r>
            <a:endParaRPr/>
          </a:p>
        </p:txBody>
      </p:sp>
      <p:pic>
        <p:nvPicPr>
          <p:cNvPr id="439" name="Google Shape;439;h128d44af2f21f154_127_75" descr="image.png"/>
          <p:cNvPicPr preferRelativeResize="0"/>
          <p:nvPr/>
        </p:nvPicPr>
        <p:blipFill rotWithShape="1">
          <a:blip r:embed="rId7">
            <a:alphaModFix/>
          </a:blip>
          <a:srcRect/>
          <a:stretch/>
        </p:blipFill>
        <p:spPr>
          <a:xfrm>
            <a:off x="4470400" y="5022850"/>
            <a:ext cx="984250" cy="731712"/>
          </a:xfrm>
          <a:prstGeom prst="rect">
            <a:avLst/>
          </a:prstGeom>
          <a:noFill/>
          <a:ln>
            <a:noFill/>
          </a:ln>
        </p:spPr>
      </p:pic>
      <p:sp>
        <p:nvSpPr>
          <p:cNvPr id="440" name="Google Shape;440;h128d44af2f21f154_127_75"/>
          <p:cNvSpPr txBox="1"/>
          <p:nvPr/>
        </p:nvSpPr>
        <p:spPr>
          <a:xfrm>
            <a:off x="5676900" y="520065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Vector store</a:t>
            </a:r>
            <a:endParaRPr/>
          </a:p>
        </p:txBody>
      </p:sp>
      <p:sp>
        <p:nvSpPr>
          <p:cNvPr id="441" name="Google Shape;441;h128d44af2f21f154_127_75"/>
          <p:cNvSpPr txBox="1"/>
          <p:nvPr/>
        </p:nvSpPr>
        <p:spPr>
          <a:xfrm>
            <a:off x="5676900" y="542290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ChromaDB</a:t>
            </a:r>
            <a:endParaRPr/>
          </a:p>
        </p:txBody>
      </p:sp>
      <p:sp>
        <p:nvSpPr>
          <p:cNvPr id="442" name="Google Shape;442;h128d44af2f21f154_127_75"/>
          <p:cNvSpPr txBox="1"/>
          <p:nvPr/>
        </p:nvSpPr>
        <p:spPr>
          <a:xfrm>
            <a:off x="5905500" y="3232150"/>
            <a:ext cx="5524500" cy="26701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50" b="1" i="0" u="none" strike="noStrike" cap="none">
                <a:solidFill>
                  <a:srgbClr val="80A5C8"/>
                </a:solidFill>
                <a:latin typeface="Arial"/>
                <a:ea typeface="Arial"/>
                <a:cs typeface="Arial"/>
                <a:sym typeface="Arial"/>
              </a:rPr>
              <a:t>↓</a:t>
            </a:r>
            <a:endParaRPr/>
          </a:p>
        </p:txBody>
      </p:sp>
      <p:sp>
        <p:nvSpPr>
          <p:cNvPr id="443" name="Google Shape;443;h128d44af2f21f154_127_75"/>
          <p:cNvSpPr txBox="1"/>
          <p:nvPr/>
        </p:nvSpPr>
        <p:spPr>
          <a:xfrm>
            <a:off x="5905500" y="4064000"/>
            <a:ext cx="5524500" cy="26701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50" b="1" i="0" u="none" strike="noStrike" cap="none">
                <a:solidFill>
                  <a:srgbClr val="80A5C8"/>
                </a:solidFill>
                <a:latin typeface="Arial"/>
                <a:ea typeface="Arial"/>
                <a:cs typeface="Arial"/>
                <a:sym typeface="Arial"/>
              </a:rPr>
              <a:t>↓</a:t>
            </a:r>
            <a:endParaRPr/>
          </a:p>
        </p:txBody>
      </p:sp>
      <p:sp>
        <p:nvSpPr>
          <p:cNvPr id="444" name="Google Shape;444;h128d44af2f21f154_127_75"/>
          <p:cNvSpPr txBox="1"/>
          <p:nvPr/>
        </p:nvSpPr>
        <p:spPr>
          <a:xfrm>
            <a:off x="5905500" y="4870450"/>
            <a:ext cx="5524500" cy="26701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50" b="1" i="0" u="none" strike="noStrike" cap="none">
                <a:solidFill>
                  <a:srgbClr val="80A5C8"/>
                </a:solidFill>
                <a:latin typeface="Arial"/>
                <a:ea typeface="Arial"/>
                <a:cs typeface="Arial"/>
                <a:sym typeface="Arial"/>
              </a:rPr>
              <a:t>↓</a:t>
            </a:r>
            <a:endParaRPr/>
          </a:p>
        </p:txBody>
      </p:sp>
      <p:pic>
        <p:nvPicPr>
          <p:cNvPr id="445" name="Google Shape;445;h128d44af2f21f154_127_75" descr="image.png"/>
          <p:cNvPicPr preferRelativeResize="0"/>
          <p:nvPr/>
        </p:nvPicPr>
        <p:blipFill rotWithShape="1">
          <a:blip r:embed="rId8">
            <a:alphaModFix/>
          </a:blip>
          <a:srcRect/>
          <a:stretch/>
        </p:blipFill>
        <p:spPr>
          <a:xfrm>
            <a:off x="8216900" y="2425700"/>
            <a:ext cx="3162300" cy="2232025"/>
          </a:xfrm>
          <a:prstGeom prst="rect">
            <a:avLst/>
          </a:prstGeom>
          <a:noFill/>
          <a:ln>
            <a:noFill/>
          </a:ln>
        </p:spPr>
      </p:pic>
      <p:sp>
        <p:nvSpPr>
          <p:cNvPr id="446" name="Google Shape;446;h128d44af2f21f154_127_75"/>
          <p:cNvSpPr txBox="1"/>
          <p:nvPr/>
        </p:nvSpPr>
        <p:spPr>
          <a:xfrm>
            <a:off x="8216900" y="483870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DynamoDB tracks document hashes and processing</a:t>
            </a:r>
            <a:endParaRPr/>
          </a:p>
        </p:txBody>
      </p:sp>
      <p:sp>
        <p:nvSpPr>
          <p:cNvPr id="447" name="Google Shape;447;h128d44af2f21f154_127_75"/>
          <p:cNvSpPr txBox="1"/>
          <p:nvPr/>
        </p:nvSpPr>
        <p:spPr>
          <a:xfrm>
            <a:off x="8216900" y="502285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status. After ingestion completes, a Teams</a:t>
            </a:r>
            <a:endParaRPr/>
          </a:p>
        </p:txBody>
      </p:sp>
      <p:sp>
        <p:nvSpPr>
          <p:cNvPr id="448" name="Google Shape;448;h128d44af2f21f154_127_75"/>
          <p:cNvSpPr txBox="1"/>
          <p:nvPr/>
        </p:nvSpPr>
        <p:spPr>
          <a:xfrm>
            <a:off x="8216900" y="520700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notification reports the document, stored chunk</a:t>
            </a:r>
            <a:endParaRPr/>
          </a:p>
        </p:txBody>
      </p:sp>
      <p:sp>
        <p:nvSpPr>
          <p:cNvPr id="449" name="Google Shape;449;h128d44af2f21f154_127_75"/>
          <p:cNvSpPr txBox="1"/>
          <p:nvPr/>
        </p:nvSpPr>
        <p:spPr>
          <a:xfrm>
            <a:off x="8216900" y="539115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count, embedding model and vector database.</a:t>
            </a:r>
            <a:endParaRPr/>
          </a:p>
        </p:txBody>
      </p:sp>
      <p:sp>
        <p:nvSpPr>
          <p:cNvPr id="450" name="Google Shape;450;h128d44af2f21f154_127_75"/>
          <p:cNvSpPr txBox="1"/>
          <p:nvPr/>
        </p:nvSpPr>
        <p:spPr>
          <a:xfrm>
            <a:off x="8216900" y="5842000"/>
            <a:ext cx="3213100" cy="156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50" b="1" i="0" u="none" strike="noStrike" cap="none">
                <a:solidFill>
                  <a:srgbClr val="185DA5"/>
                </a:solidFill>
                <a:latin typeface="Arial"/>
                <a:ea typeface="Arial"/>
                <a:cs typeface="Arial"/>
                <a:sym typeface="Arial"/>
              </a:rPr>
              <a:t>Actual Teams ingestion notification</a:t>
            </a:r>
            <a:endParaRPr/>
          </a:p>
        </p:txBody>
      </p:sp>
      <p:sp>
        <p:nvSpPr>
          <p:cNvPr id="451" name="Google Shape;451;h128d44af2f21f154_127_75"/>
          <p:cNvSpPr txBox="1"/>
          <p:nvPr/>
        </p:nvSpPr>
        <p:spPr>
          <a:xfrm>
            <a:off x="419100" y="6400800"/>
            <a:ext cx="11010900" cy="156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50" b="0" i="0" u="none" strike="noStrike" cap="none">
                <a:solidFill>
                  <a:srgbClr val="526E8D"/>
                </a:solidFill>
                <a:latin typeface="Arial"/>
                <a:ea typeface="Arial"/>
                <a:cs typeface="Arial"/>
                <a:sym typeface="Arial"/>
              </a:rPr>
              <a:t>CSE 4392 / 5320 • TEAM ASSIGNMENT 2</a:t>
            </a:r>
            <a:endParaRPr/>
          </a:p>
        </p:txBody>
      </p:sp>
      <p:sp>
        <p:nvSpPr>
          <p:cNvPr id="452" name="Google Shape;452;h128d44af2f21f154_127_75"/>
          <p:cNvSpPr txBox="1"/>
          <p:nvPr/>
        </p:nvSpPr>
        <p:spPr>
          <a:xfrm>
            <a:off x="4914900" y="6400800"/>
            <a:ext cx="6515100" cy="156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50" b="0" i="0" u="none" strike="noStrike" cap="none">
                <a:solidFill>
                  <a:srgbClr val="526E8D"/>
                </a:solidFill>
                <a:latin typeface="Arial"/>
                <a:ea typeface="Arial"/>
                <a:cs typeface="Arial"/>
                <a:sym typeface="Arial"/>
              </a:rPr>
              <a:t>Source review: Oct. 16, 2026 • Known limitations retained • Schedules are snapshots</a:t>
            </a:r>
            <a:endParaRPr/>
          </a:p>
        </p:txBody>
      </p:sp>
      <p:sp>
        <p:nvSpPr>
          <p:cNvPr id="2" name="Google Shape;299;p6">
            <a:extLst>
              <a:ext uri="{FF2B5EF4-FFF2-40B4-BE49-F238E27FC236}">
                <a16:creationId xmlns:a16="http://schemas.microsoft.com/office/drawing/2014/main" id="{7589BD72-0353-861C-06DC-BD46B84A3FF5}"/>
              </a:ext>
            </a:extLst>
          </p:cNvPr>
          <p:cNvSpPr/>
          <p:nvPr/>
        </p:nvSpPr>
        <p:spPr>
          <a:xfrm>
            <a:off x="0" y="0"/>
            <a:ext cx="12192000" cy="76200"/>
          </a:xfrm>
          <a:prstGeom prst="rect">
            <a:avLst/>
          </a:prstGeom>
          <a:solidFill>
            <a:srgbClr val="0D3463"/>
          </a:solidFill>
          <a:ln w="9525" cap="flat" cmpd="sng">
            <a:solidFill>
              <a:srgbClr val="0D3463"/>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8"/>
          <p:cNvSpPr/>
          <p:nvPr/>
        </p:nvSpPr>
        <p:spPr>
          <a:xfrm>
            <a:off x="0" y="0"/>
            <a:ext cx="12191695" cy="6858000"/>
          </a:xfrm>
          <a:prstGeom prst="rect">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58" name="Google Shape;458;p8"/>
          <p:cNvSpPr txBox="1"/>
          <p:nvPr/>
        </p:nvSpPr>
        <p:spPr>
          <a:xfrm>
            <a:off x="502920" y="274320"/>
            <a:ext cx="7315200" cy="320040"/>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1100" b="1" i="0" u="none" strike="noStrike" cap="none">
                <a:solidFill>
                  <a:srgbClr val="1C5EA0"/>
                </a:solidFill>
                <a:latin typeface="Arial"/>
                <a:ea typeface="Arial"/>
                <a:cs typeface="Arial"/>
                <a:sym typeface="Arial"/>
              </a:rPr>
              <a:t>UTA  •  TEAM 2 AI ADVISOR</a:t>
            </a:r>
            <a:endParaRPr/>
          </a:p>
        </p:txBody>
      </p:sp>
      <p:sp>
        <p:nvSpPr>
          <p:cNvPr id="459" name="Google Shape;459;p8"/>
          <p:cNvSpPr txBox="1"/>
          <p:nvPr/>
        </p:nvSpPr>
        <p:spPr>
          <a:xfrm>
            <a:off x="502920" y="658368"/>
            <a:ext cx="10972800" cy="484748"/>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2700" b="1" i="0" u="none" strike="noStrike" cap="none">
                <a:solidFill>
                  <a:srgbClr val="0D1F38"/>
                </a:solidFill>
                <a:latin typeface="Arial"/>
                <a:ea typeface="Arial"/>
                <a:cs typeface="Arial"/>
                <a:sym typeface="Arial"/>
              </a:rPr>
              <a:t>LangChain Router: 6 Routes → 3 Processing Paths</a:t>
            </a:r>
            <a:endParaRPr/>
          </a:p>
        </p:txBody>
      </p:sp>
      <p:sp>
        <p:nvSpPr>
          <p:cNvPr id="460" name="Google Shape;460;p8"/>
          <p:cNvSpPr txBox="1"/>
          <p:nvPr/>
        </p:nvSpPr>
        <p:spPr>
          <a:xfrm>
            <a:off x="502920" y="1271016"/>
            <a:ext cx="10972800" cy="365760"/>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1300" b="0" i="0" u="none" strike="noStrike" cap="none">
                <a:solidFill>
                  <a:srgbClr val="5D6F84"/>
                </a:solidFill>
                <a:latin typeface="Arial"/>
                <a:ea typeface="Arial"/>
                <a:cs typeface="Arial"/>
                <a:sym typeface="Arial"/>
              </a:rPr>
              <a:t>The Bedrock LLM classifies the request; Python dispatches to the correct workflow.</a:t>
            </a:r>
            <a:endParaRPr/>
          </a:p>
        </p:txBody>
      </p:sp>
      <p:sp>
        <p:nvSpPr>
          <p:cNvPr id="461" name="Google Shape;461;p8"/>
          <p:cNvSpPr/>
          <p:nvPr/>
        </p:nvSpPr>
        <p:spPr>
          <a:xfrm>
            <a:off x="731520" y="1828800"/>
            <a:ext cx="2971800" cy="585216"/>
          </a:xfrm>
          <a:prstGeom prst="roundRect">
            <a:avLst>
              <a:gd name="adj" fmla="val 16667"/>
            </a:avLst>
          </a:prstGeom>
          <a:solidFill>
            <a:srgbClr val="0D1F3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2" name="Google Shape;462;p8"/>
          <p:cNvSpPr txBox="1"/>
          <p:nvPr/>
        </p:nvSpPr>
        <p:spPr>
          <a:xfrm>
            <a:off x="850392" y="1947672"/>
            <a:ext cx="2743200" cy="32918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500" b="1" i="0" u="none" strike="noStrike" cap="none">
                <a:solidFill>
                  <a:srgbClr val="FFFFFF"/>
                </a:solidFill>
                <a:latin typeface="Arial"/>
                <a:ea typeface="Arial"/>
                <a:cs typeface="Arial"/>
                <a:sym typeface="Arial"/>
              </a:rPr>
              <a:t>Student question → FastAPI</a:t>
            </a:r>
            <a:endParaRPr/>
          </a:p>
        </p:txBody>
      </p:sp>
      <p:sp>
        <p:nvSpPr>
          <p:cNvPr id="463" name="Google Shape;463;p8"/>
          <p:cNvSpPr txBox="1"/>
          <p:nvPr/>
        </p:nvSpPr>
        <p:spPr>
          <a:xfrm>
            <a:off x="3776472" y="1920240"/>
            <a:ext cx="502920" cy="27432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64" name="Google Shape;464;p8"/>
          <p:cNvSpPr/>
          <p:nvPr/>
        </p:nvSpPr>
        <p:spPr>
          <a:xfrm>
            <a:off x="4370832" y="1746504"/>
            <a:ext cx="3364992" cy="777240"/>
          </a:xfrm>
          <a:prstGeom prst="roundRect">
            <a:avLst>
              <a:gd name="adj" fmla="val 16667"/>
            </a:avLst>
          </a:prstGeom>
          <a:solidFill>
            <a:srgbClr val="1C5EA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5" name="Google Shape;465;p8"/>
          <p:cNvSpPr txBox="1"/>
          <p:nvPr/>
        </p:nvSpPr>
        <p:spPr>
          <a:xfrm>
            <a:off x="4489704" y="1837943"/>
            <a:ext cx="3118104" cy="500107"/>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dirty="0">
                <a:solidFill>
                  <a:srgbClr val="FFFFFF"/>
                </a:solidFill>
                <a:latin typeface="Arial"/>
                <a:ea typeface="Arial"/>
                <a:cs typeface="Arial"/>
                <a:sym typeface="Arial"/>
              </a:rPr>
              <a:t>LangChain </a:t>
            </a:r>
            <a:r>
              <a:rPr lang="en-US" b="1" dirty="0">
                <a:solidFill>
                  <a:srgbClr val="FFFFFF"/>
                </a:solidFill>
              </a:rPr>
              <a:t>Structure Prompt </a:t>
            </a:r>
          </a:p>
          <a:p>
            <a:pPr marL="0" marR="0" lvl="0" indent="0" algn="ctr" rtl="0">
              <a:spcBef>
                <a:spcPts val="0"/>
              </a:spcBef>
              <a:spcAft>
                <a:spcPts val="0"/>
              </a:spcAft>
              <a:buNone/>
            </a:pPr>
            <a:r>
              <a:rPr lang="en-US" b="1" dirty="0">
                <a:solidFill>
                  <a:srgbClr val="FFFFFF"/>
                </a:solidFill>
              </a:rPr>
              <a:t>with</a:t>
            </a:r>
            <a:r>
              <a:rPr lang="en-US" sz="1400" b="1" i="0" u="none" strike="noStrike" cap="none" dirty="0">
                <a:solidFill>
                  <a:srgbClr val="FFFFFF"/>
                </a:solidFill>
                <a:latin typeface="Arial"/>
                <a:ea typeface="Arial"/>
                <a:cs typeface="Arial"/>
                <a:sym typeface="Arial"/>
              </a:rPr>
              <a:t> Student </a:t>
            </a:r>
            <a:r>
              <a:rPr lang="en-US" b="1" dirty="0">
                <a:solidFill>
                  <a:srgbClr val="FFFFFF"/>
                </a:solidFill>
              </a:rPr>
              <a:t>Question</a:t>
            </a:r>
            <a:endParaRPr sz="1800" b="0" i="0" u="none" strike="noStrike" cap="none" dirty="0">
              <a:solidFill>
                <a:schemeClr val="dk1"/>
              </a:solidFill>
              <a:latin typeface="Calibri"/>
              <a:ea typeface="Calibri"/>
              <a:cs typeface="Calibri"/>
              <a:sym typeface="Calibri"/>
            </a:endParaRPr>
          </a:p>
        </p:txBody>
      </p:sp>
      <p:sp>
        <p:nvSpPr>
          <p:cNvPr id="466" name="Google Shape;466;p8"/>
          <p:cNvSpPr txBox="1"/>
          <p:nvPr/>
        </p:nvSpPr>
        <p:spPr>
          <a:xfrm>
            <a:off x="7790688" y="1920240"/>
            <a:ext cx="457200" cy="27432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67" name="Google Shape;467;p8"/>
          <p:cNvSpPr/>
          <p:nvPr/>
        </p:nvSpPr>
        <p:spPr>
          <a:xfrm>
            <a:off x="8321040" y="1828800"/>
            <a:ext cx="3081528" cy="585216"/>
          </a:xfrm>
          <a:prstGeom prst="roundRect">
            <a:avLst>
              <a:gd name="adj" fmla="val 16667"/>
            </a:avLst>
          </a:prstGeom>
          <a:solidFill>
            <a:srgbClr val="0D1F3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8" name="Google Shape;468;p8"/>
          <p:cNvSpPr txBox="1"/>
          <p:nvPr/>
        </p:nvSpPr>
        <p:spPr>
          <a:xfrm>
            <a:off x="8394192" y="1947672"/>
            <a:ext cx="2926080" cy="284693"/>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FFFFFF"/>
                </a:solidFill>
                <a:latin typeface="Arial"/>
                <a:ea typeface="Arial"/>
                <a:cs typeface="Arial"/>
                <a:sym typeface="Arial"/>
              </a:rPr>
              <a:t>LLM Selects </a:t>
            </a:r>
            <a:r>
              <a:rPr lang="en-US" sz="1400" b="1" i="0" u="none" strike="noStrike" cap="none" dirty="0">
                <a:solidFill>
                  <a:srgbClr val="FFFFFF"/>
                </a:solidFill>
                <a:latin typeface="Arial"/>
                <a:ea typeface="Arial"/>
                <a:cs typeface="Arial"/>
                <a:sym typeface="Arial"/>
              </a:rPr>
              <a:t>route</a:t>
            </a:r>
            <a:endParaRPr dirty="0"/>
          </a:p>
        </p:txBody>
      </p:sp>
      <p:sp>
        <p:nvSpPr>
          <p:cNvPr id="469" name="Google Shape;469;p8"/>
          <p:cNvSpPr txBox="1"/>
          <p:nvPr/>
        </p:nvSpPr>
        <p:spPr>
          <a:xfrm>
            <a:off x="4114800" y="2633472"/>
            <a:ext cx="3931920" cy="25391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200" b="0" i="0" u="none" strike="noStrike" cap="none">
                <a:solidFill>
                  <a:srgbClr val="5D6F84"/>
                </a:solidFill>
                <a:latin typeface="Arial"/>
                <a:ea typeface="Arial"/>
                <a:cs typeface="Arial"/>
                <a:sym typeface="Arial"/>
              </a:rPr>
              <a:t>One question → one route → one workflow</a:t>
            </a:r>
            <a:endParaRPr sz="1800" b="0" i="0" u="none" strike="noStrike" cap="none">
              <a:solidFill>
                <a:schemeClr val="dk1"/>
              </a:solidFill>
              <a:latin typeface="Calibri"/>
              <a:ea typeface="Calibri"/>
              <a:cs typeface="Calibri"/>
              <a:sym typeface="Calibri"/>
            </a:endParaRPr>
          </a:p>
        </p:txBody>
      </p:sp>
      <p:sp>
        <p:nvSpPr>
          <p:cNvPr id="470" name="Google Shape;470;p8"/>
          <p:cNvSpPr/>
          <p:nvPr/>
        </p:nvSpPr>
        <p:spPr>
          <a:xfrm>
            <a:off x="548640" y="3246120"/>
            <a:ext cx="3502152" cy="2331720"/>
          </a:xfrm>
          <a:prstGeom prst="roundRect">
            <a:avLst>
              <a:gd name="adj" fmla="val 16667"/>
            </a:avLst>
          </a:prstGeom>
          <a:solidFill>
            <a:srgbClr val="EFF5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1" name="Google Shape;471;p8"/>
          <p:cNvSpPr/>
          <p:nvPr/>
        </p:nvSpPr>
        <p:spPr>
          <a:xfrm>
            <a:off x="548640" y="3246120"/>
            <a:ext cx="3502152" cy="448056"/>
          </a:xfrm>
          <a:prstGeom prst="roundRect">
            <a:avLst>
              <a:gd name="adj" fmla="val 16667"/>
            </a:avLst>
          </a:prstGeom>
          <a:solidFill>
            <a:srgbClr val="1C5EA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2" name="Google Shape;472;p8"/>
          <p:cNvSpPr txBox="1"/>
          <p:nvPr/>
        </p:nvSpPr>
        <p:spPr>
          <a:xfrm>
            <a:off x="667512" y="3328416"/>
            <a:ext cx="3264408" cy="23774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PATH A  |  RAG</a:t>
            </a:r>
            <a:endParaRPr/>
          </a:p>
        </p:txBody>
      </p:sp>
      <p:sp>
        <p:nvSpPr>
          <p:cNvPr id="473" name="Google Shape;473;p8"/>
          <p:cNvSpPr txBox="1"/>
          <p:nvPr/>
        </p:nvSpPr>
        <p:spPr>
          <a:xfrm>
            <a:off x="731520" y="3849624"/>
            <a:ext cx="3136392" cy="8595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0D1F38"/>
                </a:solidFill>
                <a:latin typeface="Arial"/>
                <a:ea typeface="Arial"/>
                <a:cs typeface="Arial"/>
                <a:sym typeface="Arial"/>
              </a:rPr>
              <a:t>course_information</a:t>
            </a:r>
            <a:endParaRPr/>
          </a:p>
        </p:txBody>
      </p:sp>
      <p:sp>
        <p:nvSpPr>
          <p:cNvPr id="474" name="Google Shape;474;p8"/>
          <p:cNvSpPr txBox="1"/>
          <p:nvPr/>
        </p:nvSpPr>
        <p:spPr>
          <a:xfrm>
            <a:off x="713232" y="4846320"/>
            <a:ext cx="3182112" cy="6309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100" b="0" i="0" u="none" strike="noStrike" cap="none">
                <a:solidFill>
                  <a:srgbClr val="5D6F84"/>
                </a:solidFill>
                <a:latin typeface="Arial"/>
                <a:ea typeface="Arial"/>
                <a:cs typeface="Arial"/>
                <a:sym typeface="Arial"/>
              </a:rPr>
              <a:t>Titan Embeddings → ChromaDB</a:t>
            </a:r>
            <a:endParaRPr/>
          </a:p>
          <a:p>
            <a:pPr marL="0" marR="0" lvl="0" indent="0" algn="ctr" rtl="0">
              <a:spcBef>
                <a:spcPts val="200"/>
              </a:spcBef>
              <a:spcAft>
                <a:spcPts val="0"/>
              </a:spcAft>
              <a:buNone/>
            </a:pPr>
            <a:r>
              <a:rPr lang="en-US" sz="1100" b="0" i="0" u="none" strike="noStrike" cap="none">
                <a:solidFill>
                  <a:srgbClr val="5D6F84"/>
                </a:solidFill>
                <a:latin typeface="Arial"/>
                <a:ea typeface="Arial"/>
                <a:cs typeface="Arial"/>
                <a:sym typeface="Arial"/>
              </a:rPr>
              <a:t>→ Retrieved catalog context</a:t>
            </a:r>
            <a:endParaRPr/>
          </a:p>
        </p:txBody>
      </p:sp>
      <p:sp>
        <p:nvSpPr>
          <p:cNvPr id="475" name="Google Shape;475;p8"/>
          <p:cNvSpPr txBox="1"/>
          <p:nvPr/>
        </p:nvSpPr>
        <p:spPr>
          <a:xfrm>
            <a:off x="2039112" y="2898648"/>
            <a:ext cx="502920" cy="32004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76" name="Google Shape;476;p8"/>
          <p:cNvSpPr/>
          <p:nvPr/>
        </p:nvSpPr>
        <p:spPr>
          <a:xfrm>
            <a:off x="4224528" y="3246120"/>
            <a:ext cx="3502152" cy="2331720"/>
          </a:xfrm>
          <a:prstGeom prst="roundRect">
            <a:avLst>
              <a:gd name="adj" fmla="val 16667"/>
            </a:avLst>
          </a:prstGeom>
          <a:solidFill>
            <a:srgbClr val="EFF5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7" name="Google Shape;477;p8"/>
          <p:cNvSpPr/>
          <p:nvPr/>
        </p:nvSpPr>
        <p:spPr>
          <a:xfrm>
            <a:off x="4224528" y="3246120"/>
            <a:ext cx="3502152" cy="448056"/>
          </a:xfrm>
          <a:prstGeom prst="roundRect">
            <a:avLst>
              <a:gd name="adj" fmla="val 16667"/>
            </a:avLst>
          </a:prstGeom>
          <a:solidFill>
            <a:srgbClr val="1C5EA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8" name="Google Shape;478;p8"/>
          <p:cNvSpPr txBox="1"/>
          <p:nvPr/>
        </p:nvSpPr>
        <p:spPr>
          <a:xfrm>
            <a:off x="4343400" y="3328416"/>
            <a:ext cx="3264408" cy="23774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PATH B  |  STRUCTURED ADVISING</a:t>
            </a:r>
            <a:endParaRPr/>
          </a:p>
        </p:txBody>
      </p:sp>
      <p:sp>
        <p:nvSpPr>
          <p:cNvPr id="479" name="Google Shape;479;p8"/>
          <p:cNvSpPr txBox="1"/>
          <p:nvPr/>
        </p:nvSpPr>
        <p:spPr>
          <a:xfrm>
            <a:off x="4407408" y="3849624"/>
            <a:ext cx="3136392" cy="1007968"/>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0D1F38"/>
                </a:solidFill>
                <a:latin typeface="Arial"/>
                <a:ea typeface="Arial"/>
                <a:cs typeface="Arial"/>
                <a:sym typeface="Arial"/>
              </a:rPr>
              <a:t>student_record</a:t>
            </a:r>
            <a:endParaRPr/>
          </a:p>
          <a:p>
            <a:pPr marL="0" marR="0" lvl="0" indent="0" algn="ctr" rtl="0">
              <a:spcBef>
                <a:spcPts val="200"/>
              </a:spcBef>
              <a:spcAft>
                <a:spcPts val="0"/>
              </a:spcAft>
              <a:buNone/>
            </a:pPr>
            <a:r>
              <a:rPr lang="en-US" sz="1400" b="1" i="0" u="none" strike="noStrike" cap="none">
                <a:solidFill>
                  <a:srgbClr val="0D1F38"/>
                </a:solidFill>
                <a:latin typeface="Arial"/>
                <a:ea typeface="Arial"/>
                <a:cs typeface="Arial"/>
                <a:sym typeface="Arial"/>
              </a:rPr>
              <a:t>course_eligibility</a:t>
            </a:r>
            <a:endParaRPr/>
          </a:p>
          <a:p>
            <a:pPr marL="0" marR="0" lvl="0" indent="0" algn="ctr" rtl="0">
              <a:spcBef>
                <a:spcPts val="200"/>
              </a:spcBef>
              <a:spcAft>
                <a:spcPts val="0"/>
              </a:spcAft>
              <a:buNone/>
            </a:pPr>
            <a:r>
              <a:rPr lang="en-US" sz="1400" b="1" i="0" u="none" strike="noStrike" cap="none">
                <a:solidFill>
                  <a:srgbClr val="0D1F38"/>
                </a:solidFill>
                <a:latin typeface="Arial"/>
                <a:ea typeface="Arial"/>
                <a:cs typeface="Arial"/>
                <a:sym typeface="Arial"/>
              </a:rPr>
              <a:t>degree_plan</a:t>
            </a:r>
            <a:endParaRPr/>
          </a:p>
          <a:p>
            <a:pPr marL="0" marR="0" lvl="0" indent="0" algn="ctr" rtl="0">
              <a:spcBef>
                <a:spcPts val="200"/>
              </a:spcBef>
              <a:spcAft>
                <a:spcPts val="0"/>
              </a:spcAft>
              <a:buNone/>
            </a:pPr>
            <a:r>
              <a:rPr lang="en-US" sz="1400" b="1" i="0" u="none" strike="noStrike" cap="none">
                <a:solidFill>
                  <a:srgbClr val="0D1F38"/>
                </a:solidFill>
                <a:latin typeface="Arial"/>
                <a:ea typeface="Arial"/>
                <a:cs typeface="Arial"/>
                <a:sym typeface="Arial"/>
              </a:rPr>
              <a:t>compare_plans</a:t>
            </a:r>
            <a:endParaRPr/>
          </a:p>
        </p:txBody>
      </p:sp>
      <p:sp>
        <p:nvSpPr>
          <p:cNvPr id="480" name="Google Shape;480;p8"/>
          <p:cNvSpPr txBox="1"/>
          <p:nvPr/>
        </p:nvSpPr>
        <p:spPr>
          <a:xfrm>
            <a:off x="4389120" y="4846320"/>
            <a:ext cx="3182112" cy="6309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100" b="0" i="0" u="none" strike="noStrike" cap="none">
                <a:solidFill>
                  <a:srgbClr val="5D6F84"/>
                </a:solidFill>
                <a:latin typeface="Arial"/>
                <a:ea typeface="Arial"/>
                <a:cs typeface="Arial"/>
                <a:sym typeface="Arial"/>
              </a:rPr>
              <a:t>DynamoDB → Python advisor tools</a:t>
            </a:r>
            <a:endParaRPr/>
          </a:p>
          <a:p>
            <a:pPr marL="0" marR="0" lvl="0" indent="0" algn="ctr" rtl="0">
              <a:spcBef>
                <a:spcPts val="200"/>
              </a:spcBef>
              <a:spcAft>
                <a:spcPts val="0"/>
              </a:spcAft>
              <a:buNone/>
            </a:pPr>
            <a:r>
              <a:rPr lang="en-US" sz="1100" b="0" i="0" u="none" strike="noStrike" cap="none">
                <a:solidFill>
                  <a:srgbClr val="5D6F84"/>
                </a:solidFill>
                <a:latin typeface="Arial"/>
                <a:ea typeface="Arial"/>
                <a:cs typeface="Arial"/>
                <a:sym typeface="Arial"/>
              </a:rPr>
              <a:t>→ Validation / planning</a:t>
            </a:r>
            <a:endParaRPr/>
          </a:p>
        </p:txBody>
      </p:sp>
      <p:sp>
        <p:nvSpPr>
          <p:cNvPr id="481" name="Google Shape;481;p8"/>
          <p:cNvSpPr txBox="1"/>
          <p:nvPr/>
        </p:nvSpPr>
        <p:spPr>
          <a:xfrm>
            <a:off x="5715000" y="2898648"/>
            <a:ext cx="502920" cy="32004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82" name="Google Shape;482;p8"/>
          <p:cNvSpPr/>
          <p:nvPr/>
        </p:nvSpPr>
        <p:spPr>
          <a:xfrm>
            <a:off x="7900416" y="3246120"/>
            <a:ext cx="3502152" cy="2331720"/>
          </a:xfrm>
          <a:prstGeom prst="roundRect">
            <a:avLst>
              <a:gd name="adj" fmla="val 16667"/>
            </a:avLst>
          </a:prstGeom>
          <a:solidFill>
            <a:srgbClr val="EFF5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83" name="Google Shape;483;p8"/>
          <p:cNvSpPr/>
          <p:nvPr/>
        </p:nvSpPr>
        <p:spPr>
          <a:xfrm>
            <a:off x="7900416" y="3246120"/>
            <a:ext cx="3502152" cy="448056"/>
          </a:xfrm>
          <a:prstGeom prst="roundRect">
            <a:avLst>
              <a:gd name="adj" fmla="val 16667"/>
            </a:avLst>
          </a:prstGeom>
          <a:solidFill>
            <a:srgbClr val="5D6F8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84" name="Google Shape;484;p8"/>
          <p:cNvSpPr txBox="1"/>
          <p:nvPr/>
        </p:nvSpPr>
        <p:spPr>
          <a:xfrm>
            <a:off x="8019288" y="3328416"/>
            <a:ext cx="3264408" cy="23774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PATH C  |  FALLBACK</a:t>
            </a:r>
            <a:endParaRPr/>
          </a:p>
        </p:txBody>
      </p:sp>
      <p:sp>
        <p:nvSpPr>
          <p:cNvPr id="485" name="Google Shape;485;p8"/>
          <p:cNvSpPr txBox="1"/>
          <p:nvPr/>
        </p:nvSpPr>
        <p:spPr>
          <a:xfrm>
            <a:off x="8083296" y="3849624"/>
            <a:ext cx="3136392" cy="8595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0D1F38"/>
                </a:solidFill>
                <a:latin typeface="Arial"/>
                <a:ea typeface="Arial"/>
                <a:cs typeface="Arial"/>
                <a:sym typeface="Arial"/>
              </a:rPr>
              <a:t>unsupported</a:t>
            </a:r>
            <a:endParaRPr/>
          </a:p>
        </p:txBody>
      </p:sp>
      <p:sp>
        <p:nvSpPr>
          <p:cNvPr id="486" name="Google Shape;486;p8"/>
          <p:cNvSpPr txBox="1"/>
          <p:nvPr/>
        </p:nvSpPr>
        <p:spPr>
          <a:xfrm>
            <a:off x="8065008" y="4846320"/>
            <a:ext cx="3182112" cy="6309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100" b="0" i="0" u="none" strike="noStrike" cap="none">
                <a:solidFill>
                  <a:srgbClr val="5D6F84"/>
                </a:solidFill>
                <a:latin typeface="Arial"/>
                <a:ea typeface="Arial"/>
                <a:cs typeface="Arial"/>
                <a:sym typeface="Arial"/>
              </a:rPr>
              <a:t>Safe response explaining</a:t>
            </a:r>
            <a:endParaRPr/>
          </a:p>
          <a:p>
            <a:pPr marL="0" marR="0" lvl="0" indent="0" algn="ctr" rtl="0">
              <a:spcBef>
                <a:spcPts val="200"/>
              </a:spcBef>
              <a:spcAft>
                <a:spcPts val="0"/>
              </a:spcAft>
              <a:buNone/>
            </a:pPr>
            <a:r>
              <a:rPr lang="en-US" sz="1100" b="0" i="0" u="none" strike="noStrike" cap="none">
                <a:solidFill>
                  <a:srgbClr val="5D6F84"/>
                </a:solidFill>
                <a:latin typeface="Arial"/>
                <a:ea typeface="Arial"/>
                <a:cs typeface="Arial"/>
                <a:sym typeface="Arial"/>
              </a:rPr>
              <a:t>what the advisor cannot do</a:t>
            </a:r>
            <a:endParaRPr/>
          </a:p>
        </p:txBody>
      </p:sp>
      <p:sp>
        <p:nvSpPr>
          <p:cNvPr id="487" name="Google Shape;487;p8"/>
          <p:cNvSpPr txBox="1"/>
          <p:nvPr/>
        </p:nvSpPr>
        <p:spPr>
          <a:xfrm>
            <a:off x="9390888" y="2898648"/>
            <a:ext cx="502920" cy="32004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88" name="Google Shape;488;p8"/>
          <p:cNvSpPr/>
          <p:nvPr/>
        </p:nvSpPr>
        <p:spPr>
          <a:xfrm>
            <a:off x="548640" y="5879592"/>
            <a:ext cx="10853928" cy="493776"/>
          </a:xfrm>
          <a:prstGeom prst="roundRect">
            <a:avLst>
              <a:gd name="adj" fmla="val 16667"/>
            </a:avLst>
          </a:prstGeom>
          <a:solidFill>
            <a:srgbClr val="0D1F3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89" name="Google Shape;489;p8"/>
          <p:cNvSpPr txBox="1"/>
          <p:nvPr/>
        </p:nvSpPr>
        <p:spPr>
          <a:xfrm>
            <a:off x="768096" y="5989320"/>
            <a:ext cx="10469880" cy="26930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KEY POINT  •  Six route labels do not require six separate LLMs or AWS services.</a:t>
            </a:r>
            <a:endParaRPr/>
          </a:p>
        </p:txBody>
      </p:sp>
      <p:sp>
        <p:nvSpPr>
          <p:cNvPr id="490" name="Google Shape;490;p8"/>
          <p:cNvSpPr txBox="1"/>
          <p:nvPr/>
        </p:nvSpPr>
        <p:spPr>
          <a:xfrm>
            <a:off x="548640" y="6556248"/>
            <a:ext cx="8229600" cy="201168"/>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900" b="0" i="0" u="none" strike="noStrike" cap="none">
                <a:solidFill>
                  <a:srgbClr val="5D6F84"/>
                </a:solidFill>
                <a:latin typeface="Arial"/>
                <a:ea typeface="Arial"/>
                <a:cs typeface="Arial"/>
                <a:sym typeface="Arial"/>
              </a:rPr>
              <a:t>CSE 4392 / 5320  •  TEAM ASSIGNMENT 2</a:t>
            </a:r>
            <a:endParaRPr/>
          </a:p>
        </p:txBody>
      </p:sp>
      <p:sp>
        <p:nvSpPr>
          <p:cNvPr id="491" name="Google Shape;491;p8"/>
          <p:cNvSpPr/>
          <p:nvPr/>
        </p:nvSpPr>
        <p:spPr>
          <a:xfrm>
            <a:off x="0" y="0"/>
            <a:ext cx="12191695" cy="82296"/>
          </a:xfrm>
          <a:prstGeom prst="rect">
            <a:avLst/>
          </a:prstGeom>
          <a:solidFill>
            <a:srgbClr val="0C356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6401" y="35300"/>
            <a:ext cx="12198096" cy="6858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56032"/>
            <a:ext cx="6400800" cy="218521"/>
          </a:xfrm>
          <a:prstGeom prst="rect">
            <a:avLst/>
          </a:prstGeom>
          <a:noFill/>
        </p:spPr>
        <p:txBody>
          <a:bodyPr wrap="square" lIns="36576" tIns="18288">
            <a:spAutoFit/>
          </a:bodyPr>
          <a:lstStyle/>
          <a:p>
            <a:pPr>
              <a:spcAft>
                <a:spcPts val="100"/>
              </a:spcAft>
              <a:defRPr sz="1000" b="1">
                <a:solidFill>
                  <a:srgbClr val="0099AE"/>
                </a:solidFill>
                <a:latin typeface="Aptos"/>
              </a:defRPr>
            </a:pPr>
            <a:r>
              <a:rPr dirty="0">
                <a:solidFill>
                  <a:srgbClr val="002060"/>
                </a:solidFill>
              </a:rPr>
              <a:t>UTA  •  TEAM 2 AI ADVISOR</a:t>
            </a:r>
          </a:p>
        </p:txBody>
      </p:sp>
      <p:sp>
        <p:nvSpPr>
          <p:cNvPr id="5" name="TextBox 4"/>
          <p:cNvSpPr txBox="1"/>
          <p:nvPr/>
        </p:nvSpPr>
        <p:spPr>
          <a:xfrm>
            <a:off x="566928" y="603504"/>
            <a:ext cx="10972800" cy="530352"/>
          </a:xfrm>
          <a:prstGeom prst="rect">
            <a:avLst/>
          </a:prstGeom>
          <a:noFill/>
        </p:spPr>
        <p:txBody>
          <a:bodyPr wrap="square" lIns="36576" tIns="18288">
            <a:spAutoFit/>
          </a:bodyPr>
          <a:lstStyle/>
          <a:p>
            <a:pPr>
              <a:spcAft>
                <a:spcPts val="100"/>
              </a:spcAft>
              <a:defRPr sz="2800" b="1">
                <a:solidFill>
                  <a:srgbClr val="0D1B30"/>
                </a:solidFill>
                <a:latin typeface="Aptos"/>
              </a:defRPr>
            </a:pPr>
            <a:r>
              <a:rPr dirty="0"/>
              <a:t>LangChain: LLM Intent Classification</a:t>
            </a:r>
          </a:p>
        </p:txBody>
      </p:sp>
      <p:sp>
        <p:nvSpPr>
          <p:cNvPr id="6" name="TextBox 5"/>
          <p:cNvSpPr txBox="1"/>
          <p:nvPr/>
        </p:nvSpPr>
        <p:spPr>
          <a:xfrm>
            <a:off x="566928" y="1143000"/>
            <a:ext cx="10972800" cy="320040"/>
          </a:xfrm>
          <a:prstGeom prst="rect">
            <a:avLst/>
          </a:prstGeom>
          <a:noFill/>
        </p:spPr>
        <p:txBody>
          <a:bodyPr wrap="square" lIns="36576" tIns="18288">
            <a:spAutoFit/>
          </a:bodyPr>
          <a:lstStyle/>
          <a:p>
            <a:pPr>
              <a:spcAft>
                <a:spcPts val="100"/>
              </a:spcAft>
              <a:defRPr sz="1300" b="0">
                <a:solidFill>
                  <a:srgbClr val="5F7083"/>
                </a:solidFill>
                <a:latin typeface="Aptos"/>
              </a:defRPr>
            </a:pPr>
            <a:r>
              <a:t>Prompt template  →  Bedrock LLM  →  Output parser  →  Selected route</a:t>
            </a:r>
          </a:p>
        </p:txBody>
      </p:sp>
      <p:sp>
        <p:nvSpPr>
          <p:cNvPr id="7" name="Rounded Rectangle 6"/>
          <p:cNvSpPr/>
          <p:nvPr/>
        </p:nvSpPr>
        <p:spPr>
          <a:xfrm>
            <a:off x="548640" y="1636776"/>
            <a:ext cx="6720840" cy="3154680"/>
          </a:xfrm>
          <a:prstGeom prst="roundRect">
            <a:avLst/>
          </a:prstGeom>
          <a:solidFill>
            <a:srgbClr val="0D1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 y="1810512"/>
            <a:ext cx="6309360" cy="292608"/>
          </a:xfrm>
          <a:prstGeom prst="rect">
            <a:avLst/>
          </a:prstGeom>
          <a:noFill/>
        </p:spPr>
        <p:txBody>
          <a:bodyPr wrap="square" lIns="36576" tIns="18288">
            <a:spAutoFit/>
          </a:bodyPr>
          <a:lstStyle/>
          <a:p>
            <a:pPr>
              <a:spcAft>
                <a:spcPts val="100"/>
              </a:spcAft>
              <a:defRPr sz="1300" b="1">
                <a:solidFill>
                  <a:srgbClr val="5EDCE0"/>
                </a:solidFill>
                <a:latin typeface="Aptos"/>
              </a:defRPr>
            </a:pPr>
            <a:r>
              <a:t>01  ROUTER PROMPT  •  ChatPromptTemplate</a:t>
            </a:r>
          </a:p>
        </p:txBody>
      </p:sp>
      <p:sp>
        <p:nvSpPr>
          <p:cNvPr id="9" name="TextBox 8"/>
          <p:cNvSpPr txBox="1"/>
          <p:nvPr/>
        </p:nvSpPr>
        <p:spPr>
          <a:xfrm>
            <a:off x="786384" y="2176272"/>
            <a:ext cx="6217920" cy="2393476"/>
          </a:xfrm>
          <a:prstGeom prst="rect">
            <a:avLst/>
          </a:prstGeom>
          <a:noFill/>
        </p:spPr>
        <p:txBody>
          <a:bodyPr wrap="square" lIns="36576" tIns="18288">
            <a:spAutoFit/>
          </a:bodyPr>
          <a:lstStyle/>
          <a:p>
            <a:pPr>
              <a:spcAft>
                <a:spcPts val="100"/>
              </a:spcAft>
              <a:defRPr sz="1300" b="0">
                <a:solidFill>
                  <a:srgbClr val="FFFFFF"/>
                </a:solidFill>
                <a:latin typeface="Aptos Mono"/>
              </a:defRPr>
            </a:pPr>
            <a:r>
              <a:rPr dirty="0" err="1"/>
              <a:t>router_prompt</a:t>
            </a:r>
            <a:r>
              <a:rPr dirty="0"/>
              <a:t> = </a:t>
            </a:r>
            <a:r>
              <a:rPr dirty="0" err="1"/>
              <a:t>ChatPromptTemplate.from_messages</a:t>
            </a:r>
            <a:r>
              <a:rPr dirty="0"/>
              <a:t>([</a:t>
            </a:r>
          </a:p>
          <a:p>
            <a:pPr>
              <a:spcAft>
                <a:spcPts val="100"/>
              </a:spcAft>
              <a:defRPr sz="1300" b="0">
                <a:solidFill>
                  <a:srgbClr val="FFFFFF"/>
                </a:solidFill>
                <a:latin typeface="Aptos Mono"/>
              </a:defRPr>
            </a:pPr>
            <a:r>
              <a:rPr dirty="0"/>
              <a:t>  ("system", """You are the request router for</a:t>
            </a:r>
          </a:p>
          <a:p>
            <a:pPr>
              <a:spcAft>
                <a:spcPts val="100"/>
              </a:spcAft>
              <a:defRPr sz="1300" b="0">
                <a:solidFill>
                  <a:srgbClr val="FFFFFF"/>
                </a:solidFill>
                <a:latin typeface="Aptos Mono"/>
              </a:defRPr>
            </a:pPr>
            <a:r>
              <a:rPr dirty="0"/>
              <a:t>   the UTA AI Advisor.</a:t>
            </a:r>
          </a:p>
          <a:p>
            <a:pPr>
              <a:spcAft>
                <a:spcPts val="100"/>
              </a:spcAft>
              <a:defRPr sz="1300" b="0">
                <a:solidFill>
                  <a:srgbClr val="FFFFFF"/>
                </a:solidFill>
                <a:latin typeface="Aptos Mono"/>
              </a:defRPr>
            </a:pPr>
            <a:r>
              <a:rPr dirty="0"/>
              <a:t>   Classify the student's question into</a:t>
            </a:r>
          </a:p>
          <a:p>
            <a:pPr>
              <a:spcAft>
                <a:spcPts val="100"/>
              </a:spcAft>
              <a:defRPr sz="1300" b="0">
                <a:solidFill>
                  <a:srgbClr val="FFFFFF"/>
                </a:solidFill>
                <a:latin typeface="Aptos Mono"/>
              </a:defRPr>
            </a:pPr>
            <a:r>
              <a:rPr dirty="0"/>
              <a:t>   exactly one route.</a:t>
            </a:r>
          </a:p>
          <a:p>
            <a:pPr>
              <a:spcAft>
                <a:spcPts val="100"/>
              </a:spcAft>
              <a:defRPr sz="1300" b="0">
                <a:solidFill>
                  <a:srgbClr val="FFFFFF"/>
                </a:solidFill>
                <a:latin typeface="Aptos Mono"/>
              </a:defRPr>
            </a:pPr>
            <a:r>
              <a:rPr dirty="0"/>
              <a:t>   </a:t>
            </a:r>
            <a:r>
              <a:rPr lang="en-US" dirty="0"/>
              <a:t>Conversation</a:t>
            </a:r>
            <a:r>
              <a:rPr dirty="0"/>
              <a:t> </a:t>
            </a:r>
            <a:r>
              <a:rPr lang="en-US" dirty="0"/>
              <a:t>history</a:t>
            </a:r>
            <a:r>
              <a:rPr dirty="0"/>
              <a:t>: {</a:t>
            </a:r>
            <a:r>
              <a:rPr lang="en-US" dirty="0"/>
              <a:t>history</a:t>
            </a:r>
            <a:r>
              <a:rPr dirty="0"/>
              <a:t>}</a:t>
            </a:r>
            <a:endParaRPr lang="en-US" dirty="0"/>
          </a:p>
          <a:p>
            <a:pPr>
              <a:spcAft>
                <a:spcPts val="100"/>
              </a:spcAft>
              <a:defRPr sz="1300" b="0">
                <a:solidFill>
                  <a:srgbClr val="FFFFFF"/>
                </a:solidFill>
                <a:latin typeface="Aptos Mono"/>
              </a:defRPr>
            </a:pPr>
            <a:r>
              <a:rPr lang="en-US" dirty="0"/>
              <a:t>   Available Routes.....</a:t>
            </a:r>
            <a:endParaRPr dirty="0"/>
          </a:p>
          <a:p>
            <a:pPr>
              <a:spcAft>
                <a:spcPts val="100"/>
              </a:spcAft>
              <a:defRPr sz="1300" b="0">
                <a:solidFill>
                  <a:srgbClr val="FFFFFF"/>
                </a:solidFill>
                <a:latin typeface="Aptos Mono"/>
              </a:defRPr>
            </a:pPr>
            <a:r>
              <a:rPr dirty="0"/>
              <a:t>   Return ONLY one exact route value.</a:t>
            </a:r>
          </a:p>
          <a:p>
            <a:pPr>
              <a:spcAft>
                <a:spcPts val="100"/>
              </a:spcAft>
              <a:defRPr sz="1300" b="0">
                <a:solidFill>
                  <a:srgbClr val="FFFFFF"/>
                </a:solidFill>
                <a:latin typeface="Aptos Mono"/>
              </a:defRPr>
            </a:pPr>
            <a:r>
              <a:rPr dirty="0"/>
              <a:t>   Do not answer the student's question."""),</a:t>
            </a:r>
          </a:p>
          <a:p>
            <a:pPr>
              <a:spcAft>
                <a:spcPts val="100"/>
              </a:spcAft>
              <a:defRPr sz="1300" b="0">
                <a:solidFill>
                  <a:srgbClr val="FFFFFF"/>
                </a:solidFill>
                <a:latin typeface="Aptos Mono"/>
              </a:defRPr>
            </a:pPr>
            <a:r>
              <a:rPr dirty="0"/>
              <a:t>  ("human", "{question}")</a:t>
            </a:r>
          </a:p>
          <a:p>
            <a:pPr>
              <a:spcAft>
                <a:spcPts val="100"/>
              </a:spcAft>
              <a:defRPr sz="1300" b="0">
                <a:solidFill>
                  <a:srgbClr val="FFFFFF"/>
                </a:solidFill>
                <a:latin typeface="Aptos Mono"/>
              </a:defRPr>
            </a:pPr>
            <a:r>
              <a:rPr dirty="0"/>
              <a:t>])</a:t>
            </a:r>
          </a:p>
        </p:txBody>
      </p:sp>
      <p:sp>
        <p:nvSpPr>
          <p:cNvPr id="10" name="Rounded Rectangle 9"/>
          <p:cNvSpPr/>
          <p:nvPr/>
        </p:nvSpPr>
        <p:spPr>
          <a:xfrm>
            <a:off x="7470648" y="1636776"/>
            <a:ext cx="4160520" cy="3154680"/>
          </a:xfrm>
          <a:prstGeom prst="roundRect">
            <a:avLst/>
          </a:prstGeom>
          <a:solidFill>
            <a:srgbClr val="EF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08392" y="1819656"/>
            <a:ext cx="3611880" cy="310896"/>
          </a:xfrm>
          <a:prstGeom prst="rect">
            <a:avLst/>
          </a:prstGeom>
          <a:noFill/>
        </p:spPr>
        <p:txBody>
          <a:bodyPr wrap="square" lIns="36576" tIns="18288">
            <a:spAutoFit/>
          </a:bodyPr>
          <a:lstStyle/>
          <a:p>
            <a:pPr>
              <a:spcAft>
                <a:spcPts val="100"/>
              </a:spcAft>
              <a:defRPr sz="1300" b="1">
                <a:solidFill>
                  <a:srgbClr val="1E314C"/>
                </a:solidFill>
                <a:latin typeface="Aptos"/>
              </a:defRPr>
            </a:pPr>
            <a:r>
              <a:t>SIX POSSIBLE ROUTES</a:t>
            </a:r>
          </a:p>
        </p:txBody>
      </p:sp>
      <p:sp>
        <p:nvSpPr>
          <p:cNvPr id="12" name="Rounded Rectangle 11"/>
          <p:cNvSpPr/>
          <p:nvPr/>
        </p:nvSpPr>
        <p:spPr>
          <a:xfrm>
            <a:off x="7708392" y="2212848"/>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36408" y="2249424"/>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course_information</a:t>
            </a:r>
            <a:r>
              <a:rPr lang="en-US" dirty="0"/>
              <a:t> (vector search)</a:t>
            </a:r>
            <a:endParaRPr dirty="0"/>
          </a:p>
        </p:txBody>
      </p:sp>
      <p:sp>
        <p:nvSpPr>
          <p:cNvPr id="14" name="Rounded Rectangle 13"/>
          <p:cNvSpPr/>
          <p:nvPr/>
        </p:nvSpPr>
        <p:spPr>
          <a:xfrm>
            <a:off x="7708392" y="2587752"/>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36408" y="2624328"/>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student_record</a:t>
            </a:r>
            <a:r>
              <a:rPr lang="en-US" dirty="0"/>
              <a:t> (dynamoDB)</a:t>
            </a:r>
            <a:endParaRPr dirty="0"/>
          </a:p>
        </p:txBody>
      </p:sp>
      <p:sp>
        <p:nvSpPr>
          <p:cNvPr id="16" name="Rounded Rectangle 15"/>
          <p:cNvSpPr/>
          <p:nvPr/>
        </p:nvSpPr>
        <p:spPr>
          <a:xfrm>
            <a:off x="7708392" y="2962656"/>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36408" y="2999232"/>
            <a:ext cx="3483864" cy="249299"/>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course_eligibility</a:t>
            </a:r>
            <a:r>
              <a:rPr lang="en-US" dirty="0"/>
              <a:t> (dynamo + Python)</a:t>
            </a:r>
            <a:endParaRPr dirty="0"/>
          </a:p>
        </p:txBody>
      </p:sp>
      <p:sp>
        <p:nvSpPr>
          <p:cNvPr id="18" name="Rounded Rectangle 17"/>
          <p:cNvSpPr/>
          <p:nvPr/>
        </p:nvSpPr>
        <p:spPr>
          <a:xfrm>
            <a:off x="7708392" y="3337560"/>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36408" y="3374136"/>
            <a:ext cx="3383280" cy="246888"/>
          </a:xfrm>
          <a:prstGeom prst="rect">
            <a:avLst/>
          </a:prstGeom>
          <a:noFill/>
        </p:spPr>
        <p:txBody>
          <a:bodyPr wrap="square" lIns="36576" tIns="18288">
            <a:spAutoFit/>
          </a:bodyPr>
          <a:lstStyle/>
          <a:p>
            <a:pPr>
              <a:spcAft>
                <a:spcPts val="100"/>
              </a:spcAft>
              <a:defRPr sz="1200" b="1">
                <a:solidFill>
                  <a:srgbClr val="0099AE"/>
                </a:solidFill>
                <a:latin typeface="Aptos Mono"/>
              </a:defRPr>
            </a:pPr>
            <a:r>
              <a:rPr dirty="0">
                <a:solidFill>
                  <a:srgbClr val="002060"/>
                </a:solidFill>
              </a:rPr>
              <a:t>degree_plan</a:t>
            </a:r>
            <a:r>
              <a:rPr lang="en-US" dirty="0">
                <a:solidFill>
                  <a:srgbClr val="002060"/>
                </a:solidFill>
              </a:rPr>
              <a:t> </a:t>
            </a:r>
            <a:r>
              <a:rPr lang="en-US" dirty="0">
                <a:solidFill>
                  <a:srgbClr val="1E314C"/>
                </a:solidFill>
              </a:rPr>
              <a:t>(dynamo + Python)</a:t>
            </a:r>
            <a:endParaRPr dirty="0">
              <a:solidFill>
                <a:srgbClr val="1E314C"/>
              </a:solidFill>
            </a:endParaRPr>
          </a:p>
        </p:txBody>
      </p:sp>
      <p:sp>
        <p:nvSpPr>
          <p:cNvPr id="20" name="Rounded Rectangle 19"/>
          <p:cNvSpPr/>
          <p:nvPr/>
        </p:nvSpPr>
        <p:spPr>
          <a:xfrm>
            <a:off x="7708392" y="3712463"/>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36408" y="3749039"/>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compare_plans</a:t>
            </a:r>
            <a:r>
              <a:rPr lang="en-US" dirty="0"/>
              <a:t> (dynamo + Python)</a:t>
            </a:r>
            <a:endParaRPr dirty="0"/>
          </a:p>
        </p:txBody>
      </p:sp>
      <p:sp>
        <p:nvSpPr>
          <p:cNvPr id="22" name="Rounded Rectangle 21"/>
          <p:cNvSpPr/>
          <p:nvPr/>
        </p:nvSpPr>
        <p:spPr>
          <a:xfrm>
            <a:off x="7708392" y="4087368"/>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36408" y="4123944"/>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lang="en-US" dirty="0"/>
              <a:t>U</a:t>
            </a:r>
            <a:r>
              <a:rPr dirty="0"/>
              <a:t>nsupported</a:t>
            </a:r>
            <a:r>
              <a:rPr lang="en-US" dirty="0"/>
              <a:t> (fallback response)</a:t>
            </a:r>
            <a:endParaRPr dirty="0"/>
          </a:p>
        </p:txBody>
      </p:sp>
      <p:sp>
        <p:nvSpPr>
          <p:cNvPr id="24" name="Rounded Rectangle 23"/>
          <p:cNvSpPr/>
          <p:nvPr/>
        </p:nvSpPr>
        <p:spPr>
          <a:xfrm>
            <a:off x="548640" y="4983480"/>
            <a:ext cx="6720840" cy="1344168"/>
          </a:xfrm>
          <a:prstGeom prst="roundRect">
            <a:avLst/>
          </a:prstGeom>
          <a:solidFill>
            <a:srgbClr val="EF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8952" y="5102352"/>
            <a:ext cx="6309360" cy="246888"/>
          </a:xfrm>
          <a:prstGeom prst="rect">
            <a:avLst/>
          </a:prstGeom>
          <a:noFill/>
        </p:spPr>
        <p:txBody>
          <a:bodyPr wrap="square" lIns="36576" tIns="18288">
            <a:spAutoFit/>
          </a:bodyPr>
          <a:lstStyle/>
          <a:p>
            <a:pPr>
              <a:spcAft>
                <a:spcPts val="100"/>
              </a:spcAft>
              <a:defRPr sz="1200" b="1">
                <a:solidFill>
                  <a:srgbClr val="0099AE"/>
                </a:solidFill>
                <a:latin typeface="Aptos"/>
              </a:defRPr>
            </a:pPr>
            <a:r>
              <a:rPr dirty="0"/>
              <a:t>02  LANGCHAIN PIPELINE</a:t>
            </a:r>
          </a:p>
        </p:txBody>
      </p:sp>
      <p:sp>
        <p:nvSpPr>
          <p:cNvPr id="26" name="TextBox 25"/>
          <p:cNvSpPr txBox="1"/>
          <p:nvPr/>
        </p:nvSpPr>
        <p:spPr>
          <a:xfrm>
            <a:off x="758952" y="5431536"/>
            <a:ext cx="6510528" cy="264688"/>
          </a:xfrm>
          <a:prstGeom prst="rect">
            <a:avLst/>
          </a:prstGeom>
          <a:noFill/>
        </p:spPr>
        <p:txBody>
          <a:bodyPr wrap="square" lIns="36576" tIns="18288">
            <a:spAutoFit/>
          </a:bodyPr>
          <a:lstStyle/>
          <a:p>
            <a:pPr>
              <a:spcAft>
                <a:spcPts val="100"/>
              </a:spcAft>
              <a:defRPr sz="1300" b="1">
                <a:solidFill>
                  <a:srgbClr val="0D1B30"/>
                </a:solidFill>
                <a:latin typeface="Aptos Mono"/>
              </a:defRPr>
            </a:pPr>
            <a:r>
              <a:rPr dirty="0" err="1"/>
              <a:t>router_chain</a:t>
            </a:r>
            <a:r>
              <a:rPr dirty="0"/>
              <a:t> = (</a:t>
            </a:r>
            <a:r>
              <a:rPr dirty="0" err="1"/>
              <a:t>router_prompt</a:t>
            </a:r>
            <a:r>
              <a:rPr dirty="0"/>
              <a:t> | </a:t>
            </a:r>
            <a:r>
              <a:rPr dirty="0" err="1"/>
              <a:t>router_llm</a:t>
            </a:r>
            <a:r>
              <a:rPr dirty="0"/>
              <a:t> |</a:t>
            </a:r>
            <a:r>
              <a:rPr lang="en-US" dirty="0"/>
              <a:t> </a:t>
            </a:r>
            <a:r>
              <a:rPr dirty="0" err="1"/>
              <a:t>StrOutputParser</a:t>
            </a:r>
            <a:r>
              <a:rPr dirty="0"/>
              <a:t>())</a:t>
            </a:r>
          </a:p>
        </p:txBody>
      </p:sp>
      <p:sp>
        <p:nvSpPr>
          <p:cNvPr id="27" name="Rounded Rectangle 26"/>
          <p:cNvSpPr/>
          <p:nvPr/>
        </p:nvSpPr>
        <p:spPr>
          <a:xfrm>
            <a:off x="7470648" y="4983480"/>
            <a:ext cx="4160520" cy="1344168"/>
          </a:xfrm>
          <a:prstGeom prst="roundRect">
            <a:avLst/>
          </a:prstGeom>
          <a:solidFill>
            <a:srgbClr val="0D1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680960" y="5102352"/>
            <a:ext cx="3749039" cy="246888"/>
          </a:xfrm>
          <a:prstGeom prst="rect">
            <a:avLst/>
          </a:prstGeom>
          <a:noFill/>
        </p:spPr>
        <p:txBody>
          <a:bodyPr wrap="square" lIns="36576" tIns="18288">
            <a:spAutoFit/>
          </a:bodyPr>
          <a:lstStyle/>
          <a:p>
            <a:pPr>
              <a:spcAft>
                <a:spcPts val="100"/>
              </a:spcAft>
              <a:defRPr sz="1200" b="1">
                <a:solidFill>
                  <a:srgbClr val="5EDCE0"/>
                </a:solidFill>
                <a:latin typeface="Aptos"/>
              </a:defRPr>
            </a:pPr>
            <a:r>
              <a:t>03  INVOKE THE CHAIN</a:t>
            </a:r>
          </a:p>
        </p:txBody>
      </p:sp>
      <p:sp>
        <p:nvSpPr>
          <p:cNvPr id="29" name="TextBox 28"/>
          <p:cNvSpPr txBox="1"/>
          <p:nvPr/>
        </p:nvSpPr>
        <p:spPr>
          <a:xfrm>
            <a:off x="7680960" y="5422392"/>
            <a:ext cx="3767328" cy="767903"/>
          </a:xfrm>
          <a:prstGeom prst="rect">
            <a:avLst/>
          </a:prstGeom>
          <a:noFill/>
        </p:spPr>
        <p:txBody>
          <a:bodyPr wrap="square" lIns="36576" tIns="18288">
            <a:spAutoFit/>
          </a:bodyPr>
          <a:lstStyle/>
          <a:p>
            <a:pPr>
              <a:spcAft>
                <a:spcPts val="100"/>
              </a:spcAft>
              <a:defRPr sz="1080" b="0">
                <a:solidFill>
                  <a:srgbClr val="FFFFFF"/>
                </a:solidFill>
                <a:latin typeface="Aptos Mono"/>
              </a:defRPr>
            </a:pPr>
            <a:r>
              <a:rPr dirty="0"/>
              <a:t>decision = </a:t>
            </a:r>
            <a:r>
              <a:rPr dirty="0" err="1"/>
              <a:t>router_chain.invoke</a:t>
            </a:r>
            <a:r>
              <a:rPr dirty="0"/>
              <a:t>({</a:t>
            </a:r>
          </a:p>
          <a:p>
            <a:pPr>
              <a:spcAft>
                <a:spcPts val="100"/>
              </a:spcAft>
              <a:defRPr sz="1080" b="0">
                <a:solidFill>
                  <a:srgbClr val="FFFFFF"/>
                </a:solidFill>
                <a:latin typeface="Aptos Mono"/>
              </a:defRPr>
            </a:pPr>
            <a:r>
              <a:rPr dirty="0"/>
              <a:t>  "question": question,</a:t>
            </a:r>
          </a:p>
          <a:p>
            <a:pPr>
              <a:spcAft>
                <a:spcPts val="100"/>
              </a:spcAft>
              <a:defRPr sz="1080" b="0">
                <a:solidFill>
                  <a:srgbClr val="FFFFFF"/>
                </a:solidFill>
                <a:latin typeface="Aptos Mono"/>
              </a:defRPr>
            </a:pPr>
            <a:r>
              <a:rPr dirty="0"/>
              <a:t>  "</a:t>
            </a:r>
            <a:r>
              <a:rPr lang="en-US" dirty="0"/>
              <a:t>history</a:t>
            </a:r>
            <a:r>
              <a:rPr dirty="0"/>
              <a:t>": </a:t>
            </a:r>
            <a:r>
              <a:rPr lang="en-US" dirty="0" err="1"/>
              <a:t>history_text</a:t>
            </a:r>
            <a:endParaRPr dirty="0"/>
          </a:p>
          <a:p>
            <a:pPr>
              <a:spcAft>
                <a:spcPts val="100"/>
              </a:spcAft>
              <a:defRPr sz="1080" b="0">
                <a:solidFill>
                  <a:srgbClr val="FFFFFF"/>
                </a:solidFill>
                <a:latin typeface="Aptos Mono"/>
              </a:defRPr>
            </a:pPr>
            <a:r>
              <a:rPr dirty="0"/>
              <a:t>})</a:t>
            </a:r>
          </a:p>
        </p:txBody>
      </p:sp>
      <p:sp>
        <p:nvSpPr>
          <p:cNvPr id="30" name="TextBox 29"/>
          <p:cNvSpPr txBox="1"/>
          <p:nvPr/>
        </p:nvSpPr>
        <p:spPr>
          <a:xfrm>
            <a:off x="594360" y="6510528"/>
            <a:ext cx="10972800" cy="201168"/>
          </a:xfrm>
          <a:prstGeom prst="rect">
            <a:avLst/>
          </a:prstGeom>
          <a:noFill/>
        </p:spPr>
        <p:txBody>
          <a:bodyPr wrap="square" lIns="36576" tIns="18288">
            <a:spAutoFit/>
          </a:bodyPr>
          <a:lstStyle/>
          <a:p>
            <a:pPr>
              <a:spcAft>
                <a:spcPts val="100"/>
              </a:spcAft>
              <a:defRPr sz="1100" b="0">
                <a:solidFill>
                  <a:srgbClr val="5F7083"/>
                </a:solidFill>
                <a:latin typeface="Aptos"/>
              </a:defRPr>
            </a:pPr>
            <a:r>
              <a:t>The LLM classifies intent only; Python dispatches the selected advising workflow.</a:t>
            </a:r>
          </a:p>
        </p:txBody>
      </p:sp>
      <p:sp>
        <p:nvSpPr>
          <p:cNvPr id="31" name="Rectangle 30">
            <a:extLst>
              <a:ext uri="{FF2B5EF4-FFF2-40B4-BE49-F238E27FC236}">
                <a16:creationId xmlns:a16="http://schemas.microsoft.com/office/drawing/2014/main" id="{69E11393-CAF6-ADAA-B4DE-06C5DE863C1D}"/>
              </a:ext>
            </a:extLst>
          </p:cNvPr>
          <p:cNvSpPr/>
          <p:nvPr/>
        </p:nvSpPr>
        <p:spPr>
          <a:xfrm>
            <a:off x="0" y="0"/>
            <a:ext cx="12191695" cy="82296"/>
          </a:xfrm>
          <a:prstGeom prst="rect">
            <a:avLst/>
          </a:prstGeom>
          <a:solidFill>
            <a:srgbClr val="0C35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sp>
        <p:nvSpPr>
          <p:cNvPr id="529" name="Google Shape;529;p10"/>
          <p:cNvSpPr/>
          <p:nvPr/>
        </p:nvSpPr>
        <p:spPr>
          <a:xfrm>
            <a:off x="0" y="0"/>
            <a:ext cx="12191695" cy="82296"/>
          </a:xfrm>
          <a:prstGeom prst="rect">
            <a:avLst/>
          </a:prstGeom>
          <a:solidFill>
            <a:srgbClr val="0C356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0" name="Google Shape;530;p10"/>
          <p:cNvSpPr txBox="1"/>
          <p:nvPr/>
        </p:nvSpPr>
        <p:spPr>
          <a:xfrm>
            <a:off x="521207" y="246888"/>
            <a:ext cx="6400800"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300" b="1" i="0" u="none" strike="noStrike" cap="none">
                <a:solidFill>
                  <a:srgbClr val="0055A4"/>
                </a:solidFill>
                <a:latin typeface="Arial"/>
                <a:ea typeface="Arial"/>
                <a:cs typeface="Arial"/>
                <a:sym typeface="Arial"/>
              </a:rPr>
              <a:t>UTA • TEAM 2 AI ADVISOR</a:t>
            </a:r>
            <a:endParaRPr/>
          </a:p>
        </p:txBody>
      </p:sp>
      <p:sp>
        <p:nvSpPr>
          <p:cNvPr id="531" name="Google Shape;531;p10"/>
          <p:cNvSpPr txBox="1"/>
          <p:nvPr/>
        </p:nvSpPr>
        <p:spPr>
          <a:xfrm>
            <a:off x="521207" y="630936"/>
            <a:ext cx="10972800" cy="4955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2800" b="1" i="0" u="none" strike="noStrike" cap="none">
                <a:solidFill>
                  <a:srgbClr val="0C3568"/>
                </a:solidFill>
                <a:latin typeface="Arial"/>
                <a:ea typeface="Arial"/>
                <a:cs typeface="Arial"/>
                <a:sym typeface="Arial"/>
              </a:rPr>
              <a:t>Path A: RAG / Vector Search Retrieval</a:t>
            </a:r>
            <a:endParaRPr/>
          </a:p>
        </p:txBody>
      </p:sp>
      <p:sp>
        <p:nvSpPr>
          <p:cNvPr id="532" name="Google Shape;532;p10"/>
          <p:cNvSpPr/>
          <p:nvPr/>
        </p:nvSpPr>
        <p:spPr>
          <a:xfrm>
            <a:off x="502920" y="1271016"/>
            <a:ext cx="11338560" cy="22860"/>
          </a:xfrm>
          <a:prstGeom prst="rect">
            <a:avLst/>
          </a:prstGeom>
          <a:solidFill>
            <a:srgbClr val="CDD7E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3" name="Google Shape;533;p10"/>
          <p:cNvSpPr txBox="1"/>
          <p:nvPr/>
        </p:nvSpPr>
        <p:spPr>
          <a:xfrm>
            <a:off x="740664" y="1435608"/>
            <a:ext cx="10972800" cy="41148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500" b="0" i="0" u="none" strike="noStrike" cap="none">
                <a:solidFill>
                  <a:srgbClr val="596E88"/>
                </a:solidFill>
                <a:latin typeface="Arial"/>
                <a:ea typeface="Arial"/>
                <a:cs typeface="Arial"/>
                <a:sym typeface="Arial"/>
              </a:rPr>
              <a:t>LangChain first routes the question; course-information requests enter the RAG pipeline</a:t>
            </a:r>
            <a:endParaRPr/>
          </a:p>
        </p:txBody>
      </p:sp>
      <p:sp>
        <p:nvSpPr>
          <p:cNvPr id="534" name="Google Shape;534;p10"/>
          <p:cNvSpPr/>
          <p:nvPr/>
        </p:nvSpPr>
        <p:spPr>
          <a:xfrm>
            <a:off x="521207"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5" name="Google Shape;535;p10"/>
          <p:cNvSpPr/>
          <p:nvPr/>
        </p:nvSpPr>
        <p:spPr>
          <a:xfrm>
            <a:off x="640080" y="2276856"/>
            <a:ext cx="393192" cy="393192"/>
          </a:xfrm>
          <a:prstGeom prst="roundRect">
            <a:avLst>
              <a:gd name="adj" fmla="val 16667"/>
            </a:avLst>
          </a:prstGeom>
          <a:solidFill>
            <a:srgbClr val="002060"/>
          </a:solidFill>
          <a:ln w="9525" cap="flat" cmpd="sng">
            <a:solidFill>
              <a:srgbClr val="00206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6" name="Google Shape;536;p10"/>
          <p:cNvSpPr txBox="1"/>
          <p:nvPr/>
        </p:nvSpPr>
        <p:spPr>
          <a:xfrm>
            <a:off x="731519" y="2322576"/>
            <a:ext cx="237744" cy="228600"/>
          </a:xfrm>
          <a:prstGeom prst="rect">
            <a:avLst/>
          </a:prstGeom>
          <a:noFill/>
          <a:ln w="9525" cap="flat" cmpd="sng">
            <a:solidFill>
              <a:srgbClr val="002060"/>
            </a:solidFill>
            <a:prstDash val="solid"/>
            <a:round/>
            <a:headEnd type="none" w="sm" len="sm"/>
            <a:tailEnd type="none" w="sm" len="sm"/>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1</a:t>
            </a:r>
            <a:endParaRPr/>
          </a:p>
        </p:txBody>
      </p:sp>
      <p:sp>
        <p:nvSpPr>
          <p:cNvPr id="537" name="Google Shape;537;p10"/>
          <p:cNvSpPr txBox="1"/>
          <p:nvPr/>
        </p:nvSpPr>
        <p:spPr>
          <a:xfrm>
            <a:off x="649224"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Question</a:t>
            </a:r>
            <a:endParaRPr/>
          </a:p>
        </p:txBody>
      </p:sp>
      <p:sp>
        <p:nvSpPr>
          <p:cNvPr id="538" name="Google Shape;538;p10"/>
          <p:cNvSpPr txBox="1"/>
          <p:nvPr/>
        </p:nvSpPr>
        <p:spPr>
          <a:xfrm>
            <a:off x="649224"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“What is CSE 4308 about?”</a:t>
            </a:r>
            <a:endParaRPr/>
          </a:p>
        </p:txBody>
      </p:sp>
      <p:sp>
        <p:nvSpPr>
          <p:cNvPr id="540" name="Google Shape;540;p10"/>
          <p:cNvSpPr/>
          <p:nvPr/>
        </p:nvSpPr>
        <p:spPr>
          <a:xfrm>
            <a:off x="2409444"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1" name="Google Shape;541;p10"/>
          <p:cNvSpPr/>
          <p:nvPr/>
        </p:nvSpPr>
        <p:spPr>
          <a:xfrm>
            <a:off x="2528316"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2" name="Google Shape;542;p10"/>
          <p:cNvSpPr txBox="1"/>
          <p:nvPr/>
        </p:nvSpPr>
        <p:spPr>
          <a:xfrm>
            <a:off x="2619756"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2</a:t>
            </a:r>
            <a:endParaRPr/>
          </a:p>
        </p:txBody>
      </p:sp>
      <p:sp>
        <p:nvSpPr>
          <p:cNvPr id="543" name="Google Shape;543;p10"/>
          <p:cNvSpPr txBox="1"/>
          <p:nvPr/>
        </p:nvSpPr>
        <p:spPr>
          <a:xfrm>
            <a:off x="2537460"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LLM routing</a:t>
            </a:r>
            <a:endParaRPr/>
          </a:p>
        </p:txBody>
      </p:sp>
      <p:sp>
        <p:nvSpPr>
          <p:cNvPr id="544" name="Google Shape;544;p10"/>
          <p:cNvSpPr txBox="1"/>
          <p:nvPr/>
        </p:nvSpPr>
        <p:spPr>
          <a:xfrm>
            <a:off x="2537460" y="3383280"/>
            <a:ext cx="1504188" cy="618631"/>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Bedrock classifies question → course_information</a:t>
            </a:r>
            <a:endParaRPr/>
          </a:p>
        </p:txBody>
      </p:sp>
      <p:sp>
        <p:nvSpPr>
          <p:cNvPr id="546" name="Google Shape;546;p10"/>
          <p:cNvSpPr/>
          <p:nvPr/>
        </p:nvSpPr>
        <p:spPr>
          <a:xfrm>
            <a:off x="4297680"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7" name="Google Shape;547;p10"/>
          <p:cNvSpPr/>
          <p:nvPr/>
        </p:nvSpPr>
        <p:spPr>
          <a:xfrm>
            <a:off x="4416552"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8" name="Google Shape;548;p10"/>
          <p:cNvSpPr txBox="1"/>
          <p:nvPr/>
        </p:nvSpPr>
        <p:spPr>
          <a:xfrm>
            <a:off x="4507992"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3</a:t>
            </a:r>
            <a:endParaRPr/>
          </a:p>
        </p:txBody>
      </p:sp>
      <p:sp>
        <p:nvSpPr>
          <p:cNvPr id="549" name="Google Shape;549;p10"/>
          <p:cNvSpPr txBox="1"/>
          <p:nvPr/>
        </p:nvSpPr>
        <p:spPr>
          <a:xfrm>
            <a:off x="4425696"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Embed query</a:t>
            </a:r>
            <a:endParaRPr/>
          </a:p>
        </p:txBody>
      </p:sp>
      <p:sp>
        <p:nvSpPr>
          <p:cNvPr id="550" name="Google Shape;550;p10"/>
          <p:cNvSpPr txBox="1"/>
          <p:nvPr/>
        </p:nvSpPr>
        <p:spPr>
          <a:xfrm>
            <a:off x="4425696"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Titan Embed v2 converts question to vector</a:t>
            </a:r>
            <a:endParaRPr/>
          </a:p>
        </p:txBody>
      </p:sp>
      <p:sp>
        <p:nvSpPr>
          <p:cNvPr id="552" name="Google Shape;552;p10"/>
          <p:cNvSpPr/>
          <p:nvPr/>
        </p:nvSpPr>
        <p:spPr>
          <a:xfrm>
            <a:off x="6185916"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53" name="Google Shape;553;p10"/>
          <p:cNvSpPr/>
          <p:nvPr/>
        </p:nvSpPr>
        <p:spPr>
          <a:xfrm>
            <a:off x="6304788"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54" name="Google Shape;554;p10"/>
          <p:cNvSpPr txBox="1"/>
          <p:nvPr/>
        </p:nvSpPr>
        <p:spPr>
          <a:xfrm>
            <a:off x="6396228"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4</a:t>
            </a:r>
            <a:endParaRPr/>
          </a:p>
        </p:txBody>
      </p:sp>
      <p:sp>
        <p:nvSpPr>
          <p:cNvPr id="555" name="Google Shape;555;p10"/>
          <p:cNvSpPr txBox="1"/>
          <p:nvPr/>
        </p:nvSpPr>
        <p:spPr>
          <a:xfrm>
            <a:off x="6313932"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Vector search</a:t>
            </a:r>
            <a:endParaRPr/>
          </a:p>
        </p:txBody>
      </p:sp>
      <p:sp>
        <p:nvSpPr>
          <p:cNvPr id="556" name="Google Shape;556;p10"/>
          <p:cNvSpPr txBox="1"/>
          <p:nvPr/>
        </p:nvSpPr>
        <p:spPr>
          <a:xfrm>
            <a:off x="6313932" y="3383280"/>
            <a:ext cx="1504188" cy="618631"/>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ChromaDB provides relevant document chunks</a:t>
            </a:r>
            <a:endParaRPr/>
          </a:p>
        </p:txBody>
      </p:sp>
      <p:sp>
        <p:nvSpPr>
          <p:cNvPr id="558" name="Google Shape;558;p10"/>
          <p:cNvSpPr/>
          <p:nvPr/>
        </p:nvSpPr>
        <p:spPr>
          <a:xfrm>
            <a:off x="8074152"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59" name="Google Shape;559;p10"/>
          <p:cNvSpPr/>
          <p:nvPr/>
        </p:nvSpPr>
        <p:spPr>
          <a:xfrm>
            <a:off x="8193024"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0" name="Google Shape;560;p10"/>
          <p:cNvSpPr txBox="1"/>
          <p:nvPr/>
        </p:nvSpPr>
        <p:spPr>
          <a:xfrm>
            <a:off x="8284464"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5</a:t>
            </a:r>
            <a:endParaRPr/>
          </a:p>
        </p:txBody>
      </p:sp>
      <p:sp>
        <p:nvSpPr>
          <p:cNvPr id="561" name="Google Shape;561;p10"/>
          <p:cNvSpPr txBox="1"/>
          <p:nvPr/>
        </p:nvSpPr>
        <p:spPr>
          <a:xfrm>
            <a:off x="8202168"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Prompt assembly</a:t>
            </a:r>
            <a:endParaRPr/>
          </a:p>
        </p:txBody>
      </p:sp>
      <p:sp>
        <p:nvSpPr>
          <p:cNvPr id="562" name="Google Shape;562;p10"/>
          <p:cNvSpPr txBox="1"/>
          <p:nvPr/>
        </p:nvSpPr>
        <p:spPr>
          <a:xfrm>
            <a:off x="8202168"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LangChain combines question + context</a:t>
            </a:r>
            <a:endParaRPr/>
          </a:p>
        </p:txBody>
      </p:sp>
      <p:sp>
        <p:nvSpPr>
          <p:cNvPr id="564" name="Google Shape;564;p10"/>
          <p:cNvSpPr/>
          <p:nvPr/>
        </p:nvSpPr>
        <p:spPr>
          <a:xfrm>
            <a:off x="9962388"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5" name="Google Shape;565;p10"/>
          <p:cNvSpPr/>
          <p:nvPr/>
        </p:nvSpPr>
        <p:spPr>
          <a:xfrm>
            <a:off x="10081260"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6" name="Google Shape;566;p10"/>
          <p:cNvSpPr txBox="1"/>
          <p:nvPr/>
        </p:nvSpPr>
        <p:spPr>
          <a:xfrm>
            <a:off x="10172700"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6</a:t>
            </a:r>
            <a:endParaRPr/>
          </a:p>
        </p:txBody>
      </p:sp>
      <p:sp>
        <p:nvSpPr>
          <p:cNvPr id="567" name="Google Shape;567;p10"/>
          <p:cNvSpPr txBox="1"/>
          <p:nvPr/>
        </p:nvSpPr>
        <p:spPr>
          <a:xfrm>
            <a:off x="10090404"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LLM response</a:t>
            </a:r>
            <a:endParaRPr/>
          </a:p>
        </p:txBody>
      </p:sp>
      <p:sp>
        <p:nvSpPr>
          <p:cNvPr id="568" name="Google Shape;568;p10"/>
          <p:cNvSpPr txBox="1"/>
          <p:nvPr/>
        </p:nvSpPr>
        <p:spPr>
          <a:xfrm>
            <a:off x="10090404"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Bedrock Gemma generates grounded answer</a:t>
            </a:r>
            <a:endParaRPr/>
          </a:p>
        </p:txBody>
      </p:sp>
      <p:sp>
        <p:nvSpPr>
          <p:cNvPr id="569" name="Google Shape;569;p10"/>
          <p:cNvSpPr/>
          <p:nvPr/>
        </p:nvSpPr>
        <p:spPr>
          <a:xfrm>
            <a:off x="786384" y="4974336"/>
            <a:ext cx="10652760" cy="804672"/>
          </a:xfrm>
          <a:prstGeom prst="roundRect">
            <a:avLst>
              <a:gd name="adj" fmla="val 16667"/>
            </a:avLst>
          </a:prstGeom>
          <a:solidFill>
            <a:srgbClr val="EA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70" name="Google Shape;570;p10"/>
          <p:cNvSpPr txBox="1"/>
          <p:nvPr/>
        </p:nvSpPr>
        <p:spPr>
          <a:xfrm>
            <a:off x="987552" y="5157216"/>
            <a:ext cx="10332720" cy="438912"/>
          </a:xfrm>
          <a:prstGeom prst="rect">
            <a:avLst/>
          </a:prstGeom>
          <a:noFill/>
          <a:ln>
            <a:noFill/>
          </a:ln>
        </p:spPr>
        <p:txBody>
          <a:bodyPr spcFirstLastPara="1" wrap="square" lIns="27425" tIns="18275" rIns="91425" bIns="45700" anchor="t" anchorCtr="0">
            <a:spAutoFit/>
          </a:bodyPr>
          <a:lstStyle/>
          <a:p>
            <a:pPr marL="0" marR="0" lvl="0" indent="0" algn="ctr" rtl="0">
              <a:spcBef>
                <a:spcPts val="0"/>
              </a:spcBef>
              <a:spcAft>
                <a:spcPts val="0"/>
              </a:spcAft>
              <a:buNone/>
            </a:pPr>
            <a:r>
              <a:rPr lang="en-US" sz="1400" b="1" i="0" u="none" strike="noStrike" cap="none">
                <a:solidFill>
                  <a:srgbClr val="0C3568"/>
                </a:solidFill>
                <a:latin typeface="Arial"/>
                <a:ea typeface="Arial"/>
                <a:cs typeface="Arial"/>
                <a:sym typeface="Arial"/>
              </a:rPr>
              <a:t>Routing decision: only course_information uses RAG; other routes use their own advising workflows.</a:t>
            </a:r>
            <a:endParaRPr/>
          </a:p>
        </p:txBody>
      </p:sp>
      <p:sp>
        <p:nvSpPr>
          <p:cNvPr id="571" name="Google Shape;571;p10"/>
          <p:cNvSpPr txBox="1"/>
          <p:nvPr/>
        </p:nvSpPr>
        <p:spPr>
          <a:xfrm>
            <a:off x="530352" y="6519672"/>
            <a:ext cx="6400800" cy="20116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900" b="0" i="0" u="none" strike="noStrike" cap="none">
                <a:solidFill>
                  <a:srgbClr val="596E88"/>
                </a:solidFill>
                <a:latin typeface="Arial"/>
                <a:ea typeface="Arial"/>
                <a:cs typeface="Arial"/>
                <a:sym typeface="Arial"/>
              </a:rPr>
              <a:t>CSE 4392 / 5320  •  TEAM ASSIGNMENT 2</a:t>
            </a:r>
            <a:endParaRPr/>
          </a:p>
        </p:txBody>
      </p:sp>
      <p:sp>
        <p:nvSpPr>
          <p:cNvPr id="539" name="Google Shape;539;p10"/>
          <p:cNvSpPr txBox="1"/>
          <p:nvPr/>
        </p:nvSpPr>
        <p:spPr>
          <a:xfrm>
            <a:off x="2258568" y="3136392"/>
            <a:ext cx="164592" cy="326210"/>
          </a:xfrm>
          <a:prstGeom prst="rect">
            <a:avLst/>
          </a:prstGeom>
          <a:noFill/>
          <a:ln>
            <a:noFill/>
          </a:ln>
        </p:spPr>
        <p:txBody>
          <a:bodyPr spcFirstLastPara="1" wrap="square" lIns="27425" tIns="18275" rIns="91425" bIns="45700" anchor="t" anchorCtr="0">
            <a:spAutoFit/>
          </a:bodyPr>
          <a:lstStyle/>
          <a:p>
            <a:pPr lvl="1"/>
            <a:r>
              <a:rPr lang="en-US" sz="1700" b="1" i="0" u="none" strike="noStrike" cap="none" dirty="0">
                <a:solidFill>
                  <a:srgbClr val="F57725"/>
                </a:solidFill>
                <a:latin typeface="Arial"/>
                <a:ea typeface="Arial"/>
                <a:cs typeface="Arial"/>
                <a:sym typeface="Arial"/>
              </a:rPr>
              <a:t>→</a:t>
            </a:r>
            <a:endParaRPr dirty="0"/>
          </a:p>
        </p:txBody>
      </p:sp>
      <p:sp>
        <p:nvSpPr>
          <p:cNvPr id="545" name="Google Shape;545;p10"/>
          <p:cNvSpPr txBox="1"/>
          <p:nvPr/>
        </p:nvSpPr>
        <p:spPr>
          <a:xfrm>
            <a:off x="4146804"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
        <p:nvSpPr>
          <p:cNvPr id="551" name="Google Shape;551;p10"/>
          <p:cNvSpPr txBox="1"/>
          <p:nvPr/>
        </p:nvSpPr>
        <p:spPr>
          <a:xfrm>
            <a:off x="6035040"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
        <p:nvSpPr>
          <p:cNvPr id="557" name="Google Shape;557;p10"/>
          <p:cNvSpPr txBox="1"/>
          <p:nvPr/>
        </p:nvSpPr>
        <p:spPr>
          <a:xfrm>
            <a:off x="7923276"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
        <p:nvSpPr>
          <p:cNvPr id="563" name="Google Shape;563;p10"/>
          <p:cNvSpPr txBox="1"/>
          <p:nvPr/>
        </p:nvSpPr>
        <p:spPr>
          <a:xfrm>
            <a:off x="9811512"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11"/>
          <p:cNvSpPr/>
          <p:nvPr/>
        </p:nvSpPr>
        <p:spPr>
          <a:xfrm>
            <a:off x="0" y="0"/>
            <a:ext cx="12191695" cy="82296"/>
          </a:xfrm>
          <a:prstGeom prst="rect">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77" name="Google Shape;577;p11"/>
          <p:cNvSpPr txBox="1"/>
          <p:nvPr/>
        </p:nvSpPr>
        <p:spPr>
          <a:xfrm>
            <a:off x="548640" y="292608"/>
            <a:ext cx="5486400" cy="27432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400" b="1" i="0" u="none" strike="noStrike" cap="none">
                <a:solidFill>
                  <a:srgbClr val="0058A6"/>
                </a:solidFill>
                <a:latin typeface="Arial"/>
                <a:ea typeface="Arial"/>
                <a:cs typeface="Arial"/>
                <a:sym typeface="Arial"/>
              </a:rPr>
              <a:t>UTA • TEAM 2 AI ADVISOR</a:t>
            </a:r>
            <a:endParaRPr/>
          </a:p>
        </p:txBody>
      </p:sp>
      <p:sp>
        <p:nvSpPr>
          <p:cNvPr id="578" name="Google Shape;578;p11"/>
          <p:cNvSpPr txBox="1"/>
          <p:nvPr/>
        </p:nvSpPr>
        <p:spPr>
          <a:xfrm>
            <a:off x="548640" y="704088"/>
            <a:ext cx="10972800" cy="54864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3100" b="1" i="0" u="none" strike="noStrike" cap="none">
                <a:solidFill>
                  <a:srgbClr val="0D3162"/>
                </a:solidFill>
                <a:latin typeface="Arial"/>
                <a:ea typeface="Arial"/>
                <a:cs typeface="Arial"/>
                <a:sym typeface="Arial"/>
              </a:rPr>
              <a:t>Path B: Student Academic Record Retrieval</a:t>
            </a:r>
            <a:endParaRPr/>
          </a:p>
        </p:txBody>
      </p:sp>
      <p:sp>
        <p:nvSpPr>
          <p:cNvPr id="579" name="Google Shape;579;p11"/>
          <p:cNvSpPr/>
          <p:nvPr/>
        </p:nvSpPr>
        <p:spPr>
          <a:xfrm>
            <a:off x="502920" y="1289304"/>
            <a:ext cx="11475720" cy="22860"/>
          </a:xfrm>
          <a:prstGeom prst="rect">
            <a:avLst/>
          </a:prstGeom>
          <a:solidFill>
            <a:srgbClr val="C5D2D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0" name="Google Shape;580;p11"/>
          <p:cNvSpPr txBox="1"/>
          <p:nvPr/>
        </p:nvSpPr>
        <p:spPr>
          <a:xfrm>
            <a:off x="777240" y="1481328"/>
            <a:ext cx="10972800" cy="41148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900" b="0" i="0" u="none" strike="noStrike" cap="none">
                <a:solidFill>
                  <a:srgbClr val="546C89"/>
                </a:solidFill>
                <a:latin typeface="Arial"/>
                <a:ea typeface="Arial"/>
                <a:cs typeface="Arial"/>
                <a:sym typeface="Arial"/>
              </a:rPr>
              <a:t>LangChain routes student-record questions to authenticated academic data retrieval</a:t>
            </a:r>
            <a:endParaRPr/>
          </a:p>
        </p:txBody>
      </p:sp>
      <p:sp>
        <p:nvSpPr>
          <p:cNvPr id="581" name="Google Shape;581;p11"/>
          <p:cNvSpPr/>
          <p:nvPr/>
        </p:nvSpPr>
        <p:spPr>
          <a:xfrm>
            <a:off x="530352"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2" name="Google Shape;582;p11"/>
          <p:cNvSpPr/>
          <p:nvPr/>
        </p:nvSpPr>
        <p:spPr>
          <a:xfrm>
            <a:off x="649224"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3" name="Google Shape;583;p11"/>
          <p:cNvSpPr txBox="1"/>
          <p:nvPr/>
        </p:nvSpPr>
        <p:spPr>
          <a:xfrm>
            <a:off x="754380"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1</a:t>
            </a:r>
            <a:endParaRPr/>
          </a:p>
        </p:txBody>
      </p:sp>
      <p:sp>
        <p:nvSpPr>
          <p:cNvPr id="584" name="Google Shape;584;p11"/>
          <p:cNvSpPr txBox="1"/>
          <p:nvPr/>
        </p:nvSpPr>
        <p:spPr>
          <a:xfrm>
            <a:off x="685800"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Question</a:t>
            </a:r>
            <a:endParaRPr/>
          </a:p>
        </p:txBody>
      </p:sp>
      <p:sp>
        <p:nvSpPr>
          <p:cNvPr id="585" name="Google Shape;585;p11"/>
          <p:cNvSpPr txBox="1"/>
          <p:nvPr/>
        </p:nvSpPr>
        <p:spPr>
          <a:xfrm>
            <a:off x="685800"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“What courses have I taken?”</a:t>
            </a:r>
            <a:endParaRPr/>
          </a:p>
        </p:txBody>
      </p:sp>
      <p:sp>
        <p:nvSpPr>
          <p:cNvPr id="586" name="Google Shape;586;p11"/>
          <p:cNvSpPr/>
          <p:nvPr/>
        </p:nvSpPr>
        <p:spPr>
          <a:xfrm>
            <a:off x="2468880"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7" name="Google Shape;587;p11"/>
          <p:cNvSpPr/>
          <p:nvPr/>
        </p:nvSpPr>
        <p:spPr>
          <a:xfrm>
            <a:off x="2587752"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8" name="Google Shape;588;p11"/>
          <p:cNvSpPr txBox="1"/>
          <p:nvPr/>
        </p:nvSpPr>
        <p:spPr>
          <a:xfrm>
            <a:off x="2692908"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2</a:t>
            </a:r>
            <a:endParaRPr/>
          </a:p>
        </p:txBody>
      </p:sp>
      <p:sp>
        <p:nvSpPr>
          <p:cNvPr id="589" name="Google Shape;589;p11"/>
          <p:cNvSpPr txBox="1"/>
          <p:nvPr/>
        </p:nvSpPr>
        <p:spPr>
          <a:xfrm>
            <a:off x="2624328"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LLM routing</a:t>
            </a:r>
            <a:endParaRPr/>
          </a:p>
        </p:txBody>
      </p:sp>
      <p:sp>
        <p:nvSpPr>
          <p:cNvPr id="590" name="Google Shape;590;p11"/>
          <p:cNvSpPr txBox="1"/>
          <p:nvPr/>
        </p:nvSpPr>
        <p:spPr>
          <a:xfrm>
            <a:off x="2624328" y="3438144"/>
            <a:ext cx="1499616" cy="655564"/>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Bedrock classifies question →</a:t>
            </a:r>
            <a:endParaRPr/>
          </a:p>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student_record</a:t>
            </a:r>
            <a:endParaRPr/>
          </a:p>
        </p:txBody>
      </p:sp>
      <p:sp>
        <p:nvSpPr>
          <p:cNvPr id="591" name="Google Shape;591;p11"/>
          <p:cNvSpPr/>
          <p:nvPr/>
        </p:nvSpPr>
        <p:spPr>
          <a:xfrm>
            <a:off x="4407408"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2" name="Google Shape;592;p11"/>
          <p:cNvSpPr/>
          <p:nvPr/>
        </p:nvSpPr>
        <p:spPr>
          <a:xfrm>
            <a:off x="4526280"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3" name="Google Shape;593;p11"/>
          <p:cNvSpPr txBox="1"/>
          <p:nvPr/>
        </p:nvSpPr>
        <p:spPr>
          <a:xfrm>
            <a:off x="4631436"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3</a:t>
            </a:r>
            <a:endParaRPr/>
          </a:p>
        </p:txBody>
      </p:sp>
      <p:sp>
        <p:nvSpPr>
          <p:cNvPr id="594" name="Google Shape;594;p11"/>
          <p:cNvSpPr txBox="1"/>
          <p:nvPr/>
        </p:nvSpPr>
        <p:spPr>
          <a:xfrm>
            <a:off x="4562856"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Student identity</a:t>
            </a:r>
            <a:endParaRPr/>
          </a:p>
        </p:txBody>
      </p:sp>
      <p:sp>
        <p:nvSpPr>
          <p:cNvPr id="595" name="Google Shape;595;p11"/>
          <p:cNvSpPr txBox="1"/>
          <p:nvPr/>
        </p:nvSpPr>
        <p:spPr>
          <a:xfrm>
            <a:off x="4562856"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Cognito identifies the authenticated student</a:t>
            </a:r>
            <a:endParaRPr/>
          </a:p>
        </p:txBody>
      </p:sp>
      <p:sp>
        <p:nvSpPr>
          <p:cNvPr id="596" name="Google Shape;596;p11"/>
          <p:cNvSpPr/>
          <p:nvPr/>
        </p:nvSpPr>
        <p:spPr>
          <a:xfrm>
            <a:off x="6345936"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7" name="Google Shape;597;p11"/>
          <p:cNvSpPr/>
          <p:nvPr/>
        </p:nvSpPr>
        <p:spPr>
          <a:xfrm>
            <a:off x="6464808"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8" name="Google Shape;598;p11"/>
          <p:cNvSpPr txBox="1"/>
          <p:nvPr/>
        </p:nvSpPr>
        <p:spPr>
          <a:xfrm>
            <a:off x="6569964"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4</a:t>
            </a:r>
            <a:endParaRPr/>
          </a:p>
        </p:txBody>
      </p:sp>
      <p:sp>
        <p:nvSpPr>
          <p:cNvPr id="599" name="Google Shape;599;p11"/>
          <p:cNvSpPr txBox="1"/>
          <p:nvPr/>
        </p:nvSpPr>
        <p:spPr>
          <a:xfrm>
            <a:off x="6501384"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Student record</a:t>
            </a:r>
            <a:endParaRPr/>
          </a:p>
        </p:txBody>
      </p:sp>
      <p:sp>
        <p:nvSpPr>
          <p:cNvPr id="600" name="Google Shape;600;p11"/>
          <p:cNvSpPr txBox="1"/>
          <p:nvPr/>
        </p:nvSpPr>
        <p:spPr>
          <a:xfrm>
            <a:off x="6459040" y="3438144"/>
            <a:ext cx="1706552" cy="655564"/>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Query DynamoDB for completed courses, grades &amp; credits</a:t>
            </a:r>
            <a:endParaRPr/>
          </a:p>
        </p:txBody>
      </p:sp>
      <p:sp>
        <p:nvSpPr>
          <p:cNvPr id="601" name="Google Shape;601;p11"/>
          <p:cNvSpPr/>
          <p:nvPr/>
        </p:nvSpPr>
        <p:spPr>
          <a:xfrm>
            <a:off x="8284464"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2" name="Google Shape;602;p11"/>
          <p:cNvSpPr/>
          <p:nvPr/>
        </p:nvSpPr>
        <p:spPr>
          <a:xfrm>
            <a:off x="8403336"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3" name="Google Shape;603;p11"/>
          <p:cNvSpPr txBox="1"/>
          <p:nvPr/>
        </p:nvSpPr>
        <p:spPr>
          <a:xfrm>
            <a:off x="8508492"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5</a:t>
            </a:r>
            <a:endParaRPr/>
          </a:p>
        </p:txBody>
      </p:sp>
      <p:sp>
        <p:nvSpPr>
          <p:cNvPr id="604" name="Google Shape;604;p11"/>
          <p:cNvSpPr txBox="1"/>
          <p:nvPr/>
        </p:nvSpPr>
        <p:spPr>
          <a:xfrm>
            <a:off x="8439912"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Record summary</a:t>
            </a:r>
            <a:endParaRPr/>
          </a:p>
        </p:txBody>
      </p:sp>
      <p:sp>
        <p:nvSpPr>
          <p:cNvPr id="605" name="Google Shape;605;p11"/>
          <p:cNvSpPr txBox="1"/>
          <p:nvPr/>
        </p:nvSpPr>
        <p:spPr>
          <a:xfrm>
            <a:off x="8439912"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Python organizes records and calculates totals from available data</a:t>
            </a:r>
            <a:endParaRPr/>
          </a:p>
        </p:txBody>
      </p:sp>
      <p:sp>
        <p:nvSpPr>
          <p:cNvPr id="606" name="Google Shape;606;p11"/>
          <p:cNvSpPr/>
          <p:nvPr/>
        </p:nvSpPr>
        <p:spPr>
          <a:xfrm>
            <a:off x="10222992"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7" name="Google Shape;607;p11"/>
          <p:cNvSpPr/>
          <p:nvPr/>
        </p:nvSpPr>
        <p:spPr>
          <a:xfrm>
            <a:off x="10341864"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8" name="Google Shape;608;p11"/>
          <p:cNvSpPr txBox="1"/>
          <p:nvPr/>
        </p:nvSpPr>
        <p:spPr>
          <a:xfrm>
            <a:off x="10447020"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6</a:t>
            </a:r>
            <a:endParaRPr/>
          </a:p>
        </p:txBody>
      </p:sp>
      <p:sp>
        <p:nvSpPr>
          <p:cNvPr id="609" name="Google Shape;609;p11"/>
          <p:cNvSpPr txBox="1"/>
          <p:nvPr/>
        </p:nvSpPr>
        <p:spPr>
          <a:xfrm>
            <a:off x="10378440"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LLM response</a:t>
            </a:r>
            <a:endParaRPr/>
          </a:p>
        </p:txBody>
      </p:sp>
      <p:sp>
        <p:nvSpPr>
          <p:cNvPr id="610" name="Google Shape;610;p11"/>
          <p:cNvSpPr txBox="1"/>
          <p:nvPr/>
        </p:nvSpPr>
        <p:spPr>
          <a:xfrm>
            <a:off x="10378440"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Bedrock explains the student’s courses, grades &amp; credits</a:t>
            </a:r>
            <a:endParaRPr/>
          </a:p>
        </p:txBody>
      </p:sp>
      <p:sp>
        <p:nvSpPr>
          <p:cNvPr id="611" name="Google Shape;611;p11"/>
          <p:cNvSpPr/>
          <p:nvPr/>
        </p:nvSpPr>
        <p:spPr>
          <a:xfrm>
            <a:off x="786384" y="5001768"/>
            <a:ext cx="10634472" cy="804672"/>
          </a:xfrm>
          <a:prstGeom prst="roundRect">
            <a:avLst>
              <a:gd name="adj" fmla="val 16667"/>
            </a:avLst>
          </a:prstGeom>
          <a:solidFill>
            <a:srgbClr val="E9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12" name="Google Shape;612;p11"/>
          <p:cNvSpPr txBox="1"/>
          <p:nvPr/>
        </p:nvSpPr>
        <p:spPr>
          <a:xfrm>
            <a:off x="1024128" y="5248656"/>
            <a:ext cx="10149840" cy="365760"/>
          </a:xfrm>
          <a:prstGeom prst="rect">
            <a:avLst/>
          </a:prstGeom>
          <a:noFill/>
          <a:ln>
            <a:noFill/>
          </a:ln>
        </p:spPr>
        <p:txBody>
          <a:bodyPr spcFirstLastPara="1" wrap="square" lIns="0" tIns="0" rIns="91425" bIns="45700" anchor="t" anchorCtr="0">
            <a:spAutoFit/>
          </a:bodyPr>
          <a:lstStyle/>
          <a:p>
            <a:pPr marL="0" marR="0" lvl="0" indent="0" algn="ctr" rtl="0">
              <a:spcBef>
                <a:spcPts val="0"/>
              </a:spcBef>
              <a:spcAft>
                <a:spcPts val="0"/>
              </a:spcAft>
              <a:buNone/>
            </a:pPr>
            <a:r>
              <a:rPr lang="en-US" sz="1600" b="1" i="0" u="none" strike="noStrike" cap="none">
                <a:solidFill>
                  <a:srgbClr val="0D3162"/>
                </a:solidFill>
                <a:latin typeface="Arial"/>
                <a:ea typeface="Arial"/>
                <a:cs typeface="Arial"/>
                <a:sym typeface="Arial"/>
              </a:rPr>
              <a:t>Routing decision: student_record → verified student identity → DynamoDB → organized academic records → explained result.</a:t>
            </a:r>
            <a:endParaRPr/>
          </a:p>
        </p:txBody>
      </p:sp>
      <p:sp>
        <p:nvSpPr>
          <p:cNvPr id="613" name="Google Shape;613;p11"/>
          <p:cNvSpPr txBox="1"/>
          <p:nvPr/>
        </p:nvSpPr>
        <p:spPr>
          <a:xfrm>
            <a:off x="566928" y="6537960"/>
            <a:ext cx="4572000" cy="18288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900" b="0" i="0" u="none" strike="noStrike" cap="none">
                <a:solidFill>
                  <a:srgbClr val="546C89"/>
                </a:solidFill>
                <a:latin typeface="Arial"/>
                <a:ea typeface="Arial"/>
                <a:cs typeface="Arial"/>
                <a:sym typeface="Arial"/>
              </a:rPr>
              <a:t>CSE 4392 / 5320  •  TEAM ASSIGNMENT 2</a:t>
            </a:r>
            <a:endParaRPr/>
          </a:p>
        </p:txBody>
      </p:sp>
      <p:sp>
        <p:nvSpPr>
          <p:cNvPr id="614" name="Google Shape;614;p11"/>
          <p:cNvSpPr txBox="1"/>
          <p:nvPr/>
        </p:nvSpPr>
        <p:spPr>
          <a:xfrm>
            <a:off x="2290467"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5" name="Google Shape;615;p11"/>
          <p:cNvSpPr txBox="1"/>
          <p:nvPr/>
        </p:nvSpPr>
        <p:spPr>
          <a:xfrm>
            <a:off x="4229147" y="3118670"/>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6" name="Google Shape;616;p11"/>
          <p:cNvSpPr txBox="1"/>
          <p:nvPr/>
        </p:nvSpPr>
        <p:spPr>
          <a:xfrm>
            <a:off x="6178460" y="3122208"/>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7" name="Google Shape;617;p11"/>
          <p:cNvSpPr txBox="1"/>
          <p:nvPr/>
        </p:nvSpPr>
        <p:spPr>
          <a:xfrm>
            <a:off x="8117135" y="3125746"/>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8" name="Google Shape;618;p11"/>
          <p:cNvSpPr txBox="1"/>
          <p:nvPr/>
        </p:nvSpPr>
        <p:spPr>
          <a:xfrm>
            <a:off x="10055810" y="311865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9" name="Google Shape;619;p11"/>
          <p:cNvSpPr txBox="1"/>
          <p:nvPr/>
        </p:nvSpPr>
        <p:spPr>
          <a:xfrm>
            <a:off x="5136730" y="2291126"/>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20" name="Google Shape;620;p11"/>
          <p:cNvSpPr txBox="1"/>
          <p:nvPr/>
        </p:nvSpPr>
        <p:spPr>
          <a:xfrm>
            <a:off x="7075258" y="2274774"/>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21" name="Google Shape;621;p11"/>
          <p:cNvSpPr txBox="1"/>
          <p:nvPr/>
        </p:nvSpPr>
        <p:spPr>
          <a:xfrm>
            <a:off x="9022823" y="2321121"/>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5"/>
        <p:cNvGrpSpPr/>
        <p:nvPr/>
      </p:nvGrpSpPr>
      <p:grpSpPr>
        <a:xfrm>
          <a:off x="0" y="0"/>
          <a:ext cx="0" cy="0"/>
          <a:chOff x="0" y="0"/>
          <a:chExt cx="0" cy="0"/>
        </a:xfrm>
      </p:grpSpPr>
      <p:sp>
        <p:nvSpPr>
          <p:cNvPr id="626" name="Google Shape;626;p12"/>
          <p:cNvSpPr/>
          <p:nvPr/>
        </p:nvSpPr>
        <p:spPr>
          <a:xfrm>
            <a:off x="0" y="0"/>
            <a:ext cx="12191695" cy="82296"/>
          </a:xfrm>
          <a:prstGeom prst="rect">
            <a:avLst/>
          </a:prstGeom>
          <a:solidFill>
            <a:srgbClr val="0D366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27" name="Google Shape;627;p12"/>
          <p:cNvSpPr txBox="1"/>
          <p:nvPr/>
        </p:nvSpPr>
        <p:spPr>
          <a:xfrm>
            <a:off x="539496" y="274320"/>
            <a:ext cx="6400800" cy="22860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300" b="1" i="0" u="none" strike="noStrike" cap="none">
                <a:solidFill>
                  <a:srgbClr val="00549D"/>
                </a:solidFill>
                <a:latin typeface="Arial"/>
                <a:ea typeface="Arial"/>
                <a:cs typeface="Arial"/>
                <a:sym typeface="Arial"/>
              </a:rPr>
              <a:t>UTA • TEAM 2 AI ADVISOR</a:t>
            </a:r>
            <a:endParaRPr/>
          </a:p>
        </p:txBody>
      </p:sp>
      <p:sp>
        <p:nvSpPr>
          <p:cNvPr id="628" name="Google Shape;628;p12"/>
          <p:cNvSpPr txBox="1"/>
          <p:nvPr/>
        </p:nvSpPr>
        <p:spPr>
          <a:xfrm>
            <a:off x="539496" y="667512"/>
            <a:ext cx="10972800" cy="50292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2900" b="1" i="0" u="none" strike="noStrike" cap="none">
                <a:solidFill>
                  <a:srgbClr val="0D3669"/>
                </a:solidFill>
                <a:latin typeface="Arial"/>
                <a:ea typeface="Arial"/>
                <a:cs typeface="Arial"/>
                <a:sym typeface="Arial"/>
              </a:rPr>
              <a:t>Path B: Student Course Eligibility</a:t>
            </a:r>
            <a:endParaRPr/>
          </a:p>
        </p:txBody>
      </p:sp>
      <p:sp>
        <p:nvSpPr>
          <p:cNvPr id="629" name="Google Shape;629;p12"/>
          <p:cNvSpPr/>
          <p:nvPr/>
        </p:nvSpPr>
        <p:spPr>
          <a:xfrm>
            <a:off x="512064" y="1280160"/>
            <a:ext cx="11384280" cy="22860"/>
          </a:xfrm>
          <a:prstGeom prst="rect">
            <a:avLst/>
          </a:prstGeom>
          <a:solidFill>
            <a:srgbClr val="C7D3D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0" name="Google Shape;630;p12"/>
          <p:cNvSpPr txBox="1"/>
          <p:nvPr/>
        </p:nvSpPr>
        <p:spPr>
          <a:xfrm>
            <a:off x="768096" y="1481328"/>
            <a:ext cx="10972800" cy="3840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800" b="0" i="0" u="none" strike="noStrike" cap="none">
                <a:solidFill>
                  <a:srgbClr val="536B87"/>
                </a:solidFill>
                <a:latin typeface="Arial"/>
                <a:ea typeface="Arial"/>
                <a:cs typeface="Arial"/>
                <a:sym typeface="Arial"/>
              </a:rPr>
              <a:t>LangChain routes student-specific questions to structured academic rule checks</a:t>
            </a:r>
            <a:endParaRPr/>
          </a:p>
        </p:txBody>
      </p:sp>
      <p:sp>
        <p:nvSpPr>
          <p:cNvPr id="631" name="Google Shape;631;p12"/>
          <p:cNvSpPr/>
          <p:nvPr/>
        </p:nvSpPr>
        <p:spPr>
          <a:xfrm>
            <a:off x="54406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2" name="Google Shape;632;p12"/>
          <p:cNvSpPr/>
          <p:nvPr/>
        </p:nvSpPr>
        <p:spPr>
          <a:xfrm>
            <a:off x="521207"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3" name="Google Shape;633;p12"/>
          <p:cNvSpPr/>
          <p:nvPr/>
        </p:nvSpPr>
        <p:spPr>
          <a:xfrm>
            <a:off x="64922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4" name="Google Shape;634;p12"/>
          <p:cNvSpPr txBox="1"/>
          <p:nvPr/>
        </p:nvSpPr>
        <p:spPr>
          <a:xfrm>
            <a:off x="64922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1</a:t>
            </a:r>
            <a:endParaRPr/>
          </a:p>
        </p:txBody>
      </p:sp>
      <p:sp>
        <p:nvSpPr>
          <p:cNvPr id="635" name="Google Shape;635;p12"/>
          <p:cNvSpPr txBox="1"/>
          <p:nvPr/>
        </p:nvSpPr>
        <p:spPr>
          <a:xfrm>
            <a:off x="67665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Question</a:t>
            </a:r>
            <a:endParaRPr/>
          </a:p>
        </p:txBody>
      </p:sp>
      <p:sp>
        <p:nvSpPr>
          <p:cNvPr id="636" name="Google Shape;636;p12"/>
          <p:cNvSpPr txBox="1"/>
          <p:nvPr/>
        </p:nvSpPr>
        <p:spPr>
          <a:xfrm>
            <a:off x="67665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“Can I take CSE</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4308?”</a:t>
            </a:r>
            <a:endParaRPr/>
          </a:p>
        </p:txBody>
      </p:sp>
      <p:sp>
        <p:nvSpPr>
          <p:cNvPr id="637" name="Google Shape;637;p12"/>
          <p:cNvSpPr/>
          <p:nvPr/>
        </p:nvSpPr>
        <p:spPr>
          <a:xfrm>
            <a:off x="2435352"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8" name="Google Shape;638;p12"/>
          <p:cNvSpPr/>
          <p:nvPr/>
        </p:nvSpPr>
        <p:spPr>
          <a:xfrm>
            <a:off x="2412492"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9" name="Google Shape;639;p12"/>
          <p:cNvSpPr/>
          <p:nvPr/>
        </p:nvSpPr>
        <p:spPr>
          <a:xfrm>
            <a:off x="2540508"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0" name="Google Shape;640;p12"/>
          <p:cNvSpPr txBox="1"/>
          <p:nvPr/>
        </p:nvSpPr>
        <p:spPr>
          <a:xfrm>
            <a:off x="2540508"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2</a:t>
            </a:r>
            <a:endParaRPr/>
          </a:p>
        </p:txBody>
      </p:sp>
      <p:sp>
        <p:nvSpPr>
          <p:cNvPr id="641" name="Google Shape;641;p12"/>
          <p:cNvSpPr txBox="1"/>
          <p:nvPr/>
        </p:nvSpPr>
        <p:spPr>
          <a:xfrm>
            <a:off x="2567940"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LLM routing</a:t>
            </a:r>
            <a:endParaRPr/>
          </a:p>
        </p:txBody>
      </p:sp>
      <p:sp>
        <p:nvSpPr>
          <p:cNvPr id="642" name="Google Shape;642;p12"/>
          <p:cNvSpPr txBox="1"/>
          <p:nvPr/>
        </p:nvSpPr>
        <p:spPr>
          <a:xfrm>
            <a:off x="2567940" y="3419856"/>
            <a:ext cx="1479804" cy="6232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Bedrock classifies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question →</a:t>
            </a:r>
            <a:endParaRPr/>
          </a:p>
          <a:p>
            <a:pPr marL="0" marR="0" lvl="0" indent="0" algn="l" rtl="0">
              <a:spcBef>
                <a:spcPts val="0"/>
              </a:spcBef>
              <a:spcAft>
                <a:spcPts val="0"/>
              </a:spcAft>
              <a:buNone/>
            </a:pPr>
            <a:r>
              <a:rPr lang="en-US" sz="1250" b="1" i="0" u="none" strike="noStrike" cap="none">
                <a:solidFill>
                  <a:srgbClr val="002060"/>
                </a:solidFill>
                <a:latin typeface="Arial"/>
                <a:ea typeface="Arial"/>
                <a:cs typeface="Arial"/>
                <a:sym typeface="Arial"/>
              </a:rPr>
              <a:t>course_eligibility</a:t>
            </a:r>
            <a:endParaRPr sz="1800" b="1" i="0" u="none" strike="noStrike" cap="none">
              <a:solidFill>
                <a:srgbClr val="002060"/>
              </a:solidFill>
              <a:latin typeface="Calibri"/>
              <a:ea typeface="Calibri"/>
              <a:cs typeface="Calibri"/>
              <a:sym typeface="Calibri"/>
            </a:endParaRPr>
          </a:p>
        </p:txBody>
      </p:sp>
      <p:sp>
        <p:nvSpPr>
          <p:cNvPr id="643" name="Google Shape;643;p12"/>
          <p:cNvSpPr/>
          <p:nvPr/>
        </p:nvSpPr>
        <p:spPr>
          <a:xfrm>
            <a:off x="4326636"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4" name="Google Shape;644;p12"/>
          <p:cNvSpPr/>
          <p:nvPr/>
        </p:nvSpPr>
        <p:spPr>
          <a:xfrm>
            <a:off x="4303776"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5" name="Google Shape;645;p12"/>
          <p:cNvSpPr/>
          <p:nvPr/>
        </p:nvSpPr>
        <p:spPr>
          <a:xfrm>
            <a:off x="4431792"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6" name="Google Shape;646;p12"/>
          <p:cNvSpPr txBox="1"/>
          <p:nvPr/>
        </p:nvSpPr>
        <p:spPr>
          <a:xfrm>
            <a:off x="4431792"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3</a:t>
            </a:r>
            <a:endParaRPr/>
          </a:p>
        </p:txBody>
      </p:sp>
      <p:sp>
        <p:nvSpPr>
          <p:cNvPr id="647" name="Google Shape;647;p12"/>
          <p:cNvSpPr txBox="1"/>
          <p:nvPr/>
        </p:nvSpPr>
        <p:spPr>
          <a:xfrm>
            <a:off x="4459224"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Student record</a:t>
            </a:r>
            <a:endParaRPr/>
          </a:p>
        </p:txBody>
      </p:sp>
      <p:sp>
        <p:nvSpPr>
          <p:cNvPr id="648" name="Google Shape;648;p12"/>
          <p:cNvSpPr txBox="1"/>
          <p:nvPr/>
        </p:nvSpPr>
        <p:spPr>
          <a:xfrm>
            <a:off x="4459224" y="3419856"/>
            <a:ext cx="1479804" cy="6232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Query DynamoDB for</a:t>
            </a: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completed courses,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grades &amp; credits</a:t>
            </a:r>
            <a:endParaRPr/>
          </a:p>
        </p:txBody>
      </p:sp>
      <p:sp>
        <p:nvSpPr>
          <p:cNvPr id="649" name="Google Shape;649;p12"/>
          <p:cNvSpPr/>
          <p:nvPr/>
        </p:nvSpPr>
        <p:spPr>
          <a:xfrm>
            <a:off x="6217920"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0" name="Google Shape;650;p12"/>
          <p:cNvSpPr/>
          <p:nvPr/>
        </p:nvSpPr>
        <p:spPr>
          <a:xfrm>
            <a:off x="6195060"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1" name="Google Shape;651;p12"/>
          <p:cNvSpPr/>
          <p:nvPr/>
        </p:nvSpPr>
        <p:spPr>
          <a:xfrm>
            <a:off x="6323076"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2" name="Google Shape;652;p12"/>
          <p:cNvSpPr txBox="1"/>
          <p:nvPr/>
        </p:nvSpPr>
        <p:spPr>
          <a:xfrm>
            <a:off x="6323076"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4</a:t>
            </a:r>
            <a:endParaRPr/>
          </a:p>
        </p:txBody>
      </p:sp>
      <p:sp>
        <p:nvSpPr>
          <p:cNvPr id="653" name="Google Shape;653;p12"/>
          <p:cNvSpPr txBox="1"/>
          <p:nvPr/>
        </p:nvSpPr>
        <p:spPr>
          <a:xfrm>
            <a:off x="6350508" y="2907791"/>
            <a:ext cx="1470660" cy="307777"/>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Prerequisites</a:t>
            </a:r>
            <a:endParaRPr sz="1800" b="0" i="0" u="none" strike="noStrike" cap="none">
              <a:solidFill>
                <a:schemeClr val="dk1"/>
              </a:solidFill>
              <a:latin typeface="Calibri"/>
              <a:ea typeface="Calibri"/>
              <a:cs typeface="Calibri"/>
              <a:sym typeface="Calibri"/>
            </a:endParaRPr>
          </a:p>
        </p:txBody>
      </p:sp>
      <p:sp>
        <p:nvSpPr>
          <p:cNvPr id="654" name="Google Shape;654;p12"/>
          <p:cNvSpPr txBox="1"/>
          <p:nvPr/>
        </p:nvSpPr>
        <p:spPr>
          <a:xfrm>
            <a:off x="6350508" y="3419856"/>
            <a:ext cx="1479804" cy="81560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Query DynamoDB for</a:t>
            </a: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CSE 4308 prerequisites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and course rules</a:t>
            </a:r>
            <a:endParaRPr/>
          </a:p>
        </p:txBody>
      </p:sp>
      <p:sp>
        <p:nvSpPr>
          <p:cNvPr id="655" name="Google Shape;655;p12"/>
          <p:cNvSpPr/>
          <p:nvPr/>
        </p:nvSpPr>
        <p:spPr>
          <a:xfrm>
            <a:off x="8109204"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6" name="Google Shape;656;p12"/>
          <p:cNvSpPr/>
          <p:nvPr/>
        </p:nvSpPr>
        <p:spPr>
          <a:xfrm>
            <a:off x="8086344"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7" name="Google Shape;657;p12"/>
          <p:cNvSpPr/>
          <p:nvPr/>
        </p:nvSpPr>
        <p:spPr>
          <a:xfrm>
            <a:off x="8214360"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8" name="Google Shape;658;p12"/>
          <p:cNvSpPr txBox="1"/>
          <p:nvPr/>
        </p:nvSpPr>
        <p:spPr>
          <a:xfrm>
            <a:off x="8214360"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5</a:t>
            </a:r>
            <a:endParaRPr/>
          </a:p>
        </p:txBody>
      </p:sp>
      <p:sp>
        <p:nvSpPr>
          <p:cNvPr id="659" name="Google Shape;659;p12"/>
          <p:cNvSpPr txBox="1"/>
          <p:nvPr/>
        </p:nvSpPr>
        <p:spPr>
          <a:xfrm>
            <a:off x="8241792"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Eligibility check</a:t>
            </a:r>
            <a:endParaRPr/>
          </a:p>
        </p:txBody>
      </p:sp>
      <p:sp>
        <p:nvSpPr>
          <p:cNvPr id="660" name="Google Shape;660;p12"/>
          <p:cNvSpPr txBox="1"/>
          <p:nvPr/>
        </p:nvSpPr>
        <p:spPr>
          <a:xfrm>
            <a:off x="8194916" y="3419856"/>
            <a:ext cx="1612968" cy="81560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Python validates grades and prerequisites using Dynamodb records</a:t>
            </a:r>
            <a:endParaRPr sz="1800" b="0" i="0" u="none" strike="noStrike" cap="none">
              <a:solidFill>
                <a:schemeClr val="dk1"/>
              </a:solidFill>
              <a:latin typeface="Calibri"/>
              <a:ea typeface="Calibri"/>
              <a:cs typeface="Calibri"/>
              <a:sym typeface="Calibri"/>
            </a:endParaRPr>
          </a:p>
        </p:txBody>
      </p:sp>
      <p:sp>
        <p:nvSpPr>
          <p:cNvPr id="661" name="Google Shape;661;p12"/>
          <p:cNvSpPr/>
          <p:nvPr/>
        </p:nvSpPr>
        <p:spPr>
          <a:xfrm>
            <a:off x="1000048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2" name="Google Shape;662;p12"/>
          <p:cNvSpPr/>
          <p:nvPr/>
        </p:nvSpPr>
        <p:spPr>
          <a:xfrm>
            <a:off x="9977628"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3" name="Google Shape;663;p12"/>
          <p:cNvSpPr/>
          <p:nvPr/>
        </p:nvSpPr>
        <p:spPr>
          <a:xfrm>
            <a:off x="1010564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4" name="Google Shape;664;p12"/>
          <p:cNvSpPr txBox="1"/>
          <p:nvPr/>
        </p:nvSpPr>
        <p:spPr>
          <a:xfrm>
            <a:off x="1010564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6</a:t>
            </a:r>
            <a:endParaRPr/>
          </a:p>
        </p:txBody>
      </p:sp>
      <p:sp>
        <p:nvSpPr>
          <p:cNvPr id="665" name="Google Shape;665;p12"/>
          <p:cNvSpPr txBox="1"/>
          <p:nvPr/>
        </p:nvSpPr>
        <p:spPr>
          <a:xfrm>
            <a:off x="1013307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LLM response</a:t>
            </a:r>
            <a:endParaRPr/>
          </a:p>
        </p:txBody>
      </p:sp>
      <p:sp>
        <p:nvSpPr>
          <p:cNvPr id="666" name="Google Shape;666;p12"/>
          <p:cNvSpPr txBox="1"/>
          <p:nvPr/>
        </p:nvSpPr>
        <p:spPr>
          <a:xfrm>
            <a:off x="1013307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Bedrock explains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Eligible / Not eligible</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and the reason</a:t>
            </a:r>
            <a:endParaRPr/>
          </a:p>
        </p:txBody>
      </p:sp>
      <p:sp>
        <p:nvSpPr>
          <p:cNvPr id="667" name="Google Shape;667;p12"/>
          <p:cNvSpPr/>
          <p:nvPr/>
        </p:nvSpPr>
        <p:spPr>
          <a:xfrm>
            <a:off x="804672" y="4974336"/>
            <a:ext cx="10762488" cy="813816"/>
          </a:xfrm>
          <a:prstGeom prst="roundRect">
            <a:avLst>
              <a:gd name="adj" fmla="val 16667"/>
            </a:avLst>
          </a:prstGeom>
          <a:solidFill>
            <a:srgbClr val="E9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8" name="Google Shape;668;p12"/>
          <p:cNvSpPr txBox="1"/>
          <p:nvPr/>
        </p:nvSpPr>
        <p:spPr>
          <a:xfrm>
            <a:off x="1051560" y="5230368"/>
            <a:ext cx="10287000" cy="33832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500" b="1" i="0" u="none" strike="noStrike" cap="none">
                <a:solidFill>
                  <a:srgbClr val="0D3669"/>
                </a:solidFill>
                <a:latin typeface="Arial"/>
                <a:ea typeface="Arial"/>
                <a:cs typeface="Arial"/>
                <a:sym typeface="Arial"/>
              </a:rPr>
              <a:t>Routing decision: course_eligibility → structured student data + Python rule validation → explained result.</a:t>
            </a:r>
            <a:endParaRPr/>
          </a:p>
        </p:txBody>
      </p:sp>
      <p:sp>
        <p:nvSpPr>
          <p:cNvPr id="669" name="Google Shape;669;p12"/>
          <p:cNvSpPr txBox="1"/>
          <p:nvPr/>
        </p:nvSpPr>
        <p:spPr>
          <a:xfrm>
            <a:off x="539496" y="6537960"/>
            <a:ext cx="6400800" cy="16459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900" b="0" i="0" u="none" strike="noStrike" cap="none">
                <a:solidFill>
                  <a:srgbClr val="536B87"/>
                </a:solidFill>
                <a:latin typeface="Arial"/>
                <a:ea typeface="Arial"/>
                <a:cs typeface="Arial"/>
                <a:sym typeface="Arial"/>
              </a:rPr>
              <a:t>CSE 4392 / 5320  •  TEAM ASSIGNMENT 2</a:t>
            </a:r>
            <a:endParaRPr/>
          </a:p>
        </p:txBody>
      </p:sp>
      <p:sp>
        <p:nvSpPr>
          <p:cNvPr id="670" name="Google Shape;670;p12"/>
          <p:cNvSpPr txBox="1"/>
          <p:nvPr/>
        </p:nvSpPr>
        <p:spPr>
          <a:xfrm>
            <a:off x="2258568"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1" name="Google Shape;671;p12"/>
          <p:cNvSpPr txBox="1"/>
          <p:nvPr/>
        </p:nvSpPr>
        <p:spPr>
          <a:xfrm>
            <a:off x="4154716" y="3118670"/>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2" name="Google Shape;672;p12"/>
          <p:cNvSpPr txBox="1"/>
          <p:nvPr/>
        </p:nvSpPr>
        <p:spPr>
          <a:xfrm>
            <a:off x="6040231" y="3122208"/>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3" name="Google Shape;673;p12"/>
          <p:cNvSpPr txBox="1"/>
          <p:nvPr/>
        </p:nvSpPr>
        <p:spPr>
          <a:xfrm>
            <a:off x="7925746" y="3125746"/>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4" name="Google Shape;674;p12"/>
          <p:cNvSpPr txBox="1"/>
          <p:nvPr/>
        </p:nvSpPr>
        <p:spPr>
          <a:xfrm>
            <a:off x="9821890" y="311865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5" name="Google Shape;675;p12"/>
          <p:cNvSpPr txBox="1"/>
          <p:nvPr/>
        </p:nvSpPr>
        <p:spPr>
          <a:xfrm>
            <a:off x="4957572" y="2287812"/>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76" name="Google Shape;676;p12"/>
          <p:cNvSpPr txBox="1"/>
          <p:nvPr/>
        </p:nvSpPr>
        <p:spPr>
          <a:xfrm>
            <a:off x="6894576" y="2280493"/>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77" name="Google Shape;677;p12"/>
          <p:cNvSpPr txBox="1"/>
          <p:nvPr/>
        </p:nvSpPr>
        <p:spPr>
          <a:xfrm>
            <a:off x="8740140" y="2268372"/>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81"/>
        <p:cNvGrpSpPr/>
        <p:nvPr/>
      </p:nvGrpSpPr>
      <p:grpSpPr>
        <a:xfrm>
          <a:off x="0" y="0"/>
          <a:ext cx="0" cy="0"/>
          <a:chOff x="0" y="0"/>
          <a:chExt cx="0" cy="0"/>
        </a:xfrm>
      </p:grpSpPr>
      <p:sp>
        <p:nvSpPr>
          <p:cNvPr id="682" name="Google Shape;682;p13"/>
          <p:cNvSpPr/>
          <p:nvPr/>
        </p:nvSpPr>
        <p:spPr>
          <a:xfrm>
            <a:off x="0" y="0"/>
            <a:ext cx="12191695" cy="82296"/>
          </a:xfrm>
          <a:prstGeom prst="rect">
            <a:avLst/>
          </a:prstGeom>
          <a:solidFill>
            <a:srgbClr val="0D366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3" name="Google Shape;683;p13"/>
          <p:cNvSpPr txBox="1"/>
          <p:nvPr/>
        </p:nvSpPr>
        <p:spPr>
          <a:xfrm>
            <a:off x="539496" y="274320"/>
            <a:ext cx="6400800" cy="22860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300" b="1" i="0" u="none" strike="noStrike" cap="none">
                <a:solidFill>
                  <a:srgbClr val="00549D"/>
                </a:solidFill>
                <a:latin typeface="Arial"/>
                <a:ea typeface="Arial"/>
                <a:cs typeface="Arial"/>
                <a:sym typeface="Arial"/>
              </a:rPr>
              <a:t>UTA • TEAM 2 AI ADVISOR</a:t>
            </a:r>
            <a:endParaRPr/>
          </a:p>
        </p:txBody>
      </p:sp>
      <p:sp>
        <p:nvSpPr>
          <p:cNvPr id="684" name="Google Shape;684;p13"/>
          <p:cNvSpPr txBox="1"/>
          <p:nvPr/>
        </p:nvSpPr>
        <p:spPr>
          <a:xfrm>
            <a:off x="539496" y="667512"/>
            <a:ext cx="10972800" cy="50292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2900" b="1" i="0" u="none" strike="noStrike" cap="none">
                <a:solidFill>
                  <a:srgbClr val="0D3669"/>
                </a:solidFill>
                <a:latin typeface="Arial"/>
                <a:ea typeface="Arial"/>
                <a:cs typeface="Arial"/>
                <a:sym typeface="Arial"/>
              </a:rPr>
              <a:t>Path B: Personalized Degree Plan Generation</a:t>
            </a:r>
            <a:endParaRPr/>
          </a:p>
        </p:txBody>
      </p:sp>
      <p:sp>
        <p:nvSpPr>
          <p:cNvPr id="685" name="Google Shape;685;p13"/>
          <p:cNvSpPr/>
          <p:nvPr/>
        </p:nvSpPr>
        <p:spPr>
          <a:xfrm>
            <a:off x="512064" y="1280160"/>
            <a:ext cx="11384280" cy="22860"/>
          </a:xfrm>
          <a:prstGeom prst="rect">
            <a:avLst/>
          </a:prstGeom>
          <a:solidFill>
            <a:srgbClr val="C7D3D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6" name="Google Shape;686;p13"/>
          <p:cNvSpPr txBox="1"/>
          <p:nvPr/>
        </p:nvSpPr>
        <p:spPr>
          <a:xfrm>
            <a:off x="768096" y="1481328"/>
            <a:ext cx="10972800" cy="3840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800" b="0" i="0" u="none" strike="noStrike" cap="none">
                <a:solidFill>
                  <a:srgbClr val="536B87"/>
                </a:solidFill>
                <a:latin typeface="Arial"/>
                <a:ea typeface="Arial"/>
                <a:cs typeface="Arial"/>
                <a:sym typeface="Arial"/>
              </a:rPr>
              <a:t>LangChain routes degree-plan requests to student records and degree requirement analysis</a:t>
            </a:r>
            <a:endParaRPr/>
          </a:p>
        </p:txBody>
      </p:sp>
      <p:sp>
        <p:nvSpPr>
          <p:cNvPr id="687" name="Google Shape;687;p13"/>
          <p:cNvSpPr/>
          <p:nvPr/>
        </p:nvSpPr>
        <p:spPr>
          <a:xfrm>
            <a:off x="54406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8" name="Google Shape;688;p13"/>
          <p:cNvSpPr/>
          <p:nvPr/>
        </p:nvSpPr>
        <p:spPr>
          <a:xfrm>
            <a:off x="521207"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9" name="Google Shape;689;p13"/>
          <p:cNvSpPr/>
          <p:nvPr/>
        </p:nvSpPr>
        <p:spPr>
          <a:xfrm>
            <a:off x="64922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0" name="Google Shape;690;p13"/>
          <p:cNvSpPr txBox="1"/>
          <p:nvPr/>
        </p:nvSpPr>
        <p:spPr>
          <a:xfrm>
            <a:off x="64922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1</a:t>
            </a:r>
            <a:endParaRPr/>
          </a:p>
        </p:txBody>
      </p:sp>
      <p:sp>
        <p:nvSpPr>
          <p:cNvPr id="691" name="Google Shape;691;p13"/>
          <p:cNvSpPr txBox="1"/>
          <p:nvPr/>
        </p:nvSpPr>
        <p:spPr>
          <a:xfrm>
            <a:off x="67665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Question</a:t>
            </a:r>
            <a:endParaRPr/>
          </a:p>
        </p:txBody>
      </p:sp>
      <p:sp>
        <p:nvSpPr>
          <p:cNvPr id="692" name="Google Shape;692;p13"/>
          <p:cNvSpPr txBox="1"/>
          <p:nvPr/>
        </p:nvSpPr>
        <p:spPr>
          <a:xfrm>
            <a:off x="67665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“Generate my</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degree plan.”</a:t>
            </a:r>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3" name="Google Shape;693;p13"/>
          <p:cNvSpPr/>
          <p:nvPr/>
        </p:nvSpPr>
        <p:spPr>
          <a:xfrm>
            <a:off x="2435352"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4" name="Google Shape;694;p13"/>
          <p:cNvSpPr/>
          <p:nvPr/>
        </p:nvSpPr>
        <p:spPr>
          <a:xfrm>
            <a:off x="2412492"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5" name="Google Shape;695;p13"/>
          <p:cNvSpPr/>
          <p:nvPr/>
        </p:nvSpPr>
        <p:spPr>
          <a:xfrm>
            <a:off x="2540508"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6" name="Google Shape;696;p13"/>
          <p:cNvSpPr txBox="1"/>
          <p:nvPr/>
        </p:nvSpPr>
        <p:spPr>
          <a:xfrm>
            <a:off x="2540508"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2</a:t>
            </a:r>
            <a:endParaRPr/>
          </a:p>
        </p:txBody>
      </p:sp>
      <p:sp>
        <p:nvSpPr>
          <p:cNvPr id="697" name="Google Shape;697;p13"/>
          <p:cNvSpPr txBox="1"/>
          <p:nvPr/>
        </p:nvSpPr>
        <p:spPr>
          <a:xfrm>
            <a:off x="2567940"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LLM routing</a:t>
            </a:r>
            <a:endParaRPr/>
          </a:p>
        </p:txBody>
      </p:sp>
      <p:sp>
        <p:nvSpPr>
          <p:cNvPr id="698" name="Google Shape;698;p13"/>
          <p:cNvSpPr txBox="1"/>
          <p:nvPr/>
        </p:nvSpPr>
        <p:spPr>
          <a:xfrm>
            <a:off x="2567940" y="3419856"/>
            <a:ext cx="1479804" cy="100796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Bedrock classifies</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 question →</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degree_plan</a:t>
            </a:r>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9" name="Google Shape;699;p13"/>
          <p:cNvSpPr/>
          <p:nvPr/>
        </p:nvSpPr>
        <p:spPr>
          <a:xfrm>
            <a:off x="4326636"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0" name="Google Shape;700;p13"/>
          <p:cNvSpPr/>
          <p:nvPr/>
        </p:nvSpPr>
        <p:spPr>
          <a:xfrm>
            <a:off x="4303776"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1" name="Google Shape;701;p13"/>
          <p:cNvSpPr/>
          <p:nvPr/>
        </p:nvSpPr>
        <p:spPr>
          <a:xfrm>
            <a:off x="4431792"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2" name="Google Shape;702;p13"/>
          <p:cNvSpPr txBox="1"/>
          <p:nvPr/>
        </p:nvSpPr>
        <p:spPr>
          <a:xfrm>
            <a:off x="4431792"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3</a:t>
            </a:r>
            <a:endParaRPr/>
          </a:p>
        </p:txBody>
      </p:sp>
      <p:sp>
        <p:nvSpPr>
          <p:cNvPr id="703" name="Google Shape;703;p13"/>
          <p:cNvSpPr txBox="1"/>
          <p:nvPr/>
        </p:nvSpPr>
        <p:spPr>
          <a:xfrm>
            <a:off x="4459224"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Student record</a:t>
            </a:r>
            <a:endParaRPr/>
          </a:p>
        </p:txBody>
      </p:sp>
      <p:sp>
        <p:nvSpPr>
          <p:cNvPr id="704" name="Google Shape;704;p13"/>
          <p:cNvSpPr txBox="1"/>
          <p:nvPr/>
        </p:nvSpPr>
        <p:spPr>
          <a:xfrm>
            <a:off x="4459224" y="3419856"/>
            <a:ext cx="1479804" cy="100796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Query DynamoDB for</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completed courses,</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grades &amp; program</a:t>
            </a:r>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05" name="Google Shape;705;p13"/>
          <p:cNvSpPr/>
          <p:nvPr/>
        </p:nvSpPr>
        <p:spPr>
          <a:xfrm>
            <a:off x="6217920"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6" name="Google Shape;706;p13"/>
          <p:cNvSpPr/>
          <p:nvPr/>
        </p:nvSpPr>
        <p:spPr>
          <a:xfrm>
            <a:off x="6195060"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7" name="Google Shape;707;p13"/>
          <p:cNvSpPr/>
          <p:nvPr/>
        </p:nvSpPr>
        <p:spPr>
          <a:xfrm>
            <a:off x="6323076"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8" name="Google Shape;708;p13"/>
          <p:cNvSpPr txBox="1"/>
          <p:nvPr/>
        </p:nvSpPr>
        <p:spPr>
          <a:xfrm>
            <a:off x="6323076"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4</a:t>
            </a:r>
            <a:endParaRPr/>
          </a:p>
        </p:txBody>
      </p:sp>
      <p:sp>
        <p:nvSpPr>
          <p:cNvPr id="709" name="Google Shape;709;p13"/>
          <p:cNvSpPr txBox="1"/>
          <p:nvPr/>
        </p:nvSpPr>
        <p:spPr>
          <a:xfrm>
            <a:off x="6336792" y="2790969"/>
            <a:ext cx="1470660" cy="600164"/>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800" b="1" i="0" u="none" strike="noStrike" cap="none">
                <a:solidFill>
                  <a:srgbClr val="002060"/>
                </a:solidFill>
                <a:latin typeface="Arial"/>
                <a:ea typeface="Arial"/>
                <a:cs typeface="Arial"/>
                <a:sym typeface="Arial"/>
              </a:rPr>
              <a:t>Degree requirements</a:t>
            </a:r>
            <a:endParaRPr/>
          </a:p>
        </p:txBody>
      </p:sp>
      <p:sp>
        <p:nvSpPr>
          <p:cNvPr id="710" name="Google Shape;710;p13"/>
          <p:cNvSpPr/>
          <p:nvPr/>
        </p:nvSpPr>
        <p:spPr>
          <a:xfrm>
            <a:off x="8109204"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1" name="Google Shape;711;p13"/>
          <p:cNvSpPr/>
          <p:nvPr/>
        </p:nvSpPr>
        <p:spPr>
          <a:xfrm>
            <a:off x="8086344"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2" name="Google Shape;712;p13"/>
          <p:cNvSpPr/>
          <p:nvPr/>
        </p:nvSpPr>
        <p:spPr>
          <a:xfrm>
            <a:off x="8214360"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3" name="Google Shape;713;p13"/>
          <p:cNvSpPr txBox="1"/>
          <p:nvPr/>
        </p:nvSpPr>
        <p:spPr>
          <a:xfrm>
            <a:off x="8214360"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a:solidFill>
                  <a:srgbClr val="FFFFFF"/>
                </a:solidFill>
                <a:latin typeface="Arial"/>
                <a:ea typeface="Arial"/>
                <a:cs typeface="Arial"/>
                <a:sym typeface="Arial"/>
              </a:rPr>
              <a:t>5</a:t>
            </a:r>
            <a:endParaRPr/>
          </a:p>
        </p:txBody>
      </p:sp>
      <p:sp>
        <p:nvSpPr>
          <p:cNvPr id="714" name="Google Shape;714;p13"/>
          <p:cNvSpPr txBox="1"/>
          <p:nvPr/>
        </p:nvSpPr>
        <p:spPr>
          <a:xfrm>
            <a:off x="8241792"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a:solidFill>
                  <a:srgbClr val="0D3669"/>
                </a:solidFill>
                <a:latin typeface="Arial"/>
                <a:ea typeface="Arial"/>
                <a:cs typeface="Arial"/>
                <a:sym typeface="Arial"/>
              </a:rPr>
              <a:t>Requirement analysis</a:t>
            </a:r>
            <a:endParaRPr/>
          </a:p>
        </p:txBody>
      </p:sp>
      <p:sp>
        <p:nvSpPr>
          <p:cNvPr id="715" name="Google Shape;715;p13"/>
          <p:cNvSpPr txBox="1"/>
          <p:nvPr/>
        </p:nvSpPr>
        <p:spPr>
          <a:xfrm>
            <a:off x="8241792" y="3419856"/>
            <a:ext cx="1479804" cy="100796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a:solidFill>
                  <a:srgbClr val="536B87"/>
                </a:solidFill>
                <a:latin typeface="Arial"/>
                <a:ea typeface="Arial"/>
                <a:cs typeface="Arial"/>
                <a:sym typeface="Arial"/>
              </a:rPr>
              <a:t>Compare completed</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courses against</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degree requirements</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6" name="Google Shape;716;p13"/>
          <p:cNvSpPr/>
          <p:nvPr/>
        </p:nvSpPr>
        <p:spPr>
          <a:xfrm>
            <a:off x="1000048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7" name="Google Shape;717;p13"/>
          <p:cNvSpPr/>
          <p:nvPr/>
        </p:nvSpPr>
        <p:spPr>
          <a:xfrm>
            <a:off x="9977628"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8" name="Google Shape;718;p13"/>
          <p:cNvSpPr/>
          <p:nvPr/>
        </p:nvSpPr>
        <p:spPr>
          <a:xfrm>
            <a:off x="1010564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9" name="Google Shape;719;p13"/>
          <p:cNvSpPr txBox="1"/>
          <p:nvPr/>
        </p:nvSpPr>
        <p:spPr>
          <a:xfrm>
            <a:off x="1010564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a:solidFill>
                  <a:srgbClr val="FFFFFF"/>
                </a:solidFill>
                <a:latin typeface="Arial"/>
                <a:ea typeface="Arial"/>
                <a:cs typeface="Arial"/>
                <a:sym typeface="Arial"/>
              </a:rPr>
              <a:t>6</a:t>
            </a:r>
            <a:endParaRPr/>
          </a:p>
        </p:txBody>
      </p:sp>
      <p:sp>
        <p:nvSpPr>
          <p:cNvPr id="720" name="Google Shape;720;p13"/>
          <p:cNvSpPr txBox="1"/>
          <p:nvPr/>
        </p:nvSpPr>
        <p:spPr>
          <a:xfrm>
            <a:off x="1013307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a:solidFill>
                  <a:srgbClr val="0D3669"/>
                </a:solidFill>
                <a:latin typeface="Arial"/>
                <a:ea typeface="Arial"/>
                <a:cs typeface="Arial"/>
                <a:sym typeface="Arial"/>
              </a:rPr>
              <a:t>LLM response</a:t>
            </a:r>
            <a:endParaRPr/>
          </a:p>
        </p:txBody>
      </p:sp>
      <p:sp>
        <p:nvSpPr>
          <p:cNvPr id="721" name="Google Shape;721;p13"/>
          <p:cNvSpPr txBox="1"/>
          <p:nvPr/>
        </p:nvSpPr>
        <p:spPr>
          <a:xfrm>
            <a:off x="1013307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a:solidFill>
                  <a:srgbClr val="536B87"/>
                </a:solidFill>
                <a:latin typeface="Arial"/>
                <a:ea typeface="Arial"/>
                <a:cs typeface="Arial"/>
                <a:sym typeface="Arial"/>
              </a:rPr>
              <a:t>Bedrock explains</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remaining courses &amp;</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degree requirements</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2" name="Google Shape;722;p13"/>
          <p:cNvSpPr/>
          <p:nvPr/>
        </p:nvSpPr>
        <p:spPr>
          <a:xfrm>
            <a:off x="804672" y="4974336"/>
            <a:ext cx="10762488" cy="813816"/>
          </a:xfrm>
          <a:prstGeom prst="roundRect">
            <a:avLst>
              <a:gd name="adj" fmla="val 16667"/>
            </a:avLst>
          </a:prstGeom>
          <a:solidFill>
            <a:srgbClr val="E9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3" name="Google Shape;723;p13"/>
          <p:cNvSpPr txBox="1"/>
          <p:nvPr/>
        </p:nvSpPr>
        <p:spPr>
          <a:xfrm>
            <a:off x="1051560" y="5230368"/>
            <a:ext cx="10287000" cy="33832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500" b="1">
                <a:solidFill>
                  <a:srgbClr val="0D3669"/>
                </a:solidFill>
                <a:latin typeface="Arial"/>
                <a:ea typeface="Arial"/>
                <a:cs typeface="Arial"/>
                <a:sym typeface="Arial"/>
              </a:rPr>
              <a:t>Routing decision: degree_plan → student data + degree rules → remaining requirements → explained result.</a:t>
            </a:r>
            <a:endParaRPr/>
          </a:p>
        </p:txBody>
      </p:sp>
      <p:sp>
        <p:nvSpPr>
          <p:cNvPr id="724" name="Google Shape;724;p13"/>
          <p:cNvSpPr txBox="1"/>
          <p:nvPr/>
        </p:nvSpPr>
        <p:spPr>
          <a:xfrm>
            <a:off x="539496" y="6537960"/>
            <a:ext cx="6400800" cy="16459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900" b="0">
                <a:solidFill>
                  <a:srgbClr val="536B87"/>
                </a:solidFill>
                <a:latin typeface="Arial"/>
                <a:ea typeface="Arial"/>
                <a:cs typeface="Arial"/>
                <a:sym typeface="Arial"/>
              </a:rPr>
              <a:t>CSE 4392 / 5320  •  TEAM ASSIGNMENT 2</a:t>
            </a:r>
            <a:endParaRPr/>
          </a:p>
        </p:txBody>
      </p:sp>
      <p:sp>
        <p:nvSpPr>
          <p:cNvPr id="725" name="Google Shape;725;p13"/>
          <p:cNvSpPr txBox="1"/>
          <p:nvPr/>
        </p:nvSpPr>
        <p:spPr>
          <a:xfrm>
            <a:off x="6302203" y="3412761"/>
            <a:ext cx="1479804" cy="1200329"/>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a:solidFill>
                  <a:srgbClr val="536B87"/>
                </a:solidFill>
                <a:latin typeface="Arial"/>
                <a:ea typeface="Arial"/>
                <a:cs typeface="Arial"/>
                <a:sym typeface="Arial"/>
              </a:rPr>
              <a:t>Query DynamoDB for</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required courses,</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credits &amp; prerequisites</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6" name="Google Shape;726;p13"/>
          <p:cNvSpPr txBox="1"/>
          <p:nvPr/>
        </p:nvSpPr>
        <p:spPr>
          <a:xfrm>
            <a:off x="2258568"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27" name="Google Shape;727;p13"/>
          <p:cNvSpPr txBox="1"/>
          <p:nvPr/>
        </p:nvSpPr>
        <p:spPr>
          <a:xfrm>
            <a:off x="4154716" y="313993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28" name="Google Shape;728;p13"/>
          <p:cNvSpPr txBox="1"/>
          <p:nvPr/>
        </p:nvSpPr>
        <p:spPr>
          <a:xfrm>
            <a:off x="6040227" y="3143471"/>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29" name="Google Shape;729;p13"/>
          <p:cNvSpPr txBox="1"/>
          <p:nvPr/>
        </p:nvSpPr>
        <p:spPr>
          <a:xfrm>
            <a:off x="7925738" y="314701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30" name="Google Shape;730;p13"/>
          <p:cNvSpPr txBox="1"/>
          <p:nvPr/>
        </p:nvSpPr>
        <p:spPr>
          <a:xfrm>
            <a:off x="9832511" y="3139917"/>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31" name="Google Shape;731;p13"/>
          <p:cNvSpPr txBox="1"/>
          <p:nvPr/>
        </p:nvSpPr>
        <p:spPr>
          <a:xfrm>
            <a:off x="8846917" y="2293135"/>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a:solidFill>
                  <a:srgbClr val="0D3669"/>
                </a:solidFill>
                <a:latin typeface="Arial"/>
                <a:ea typeface="Arial"/>
                <a:cs typeface="Arial"/>
                <a:sym typeface="Arial"/>
              </a:rPr>
              <a:t>tool</a:t>
            </a:r>
            <a:endParaRPr sz="1200">
              <a:solidFill>
                <a:schemeClr val="dk1"/>
              </a:solidFill>
              <a:latin typeface="Calibri"/>
              <a:ea typeface="Calibri"/>
              <a:cs typeface="Calibri"/>
              <a:sym typeface="Calibri"/>
            </a:endParaRPr>
          </a:p>
        </p:txBody>
      </p:sp>
      <p:sp>
        <p:nvSpPr>
          <p:cNvPr id="732" name="Google Shape;732;p13"/>
          <p:cNvSpPr txBox="1"/>
          <p:nvPr/>
        </p:nvSpPr>
        <p:spPr>
          <a:xfrm>
            <a:off x="6940296" y="2286118"/>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a:solidFill>
                  <a:srgbClr val="0D3669"/>
                </a:solidFill>
                <a:latin typeface="Arial"/>
                <a:ea typeface="Arial"/>
                <a:cs typeface="Arial"/>
                <a:sym typeface="Arial"/>
              </a:rPr>
              <a:t>tool</a:t>
            </a:r>
            <a:endParaRPr sz="1200">
              <a:solidFill>
                <a:schemeClr val="dk1"/>
              </a:solidFill>
              <a:latin typeface="Calibri"/>
              <a:ea typeface="Calibri"/>
              <a:cs typeface="Calibri"/>
              <a:sym typeface="Calibri"/>
            </a:endParaRPr>
          </a:p>
        </p:txBody>
      </p:sp>
      <p:sp>
        <p:nvSpPr>
          <p:cNvPr id="733" name="Google Shape;733;p13"/>
          <p:cNvSpPr txBox="1"/>
          <p:nvPr/>
        </p:nvSpPr>
        <p:spPr>
          <a:xfrm>
            <a:off x="4973791" y="2299825"/>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a:solidFill>
                  <a:srgbClr val="0D3669"/>
                </a:solidFill>
                <a:latin typeface="Arial"/>
                <a:ea typeface="Arial"/>
                <a:cs typeface="Arial"/>
                <a:sym typeface="Arial"/>
              </a:rPr>
              <a:t>tool</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15"/>
          <p:cNvSpPr/>
          <p:nvPr/>
        </p:nvSpPr>
        <p:spPr>
          <a:xfrm>
            <a:off x="0" y="0"/>
            <a:ext cx="12192000" cy="73152"/>
          </a:xfrm>
          <a:prstGeom prst="rect">
            <a:avLst/>
          </a:prstGeom>
          <a:solidFill>
            <a:srgbClr val="0D264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1" name="Google Shape;781;p15"/>
          <p:cNvSpPr txBox="1"/>
          <p:nvPr/>
        </p:nvSpPr>
        <p:spPr>
          <a:xfrm>
            <a:off x="548640" y="210312"/>
            <a:ext cx="6400800" cy="320040"/>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500" b="1">
                <a:solidFill>
                  <a:srgbClr val="1D5B9C"/>
                </a:solidFill>
                <a:latin typeface="Arial"/>
                <a:ea typeface="Arial"/>
                <a:cs typeface="Arial"/>
                <a:sym typeface="Arial"/>
              </a:rPr>
              <a:t>UTA • TEAM 2 AI ADVISOR</a:t>
            </a:r>
            <a:endParaRPr/>
          </a:p>
        </p:txBody>
      </p:sp>
      <p:sp>
        <p:nvSpPr>
          <p:cNvPr id="782" name="Google Shape;782;p15"/>
          <p:cNvSpPr txBox="1"/>
          <p:nvPr/>
        </p:nvSpPr>
        <p:spPr>
          <a:xfrm>
            <a:off x="548640" y="640080"/>
            <a:ext cx="10972800" cy="594360"/>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2800" b="1">
                <a:solidFill>
                  <a:srgbClr val="0D2648"/>
                </a:solidFill>
                <a:latin typeface="Arial"/>
                <a:ea typeface="Arial"/>
                <a:cs typeface="Arial"/>
                <a:sym typeface="Arial"/>
              </a:rPr>
              <a:t>LangChain: Natural Language Response Generation</a:t>
            </a:r>
            <a:endParaRPr/>
          </a:p>
        </p:txBody>
      </p:sp>
      <p:sp>
        <p:nvSpPr>
          <p:cNvPr id="783" name="Google Shape;783;p15"/>
          <p:cNvSpPr txBox="1"/>
          <p:nvPr/>
        </p:nvSpPr>
        <p:spPr>
          <a:xfrm>
            <a:off x="685800" y="1325880"/>
            <a:ext cx="10789920" cy="384048"/>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500" b="0">
                <a:solidFill>
                  <a:srgbClr val="5B718B"/>
                </a:solidFill>
                <a:latin typeface="Arial"/>
                <a:ea typeface="Arial"/>
                <a:cs typeface="Arial"/>
                <a:sym typeface="Arial"/>
              </a:rPr>
              <a:t>The response prompt guides Bedrock to explain verified advising results in student-friendly language.</a:t>
            </a:r>
            <a:endParaRPr/>
          </a:p>
        </p:txBody>
      </p:sp>
      <p:sp>
        <p:nvSpPr>
          <p:cNvPr id="784" name="Google Shape;784;p15"/>
          <p:cNvSpPr/>
          <p:nvPr/>
        </p:nvSpPr>
        <p:spPr>
          <a:xfrm>
            <a:off x="566928" y="1938528"/>
            <a:ext cx="3794760" cy="832104"/>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5" name="Google Shape;785;p15"/>
          <p:cNvSpPr/>
          <p:nvPr/>
        </p:nvSpPr>
        <p:spPr>
          <a:xfrm>
            <a:off x="566928" y="1938528"/>
            <a:ext cx="68580" cy="832104"/>
          </a:xfrm>
          <a:prstGeom prst="rect">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6" name="Google Shape;786;p15"/>
          <p:cNvSpPr txBox="1"/>
          <p:nvPr/>
        </p:nvSpPr>
        <p:spPr>
          <a:xfrm>
            <a:off x="758952" y="2011680"/>
            <a:ext cx="3383280" cy="237744"/>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0D2648"/>
                </a:solidFill>
                <a:latin typeface="Arial"/>
                <a:ea typeface="Arial"/>
                <a:cs typeface="Arial"/>
                <a:sym typeface="Arial"/>
              </a:rPr>
              <a:t>SYSTEM INSTRUCTIONS</a:t>
            </a:r>
            <a:endParaRPr/>
          </a:p>
        </p:txBody>
      </p:sp>
      <p:sp>
        <p:nvSpPr>
          <p:cNvPr id="787" name="Google Shape;787;p15"/>
          <p:cNvSpPr txBox="1"/>
          <p:nvPr/>
        </p:nvSpPr>
        <p:spPr>
          <a:xfrm>
            <a:off x="758952" y="2286000"/>
            <a:ext cx="3383280" cy="43891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100" b="0">
                <a:solidFill>
                  <a:srgbClr val="5B718B"/>
                </a:solidFill>
                <a:latin typeface="Arial"/>
                <a:ea typeface="Arial"/>
                <a:cs typeface="Arial"/>
                <a:sym typeface="Arial"/>
              </a:rPr>
              <a:t>Explain clearly • Use supplied evidence • Do not invent requirements</a:t>
            </a:r>
            <a:endParaRPr/>
          </a:p>
        </p:txBody>
      </p:sp>
      <p:sp>
        <p:nvSpPr>
          <p:cNvPr id="788" name="Google Shape;788;p15"/>
          <p:cNvSpPr/>
          <p:nvPr/>
        </p:nvSpPr>
        <p:spPr>
          <a:xfrm>
            <a:off x="566928" y="2962656"/>
            <a:ext cx="3794760" cy="832104"/>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9" name="Google Shape;789;p15"/>
          <p:cNvSpPr/>
          <p:nvPr/>
        </p:nvSpPr>
        <p:spPr>
          <a:xfrm>
            <a:off x="566928" y="2962656"/>
            <a:ext cx="68580" cy="832104"/>
          </a:xfrm>
          <a:prstGeom prst="rect">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0" name="Google Shape;790;p15"/>
          <p:cNvSpPr txBox="1"/>
          <p:nvPr/>
        </p:nvSpPr>
        <p:spPr>
          <a:xfrm>
            <a:off x="758952" y="3035808"/>
            <a:ext cx="3383280" cy="237744"/>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0D2648"/>
                </a:solidFill>
                <a:latin typeface="Arial"/>
                <a:ea typeface="Arial"/>
                <a:cs typeface="Arial"/>
                <a:sym typeface="Arial"/>
              </a:rPr>
              <a:t>ACADEMIC CONTEXT</a:t>
            </a:r>
            <a:endParaRPr/>
          </a:p>
        </p:txBody>
      </p:sp>
      <p:sp>
        <p:nvSpPr>
          <p:cNvPr id="791" name="Google Shape;791;p15"/>
          <p:cNvSpPr txBox="1"/>
          <p:nvPr/>
        </p:nvSpPr>
        <p:spPr>
          <a:xfrm>
            <a:off x="758952" y="3310128"/>
            <a:ext cx="3383280" cy="43891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100" b="0">
                <a:solidFill>
                  <a:srgbClr val="5B718B"/>
                </a:solidFill>
                <a:latin typeface="Arial"/>
                <a:ea typeface="Arial"/>
                <a:cs typeface="Arial"/>
                <a:sym typeface="Arial"/>
              </a:rPr>
              <a:t>Retrieved catalog passages or validated advising-tool results</a:t>
            </a:r>
            <a:endParaRPr/>
          </a:p>
        </p:txBody>
      </p:sp>
      <p:sp>
        <p:nvSpPr>
          <p:cNvPr id="792" name="Google Shape;792;p15"/>
          <p:cNvSpPr/>
          <p:nvPr/>
        </p:nvSpPr>
        <p:spPr>
          <a:xfrm>
            <a:off x="566928" y="3986784"/>
            <a:ext cx="3794760" cy="832104"/>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3" name="Google Shape;793;p15"/>
          <p:cNvSpPr/>
          <p:nvPr/>
        </p:nvSpPr>
        <p:spPr>
          <a:xfrm>
            <a:off x="566928" y="3986784"/>
            <a:ext cx="68580" cy="832104"/>
          </a:xfrm>
          <a:prstGeom prst="rect">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4" name="Google Shape;794;p15"/>
          <p:cNvSpPr txBox="1"/>
          <p:nvPr/>
        </p:nvSpPr>
        <p:spPr>
          <a:xfrm>
            <a:off x="758952" y="4059936"/>
            <a:ext cx="3383280" cy="237744"/>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0D2648"/>
                </a:solidFill>
                <a:latin typeface="Arial"/>
                <a:ea typeface="Arial"/>
                <a:cs typeface="Arial"/>
                <a:sym typeface="Arial"/>
              </a:rPr>
              <a:t>STUDENT QUESTION</a:t>
            </a:r>
            <a:endParaRPr/>
          </a:p>
        </p:txBody>
      </p:sp>
      <p:sp>
        <p:nvSpPr>
          <p:cNvPr id="795" name="Google Shape;795;p15"/>
          <p:cNvSpPr txBox="1"/>
          <p:nvPr/>
        </p:nvSpPr>
        <p:spPr>
          <a:xfrm>
            <a:off x="758952" y="4334256"/>
            <a:ext cx="3383280" cy="43891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100" b="0">
                <a:solidFill>
                  <a:srgbClr val="5B718B"/>
                </a:solidFill>
                <a:latin typeface="Arial"/>
                <a:ea typeface="Arial"/>
                <a:cs typeface="Arial"/>
                <a:sym typeface="Arial"/>
              </a:rPr>
              <a:t>“Can I take CSE 4308?”</a:t>
            </a:r>
            <a:endParaRPr/>
          </a:p>
        </p:txBody>
      </p:sp>
      <p:sp>
        <p:nvSpPr>
          <p:cNvPr id="796" name="Google Shape;796;p15"/>
          <p:cNvSpPr txBox="1"/>
          <p:nvPr/>
        </p:nvSpPr>
        <p:spPr>
          <a:xfrm>
            <a:off x="4462272" y="2788920"/>
            <a:ext cx="502920" cy="489365"/>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2700" b="1">
                <a:solidFill>
                  <a:srgbClr val="F58A27"/>
                </a:solidFill>
                <a:latin typeface="Arial"/>
                <a:ea typeface="Arial"/>
                <a:cs typeface="Arial"/>
                <a:sym typeface="Arial"/>
              </a:rPr>
              <a:t>→</a:t>
            </a:r>
            <a:endParaRPr/>
          </a:p>
        </p:txBody>
      </p:sp>
      <p:sp>
        <p:nvSpPr>
          <p:cNvPr id="797" name="Google Shape;797;p15"/>
          <p:cNvSpPr/>
          <p:nvPr/>
        </p:nvSpPr>
        <p:spPr>
          <a:xfrm>
            <a:off x="4983480" y="2231136"/>
            <a:ext cx="2907792" cy="2286000"/>
          </a:xfrm>
          <a:prstGeom prst="roundRect">
            <a:avLst>
              <a:gd name="adj" fmla="val 16667"/>
            </a:avLst>
          </a:prstGeom>
          <a:solidFill>
            <a:srgbClr val="E0EBF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8" name="Google Shape;798;p15"/>
          <p:cNvSpPr txBox="1"/>
          <p:nvPr/>
        </p:nvSpPr>
        <p:spPr>
          <a:xfrm>
            <a:off x="5193792" y="2450592"/>
            <a:ext cx="2514600" cy="329184"/>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800" b="1">
                <a:solidFill>
                  <a:srgbClr val="0D2648"/>
                </a:solidFill>
                <a:latin typeface="Arial"/>
                <a:ea typeface="Arial"/>
                <a:cs typeface="Arial"/>
                <a:sym typeface="Arial"/>
              </a:rPr>
              <a:t>ChatPromptTemplate</a:t>
            </a:r>
            <a:endParaRPr/>
          </a:p>
        </p:txBody>
      </p:sp>
      <p:sp>
        <p:nvSpPr>
          <p:cNvPr id="799" name="Google Shape;799;p15"/>
          <p:cNvSpPr txBox="1"/>
          <p:nvPr/>
        </p:nvSpPr>
        <p:spPr>
          <a:xfrm>
            <a:off x="5230368" y="2990088"/>
            <a:ext cx="2432304" cy="868680"/>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500" b="0">
                <a:solidFill>
                  <a:srgbClr val="5B718B"/>
                </a:solidFill>
                <a:latin typeface="Arial"/>
                <a:ea typeface="Arial"/>
                <a:cs typeface="Arial"/>
                <a:sym typeface="Arial"/>
              </a:rPr>
              <a:t>Combines instructions, context, and the student question</a:t>
            </a:r>
            <a:endParaRPr/>
          </a:p>
        </p:txBody>
      </p:sp>
      <p:sp>
        <p:nvSpPr>
          <p:cNvPr id="800" name="Google Shape;800;p15"/>
          <p:cNvSpPr txBox="1"/>
          <p:nvPr/>
        </p:nvSpPr>
        <p:spPr>
          <a:xfrm>
            <a:off x="7936992" y="2788920"/>
            <a:ext cx="475488" cy="489365"/>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2700" b="1">
                <a:solidFill>
                  <a:srgbClr val="F58A27"/>
                </a:solidFill>
                <a:latin typeface="Arial"/>
                <a:ea typeface="Arial"/>
                <a:cs typeface="Arial"/>
                <a:sym typeface="Arial"/>
              </a:rPr>
              <a:t>→</a:t>
            </a:r>
            <a:endParaRPr/>
          </a:p>
        </p:txBody>
      </p:sp>
      <p:sp>
        <p:nvSpPr>
          <p:cNvPr id="801" name="Google Shape;801;p15"/>
          <p:cNvSpPr/>
          <p:nvPr/>
        </p:nvSpPr>
        <p:spPr>
          <a:xfrm>
            <a:off x="8476488" y="2231136"/>
            <a:ext cx="3063240" cy="2286000"/>
          </a:xfrm>
          <a:prstGeom prst="roundRect">
            <a:avLst>
              <a:gd name="adj" fmla="val 16667"/>
            </a:avLst>
          </a:prstGeom>
          <a:solidFill>
            <a:srgbClr val="0D264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02" name="Google Shape;802;p15"/>
          <p:cNvSpPr txBox="1"/>
          <p:nvPr/>
        </p:nvSpPr>
        <p:spPr>
          <a:xfrm>
            <a:off x="8668512" y="2450592"/>
            <a:ext cx="2697480" cy="347472"/>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800" b="1">
                <a:solidFill>
                  <a:srgbClr val="FFFFFF"/>
                </a:solidFill>
                <a:latin typeface="Arial"/>
                <a:ea typeface="Arial"/>
                <a:cs typeface="Arial"/>
                <a:sym typeface="Arial"/>
              </a:rPr>
              <a:t>Amazon Bedrock</a:t>
            </a:r>
            <a:endParaRPr/>
          </a:p>
        </p:txBody>
      </p:sp>
      <p:sp>
        <p:nvSpPr>
          <p:cNvPr id="803" name="Google Shape;803;p15"/>
          <p:cNvSpPr txBox="1"/>
          <p:nvPr/>
        </p:nvSpPr>
        <p:spPr>
          <a:xfrm>
            <a:off x="8732520" y="2990088"/>
            <a:ext cx="2560320" cy="777240"/>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500" b="0">
                <a:solidFill>
                  <a:srgbClr val="E5EEF7"/>
                </a:solidFill>
                <a:latin typeface="Arial"/>
                <a:ea typeface="Arial"/>
                <a:cs typeface="Arial"/>
                <a:sym typeface="Arial"/>
              </a:rPr>
              <a:t>Gemma generates a clear, grounded explanation</a:t>
            </a:r>
            <a:endParaRPr/>
          </a:p>
        </p:txBody>
      </p:sp>
      <p:sp>
        <p:nvSpPr>
          <p:cNvPr id="804" name="Google Shape;804;p15"/>
          <p:cNvSpPr/>
          <p:nvPr/>
        </p:nvSpPr>
        <p:spPr>
          <a:xfrm>
            <a:off x="576072" y="4951476"/>
            <a:ext cx="10972800" cy="1234440"/>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05" name="Google Shape;805;p15"/>
          <p:cNvSpPr txBox="1"/>
          <p:nvPr/>
        </p:nvSpPr>
        <p:spPr>
          <a:xfrm>
            <a:off x="795528" y="5060300"/>
            <a:ext cx="10515600" cy="25603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1D5B9C"/>
                </a:solidFill>
                <a:latin typeface="Arial"/>
                <a:ea typeface="Arial"/>
                <a:cs typeface="Arial"/>
                <a:sym typeface="Arial"/>
              </a:rPr>
              <a:t>EXAMPLE STUDENT-FACING RESPONSE</a:t>
            </a:r>
            <a:endParaRPr/>
          </a:p>
        </p:txBody>
      </p:sp>
      <p:sp>
        <p:nvSpPr>
          <p:cNvPr id="806" name="Google Shape;806;p15"/>
          <p:cNvSpPr txBox="1"/>
          <p:nvPr/>
        </p:nvSpPr>
        <p:spPr>
          <a:xfrm>
            <a:off x="800100" y="5394960"/>
            <a:ext cx="10469880" cy="612648"/>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500" b="0">
                <a:solidFill>
                  <a:srgbClr val="0D2648"/>
                </a:solidFill>
                <a:latin typeface="Arial"/>
                <a:ea typeface="Arial"/>
                <a:cs typeface="Arial"/>
                <a:sym typeface="Arial"/>
              </a:rPr>
              <a:t>“Based on your academic record, you have not yet met all prerequisites for CSE 4308. Here is the requirement you still need to complete…”</a:t>
            </a:r>
            <a:endParaRPr/>
          </a:p>
        </p:txBody>
      </p:sp>
      <p:sp>
        <p:nvSpPr>
          <p:cNvPr id="807" name="Google Shape;807;p15"/>
          <p:cNvSpPr txBox="1"/>
          <p:nvPr/>
        </p:nvSpPr>
        <p:spPr>
          <a:xfrm>
            <a:off x="566928" y="6528816"/>
            <a:ext cx="5486400" cy="182880"/>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900" b="0">
                <a:solidFill>
                  <a:srgbClr val="5B718B"/>
                </a:solidFill>
                <a:latin typeface="Arial"/>
                <a:ea typeface="Arial"/>
                <a:cs typeface="Arial"/>
                <a:sym typeface="Arial"/>
              </a:rPr>
              <a:t>CSE 4392 / 5320  •  TEAM ASSIGNMENT 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16"/>
          <p:cNvSpPr/>
          <p:nvPr/>
        </p:nvSpPr>
        <p:spPr>
          <a:xfrm>
            <a:off x="0" y="0"/>
            <a:ext cx="12191695" cy="82296"/>
          </a:xfrm>
          <a:prstGeom prst="rect">
            <a:avLst/>
          </a:prstGeom>
          <a:solidFill>
            <a:srgbClr val="0D2A5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13" name="Google Shape;813;p16"/>
          <p:cNvSpPr txBox="1"/>
          <p:nvPr/>
        </p:nvSpPr>
        <p:spPr>
          <a:xfrm>
            <a:off x="521207" y="219456"/>
            <a:ext cx="7315200" cy="27432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UTA • TEAM 2 AI ADVISOR</a:t>
            </a:r>
            <a:endParaRPr/>
          </a:p>
        </p:txBody>
      </p:sp>
      <p:sp>
        <p:nvSpPr>
          <p:cNvPr id="814" name="Google Shape;814;p16"/>
          <p:cNvSpPr txBox="1"/>
          <p:nvPr/>
        </p:nvSpPr>
        <p:spPr>
          <a:xfrm>
            <a:off x="521207" y="603504"/>
            <a:ext cx="10972800" cy="54864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2700" b="1">
                <a:solidFill>
                  <a:srgbClr val="0D2A50"/>
                </a:solidFill>
                <a:latin typeface="Arial"/>
                <a:ea typeface="Arial"/>
                <a:cs typeface="Arial"/>
                <a:sym typeface="Arial"/>
              </a:rPr>
              <a:t>LangChain: Prompt Instructions for Student Responses</a:t>
            </a:r>
            <a:endParaRPr/>
          </a:p>
        </p:txBody>
      </p:sp>
      <p:sp>
        <p:nvSpPr>
          <p:cNvPr id="815" name="Google Shape;815;p16"/>
          <p:cNvSpPr txBox="1"/>
          <p:nvPr/>
        </p:nvSpPr>
        <p:spPr>
          <a:xfrm>
            <a:off x="566928" y="1207008"/>
            <a:ext cx="10972800" cy="329184"/>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500" b="0">
                <a:solidFill>
                  <a:srgbClr val="536C8B"/>
                </a:solidFill>
                <a:latin typeface="Arial"/>
                <a:ea typeface="Arial"/>
                <a:cs typeface="Arial"/>
                <a:sym typeface="Arial"/>
              </a:rPr>
              <a:t>The response prompt controls how Bedrock explains validated results in natural language.</a:t>
            </a:r>
            <a:endParaRPr/>
          </a:p>
        </p:txBody>
      </p:sp>
      <p:sp>
        <p:nvSpPr>
          <p:cNvPr id="816" name="Google Shape;816;p16"/>
          <p:cNvSpPr/>
          <p:nvPr/>
        </p:nvSpPr>
        <p:spPr>
          <a:xfrm>
            <a:off x="548640" y="1764792"/>
            <a:ext cx="6492240" cy="4233672"/>
          </a:xfrm>
          <a:prstGeom prst="roundRect">
            <a:avLst>
              <a:gd name="adj" fmla="val 16667"/>
            </a:avLst>
          </a:prstGeom>
          <a:solidFill>
            <a:srgbClr val="11233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17" name="Google Shape;817;p16"/>
          <p:cNvSpPr txBox="1"/>
          <p:nvPr/>
        </p:nvSpPr>
        <p:spPr>
          <a:xfrm>
            <a:off x="786384" y="1938528"/>
            <a:ext cx="6126480" cy="27432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200" b="1">
                <a:solidFill>
                  <a:srgbClr val="76D3E2"/>
                </a:solidFill>
                <a:latin typeface="Arial"/>
                <a:ea typeface="Arial"/>
                <a:cs typeface="Arial"/>
                <a:sym typeface="Arial"/>
              </a:rPr>
              <a:t>ACTUAL CODE  •  SELECTED EXCERPTS</a:t>
            </a:r>
            <a:endParaRPr/>
          </a:p>
        </p:txBody>
      </p:sp>
      <p:sp>
        <p:nvSpPr>
          <p:cNvPr id="818" name="Google Shape;818;p16"/>
          <p:cNvSpPr txBox="1"/>
          <p:nvPr/>
        </p:nvSpPr>
        <p:spPr>
          <a:xfrm>
            <a:off x="768096" y="2295144"/>
            <a:ext cx="6080760" cy="3602736"/>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0">
                <a:solidFill>
                  <a:srgbClr val="E7EFF9"/>
                </a:solidFill>
                <a:latin typeface="Consolas"/>
                <a:ea typeface="Consolas"/>
                <a:cs typeface="Consolas"/>
                <a:sym typeface="Consolas"/>
              </a:rPr>
              <a:t>phrase_prompt = ChatPromptTemplate.from_messages([</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("system", """You are the UTA AI Advisor</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talking with {student_name}.</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Explain RESULT in response to the student's</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question. Use ONLY information in RESULT.</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GENERAL RULES:</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Speak directly to the student.</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Keep answers short, clear, professional.</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Never invent courses, grades, or credits.</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COURSE ELIGIBILITY:</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Python eligibility calculations are authoritative.</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Never recalculate or override results.</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DEGREE PLANNING:</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If complete is false, state plan is incomplete.</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RESULT: {result}"""),</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("human", "{question}"),</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a:t>
            </a:r>
            <a:endParaRPr/>
          </a:p>
        </p:txBody>
      </p:sp>
      <p:sp>
        <p:nvSpPr>
          <p:cNvPr id="819" name="Google Shape;819;p16"/>
          <p:cNvSpPr/>
          <p:nvPr/>
        </p:nvSpPr>
        <p:spPr>
          <a:xfrm>
            <a:off x="7269480" y="1764792"/>
            <a:ext cx="4352544" cy="4233672"/>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20" name="Google Shape;820;p16"/>
          <p:cNvSpPr txBox="1"/>
          <p:nvPr/>
        </p:nvSpPr>
        <p:spPr>
          <a:xfrm>
            <a:off x="7516368" y="1947672"/>
            <a:ext cx="3840480" cy="32004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400" b="1">
                <a:solidFill>
                  <a:srgbClr val="0D2A50"/>
                </a:solidFill>
                <a:latin typeface="Arial"/>
                <a:ea typeface="Arial"/>
                <a:cs typeface="Arial"/>
                <a:sym typeface="Arial"/>
              </a:rPr>
              <a:t>HOW THE PROMPT IS STRUCTURED</a:t>
            </a:r>
            <a:endParaRPr/>
          </a:p>
        </p:txBody>
      </p:sp>
      <p:sp>
        <p:nvSpPr>
          <p:cNvPr id="821" name="Google Shape;821;p16"/>
          <p:cNvSpPr txBox="1"/>
          <p:nvPr/>
        </p:nvSpPr>
        <p:spPr>
          <a:xfrm>
            <a:off x="7534656" y="2432304"/>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1  Role &amp; personalization</a:t>
            </a:r>
            <a:endParaRPr/>
          </a:p>
        </p:txBody>
      </p:sp>
      <p:sp>
        <p:nvSpPr>
          <p:cNvPr id="822" name="Google Shape;822;p16"/>
          <p:cNvSpPr txBox="1"/>
          <p:nvPr/>
        </p:nvSpPr>
        <p:spPr>
          <a:xfrm>
            <a:off x="7534656" y="2688336"/>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UTA AI Advisor → {student_name}</a:t>
            </a:r>
            <a:endParaRPr/>
          </a:p>
        </p:txBody>
      </p:sp>
      <p:sp>
        <p:nvSpPr>
          <p:cNvPr id="823" name="Google Shape;823;p16"/>
          <p:cNvSpPr txBox="1"/>
          <p:nvPr/>
        </p:nvSpPr>
        <p:spPr>
          <a:xfrm>
            <a:off x="7534656" y="2990088"/>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2  Grounding</a:t>
            </a:r>
            <a:endParaRPr/>
          </a:p>
        </p:txBody>
      </p:sp>
      <p:sp>
        <p:nvSpPr>
          <p:cNvPr id="824" name="Google Shape;824;p16"/>
          <p:cNvSpPr txBox="1"/>
          <p:nvPr/>
        </p:nvSpPr>
        <p:spPr>
          <a:xfrm>
            <a:off x="7534656" y="3246120"/>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Use ONLY the supplied {result}</a:t>
            </a:r>
            <a:endParaRPr/>
          </a:p>
        </p:txBody>
      </p:sp>
      <p:sp>
        <p:nvSpPr>
          <p:cNvPr id="825" name="Google Shape;825;p16"/>
          <p:cNvSpPr txBox="1"/>
          <p:nvPr/>
        </p:nvSpPr>
        <p:spPr>
          <a:xfrm>
            <a:off x="7534656" y="3547872"/>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3  Communication rules</a:t>
            </a:r>
            <a:endParaRPr/>
          </a:p>
        </p:txBody>
      </p:sp>
      <p:sp>
        <p:nvSpPr>
          <p:cNvPr id="826" name="Google Shape;826;p16"/>
          <p:cNvSpPr txBox="1"/>
          <p:nvPr/>
        </p:nvSpPr>
        <p:spPr>
          <a:xfrm>
            <a:off x="7534656" y="3803904"/>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Short, professional, direct answers</a:t>
            </a:r>
            <a:endParaRPr/>
          </a:p>
        </p:txBody>
      </p:sp>
      <p:sp>
        <p:nvSpPr>
          <p:cNvPr id="827" name="Google Shape;827;p16"/>
          <p:cNvSpPr txBox="1"/>
          <p:nvPr/>
        </p:nvSpPr>
        <p:spPr>
          <a:xfrm>
            <a:off x="7534656" y="4105656"/>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4  Domain safeguards</a:t>
            </a:r>
            <a:endParaRPr/>
          </a:p>
        </p:txBody>
      </p:sp>
      <p:sp>
        <p:nvSpPr>
          <p:cNvPr id="828" name="Google Shape;828;p16"/>
          <p:cNvSpPr txBox="1"/>
          <p:nvPr/>
        </p:nvSpPr>
        <p:spPr>
          <a:xfrm>
            <a:off x="7534656" y="4361688"/>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Respect Python eligibility; preserve AND/OR</a:t>
            </a:r>
            <a:endParaRPr/>
          </a:p>
        </p:txBody>
      </p:sp>
      <p:sp>
        <p:nvSpPr>
          <p:cNvPr id="829" name="Google Shape;829;p16"/>
          <p:cNvSpPr txBox="1"/>
          <p:nvPr/>
        </p:nvSpPr>
        <p:spPr>
          <a:xfrm>
            <a:off x="7534656" y="4663440"/>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5  Answer formatting</a:t>
            </a:r>
            <a:endParaRPr/>
          </a:p>
        </p:txBody>
      </p:sp>
      <p:sp>
        <p:nvSpPr>
          <p:cNvPr id="830" name="Google Shape;830;p16"/>
          <p:cNvSpPr txBox="1"/>
          <p:nvPr/>
        </p:nvSpPr>
        <p:spPr>
          <a:xfrm>
            <a:off x="7534656" y="4919472"/>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Explain degree-plan gaps; no invented facts</a:t>
            </a:r>
            <a:endParaRPr/>
          </a:p>
        </p:txBody>
      </p:sp>
      <p:sp>
        <p:nvSpPr>
          <p:cNvPr id="831" name="Google Shape;831;p16"/>
          <p:cNvSpPr txBox="1"/>
          <p:nvPr/>
        </p:nvSpPr>
        <p:spPr>
          <a:xfrm>
            <a:off x="7534656" y="5221224"/>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6  Student request</a:t>
            </a:r>
            <a:endParaRPr/>
          </a:p>
        </p:txBody>
      </p:sp>
      <p:sp>
        <p:nvSpPr>
          <p:cNvPr id="832" name="Google Shape;832;p16"/>
          <p:cNvSpPr txBox="1"/>
          <p:nvPr/>
        </p:nvSpPr>
        <p:spPr>
          <a:xfrm>
            <a:off x="7534656" y="5477256"/>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Human message → {question}</a:t>
            </a:r>
            <a:endParaRPr/>
          </a:p>
        </p:txBody>
      </p:sp>
      <p:sp>
        <p:nvSpPr>
          <p:cNvPr id="833" name="Google Shape;833;p16"/>
          <p:cNvSpPr/>
          <p:nvPr/>
        </p:nvSpPr>
        <p:spPr>
          <a:xfrm>
            <a:off x="548640" y="6144768"/>
            <a:ext cx="11073384" cy="411480"/>
          </a:xfrm>
          <a:prstGeom prst="roundRect">
            <a:avLst>
              <a:gd name="adj" fmla="val 16667"/>
            </a:avLst>
          </a:prstGeom>
          <a:solidFill>
            <a:srgbClr val="0D2A5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34" name="Google Shape;834;p16"/>
          <p:cNvSpPr txBox="1"/>
          <p:nvPr/>
        </p:nvSpPr>
        <p:spPr>
          <a:xfrm>
            <a:off x="786384" y="6217920"/>
            <a:ext cx="10607040" cy="228600"/>
          </a:xfrm>
          <a:prstGeom prst="rect">
            <a:avLst/>
          </a:prstGeom>
          <a:noFill/>
          <a:ln>
            <a:noFill/>
          </a:ln>
        </p:spPr>
        <p:txBody>
          <a:bodyPr spcFirstLastPara="1" wrap="square" lIns="45700" tIns="18275" rIns="91425" bIns="45700" anchor="t" anchorCtr="0">
            <a:spAutoFit/>
          </a:bodyPr>
          <a:lstStyle/>
          <a:p>
            <a:pPr marL="0" marR="0" lvl="0" indent="0" algn="ctr" rtl="0">
              <a:spcBef>
                <a:spcPts val="0"/>
              </a:spcBef>
              <a:spcAft>
                <a:spcPts val="0"/>
              </a:spcAft>
              <a:buNone/>
            </a:pPr>
            <a:r>
              <a:rPr lang="en-US" sz="1200" b="1">
                <a:solidFill>
                  <a:srgbClr val="FFFFFF"/>
                </a:solidFill>
                <a:latin typeface="Arial"/>
                <a:ea typeface="Arial"/>
                <a:cs typeface="Arial"/>
                <a:sym typeface="Arial"/>
              </a:rPr>
              <a:t>KEY POINT  •  The LLM explains the tool result; it does not override academic validation.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LangChain: Summarizing Chat History with the LLM</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a:solidFill>
                  <a:srgbClr val="64748B"/>
                </a:solidFill>
                <a:latin typeface="Arial"/>
              </a:rPr>
              <a:t>A LangChain chain condenses older turns so the router gets a short summary plus the newest messages</a:t>
            </a:r>
          </a:p>
        </p:txBody>
      </p:sp>
      <p:sp>
        <p:nvSpPr>
          <p:cNvPr id="1011" name="Code panel"/>
          <p:cNvSpPr/>
          <p:nvPr/>
        </p:nvSpPr>
        <p:spPr>
          <a:xfrm>
            <a:off x="548640" y="1810512"/>
            <a:ext cx="6492240" cy="4343400"/>
          </a:xfrm>
          <a:prstGeom prst="roundRect">
            <a:avLst>
              <a:gd name="adj" fmla="val 6000"/>
            </a:avLst>
          </a:prstGeom>
          <a:solidFill>
            <a:srgbClr val="11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2" name="Code label"/>
          <p:cNvSpPr txBox="1"/>
          <p:nvPr/>
        </p:nvSpPr>
        <p:spPr>
          <a:xfrm>
            <a:off x="777240" y="1965960"/>
            <a:ext cx="6035040" cy="274320"/>
          </a:xfrm>
          <a:prstGeom prst="rect">
            <a:avLst/>
          </a:prstGeom>
          <a:noFill/>
        </p:spPr>
        <p:txBody>
          <a:bodyPr wrap="square" lIns="0" tIns="0" rIns="0" bIns="0" anchor="t">
            <a:spAutoFit/>
          </a:bodyPr>
          <a:lstStyle/>
          <a:p>
            <a:pPr algn="l"/>
            <a:r>
              <a:rPr sz="1200" b="1">
                <a:solidFill>
                  <a:srgbClr val="76D3E2"/>
                </a:solidFill>
                <a:latin typeface="Arial"/>
              </a:rPr>
              <a:t>ACTUAL CODE  •  app/memory.py  (simplified excerpt)</a:t>
            </a:r>
          </a:p>
        </p:txBody>
      </p:sp>
      <p:sp>
        <p:nvSpPr>
          <p:cNvPr id="1013" name="Code"/>
          <p:cNvSpPr txBox="1"/>
          <p:nvPr/>
        </p:nvSpPr>
        <p:spPr>
          <a:xfrm>
            <a:off x="777240" y="2377440"/>
            <a:ext cx="6172200" cy="3657600"/>
          </a:xfrm>
          <a:prstGeom prst="rect">
            <a:avLst/>
          </a:prstGeom>
          <a:noFill/>
        </p:spPr>
        <p:txBody>
          <a:bodyPr wrap="square" lIns="0" tIns="0" rIns="0" bIns="0" anchor="t">
            <a:spAutoFit/>
          </a:bodyPr>
          <a:lstStyle/>
          <a:p>
            <a:pPr algn="l"/>
            <a:r>
              <a:rPr sz="1050" b="0">
                <a:solidFill>
                  <a:srgbClr val="E7EFF9"/>
                </a:solidFill>
                <a:latin typeface="Consolas"/>
              </a:rPr>
              <a:t>summary_prompt = ChatPromptTemplate.from_messages([</a:t>
            </a:r>
          </a:p>
          <a:p>
            <a:pPr algn="l"/>
            <a:r>
              <a:rPr sz="1050" b="0">
                <a:solidFill>
                  <a:srgbClr val="E7EFF9"/>
                </a:solidFill>
                <a:latin typeface="Consolas"/>
              </a:rPr>
              <a:t>  ("system", """You compress a conversation between a</a:t>
            </a:r>
          </a:p>
          <a:p>
            <a:pPr algn="l"/>
            <a:r>
              <a:rPr sz="1050" b="0">
                <a:solidFill>
                  <a:srgbClr val="E7EFF9"/>
                </a:solidFill>
                <a:latin typeface="Consolas"/>
              </a:rPr>
              <a:t>   UTA student and the UTA AI Advisor. Keep course codes,</a:t>
            </a:r>
          </a:p>
          <a:p>
            <a:pPr algn="l"/>
            <a:r>
              <a:rPr sz="1050" b="0">
                <a:solidFill>
                  <a:srgbClr val="E7EFF9"/>
                </a:solidFill>
                <a:latin typeface="Consolas"/>
              </a:rPr>
              <a:t>   eligibility results and the student's preferences.</a:t>
            </a:r>
          </a:p>
          <a:p>
            <a:pPr algn="l"/>
            <a:r>
              <a:rPr sz="1050" b="0">
                <a:solidFill>
                  <a:srgbClr val="E7EFF9"/>
                </a:solidFill>
                <a:latin typeface="Consolas"/>
              </a:rPr>
              <a:t>   Do not add any fact that is not in the conversation."""),</a:t>
            </a:r>
          </a:p>
          <a:p>
            <a:pPr algn="l"/>
            <a:r>
              <a:rPr sz="1050" b="0">
                <a:solidFill>
                  <a:srgbClr val="E7EFF9"/>
                </a:solidFill>
                <a:latin typeface="Consolas"/>
              </a:rPr>
              <a:t>  ("human", "Conversation to summarize:\n{transcript}")</a:t>
            </a:r>
          </a:p>
          <a:p>
            <a:pPr algn="l"/>
            <a:r>
              <a:rPr sz="1050" b="0">
                <a:solidFill>
                  <a:srgbClr val="E7EFF9"/>
                </a:solidFill>
                <a:latin typeface="Consolas"/>
              </a:rPr>
              <a:t>])</a:t>
            </a:r>
          </a:p>
          <a:p>
            <a:pPr algn="l"/>
            <a:r>
              <a:rPr sz="1050" b="0">
                <a:solidFill>
                  <a:srgbClr val="E7EFF9"/>
                </a:solidFill>
                <a:latin typeface="Consolas"/>
              </a:rPr>
              <a:t> </a:t>
            </a:r>
          </a:p>
          <a:p>
            <a:pPr algn="l"/>
            <a:r>
              <a:rPr sz="1050" b="0">
                <a:solidFill>
                  <a:srgbClr val="76D3E2"/>
                </a:solidFill>
                <a:latin typeface="Consolas"/>
              </a:rPr>
              <a:t># Gemma 3 27B on Amazon Bedrock, temperature=0</a:t>
            </a:r>
          </a:p>
          <a:p>
            <a:pPr algn="l"/>
            <a:r>
              <a:rPr sz="1050" b="0">
                <a:solidFill>
                  <a:srgbClr val="E7EFF9"/>
                </a:solidFill>
                <a:latin typeface="Consolas"/>
              </a:rPr>
              <a:t>summary_chain = summary_prompt | summary_llm | StrOutputParser()</a:t>
            </a:r>
          </a:p>
          <a:p>
            <a:pPr algn="l"/>
            <a:r>
              <a:rPr sz="1050" b="0">
                <a:solidFill>
                  <a:srgbClr val="E7EFF9"/>
                </a:solidFill>
                <a:latin typeface="Consolas"/>
              </a:rPr>
              <a:t> </a:t>
            </a:r>
          </a:p>
          <a:p>
            <a:pPr algn="l"/>
            <a:r>
              <a:rPr sz="1050" b="0">
                <a:solidFill>
                  <a:srgbClr val="E7EFF9"/>
                </a:solidFill>
                <a:latin typeface="Consolas"/>
              </a:rPr>
              <a:t>def compact_history(history):</a:t>
            </a:r>
          </a:p>
          <a:p>
            <a:pPr algn="l"/>
            <a:r>
              <a:rPr sz="1050" b="0">
                <a:solidFill>
                  <a:srgbClr val="E7EFF9"/>
                </a:solidFill>
                <a:latin typeface="Consolas"/>
              </a:rPr>
              <a:t>    older_count = ((len(history) - KEEP_RECENT) // BLOCK) * BLOCK</a:t>
            </a:r>
          </a:p>
          <a:p>
            <a:pPr algn="l"/>
            <a:r>
              <a:rPr sz="1050" b="0">
                <a:solidFill>
                  <a:srgbClr val="E7EFF9"/>
                </a:solidFill>
                <a:latin typeface="Consolas"/>
              </a:rPr>
              <a:t>    if older_count &lt;= 0:</a:t>
            </a:r>
          </a:p>
          <a:p>
            <a:pPr algn="l"/>
            <a:r>
              <a:rPr sz="1050" b="0">
                <a:solidFill>
                  <a:srgbClr val="E7EFF9"/>
                </a:solidFill>
                <a:latin typeface="Consolas"/>
              </a:rPr>
              <a:t>        return history              # short chat: unchanged</a:t>
            </a:r>
          </a:p>
          <a:p>
            <a:pPr algn="l"/>
            <a:r>
              <a:rPr sz="1050" b="0">
                <a:solidFill>
                  <a:srgbClr val="E7EFF9"/>
                </a:solidFill>
                <a:latin typeface="Consolas"/>
              </a:rPr>
              <a:t>    older, recent = history[:older_count], history[older_count:]</a:t>
            </a:r>
          </a:p>
          <a:p>
            <a:pPr algn="l"/>
            <a:r>
              <a:rPr sz="1050" b="0">
                <a:solidFill>
                  <a:srgbClr val="E7EFF9"/>
                </a:solidFill>
                <a:latin typeface="Consolas"/>
              </a:rPr>
              <a:t>    summary = summary_chain.invoke({"transcript": _format(older)})</a:t>
            </a:r>
          </a:p>
          <a:p>
            <a:pPr algn="l"/>
            <a:r>
              <a:rPr sz="1050" b="0">
                <a:solidFill>
                  <a:srgbClr val="E7EFF9"/>
                </a:solidFill>
                <a:latin typeface="Consolas"/>
              </a:rPr>
              <a:t>    return [{"role": "summary", "content": summary}] + recent</a:t>
            </a:r>
          </a:p>
        </p:txBody>
      </p:sp>
      <p:sp>
        <p:nvSpPr>
          <p:cNvPr id="1014" name="Explanation panel"/>
          <p:cNvSpPr/>
          <p:nvPr/>
        </p:nvSpPr>
        <p:spPr>
          <a:xfrm>
            <a:off x="7269480" y="1810512"/>
            <a:ext cx="4352544" cy="434340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5" name="Explanation label"/>
          <p:cNvSpPr txBox="1"/>
          <p:nvPr/>
        </p:nvSpPr>
        <p:spPr>
          <a:xfrm>
            <a:off x="7498079" y="1965960"/>
            <a:ext cx="3931920" cy="274320"/>
          </a:xfrm>
          <a:prstGeom prst="rect">
            <a:avLst/>
          </a:prstGeom>
          <a:noFill/>
        </p:spPr>
        <p:txBody>
          <a:bodyPr wrap="square" lIns="0" tIns="0" rIns="0" bIns="0" anchor="t">
            <a:spAutoFit/>
          </a:bodyPr>
          <a:lstStyle/>
          <a:p>
            <a:pPr algn="l"/>
            <a:r>
              <a:rPr sz="1300" b="1">
                <a:solidFill>
                  <a:srgbClr val="0C2340"/>
                </a:solidFill>
                <a:latin typeface="Arial"/>
              </a:rPr>
              <a:t>HOW IT WORKS</a:t>
            </a:r>
          </a:p>
        </p:txBody>
      </p:sp>
      <p:sp>
        <p:nvSpPr>
          <p:cNvPr id="1016" name="Step 1 circle"/>
          <p:cNvSpPr/>
          <p:nvPr/>
        </p:nvSpPr>
        <p:spPr>
          <a:xfrm>
            <a:off x="7498079" y="2414016"/>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7" name="Step 1 number"/>
          <p:cNvSpPr txBox="1"/>
          <p:nvPr/>
        </p:nvSpPr>
        <p:spPr>
          <a:xfrm>
            <a:off x="7498079" y="2414016"/>
            <a:ext cx="329184" cy="329184"/>
          </a:xfrm>
          <a:prstGeom prst="rect">
            <a:avLst/>
          </a:prstGeom>
          <a:noFill/>
        </p:spPr>
        <p:txBody>
          <a:bodyPr wrap="square" lIns="0" tIns="0" rIns="0" bIns="0" anchor="ctr">
            <a:spAutoFit/>
          </a:bodyPr>
          <a:lstStyle/>
          <a:p>
            <a:pPr algn="ctr"/>
            <a:r>
              <a:rPr sz="1200" b="1">
                <a:solidFill>
                  <a:srgbClr val="FFFFFF"/>
                </a:solidFill>
                <a:latin typeface="Arial"/>
              </a:rPr>
              <a:t>1</a:t>
            </a:r>
          </a:p>
        </p:txBody>
      </p:sp>
      <p:sp>
        <p:nvSpPr>
          <p:cNvPr id="1018" name="Step 1 head"/>
          <p:cNvSpPr txBox="1"/>
          <p:nvPr/>
        </p:nvSpPr>
        <p:spPr>
          <a:xfrm>
            <a:off x="7973568" y="2395728"/>
            <a:ext cx="3474720" cy="274320"/>
          </a:xfrm>
          <a:prstGeom prst="rect">
            <a:avLst/>
          </a:prstGeom>
          <a:noFill/>
        </p:spPr>
        <p:txBody>
          <a:bodyPr wrap="square" lIns="0" tIns="0" rIns="0" bIns="0" anchor="t">
            <a:spAutoFit/>
          </a:bodyPr>
          <a:lstStyle/>
          <a:p>
            <a:pPr algn="l"/>
            <a:r>
              <a:rPr sz="1300" b="1">
                <a:solidFill>
                  <a:srgbClr val="1263B4"/>
                </a:solidFill>
                <a:latin typeface="Arial"/>
              </a:rPr>
              <a:t>Short chat</a:t>
            </a:r>
          </a:p>
        </p:txBody>
      </p:sp>
      <p:sp>
        <p:nvSpPr>
          <p:cNvPr id="1019" name="Step 1 body"/>
          <p:cNvSpPr txBox="1"/>
          <p:nvPr/>
        </p:nvSpPr>
        <p:spPr>
          <a:xfrm>
            <a:off x="7973568" y="2688336"/>
            <a:ext cx="3474720" cy="502920"/>
          </a:xfrm>
          <a:prstGeom prst="rect">
            <a:avLst/>
          </a:prstGeom>
          <a:noFill/>
        </p:spPr>
        <p:txBody>
          <a:bodyPr wrap="square" lIns="0" tIns="0" rIns="0" bIns="0" anchor="t">
            <a:spAutoFit/>
          </a:bodyPr>
          <a:lstStyle/>
          <a:p>
            <a:pPr algn="l"/>
            <a:r>
              <a:rPr sz="1150" b="0">
                <a:solidFill>
                  <a:srgbClr val="64748B"/>
                </a:solidFill>
                <a:latin typeface="Arial"/>
              </a:rPr>
              <a:t>Under 8 messages, the history goes to the router unchanged.</a:t>
            </a:r>
          </a:p>
        </p:txBody>
      </p:sp>
      <p:sp>
        <p:nvSpPr>
          <p:cNvPr id="1020" name="Step 2 circle"/>
          <p:cNvSpPr/>
          <p:nvPr/>
        </p:nvSpPr>
        <p:spPr>
          <a:xfrm>
            <a:off x="7498079" y="3310128"/>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1" name="Step 2 number"/>
          <p:cNvSpPr txBox="1"/>
          <p:nvPr/>
        </p:nvSpPr>
        <p:spPr>
          <a:xfrm>
            <a:off x="7498079" y="3310128"/>
            <a:ext cx="329184" cy="329184"/>
          </a:xfrm>
          <a:prstGeom prst="rect">
            <a:avLst/>
          </a:prstGeom>
          <a:noFill/>
        </p:spPr>
        <p:txBody>
          <a:bodyPr wrap="square" lIns="0" tIns="0" rIns="0" bIns="0" anchor="ctr">
            <a:spAutoFit/>
          </a:bodyPr>
          <a:lstStyle/>
          <a:p>
            <a:pPr algn="ctr"/>
            <a:r>
              <a:rPr sz="1200" b="1">
                <a:solidFill>
                  <a:srgbClr val="FFFFFF"/>
                </a:solidFill>
                <a:latin typeface="Arial"/>
              </a:rPr>
              <a:t>2</a:t>
            </a:r>
          </a:p>
        </p:txBody>
      </p:sp>
      <p:sp>
        <p:nvSpPr>
          <p:cNvPr id="1022" name="Step 2 head"/>
          <p:cNvSpPr txBox="1"/>
          <p:nvPr/>
        </p:nvSpPr>
        <p:spPr>
          <a:xfrm>
            <a:off x="7973568" y="3291840"/>
            <a:ext cx="3474720" cy="274320"/>
          </a:xfrm>
          <a:prstGeom prst="rect">
            <a:avLst/>
          </a:prstGeom>
          <a:noFill/>
        </p:spPr>
        <p:txBody>
          <a:bodyPr wrap="square" lIns="0" tIns="0" rIns="0" bIns="0" anchor="t">
            <a:spAutoFit/>
          </a:bodyPr>
          <a:lstStyle/>
          <a:p>
            <a:pPr algn="l"/>
            <a:r>
              <a:rPr sz="1300" b="1">
                <a:solidFill>
                  <a:srgbClr val="1263B4"/>
                </a:solidFill>
                <a:latin typeface="Arial"/>
              </a:rPr>
              <a:t>Older turns → LLM summary</a:t>
            </a:r>
          </a:p>
        </p:txBody>
      </p:sp>
      <p:sp>
        <p:nvSpPr>
          <p:cNvPr id="1023" name="Step 2 body"/>
          <p:cNvSpPr txBox="1"/>
          <p:nvPr/>
        </p:nvSpPr>
        <p:spPr>
          <a:xfrm>
            <a:off x="7973568" y="3584448"/>
            <a:ext cx="3474720" cy="502920"/>
          </a:xfrm>
          <a:prstGeom prst="rect">
            <a:avLst/>
          </a:prstGeom>
          <a:noFill/>
        </p:spPr>
        <p:txBody>
          <a:bodyPr wrap="square" lIns="0" tIns="0" rIns="0" bIns="0" anchor="t">
            <a:spAutoFit/>
          </a:bodyPr>
          <a:lstStyle/>
          <a:p>
            <a:pPr algn="l"/>
            <a:r>
              <a:rPr sz="1150" b="0">
                <a:solidFill>
                  <a:srgbClr val="64748B"/>
                </a:solidFill>
                <a:latin typeface="Arial"/>
              </a:rPr>
              <a:t>prompt | Gemma | parser condenses them into at most 6 bullets.</a:t>
            </a:r>
          </a:p>
        </p:txBody>
      </p:sp>
      <p:sp>
        <p:nvSpPr>
          <p:cNvPr id="1024" name="Step 3 circle"/>
          <p:cNvSpPr/>
          <p:nvPr/>
        </p:nvSpPr>
        <p:spPr>
          <a:xfrm>
            <a:off x="7498079" y="4206240"/>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5" name="Step 3 number"/>
          <p:cNvSpPr txBox="1"/>
          <p:nvPr/>
        </p:nvSpPr>
        <p:spPr>
          <a:xfrm>
            <a:off x="7498079" y="4206240"/>
            <a:ext cx="329184" cy="329184"/>
          </a:xfrm>
          <a:prstGeom prst="rect">
            <a:avLst/>
          </a:prstGeom>
          <a:noFill/>
        </p:spPr>
        <p:txBody>
          <a:bodyPr wrap="square" lIns="0" tIns="0" rIns="0" bIns="0" anchor="ctr">
            <a:spAutoFit/>
          </a:bodyPr>
          <a:lstStyle/>
          <a:p>
            <a:pPr algn="ctr"/>
            <a:r>
              <a:rPr sz="1200" b="1">
                <a:solidFill>
                  <a:srgbClr val="FFFFFF"/>
                </a:solidFill>
                <a:latin typeface="Arial"/>
              </a:rPr>
              <a:t>3</a:t>
            </a:r>
          </a:p>
        </p:txBody>
      </p:sp>
      <p:sp>
        <p:nvSpPr>
          <p:cNvPr id="1026" name="Step 3 head"/>
          <p:cNvSpPr txBox="1"/>
          <p:nvPr/>
        </p:nvSpPr>
        <p:spPr>
          <a:xfrm>
            <a:off x="7973568" y="4187952"/>
            <a:ext cx="3474720" cy="274320"/>
          </a:xfrm>
          <a:prstGeom prst="rect">
            <a:avLst/>
          </a:prstGeom>
          <a:noFill/>
        </p:spPr>
        <p:txBody>
          <a:bodyPr wrap="square" lIns="0" tIns="0" rIns="0" bIns="0" anchor="t">
            <a:spAutoFit/>
          </a:bodyPr>
          <a:lstStyle/>
          <a:p>
            <a:pPr algn="l"/>
            <a:r>
              <a:rPr sz="1300" b="1">
                <a:solidFill>
                  <a:srgbClr val="1263B4"/>
                </a:solidFill>
                <a:latin typeface="Arial"/>
              </a:rPr>
              <a:t>Newest turns kept word for word</a:t>
            </a:r>
          </a:p>
        </p:txBody>
      </p:sp>
      <p:sp>
        <p:nvSpPr>
          <p:cNvPr id="1027" name="Step 3 body"/>
          <p:cNvSpPr txBox="1"/>
          <p:nvPr/>
        </p:nvSpPr>
        <p:spPr>
          <a:xfrm>
            <a:off x="7973568" y="4480560"/>
            <a:ext cx="3474720" cy="502920"/>
          </a:xfrm>
          <a:prstGeom prst="rect">
            <a:avLst/>
          </a:prstGeom>
          <a:noFill/>
        </p:spPr>
        <p:txBody>
          <a:bodyPr wrap="square" lIns="0" tIns="0" rIns="0" bIns="0" anchor="t">
            <a:spAutoFit/>
          </a:bodyPr>
          <a:lstStyle/>
          <a:p>
            <a:pPr algn="l"/>
            <a:r>
              <a:rPr sz="1150" b="0">
                <a:solidFill>
                  <a:srgbClr val="64748B"/>
                </a:solidFill>
                <a:latin typeface="Arial"/>
              </a:rPr>
              <a:t>The last 4–7 messages keep full detail for follow-ups.</a:t>
            </a:r>
          </a:p>
        </p:txBody>
      </p:sp>
      <p:sp>
        <p:nvSpPr>
          <p:cNvPr id="1028" name="Step 4 circle"/>
          <p:cNvSpPr/>
          <p:nvPr/>
        </p:nvSpPr>
        <p:spPr>
          <a:xfrm>
            <a:off x="7498079" y="5102352"/>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9" name="Step 4 number"/>
          <p:cNvSpPr txBox="1"/>
          <p:nvPr/>
        </p:nvSpPr>
        <p:spPr>
          <a:xfrm>
            <a:off x="7498079" y="5102352"/>
            <a:ext cx="329184" cy="329184"/>
          </a:xfrm>
          <a:prstGeom prst="rect">
            <a:avLst/>
          </a:prstGeom>
          <a:noFill/>
        </p:spPr>
        <p:txBody>
          <a:bodyPr wrap="square" lIns="0" tIns="0" rIns="0" bIns="0" anchor="ctr">
            <a:spAutoFit/>
          </a:bodyPr>
          <a:lstStyle/>
          <a:p>
            <a:pPr algn="ctr"/>
            <a:r>
              <a:rPr sz="1200" b="1">
                <a:solidFill>
                  <a:srgbClr val="FFFFFF"/>
                </a:solidFill>
                <a:latin typeface="Arial"/>
              </a:rPr>
              <a:t>4</a:t>
            </a:r>
          </a:p>
        </p:txBody>
      </p:sp>
      <p:sp>
        <p:nvSpPr>
          <p:cNvPr id="1030" name="Step 4 head"/>
          <p:cNvSpPr txBox="1"/>
          <p:nvPr/>
        </p:nvSpPr>
        <p:spPr>
          <a:xfrm>
            <a:off x="7973568" y="5084064"/>
            <a:ext cx="3474720" cy="274320"/>
          </a:xfrm>
          <a:prstGeom prst="rect">
            <a:avLst/>
          </a:prstGeom>
          <a:noFill/>
        </p:spPr>
        <p:txBody>
          <a:bodyPr wrap="square" lIns="0" tIns="0" rIns="0" bIns="0" anchor="t">
            <a:spAutoFit/>
          </a:bodyPr>
          <a:lstStyle/>
          <a:p>
            <a:pPr algn="l"/>
            <a:r>
              <a:rPr sz="1300" b="1">
                <a:solidFill>
                  <a:srgbClr val="1263B4"/>
                </a:solidFill>
                <a:latin typeface="Arial"/>
              </a:rPr>
              <a:t>Smaller router prompt</a:t>
            </a:r>
          </a:p>
        </p:txBody>
      </p:sp>
      <p:sp>
        <p:nvSpPr>
          <p:cNvPr id="1031" name="Step 4 body"/>
          <p:cNvSpPr txBox="1"/>
          <p:nvPr/>
        </p:nvSpPr>
        <p:spPr>
          <a:xfrm>
            <a:off x="7973568" y="5376672"/>
            <a:ext cx="3474720" cy="502920"/>
          </a:xfrm>
          <a:prstGeom prst="rect">
            <a:avLst/>
          </a:prstGeom>
          <a:noFill/>
        </p:spPr>
        <p:txBody>
          <a:bodyPr wrap="square" lIns="0" tIns="0" rIns="0" bIns="0" anchor="t">
            <a:spAutoFit/>
          </a:bodyPr>
          <a:lstStyle/>
          <a:p>
            <a:pPr algn="l"/>
            <a:r>
              <a:rPr sz="1150" b="0">
                <a:solidFill>
                  <a:srgbClr val="64748B"/>
                </a:solidFill>
                <a:latin typeface="Arial"/>
              </a:rPr>
              <a:t>Cached summary, about one LLM call every 2 turns; on error, recent turns are used.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38"/>
        <p:cNvGrpSpPr/>
        <p:nvPr/>
      </p:nvGrpSpPr>
      <p:grpSpPr>
        <a:xfrm>
          <a:off x="0" y="0"/>
          <a:ext cx="0" cy="0"/>
          <a:chOff x="0" y="0"/>
          <a:chExt cx="0" cy="0"/>
        </a:xfrm>
      </p:grpSpPr>
      <p:sp>
        <p:nvSpPr>
          <p:cNvPr id="839" name="Google Shape;839;p17"/>
          <p:cNvSpPr txBox="1"/>
          <p:nvPr/>
        </p:nvSpPr>
        <p:spPr>
          <a:xfrm>
            <a:off x="548640" y="219456"/>
            <a:ext cx="8229600" cy="32004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300" b="1">
                <a:solidFill>
                  <a:srgbClr val="1C5DA0"/>
                </a:solidFill>
                <a:latin typeface="Arial"/>
                <a:ea typeface="Arial"/>
                <a:cs typeface="Arial"/>
                <a:sym typeface="Arial"/>
              </a:rPr>
              <a:t>UTA • TEAM 2 AI ADVISOR</a:t>
            </a:r>
            <a:endParaRPr/>
          </a:p>
        </p:txBody>
      </p:sp>
      <p:sp>
        <p:nvSpPr>
          <p:cNvPr id="840" name="Google Shape;840;p17"/>
          <p:cNvSpPr txBox="1"/>
          <p:nvPr/>
        </p:nvSpPr>
        <p:spPr>
          <a:xfrm>
            <a:off x="548640" y="630936"/>
            <a:ext cx="10972800" cy="59436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3000" b="1">
                <a:solidFill>
                  <a:srgbClr val="103463"/>
                </a:solidFill>
                <a:latin typeface="Arial"/>
                <a:ea typeface="Arial"/>
                <a:cs typeface="Arial"/>
                <a:sym typeface="Arial"/>
              </a:rPr>
              <a:t>DynamoDB: Student &amp; Academic Data Structure</a:t>
            </a:r>
            <a:endParaRPr/>
          </a:p>
        </p:txBody>
      </p:sp>
      <p:sp>
        <p:nvSpPr>
          <p:cNvPr id="841" name="Google Shape;841;p17"/>
          <p:cNvSpPr/>
          <p:nvPr/>
        </p:nvSpPr>
        <p:spPr>
          <a:xfrm>
            <a:off x="548640" y="1344168"/>
            <a:ext cx="11064240" cy="32004"/>
          </a:xfrm>
          <a:prstGeom prst="roundRect">
            <a:avLst>
              <a:gd name="adj" fmla="val 16667"/>
            </a:avLst>
          </a:prstGeom>
          <a:solidFill>
            <a:srgbClr val="F58A2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2" name="Google Shape;842;p17"/>
          <p:cNvSpPr txBox="1"/>
          <p:nvPr/>
        </p:nvSpPr>
        <p:spPr>
          <a:xfrm>
            <a:off x="758952" y="1508760"/>
            <a:ext cx="10789920" cy="43891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600" b="0">
                <a:solidFill>
                  <a:srgbClr val="536C8A"/>
                </a:solidFill>
                <a:latin typeface="Arial"/>
                <a:ea typeface="Arial"/>
                <a:cs typeface="Arial"/>
                <a:sym typeface="Arial"/>
              </a:rPr>
              <a:t>Structured records used by Python Advisor Tools for personalized advising</a:t>
            </a:r>
            <a:endParaRPr/>
          </a:p>
        </p:txBody>
      </p:sp>
      <p:sp>
        <p:nvSpPr>
          <p:cNvPr id="843" name="Google Shape;843;p17"/>
          <p:cNvSpPr/>
          <p:nvPr/>
        </p:nvSpPr>
        <p:spPr>
          <a:xfrm>
            <a:off x="576072" y="2176272"/>
            <a:ext cx="276148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4" name="Google Shape;844;p17"/>
          <p:cNvSpPr/>
          <p:nvPr/>
        </p:nvSpPr>
        <p:spPr>
          <a:xfrm>
            <a:off x="576072" y="2176272"/>
            <a:ext cx="276148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5" name="Google Shape;845;p17"/>
          <p:cNvSpPr txBox="1"/>
          <p:nvPr/>
        </p:nvSpPr>
        <p:spPr>
          <a:xfrm>
            <a:off x="731520" y="2276856"/>
            <a:ext cx="2468880"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300" b="1">
                <a:solidFill>
                  <a:srgbClr val="FFFFFF"/>
                </a:solidFill>
                <a:latin typeface="Arial"/>
                <a:ea typeface="Arial"/>
                <a:cs typeface="Arial"/>
                <a:sym typeface="Arial"/>
              </a:rPr>
              <a:t>STUDENT PROFILE</a:t>
            </a:r>
            <a:endParaRPr/>
          </a:p>
        </p:txBody>
      </p:sp>
      <p:sp>
        <p:nvSpPr>
          <p:cNvPr id="846" name="Google Shape;846;p17"/>
          <p:cNvSpPr txBox="1"/>
          <p:nvPr/>
        </p:nvSpPr>
        <p:spPr>
          <a:xfrm>
            <a:off x="731520" y="2834640"/>
            <a:ext cx="2487168"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400" b="0">
                <a:solidFill>
                  <a:srgbClr val="103463"/>
                </a:solidFill>
                <a:latin typeface="Arial"/>
                <a:ea typeface="Arial"/>
                <a:cs typeface="Arial"/>
                <a:sym typeface="Arial"/>
              </a:rPr>
              <a:t>student_id  •  program / major</a:t>
            </a:r>
            <a:endParaRPr/>
          </a:p>
          <a:p>
            <a:pPr marL="0" marR="0" lvl="0" indent="0" algn="l" rtl="0">
              <a:spcBef>
                <a:spcPts val="700"/>
              </a:spcBef>
              <a:spcAft>
                <a:spcPts val="0"/>
              </a:spcAft>
              <a:buNone/>
            </a:pPr>
            <a:r>
              <a:rPr lang="en-US" sz="1400" b="0">
                <a:solidFill>
                  <a:srgbClr val="103463"/>
                </a:solidFill>
                <a:latin typeface="Arial"/>
                <a:ea typeface="Arial"/>
                <a:cs typeface="Arial"/>
                <a:sym typeface="Arial"/>
              </a:rPr>
              <a:t>student_name  •  catalog year</a:t>
            </a:r>
            <a:endParaRPr/>
          </a:p>
        </p:txBody>
      </p:sp>
      <p:sp>
        <p:nvSpPr>
          <p:cNvPr id="847" name="Google Shape;847;p17"/>
          <p:cNvSpPr txBox="1"/>
          <p:nvPr/>
        </p:nvSpPr>
        <p:spPr>
          <a:xfrm>
            <a:off x="731520" y="3968496"/>
            <a:ext cx="2468880" cy="50292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0">
                <a:solidFill>
                  <a:srgbClr val="536C8A"/>
                </a:solidFill>
                <a:latin typeface="Arial"/>
                <a:ea typeface="Arial"/>
                <a:cs typeface="Arial"/>
                <a:sym typeface="Arial"/>
              </a:rPr>
              <a:t>Authenticated student context</a:t>
            </a:r>
            <a:endParaRPr/>
          </a:p>
        </p:txBody>
      </p:sp>
      <p:sp>
        <p:nvSpPr>
          <p:cNvPr id="848" name="Google Shape;848;p17"/>
          <p:cNvSpPr/>
          <p:nvPr/>
        </p:nvSpPr>
        <p:spPr>
          <a:xfrm>
            <a:off x="3483864" y="2176272"/>
            <a:ext cx="276148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9" name="Google Shape;849;p17"/>
          <p:cNvSpPr/>
          <p:nvPr/>
        </p:nvSpPr>
        <p:spPr>
          <a:xfrm>
            <a:off x="3483864" y="2176272"/>
            <a:ext cx="276148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0" name="Google Shape;850;p17"/>
          <p:cNvSpPr txBox="1"/>
          <p:nvPr/>
        </p:nvSpPr>
        <p:spPr>
          <a:xfrm>
            <a:off x="3639312" y="2276856"/>
            <a:ext cx="2468880"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300" b="1">
                <a:solidFill>
                  <a:srgbClr val="FFFFFF"/>
                </a:solidFill>
                <a:latin typeface="Arial"/>
                <a:ea typeface="Arial"/>
                <a:cs typeface="Arial"/>
                <a:sym typeface="Arial"/>
              </a:rPr>
              <a:t>ACADEMIC RECORD</a:t>
            </a:r>
            <a:endParaRPr/>
          </a:p>
        </p:txBody>
      </p:sp>
      <p:sp>
        <p:nvSpPr>
          <p:cNvPr id="851" name="Google Shape;851;p17"/>
          <p:cNvSpPr txBox="1"/>
          <p:nvPr/>
        </p:nvSpPr>
        <p:spPr>
          <a:xfrm>
            <a:off x="3639312" y="2834640"/>
            <a:ext cx="2487168"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400" b="0">
                <a:solidFill>
                  <a:srgbClr val="103463"/>
                </a:solidFill>
                <a:latin typeface="Arial"/>
                <a:ea typeface="Arial"/>
                <a:cs typeface="Arial"/>
                <a:sym typeface="Arial"/>
              </a:rPr>
              <a:t>student_id  •  course_code</a:t>
            </a:r>
            <a:endParaRPr/>
          </a:p>
          <a:p>
            <a:pPr marL="0" marR="0" lvl="0" indent="0" algn="l" rtl="0">
              <a:spcBef>
                <a:spcPts val="700"/>
              </a:spcBef>
              <a:spcAft>
                <a:spcPts val="0"/>
              </a:spcAft>
              <a:buNone/>
            </a:pPr>
            <a:r>
              <a:rPr lang="en-US" sz="1400" b="0">
                <a:solidFill>
                  <a:srgbClr val="103463"/>
                </a:solidFill>
                <a:latin typeface="Arial"/>
                <a:ea typeface="Arial"/>
                <a:cs typeface="Arial"/>
                <a:sym typeface="Arial"/>
              </a:rPr>
              <a:t>grade  •  credits  •  term</a:t>
            </a:r>
            <a:endParaRPr/>
          </a:p>
        </p:txBody>
      </p:sp>
      <p:sp>
        <p:nvSpPr>
          <p:cNvPr id="852" name="Google Shape;852;p17"/>
          <p:cNvSpPr txBox="1"/>
          <p:nvPr/>
        </p:nvSpPr>
        <p:spPr>
          <a:xfrm>
            <a:off x="3639312" y="3968496"/>
            <a:ext cx="2468880" cy="50292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0">
                <a:solidFill>
                  <a:srgbClr val="536C8A"/>
                </a:solidFill>
                <a:latin typeface="Arial"/>
                <a:ea typeface="Arial"/>
                <a:cs typeface="Arial"/>
                <a:sym typeface="Arial"/>
              </a:rPr>
              <a:t>Completed courses and transcript</a:t>
            </a:r>
            <a:endParaRPr/>
          </a:p>
        </p:txBody>
      </p:sp>
      <p:sp>
        <p:nvSpPr>
          <p:cNvPr id="853" name="Google Shape;853;p17"/>
          <p:cNvSpPr/>
          <p:nvPr/>
        </p:nvSpPr>
        <p:spPr>
          <a:xfrm>
            <a:off x="6391656" y="2176272"/>
            <a:ext cx="276148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4" name="Google Shape;854;p17"/>
          <p:cNvSpPr/>
          <p:nvPr/>
        </p:nvSpPr>
        <p:spPr>
          <a:xfrm>
            <a:off x="6391656" y="2176272"/>
            <a:ext cx="276148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5" name="Google Shape;855;p17"/>
          <p:cNvSpPr txBox="1"/>
          <p:nvPr/>
        </p:nvSpPr>
        <p:spPr>
          <a:xfrm>
            <a:off x="6547104" y="2276856"/>
            <a:ext cx="2468880"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300" b="1">
                <a:solidFill>
                  <a:srgbClr val="FFFFFF"/>
                </a:solidFill>
                <a:latin typeface="Arial"/>
                <a:ea typeface="Arial"/>
                <a:cs typeface="Arial"/>
                <a:sym typeface="Arial"/>
              </a:rPr>
              <a:t>COURSE REQUIREMENTS</a:t>
            </a:r>
            <a:endParaRPr/>
          </a:p>
        </p:txBody>
      </p:sp>
      <p:sp>
        <p:nvSpPr>
          <p:cNvPr id="856" name="Google Shape;856;p17"/>
          <p:cNvSpPr txBox="1"/>
          <p:nvPr/>
        </p:nvSpPr>
        <p:spPr>
          <a:xfrm>
            <a:off x="6547104" y="2834640"/>
            <a:ext cx="2487168"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400" b="0">
                <a:solidFill>
                  <a:srgbClr val="103463"/>
                </a:solidFill>
                <a:latin typeface="Arial"/>
                <a:ea typeface="Arial"/>
                <a:cs typeface="Arial"/>
                <a:sym typeface="Arial"/>
              </a:rPr>
              <a:t>course_code  •  credit_hours</a:t>
            </a:r>
            <a:endParaRPr/>
          </a:p>
          <a:p>
            <a:pPr marL="0" marR="0" lvl="0" indent="0" algn="l" rtl="0">
              <a:spcBef>
                <a:spcPts val="700"/>
              </a:spcBef>
              <a:spcAft>
                <a:spcPts val="0"/>
              </a:spcAft>
              <a:buNone/>
            </a:pPr>
            <a:r>
              <a:rPr lang="en-US" sz="1400" b="0">
                <a:solidFill>
                  <a:srgbClr val="103463"/>
                </a:solidFill>
                <a:latin typeface="Arial"/>
                <a:ea typeface="Arial"/>
                <a:cs typeface="Arial"/>
                <a:sym typeface="Arial"/>
              </a:rPr>
              <a:t>prerequisite groups  •  min_grade</a:t>
            </a:r>
            <a:endParaRPr/>
          </a:p>
        </p:txBody>
      </p:sp>
      <p:sp>
        <p:nvSpPr>
          <p:cNvPr id="857" name="Google Shape;857;p17"/>
          <p:cNvSpPr txBox="1"/>
          <p:nvPr/>
        </p:nvSpPr>
        <p:spPr>
          <a:xfrm>
            <a:off x="6547104" y="3968496"/>
            <a:ext cx="2468880" cy="50292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0">
                <a:solidFill>
                  <a:srgbClr val="536C8A"/>
                </a:solidFill>
                <a:latin typeface="Arial"/>
                <a:ea typeface="Arial"/>
                <a:cs typeface="Arial"/>
                <a:sym typeface="Arial"/>
              </a:rPr>
              <a:t>Eligibility rules and course metadata</a:t>
            </a:r>
            <a:endParaRPr/>
          </a:p>
        </p:txBody>
      </p:sp>
      <p:sp>
        <p:nvSpPr>
          <p:cNvPr id="858" name="Google Shape;858;p17"/>
          <p:cNvSpPr/>
          <p:nvPr/>
        </p:nvSpPr>
        <p:spPr>
          <a:xfrm>
            <a:off x="9299448" y="2176272"/>
            <a:ext cx="276148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9" name="Google Shape;859;p17"/>
          <p:cNvSpPr/>
          <p:nvPr/>
        </p:nvSpPr>
        <p:spPr>
          <a:xfrm>
            <a:off x="9299448" y="2176272"/>
            <a:ext cx="276148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0" name="Google Shape;860;p17"/>
          <p:cNvSpPr txBox="1"/>
          <p:nvPr/>
        </p:nvSpPr>
        <p:spPr>
          <a:xfrm>
            <a:off x="9454896" y="2276856"/>
            <a:ext cx="2468880"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300" b="1">
                <a:solidFill>
                  <a:srgbClr val="FFFFFF"/>
                </a:solidFill>
                <a:latin typeface="Arial"/>
                <a:ea typeface="Arial"/>
                <a:cs typeface="Arial"/>
                <a:sym typeface="Arial"/>
              </a:rPr>
              <a:t>DEGREE REQUIREMENTS</a:t>
            </a:r>
            <a:endParaRPr/>
          </a:p>
        </p:txBody>
      </p:sp>
      <p:sp>
        <p:nvSpPr>
          <p:cNvPr id="861" name="Google Shape;861;p17"/>
          <p:cNvSpPr txBox="1"/>
          <p:nvPr/>
        </p:nvSpPr>
        <p:spPr>
          <a:xfrm>
            <a:off x="9454896" y="2834640"/>
            <a:ext cx="2487168"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400" b="0">
                <a:solidFill>
                  <a:srgbClr val="103463"/>
                </a:solidFill>
                <a:latin typeface="Arial"/>
                <a:ea typeface="Arial"/>
                <a:cs typeface="Arial"/>
                <a:sym typeface="Arial"/>
              </a:rPr>
              <a:t>program  •  required_courses</a:t>
            </a:r>
            <a:endParaRPr/>
          </a:p>
          <a:p>
            <a:pPr marL="0" marR="0" lvl="0" indent="0" algn="l" rtl="0">
              <a:spcBef>
                <a:spcPts val="700"/>
              </a:spcBef>
              <a:spcAft>
                <a:spcPts val="0"/>
              </a:spcAft>
              <a:buNone/>
            </a:pPr>
            <a:r>
              <a:rPr lang="en-US" sz="1400" b="0">
                <a:solidFill>
                  <a:srgbClr val="103463"/>
                </a:solidFill>
                <a:latin typeface="Arial"/>
                <a:ea typeface="Arial"/>
                <a:cs typeface="Arial"/>
                <a:sym typeface="Arial"/>
              </a:rPr>
              <a:t>credit requirements  •  electives</a:t>
            </a:r>
            <a:endParaRPr/>
          </a:p>
        </p:txBody>
      </p:sp>
      <p:sp>
        <p:nvSpPr>
          <p:cNvPr id="862" name="Google Shape;862;p17"/>
          <p:cNvSpPr txBox="1"/>
          <p:nvPr/>
        </p:nvSpPr>
        <p:spPr>
          <a:xfrm>
            <a:off x="9454896" y="3968496"/>
            <a:ext cx="2468880" cy="50292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0">
                <a:solidFill>
                  <a:srgbClr val="536C8A"/>
                </a:solidFill>
                <a:latin typeface="Arial"/>
                <a:ea typeface="Arial"/>
                <a:cs typeface="Arial"/>
                <a:sym typeface="Arial"/>
              </a:rPr>
              <a:t>Remaining-degree analysis</a:t>
            </a:r>
            <a:endParaRPr/>
          </a:p>
        </p:txBody>
      </p:sp>
      <p:sp>
        <p:nvSpPr>
          <p:cNvPr id="863" name="Google Shape;863;p17"/>
          <p:cNvSpPr/>
          <p:nvPr/>
        </p:nvSpPr>
        <p:spPr>
          <a:xfrm>
            <a:off x="685800" y="4956048"/>
            <a:ext cx="10826496" cy="713232"/>
          </a:xfrm>
          <a:prstGeom prst="roundRect">
            <a:avLst>
              <a:gd name="adj" fmla="val 16667"/>
            </a:avLst>
          </a:prstGeom>
          <a:solidFill>
            <a:srgbClr val="103463"/>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4" name="Google Shape;864;p17"/>
          <p:cNvSpPr txBox="1"/>
          <p:nvPr/>
        </p:nvSpPr>
        <p:spPr>
          <a:xfrm>
            <a:off x="941832" y="5111496"/>
            <a:ext cx="10332720" cy="36576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700" b="1">
                <a:solidFill>
                  <a:srgbClr val="FFFFFF"/>
                </a:solidFill>
                <a:latin typeface="Arial"/>
                <a:ea typeface="Arial"/>
                <a:cs typeface="Arial"/>
                <a:sym typeface="Arial"/>
              </a:rPr>
              <a:t>LangChain selects route  →  Python Advisor Tools query DynamoDB  →  Bedrock explains results</a:t>
            </a:r>
            <a:endParaRPr/>
          </a:p>
        </p:txBody>
      </p:sp>
      <p:sp>
        <p:nvSpPr>
          <p:cNvPr id="865" name="Google Shape;865;p17"/>
          <p:cNvSpPr txBox="1"/>
          <p:nvPr/>
        </p:nvSpPr>
        <p:spPr>
          <a:xfrm>
            <a:off x="585216" y="6510528"/>
            <a:ext cx="7315200" cy="22860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000" b="0">
                <a:solidFill>
                  <a:srgbClr val="536C8A"/>
                </a:solidFill>
                <a:latin typeface="Arial"/>
                <a:ea typeface="Arial"/>
                <a:cs typeface="Arial"/>
                <a:sym typeface="Arial"/>
              </a:rPr>
              <a:t>CSE 4392 / 5320  •  TEAM ASSIGNMENT 2</a:t>
            </a:r>
            <a:endParaRPr/>
          </a:p>
        </p:txBody>
      </p:sp>
      <p:sp>
        <p:nvSpPr>
          <p:cNvPr id="866" name="Google Shape;866;p17"/>
          <p:cNvSpPr/>
          <p:nvPr/>
        </p:nvSpPr>
        <p:spPr>
          <a:xfrm>
            <a:off x="0" y="0"/>
            <a:ext cx="12192000" cy="73152"/>
          </a:xfrm>
          <a:prstGeom prst="rect">
            <a:avLst/>
          </a:prstGeom>
          <a:solidFill>
            <a:srgbClr val="0D264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18"/>
          <p:cNvSpPr/>
          <p:nvPr/>
        </p:nvSpPr>
        <p:spPr>
          <a:xfrm>
            <a:off x="0" y="12546"/>
            <a:ext cx="12191695" cy="118872"/>
          </a:xfrm>
          <a:prstGeom prst="rect">
            <a:avLst/>
          </a:prstGeom>
          <a:solidFill>
            <a:srgbClr val="0D2D5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72" name="Google Shape;872;p18"/>
          <p:cNvSpPr/>
          <p:nvPr/>
        </p:nvSpPr>
        <p:spPr>
          <a:xfrm>
            <a:off x="502920" y="420624"/>
            <a:ext cx="73152" cy="393192"/>
          </a:xfrm>
          <a:prstGeom prst="rect">
            <a:avLst/>
          </a:prstGeom>
          <a:solidFill>
            <a:srgbClr val="F48A2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73" name="Google Shape;873;p18"/>
          <p:cNvSpPr txBox="1"/>
          <p:nvPr/>
        </p:nvSpPr>
        <p:spPr>
          <a:xfrm>
            <a:off x="704088" y="384048"/>
            <a:ext cx="10515600"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UTA  •  TEAM 2 AI ADVISOR</a:t>
            </a:r>
            <a:endParaRPr/>
          </a:p>
        </p:txBody>
      </p:sp>
      <p:sp>
        <p:nvSpPr>
          <p:cNvPr id="874" name="Google Shape;874;p18"/>
          <p:cNvSpPr txBox="1"/>
          <p:nvPr/>
        </p:nvSpPr>
        <p:spPr>
          <a:xfrm>
            <a:off x="704088" y="777240"/>
            <a:ext cx="10789920" cy="4937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2800" b="1">
                <a:solidFill>
                  <a:srgbClr val="0D2D54"/>
                </a:solidFill>
                <a:latin typeface="Arial"/>
                <a:ea typeface="Arial"/>
                <a:cs typeface="Arial"/>
                <a:sym typeface="Arial"/>
              </a:rPr>
              <a:t>Eight Fictional Student Test Profiles</a:t>
            </a:r>
            <a:endParaRPr/>
          </a:p>
        </p:txBody>
      </p:sp>
      <p:sp>
        <p:nvSpPr>
          <p:cNvPr id="875" name="Google Shape;875;p18"/>
          <p:cNvSpPr txBox="1"/>
          <p:nvPr/>
        </p:nvSpPr>
        <p:spPr>
          <a:xfrm>
            <a:off x="713232" y="1353312"/>
            <a:ext cx="10789920" cy="329184"/>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300" b="0">
                <a:solidFill>
                  <a:srgbClr val="5E7086"/>
                </a:solidFill>
                <a:latin typeface="Arial"/>
                <a:ea typeface="Arial"/>
                <a:cs typeface="Arial"/>
                <a:sym typeface="Arial"/>
              </a:rPr>
              <a:t>Transcript-based test cases for eligibility checks and personalized degree planning</a:t>
            </a:r>
            <a:endParaRPr/>
          </a:p>
        </p:txBody>
      </p:sp>
      <p:sp>
        <p:nvSpPr>
          <p:cNvPr id="876" name="Google Shape;876;p18"/>
          <p:cNvSpPr/>
          <p:nvPr/>
        </p:nvSpPr>
        <p:spPr>
          <a:xfrm>
            <a:off x="594360" y="1856231"/>
            <a:ext cx="11000232" cy="438912"/>
          </a:xfrm>
          <a:prstGeom prst="roundRect">
            <a:avLst>
              <a:gd name="adj" fmla="val 16667"/>
            </a:avLst>
          </a:prstGeom>
          <a:solidFill>
            <a:srgbClr val="0D2D5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77" name="Google Shape;877;p18"/>
          <p:cNvSpPr txBox="1"/>
          <p:nvPr/>
        </p:nvSpPr>
        <p:spPr>
          <a:xfrm>
            <a:off x="667512" y="1956816"/>
            <a:ext cx="1371600"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STUDENT ID</a:t>
            </a:r>
            <a:endParaRPr/>
          </a:p>
        </p:txBody>
      </p:sp>
      <p:sp>
        <p:nvSpPr>
          <p:cNvPr id="878" name="Google Shape;878;p18"/>
          <p:cNvSpPr txBox="1"/>
          <p:nvPr/>
        </p:nvSpPr>
        <p:spPr>
          <a:xfrm>
            <a:off x="2130552" y="1956816"/>
            <a:ext cx="2011679"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STUDENT</a:t>
            </a:r>
            <a:endParaRPr/>
          </a:p>
        </p:txBody>
      </p:sp>
      <p:sp>
        <p:nvSpPr>
          <p:cNvPr id="879" name="Google Shape;879;p18"/>
          <p:cNvSpPr txBox="1"/>
          <p:nvPr/>
        </p:nvSpPr>
        <p:spPr>
          <a:xfrm>
            <a:off x="4233672" y="1956816"/>
            <a:ext cx="1399031"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USERNAME</a:t>
            </a:r>
            <a:endParaRPr/>
          </a:p>
        </p:txBody>
      </p:sp>
      <p:sp>
        <p:nvSpPr>
          <p:cNvPr id="880" name="Google Shape;880;p18"/>
          <p:cNvSpPr txBox="1"/>
          <p:nvPr/>
        </p:nvSpPr>
        <p:spPr>
          <a:xfrm>
            <a:off x="5724144" y="1956816"/>
            <a:ext cx="1005839"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PROGRAM</a:t>
            </a:r>
            <a:endParaRPr/>
          </a:p>
        </p:txBody>
      </p:sp>
      <p:sp>
        <p:nvSpPr>
          <p:cNvPr id="881" name="Google Shape;881;p18"/>
          <p:cNvSpPr txBox="1"/>
          <p:nvPr/>
        </p:nvSpPr>
        <p:spPr>
          <a:xfrm>
            <a:off x="6821424" y="1956816"/>
            <a:ext cx="795528"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CREDITS</a:t>
            </a:r>
            <a:endParaRPr/>
          </a:p>
        </p:txBody>
      </p:sp>
      <p:sp>
        <p:nvSpPr>
          <p:cNvPr id="882" name="Google Shape;882;p18"/>
          <p:cNvSpPr txBox="1"/>
          <p:nvPr/>
        </p:nvSpPr>
        <p:spPr>
          <a:xfrm>
            <a:off x="7708392" y="1956816"/>
            <a:ext cx="3886200"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TEST SCENARIO</a:t>
            </a:r>
            <a:endParaRPr/>
          </a:p>
        </p:txBody>
      </p:sp>
      <p:sp>
        <p:nvSpPr>
          <p:cNvPr id="883" name="Google Shape;883;p18"/>
          <p:cNvSpPr/>
          <p:nvPr/>
        </p:nvSpPr>
        <p:spPr>
          <a:xfrm>
            <a:off x="594360" y="2340864"/>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84" name="Google Shape;884;p18"/>
          <p:cNvSpPr txBox="1"/>
          <p:nvPr/>
        </p:nvSpPr>
        <p:spPr>
          <a:xfrm>
            <a:off x="667512" y="2436876"/>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1002000101</a:t>
            </a:r>
            <a:endParaRPr/>
          </a:p>
        </p:txBody>
      </p:sp>
      <p:sp>
        <p:nvSpPr>
          <p:cNvPr id="885" name="Google Shape;885;p18"/>
          <p:cNvSpPr txBox="1"/>
          <p:nvPr/>
        </p:nvSpPr>
        <p:spPr>
          <a:xfrm>
            <a:off x="2130552" y="2436876"/>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Emily Johnson</a:t>
            </a:r>
            <a:endParaRPr/>
          </a:p>
        </p:txBody>
      </p:sp>
      <p:sp>
        <p:nvSpPr>
          <p:cNvPr id="886" name="Google Shape;886;p18"/>
          <p:cNvSpPr txBox="1"/>
          <p:nvPr/>
        </p:nvSpPr>
        <p:spPr>
          <a:xfrm>
            <a:off x="4233672" y="2436876"/>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emily1234</a:t>
            </a:r>
            <a:endParaRPr/>
          </a:p>
        </p:txBody>
      </p:sp>
      <p:sp>
        <p:nvSpPr>
          <p:cNvPr id="887" name="Google Shape;887;p18"/>
          <p:cNvSpPr txBox="1"/>
          <p:nvPr/>
        </p:nvSpPr>
        <p:spPr>
          <a:xfrm>
            <a:off x="5724144" y="2436876"/>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888" name="Google Shape;888;p18"/>
          <p:cNvSpPr txBox="1"/>
          <p:nvPr/>
        </p:nvSpPr>
        <p:spPr>
          <a:xfrm>
            <a:off x="6821424" y="2436876"/>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0</a:t>
            </a:r>
            <a:endParaRPr/>
          </a:p>
        </p:txBody>
      </p:sp>
      <p:sp>
        <p:nvSpPr>
          <p:cNvPr id="889" name="Google Shape;889;p18"/>
          <p:cNvSpPr txBox="1"/>
          <p:nvPr/>
        </p:nvSpPr>
        <p:spPr>
          <a:xfrm>
            <a:off x="7708392" y="2436876"/>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New freshman; no completed courses</a:t>
            </a:r>
            <a:endParaRPr/>
          </a:p>
        </p:txBody>
      </p:sp>
      <p:sp>
        <p:nvSpPr>
          <p:cNvPr id="890" name="Google Shape;890;p18"/>
          <p:cNvSpPr/>
          <p:nvPr/>
        </p:nvSpPr>
        <p:spPr>
          <a:xfrm>
            <a:off x="594360" y="2770632"/>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91" name="Google Shape;891;p18"/>
          <p:cNvSpPr txBox="1"/>
          <p:nvPr/>
        </p:nvSpPr>
        <p:spPr>
          <a:xfrm>
            <a:off x="667512" y="2866644"/>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1002000102</a:t>
            </a:r>
            <a:endParaRPr/>
          </a:p>
        </p:txBody>
      </p:sp>
      <p:sp>
        <p:nvSpPr>
          <p:cNvPr id="892" name="Google Shape;892;p18"/>
          <p:cNvSpPr txBox="1"/>
          <p:nvPr/>
        </p:nvSpPr>
        <p:spPr>
          <a:xfrm>
            <a:off x="2130552" y="2866644"/>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Michael Smith</a:t>
            </a:r>
            <a:endParaRPr/>
          </a:p>
        </p:txBody>
      </p:sp>
      <p:sp>
        <p:nvSpPr>
          <p:cNvPr id="893" name="Google Shape;893;p18"/>
          <p:cNvSpPr txBox="1"/>
          <p:nvPr/>
        </p:nvSpPr>
        <p:spPr>
          <a:xfrm>
            <a:off x="4233672" y="2866644"/>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michael1234</a:t>
            </a:r>
            <a:endParaRPr/>
          </a:p>
        </p:txBody>
      </p:sp>
      <p:sp>
        <p:nvSpPr>
          <p:cNvPr id="894" name="Google Shape;894;p18"/>
          <p:cNvSpPr txBox="1"/>
          <p:nvPr/>
        </p:nvSpPr>
        <p:spPr>
          <a:xfrm>
            <a:off x="5724144" y="2866644"/>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895" name="Google Shape;895;p18"/>
          <p:cNvSpPr txBox="1"/>
          <p:nvPr/>
        </p:nvSpPr>
        <p:spPr>
          <a:xfrm>
            <a:off x="6821424" y="2866644"/>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17</a:t>
            </a:r>
            <a:endParaRPr/>
          </a:p>
        </p:txBody>
      </p:sp>
      <p:sp>
        <p:nvSpPr>
          <p:cNvPr id="896" name="Google Shape;896;p18"/>
          <p:cNvSpPr txBox="1"/>
          <p:nvPr/>
        </p:nvSpPr>
        <p:spPr>
          <a:xfrm>
            <a:off x="7708392" y="2866644"/>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Sophomore progressing normally</a:t>
            </a:r>
            <a:endParaRPr/>
          </a:p>
        </p:txBody>
      </p:sp>
      <p:sp>
        <p:nvSpPr>
          <p:cNvPr id="897" name="Google Shape;897;p18"/>
          <p:cNvSpPr/>
          <p:nvPr/>
        </p:nvSpPr>
        <p:spPr>
          <a:xfrm>
            <a:off x="594360" y="3200400"/>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98" name="Google Shape;898;p18"/>
          <p:cNvSpPr txBox="1"/>
          <p:nvPr/>
        </p:nvSpPr>
        <p:spPr>
          <a:xfrm>
            <a:off x="667512" y="3296412"/>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1002000103</a:t>
            </a:r>
            <a:endParaRPr/>
          </a:p>
        </p:txBody>
      </p:sp>
      <p:sp>
        <p:nvSpPr>
          <p:cNvPr id="899" name="Google Shape;899;p18"/>
          <p:cNvSpPr txBox="1"/>
          <p:nvPr/>
        </p:nvSpPr>
        <p:spPr>
          <a:xfrm>
            <a:off x="2130552" y="3296412"/>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Sarah Williams</a:t>
            </a:r>
            <a:endParaRPr/>
          </a:p>
        </p:txBody>
      </p:sp>
      <p:sp>
        <p:nvSpPr>
          <p:cNvPr id="900" name="Google Shape;900;p18"/>
          <p:cNvSpPr txBox="1"/>
          <p:nvPr/>
        </p:nvSpPr>
        <p:spPr>
          <a:xfrm>
            <a:off x="4233672" y="3296412"/>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sarah1234</a:t>
            </a:r>
            <a:endParaRPr/>
          </a:p>
        </p:txBody>
      </p:sp>
      <p:sp>
        <p:nvSpPr>
          <p:cNvPr id="901" name="Google Shape;901;p18"/>
          <p:cNvSpPr txBox="1"/>
          <p:nvPr/>
        </p:nvSpPr>
        <p:spPr>
          <a:xfrm>
            <a:off x="5724144" y="3296412"/>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02" name="Google Shape;902;p18"/>
          <p:cNvSpPr txBox="1"/>
          <p:nvPr/>
        </p:nvSpPr>
        <p:spPr>
          <a:xfrm>
            <a:off x="6821424" y="3296412"/>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35</a:t>
            </a:r>
            <a:endParaRPr/>
          </a:p>
        </p:txBody>
      </p:sp>
      <p:sp>
        <p:nvSpPr>
          <p:cNvPr id="903" name="Google Shape;903;p18"/>
          <p:cNvSpPr txBox="1"/>
          <p:nvPr/>
        </p:nvSpPr>
        <p:spPr>
          <a:xfrm>
            <a:off x="7708392" y="3296412"/>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Junior with strong grades</a:t>
            </a:r>
            <a:endParaRPr/>
          </a:p>
        </p:txBody>
      </p:sp>
      <p:sp>
        <p:nvSpPr>
          <p:cNvPr id="904" name="Google Shape;904;p18"/>
          <p:cNvSpPr/>
          <p:nvPr/>
        </p:nvSpPr>
        <p:spPr>
          <a:xfrm>
            <a:off x="594360" y="3630168"/>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05" name="Google Shape;905;p18"/>
          <p:cNvSpPr txBox="1"/>
          <p:nvPr/>
        </p:nvSpPr>
        <p:spPr>
          <a:xfrm>
            <a:off x="667512" y="3726180"/>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1002000104</a:t>
            </a:r>
            <a:endParaRPr/>
          </a:p>
        </p:txBody>
      </p:sp>
      <p:sp>
        <p:nvSpPr>
          <p:cNvPr id="906" name="Google Shape;906;p18"/>
          <p:cNvSpPr txBox="1"/>
          <p:nvPr/>
        </p:nvSpPr>
        <p:spPr>
          <a:xfrm>
            <a:off x="2130552" y="3726180"/>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James Brown</a:t>
            </a:r>
            <a:endParaRPr/>
          </a:p>
        </p:txBody>
      </p:sp>
      <p:sp>
        <p:nvSpPr>
          <p:cNvPr id="907" name="Google Shape;907;p18"/>
          <p:cNvSpPr txBox="1"/>
          <p:nvPr/>
        </p:nvSpPr>
        <p:spPr>
          <a:xfrm>
            <a:off x="4233672" y="3726180"/>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james1234</a:t>
            </a:r>
            <a:endParaRPr/>
          </a:p>
        </p:txBody>
      </p:sp>
      <p:sp>
        <p:nvSpPr>
          <p:cNvPr id="908" name="Google Shape;908;p18"/>
          <p:cNvSpPr txBox="1"/>
          <p:nvPr/>
        </p:nvSpPr>
        <p:spPr>
          <a:xfrm>
            <a:off x="5724144" y="3726180"/>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09" name="Google Shape;909;p18"/>
          <p:cNvSpPr txBox="1"/>
          <p:nvPr/>
        </p:nvSpPr>
        <p:spPr>
          <a:xfrm>
            <a:off x="6821424" y="3726180"/>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13*</a:t>
            </a:r>
            <a:endParaRPr/>
          </a:p>
        </p:txBody>
      </p:sp>
      <p:sp>
        <p:nvSpPr>
          <p:cNvPr id="910" name="Google Shape;910;p18"/>
          <p:cNvSpPr txBox="1"/>
          <p:nvPr/>
        </p:nvSpPr>
        <p:spPr>
          <a:xfrm>
            <a:off x="7708392" y="3726180"/>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Low grade (D) blocks prerequisites</a:t>
            </a:r>
            <a:endParaRPr/>
          </a:p>
        </p:txBody>
      </p:sp>
      <p:sp>
        <p:nvSpPr>
          <p:cNvPr id="911" name="Google Shape;911;p18"/>
          <p:cNvSpPr/>
          <p:nvPr/>
        </p:nvSpPr>
        <p:spPr>
          <a:xfrm>
            <a:off x="594360" y="4059935"/>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12" name="Google Shape;912;p18"/>
          <p:cNvSpPr txBox="1"/>
          <p:nvPr/>
        </p:nvSpPr>
        <p:spPr>
          <a:xfrm>
            <a:off x="667512" y="4155948"/>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1002000105</a:t>
            </a:r>
            <a:endParaRPr/>
          </a:p>
        </p:txBody>
      </p:sp>
      <p:sp>
        <p:nvSpPr>
          <p:cNvPr id="913" name="Google Shape;913;p18"/>
          <p:cNvSpPr txBox="1"/>
          <p:nvPr/>
        </p:nvSpPr>
        <p:spPr>
          <a:xfrm>
            <a:off x="2130552" y="4155948"/>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Jessica Davis</a:t>
            </a:r>
            <a:endParaRPr/>
          </a:p>
        </p:txBody>
      </p:sp>
      <p:sp>
        <p:nvSpPr>
          <p:cNvPr id="914" name="Google Shape;914;p18"/>
          <p:cNvSpPr txBox="1"/>
          <p:nvPr/>
        </p:nvSpPr>
        <p:spPr>
          <a:xfrm>
            <a:off x="4233672" y="4155948"/>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jessica1234</a:t>
            </a:r>
            <a:endParaRPr/>
          </a:p>
        </p:txBody>
      </p:sp>
      <p:sp>
        <p:nvSpPr>
          <p:cNvPr id="915" name="Google Shape;915;p18"/>
          <p:cNvSpPr txBox="1"/>
          <p:nvPr/>
        </p:nvSpPr>
        <p:spPr>
          <a:xfrm>
            <a:off x="5724144" y="4155948"/>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BS-SE</a:t>
            </a:r>
            <a:endParaRPr/>
          </a:p>
        </p:txBody>
      </p:sp>
      <p:sp>
        <p:nvSpPr>
          <p:cNvPr id="916" name="Google Shape;916;p18"/>
          <p:cNvSpPr txBox="1"/>
          <p:nvPr/>
        </p:nvSpPr>
        <p:spPr>
          <a:xfrm>
            <a:off x="6821424" y="4155948"/>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47</a:t>
            </a:r>
            <a:endParaRPr/>
          </a:p>
        </p:txBody>
      </p:sp>
      <p:sp>
        <p:nvSpPr>
          <p:cNvPr id="917" name="Google Shape;917;p18"/>
          <p:cNvSpPr txBox="1"/>
          <p:nvPr/>
        </p:nvSpPr>
        <p:spPr>
          <a:xfrm>
            <a:off x="7708392" y="4155948"/>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Senior; design II and elective remain</a:t>
            </a:r>
            <a:endParaRPr/>
          </a:p>
        </p:txBody>
      </p:sp>
      <p:sp>
        <p:nvSpPr>
          <p:cNvPr id="918" name="Google Shape;918;p18"/>
          <p:cNvSpPr/>
          <p:nvPr/>
        </p:nvSpPr>
        <p:spPr>
          <a:xfrm>
            <a:off x="594360" y="4489704"/>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19" name="Google Shape;919;p18"/>
          <p:cNvSpPr txBox="1"/>
          <p:nvPr/>
        </p:nvSpPr>
        <p:spPr>
          <a:xfrm>
            <a:off x="667512" y="4585716"/>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1002000106</a:t>
            </a:r>
            <a:endParaRPr/>
          </a:p>
        </p:txBody>
      </p:sp>
      <p:sp>
        <p:nvSpPr>
          <p:cNvPr id="920" name="Google Shape;920;p18"/>
          <p:cNvSpPr txBox="1"/>
          <p:nvPr/>
        </p:nvSpPr>
        <p:spPr>
          <a:xfrm>
            <a:off x="2130552" y="4585716"/>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David Miller</a:t>
            </a:r>
            <a:endParaRPr/>
          </a:p>
        </p:txBody>
      </p:sp>
      <p:sp>
        <p:nvSpPr>
          <p:cNvPr id="921" name="Google Shape;921;p18"/>
          <p:cNvSpPr txBox="1"/>
          <p:nvPr/>
        </p:nvSpPr>
        <p:spPr>
          <a:xfrm>
            <a:off x="4233672" y="4585716"/>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david1234</a:t>
            </a:r>
            <a:endParaRPr/>
          </a:p>
        </p:txBody>
      </p:sp>
      <p:sp>
        <p:nvSpPr>
          <p:cNvPr id="922" name="Google Shape;922;p18"/>
          <p:cNvSpPr txBox="1"/>
          <p:nvPr/>
        </p:nvSpPr>
        <p:spPr>
          <a:xfrm>
            <a:off x="5724144" y="4585716"/>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23" name="Google Shape;923;p18"/>
          <p:cNvSpPr txBox="1"/>
          <p:nvPr/>
        </p:nvSpPr>
        <p:spPr>
          <a:xfrm>
            <a:off x="6821424" y="4585716"/>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32</a:t>
            </a:r>
            <a:endParaRPr/>
          </a:p>
        </p:txBody>
      </p:sp>
      <p:sp>
        <p:nvSpPr>
          <p:cNvPr id="924" name="Google Shape;924;p18"/>
          <p:cNvSpPr txBox="1"/>
          <p:nvPr/>
        </p:nvSpPr>
        <p:spPr>
          <a:xfrm>
            <a:off x="7708392" y="4585716"/>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Failed, retook, and withdrew</a:t>
            </a:r>
            <a:endParaRPr/>
          </a:p>
        </p:txBody>
      </p:sp>
      <p:sp>
        <p:nvSpPr>
          <p:cNvPr id="925" name="Google Shape;925;p18"/>
          <p:cNvSpPr/>
          <p:nvPr/>
        </p:nvSpPr>
        <p:spPr>
          <a:xfrm>
            <a:off x="594360" y="4919472"/>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26" name="Google Shape;926;p18"/>
          <p:cNvSpPr txBox="1"/>
          <p:nvPr/>
        </p:nvSpPr>
        <p:spPr>
          <a:xfrm>
            <a:off x="667512" y="5015484"/>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1002000107</a:t>
            </a:r>
            <a:endParaRPr/>
          </a:p>
        </p:txBody>
      </p:sp>
      <p:sp>
        <p:nvSpPr>
          <p:cNvPr id="927" name="Google Shape;927;p18"/>
          <p:cNvSpPr txBox="1"/>
          <p:nvPr/>
        </p:nvSpPr>
        <p:spPr>
          <a:xfrm>
            <a:off x="2130552" y="5015484"/>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Sofia Martinez</a:t>
            </a:r>
            <a:endParaRPr/>
          </a:p>
        </p:txBody>
      </p:sp>
      <p:sp>
        <p:nvSpPr>
          <p:cNvPr id="928" name="Google Shape;928;p18"/>
          <p:cNvSpPr txBox="1"/>
          <p:nvPr/>
        </p:nvSpPr>
        <p:spPr>
          <a:xfrm>
            <a:off x="4233672" y="5015484"/>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sofia1234</a:t>
            </a:r>
            <a:endParaRPr/>
          </a:p>
        </p:txBody>
      </p:sp>
      <p:sp>
        <p:nvSpPr>
          <p:cNvPr id="929" name="Google Shape;929;p18"/>
          <p:cNvSpPr txBox="1"/>
          <p:nvPr/>
        </p:nvSpPr>
        <p:spPr>
          <a:xfrm>
            <a:off x="5724144" y="5015484"/>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BS-SE</a:t>
            </a:r>
            <a:endParaRPr/>
          </a:p>
        </p:txBody>
      </p:sp>
      <p:sp>
        <p:nvSpPr>
          <p:cNvPr id="930" name="Google Shape;930;p18"/>
          <p:cNvSpPr txBox="1"/>
          <p:nvPr/>
        </p:nvSpPr>
        <p:spPr>
          <a:xfrm>
            <a:off x="6821424" y="5015484"/>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17</a:t>
            </a:r>
            <a:endParaRPr/>
          </a:p>
        </p:txBody>
      </p:sp>
      <p:sp>
        <p:nvSpPr>
          <p:cNvPr id="931" name="Google Shape;931;p18"/>
          <p:cNvSpPr txBox="1"/>
          <p:nvPr/>
        </p:nvSpPr>
        <p:spPr>
          <a:xfrm>
            <a:off x="7708392" y="5015484"/>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Changed major from CS to SE</a:t>
            </a:r>
            <a:endParaRPr/>
          </a:p>
        </p:txBody>
      </p:sp>
      <p:sp>
        <p:nvSpPr>
          <p:cNvPr id="932" name="Google Shape;932;p18"/>
          <p:cNvSpPr/>
          <p:nvPr/>
        </p:nvSpPr>
        <p:spPr>
          <a:xfrm>
            <a:off x="594360" y="5349240"/>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33" name="Google Shape;933;p18"/>
          <p:cNvSpPr txBox="1"/>
          <p:nvPr/>
        </p:nvSpPr>
        <p:spPr>
          <a:xfrm>
            <a:off x="667512" y="5445252"/>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1002000108</a:t>
            </a:r>
            <a:endParaRPr/>
          </a:p>
        </p:txBody>
      </p:sp>
      <p:sp>
        <p:nvSpPr>
          <p:cNvPr id="934" name="Google Shape;934;p18"/>
          <p:cNvSpPr txBox="1"/>
          <p:nvPr/>
        </p:nvSpPr>
        <p:spPr>
          <a:xfrm>
            <a:off x="2130552" y="5445252"/>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Daniel Taylor</a:t>
            </a:r>
            <a:endParaRPr/>
          </a:p>
        </p:txBody>
      </p:sp>
      <p:sp>
        <p:nvSpPr>
          <p:cNvPr id="935" name="Google Shape;935;p18"/>
          <p:cNvSpPr txBox="1"/>
          <p:nvPr/>
        </p:nvSpPr>
        <p:spPr>
          <a:xfrm>
            <a:off x="4233672" y="5445252"/>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daniel1234</a:t>
            </a:r>
            <a:endParaRPr/>
          </a:p>
        </p:txBody>
      </p:sp>
      <p:sp>
        <p:nvSpPr>
          <p:cNvPr id="936" name="Google Shape;936;p18"/>
          <p:cNvSpPr txBox="1"/>
          <p:nvPr/>
        </p:nvSpPr>
        <p:spPr>
          <a:xfrm>
            <a:off x="5724144" y="5445252"/>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37" name="Google Shape;937;p18"/>
          <p:cNvSpPr txBox="1"/>
          <p:nvPr/>
        </p:nvSpPr>
        <p:spPr>
          <a:xfrm>
            <a:off x="6821424" y="5445252"/>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16</a:t>
            </a:r>
            <a:endParaRPr/>
          </a:p>
        </p:txBody>
      </p:sp>
      <p:sp>
        <p:nvSpPr>
          <p:cNvPr id="938" name="Google Shape;938;p18"/>
          <p:cNvSpPr txBox="1"/>
          <p:nvPr/>
        </p:nvSpPr>
        <p:spPr>
          <a:xfrm>
            <a:off x="7708392" y="5445252"/>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Part-time, including summer courses</a:t>
            </a:r>
            <a:endParaRPr/>
          </a:p>
        </p:txBody>
      </p:sp>
      <p:sp>
        <p:nvSpPr>
          <p:cNvPr id="939" name="Google Shape;939;p18"/>
          <p:cNvSpPr/>
          <p:nvPr/>
        </p:nvSpPr>
        <p:spPr>
          <a:xfrm>
            <a:off x="612648" y="5952744"/>
            <a:ext cx="59436" cy="484632"/>
          </a:xfrm>
          <a:prstGeom prst="rect">
            <a:avLst/>
          </a:prstGeom>
          <a:solidFill>
            <a:srgbClr val="F48A2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40" name="Google Shape;940;p18"/>
          <p:cNvSpPr txBox="1"/>
          <p:nvPr/>
        </p:nvSpPr>
        <p:spPr>
          <a:xfrm>
            <a:off x="786384" y="5943600"/>
            <a:ext cx="10698480" cy="475488"/>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0">
                <a:solidFill>
                  <a:srgbClr val="5E7086"/>
                </a:solidFill>
                <a:latin typeface="Arial"/>
                <a:ea typeface="Arial"/>
                <a:cs typeface="Arial"/>
                <a:sym typeface="Arial"/>
              </a:rPr>
              <a:t>Credits estimated from transcript courses (3 credits each; MATH 1426 / 2425 = 4). F and W excluded; retakes counted once. *James includes a D (3 credits), which does not satisfy C-minimum prerequisites.</a:t>
            </a:r>
            <a:endParaRPr/>
          </a:p>
        </p:txBody>
      </p:sp>
      <p:sp>
        <p:nvSpPr>
          <p:cNvPr id="941" name="Google Shape;941;p18"/>
          <p:cNvSpPr txBox="1"/>
          <p:nvPr/>
        </p:nvSpPr>
        <p:spPr>
          <a:xfrm>
            <a:off x="612648" y="6574536"/>
            <a:ext cx="10058400" cy="164592"/>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900" b="0">
                <a:solidFill>
                  <a:srgbClr val="5E7086"/>
                </a:solidFill>
                <a:latin typeface="Arial"/>
                <a:ea typeface="Arial"/>
                <a:cs typeface="Arial"/>
                <a:sym typeface="Arial"/>
              </a:rPr>
              <a:t>CSE 4392 / 5320   •   TEAM ASSIGNMENT 2</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429332"/>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dirty="0">
                <a:solidFill>
                  <a:srgbClr val="0C2340"/>
                </a:solidFill>
                <a:latin typeface="Arial"/>
                <a:ea typeface="Arial"/>
                <a:cs typeface="Arial"/>
                <a:sym typeface="Arial"/>
              </a:rPr>
              <a:t>Application Screenshots</a:t>
            </a:r>
            <a:endParaRPr dirty="0"/>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pic>
        <p:nvPicPr>
          <p:cNvPr id="1010" name="Google Shape;1010;p22" descr="image.png"/>
          <p:cNvPicPr preferRelativeResize="0"/>
          <p:nvPr/>
        </p:nvPicPr>
        <p:blipFill rotWithShape="1">
          <a:blip r:embed="rId3">
            <a:alphaModFix/>
          </a:blip>
          <a:srcRect/>
          <a:stretch/>
        </p:blipFill>
        <p:spPr>
          <a:xfrm>
            <a:off x="658368" y="1572768"/>
            <a:ext cx="5056632" cy="3355848"/>
          </a:xfrm>
          <a:prstGeom prst="rect">
            <a:avLst/>
          </a:prstGeom>
          <a:noFill/>
          <a:ln>
            <a:noFill/>
          </a:ln>
        </p:spPr>
      </p:pic>
      <p:sp>
        <p:nvSpPr>
          <p:cNvPr id="1012" name="Google Shape;1012;p22"/>
          <p:cNvSpPr txBox="1"/>
          <p:nvPr/>
        </p:nvSpPr>
        <p:spPr>
          <a:xfrm>
            <a:off x="685800" y="5138928"/>
            <a:ext cx="4965192" cy="3200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500" b="1">
                <a:solidFill>
                  <a:srgbClr val="0C2340"/>
                </a:solidFill>
                <a:latin typeface="Arial"/>
                <a:ea typeface="Arial"/>
                <a:cs typeface="Arial"/>
                <a:sym typeface="Arial"/>
              </a:rPr>
              <a:t>SECURE SIGN-IN</a:t>
            </a:r>
            <a:endParaRPr/>
          </a:p>
        </p:txBody>
      </p:sp>
      <p:sp>
        <p:nvSpPr>
          <p:cNvPr id="1013" name="Google Shape;1013;p22"/>
          <p:cNvSpPr txBox="1"/>
          <p:nvPr/>
        </p:nvSpPr>
        <p:spPr>
          <a:xfrm>
            <a:off x="685800" y="5486400"/>
            <a:ext cx="4937760" cy="329184"/>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Cognito-backed student login screen</a:t>
            </a:r>
            <a:endParaRPr/>
          </a:p>
        </p:txBody>
      </p:sp>
      <p:sp>
        <p:nvSpPr>
          <p:cNvPr id="1014" name="Google Shape;1014;p22"/>
          <p:cNvSpPr txBox="1"/>
          <p:nvPr/>
        </p:nvSpPr>
        <p:spPr>
          <a:xfrm>
            <a:off x="6016752" y="5138928"/>
            <a:ext cx="5449824" cy="3200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500" b="1">
                <a:solidFill>
                  <a:srgbClr val="0C2340"/>
                </a:solidFill>
                <a:latin typeface="Arial"/>
                <a:ea typeface="Arial"/>
                <a:cs typeface="Arial"/>
                <a:sym typeface="Arial"/>
              </a:rPr>
              <a:t>STUDENT CHAT EXPERIENCE</a:t>
            </a:r>
            <a:endParaRPr/>
          </a:p>
        </p:txBody>
      </p:sp>
      <p:sp>
        <p:nvSpPr>
          <p:cNvPr id="1015" name="Google Shape;1015;p22"/>
          <p:cNvSpPr txBox="1"/>
          <p:nvPr/>
        </p:nvSpPr>
        <p:spPr>
          <a:xfrm>
            <a:off x="6016752" y="5486400"/>
            <a:ext cx="5394960" cy="393192"/>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Course, prerequisite and degree-planning requests</a:t>
            </a:r>
            <a:endParaRPr/>
          </a:p>
        </p:txBody>
      </p:sp>
      <p:pic>
        <p:nvPicPr>
          <p:cNvPr id="3" name="Picture 2">
            <a:extLst>
              <a:ext uri="{FF2B5EF4-FFF2-40B4-BE49-F238E27FC236}">
                <a16:creationId xmlns:a16="http://schemas.microsoft.com/office/drawing/2014/main" id="{FE263511-BDFD-AF41-AD9C-774C1434900F}"/>
              </a:ext>
            </a:extLst>
          </p:cNvPr>
          <p:cNvPicPr>
            <a:picLocks noChangeAspect="1"/>
          </p:cNvPicPr>
          <p:nvPr/>
        </p:nvPicPr>
        <p:blipFill>
          <a:blip r:embed="rId4"/>
          <a:stretch>
            <a:fillRect/>
          </a:stretch>
        </p:blipFill>
        <p:spPr>
          <a:xfrm>
            <a:off x="5807396" y="1527048"/>
            <a:ext cx="6044609" cy="33558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Demo: Course Question and Follow-Up Eligibility</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creenshot frame"/>
          <p:cNvSpPr/>
          <p:nvPr/>
        </p:nvSpPr>
        <p:spPr>
          <a:xfrm>
            <a:off x="548640" y="1481328"/>
            <a:ext cx="7516367" cy="3914889"/>
          </a:xfrm>
          <a:prstGeom prst="roundRect">
            <a:avLst>
              <a:gd name="adj" fmla="val 2000"/>
            </a:avLst>
          </a:prstGeom>
          <a:solidFill>
            <a:srgbClr val="DDE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11" name="Demo screenshot" descr="shot_eligibility.png"/>
          <p:cNvPicPr>
            <a:picLocks noChangeAspect="1"/>
          </p:cNvPicPr>
          <p:nvPr/>
        </p:nvPicPr>
        <p:blipFill>
          <a:blip r:embed="rId2"/>
          <a:stretch>
            <a:fillRect/>
          </a:stretch>
        </p:blipFill>
        <p:spPr>
          <a:xfrm>
            <a:off x="603504" y="1536192"/>
            <a:ext cx="7406640" cy="3805161"/>
          </a:xfrm>
          <a:prstGeom prst="rect">
            <a:avLst/>
          </a:prstGeom>
        </p:spPr>
      </p:pic>
      <p:sp>
        <p:nvSpPr>
          <p:cNvPr id="1012" name="Screenshot caption"/>
          <p:cNvSpPr txBox="1"/>
          <p:nvPr/>
        </p:nvSpPr>
        <p:spPr>
          <a:xfrm>
            <a:off x="548640" y="5515089"/>
            <a:ext cx="7406640" cy="274320"/>
          </a:xfrm>
          <a:prstGeom prst="rect">
            <a:avLst/>
          </a:prstGeom>
          <a:noFill/>
        </p:spPr>
        <p:txBody>
          <a:bodyPr wrap="square" lIns="0" tIns="0" rIns="0" bIns="0" anchor="t">
            <a:spAutoFit/>
          </a:bodyPr>
          <a:lstStyle/>
          <a:p>
            <a:pPr algn="l"/>
            <a:r>
              <a:rPr sz="1100" b="0" i="0">
                <a:solidFill>
                  <a:srgbClr val="64748B"/>
                </a:solidFill>
                <a:latin typeface="Arial"/>
              </a:rPr>
              <a:t>Logged in as Michael Smith (michael1234): BS-CS sophomore test profile, 17 credits completed</a:t>
            </a:r>
          </a:p>
        </p:txBody>
      </p:sp>
      <p:sp>
        <p:nvSpPr>
          <p:cNvPr id="1013" name="Explanation panel"/>
          <p:cNvSpPr/>
          <p:nvPr/>
        </p:nvSpPr>
        <p:spPr>
          <a:xfrm>
            <a:off x="8275320" y="1481328"/>
            <a:ext cx="3383280" cy="4754880"/>
          </a:xfrm>
          <a:prstGeom prst="roundRect">
            <a:avLst>
              <a:gd name="adj" fmla="val 6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4" name="INPUT 1 label"/>
          <p:cNvSpPr txBox="1"/>
          <p:nvPr/>
        </p:nvSpPr>
        <p:spPr>
          <a:xfrm>
            <a:off x="8476488" y="1664208"/>
            <a:ext cx="2980944" cy="228600"/>
          </a:xfrm>
          <a:prstGeom prst="rect">
            <a:avLst/>
          </a:prstGeom>
          <a:noFill/>
        </p:spPr>
        <p:txBody>
          <a:bodyPr wrap="square" lIns="0" tIns="0" rIns="0" bIns="0" anchor="t">
            <a:spAutoFit/>
          </a:bodyPr>
          <a:lstStyle/>
          <a:p>
            <a:pPr algn="l"/>
            <a:r>
              <a:rPr sz="1100" b="1" i="0">
                <a:solidFill>
                  <a:srgbClr val="1263B4"/>
                </a:solidFill>
                <a:latin typeface="Arial"/>
              </a:rPr>
              <a:t>INPUT 1</a:t>
            </a:r>
          </a:p>
        </p:txBody>
      </p:sp>
      <p:sp>
        <p:nvSpPr>
          <p:cNvPr id="1015" name="INPUT 1 text"/>
          <p:cNvSpPr txBox="1"/>
          <p:nvPr/>
        </p:nvSpPr>
        <p:spPr>
          <a:xfrm>
            <a:off x="8476488" y="1911095"/>
            <a:ext cx="2980944" cy="1097280"/>
          </a:xfrm>
          <a:prstGeom prst="rect">
            <a:avLst/>
          </a:prstGeom>
          <a:noFill/>
        </p:spPr>
        <p:txBody>
          <a:bodyPr wrap="square" lIns="0" tIns="0" rIns="0" bIns="0" anchor="t">
            <a:spAutoFit/>
          </a:bodyPr>
          <a:lstStyle/>
          <a:p>
            <a:pPr algn="l"/>
            <a:r>
              <a:rPr sz="1200" b="0" i="0">
                <a:solidFill>
                  <a:srgbClr val="0C2340"/>
                </a:solidFill>
                <a:latin typeface="Arial"/>
              </a:rPr>
              <a:t>“what is cse 4308 about?”</a:t>
            </a:r>
          </a:p>
        </p:txBody>
      </p:sp>
      <p:sp>
        <p:nvSpPr>
          <p:cNvPr id="1016" name="OUTPUT 1 label"/>
          <p:cNvSpPr txBox="1"/>
          <p:nvPr/>
        </p:nvSpPr>
        <p:spPr>
          <a:xfrm>
            <a:off x="8476488" y="2258568"/>
            <a:ext cx="2980944" cy="228600"/>
          </a:xfrm>
          <a:prstGeom prst="rect">
            <a:avLst/>
          </a:prstGeom>
          <a:noFill/>
        </p:spPr>
        <p:txBody>
          <a:bodyPr wrap="square" lIns="0" tIns="0" rIns="0" bIns="0" anchor="t">
            <a:spAutoFit/>
          </a:bodyPr>
          <a:lstStyle/>
          <a:p>
            <a:pPr algn="l"/>
            <a:r>
              <a:rPr sz="1100" b="1" i="0">
                <a:solidFill>
                  <a:srgbClr val="1E7B4F"/>
                </a:solidFill>
                <a:latin typeface="Arial"/>
              </a:rPr>
              <a:t>OUTPUT 1</a:t>
            </a:r>
          </a:p>
        </p:txBody>
      </p:sp>
      <p:sp>
        <p:nvSpPr>
          <p:cNvPr id="1017" name="OUTPUT 1 text"/>
          <p:cNvSpPr txBox="1"/>
          <p:nvPr/>
        </p:nvSpPr>
        <p:spPr>
          <a:xfrm>
            <a:off x="8476488" y="2505456"/>
            <a:ext cx="2980944" cy="1097280"/>
          </a:xfrm>
          <a:prstGeom prst="rect">
            <a:avLst/>
          </a:prstGeom>
          <a:noFill/>
        </p:spPr>
        <p:txBody>
          <a:bodyPr wrap="square" lIns="0" tIns="0" rIns="0" bIns="0" anchor="t">
            <a:spAutoFit/>
          </a:bodyPr>
          <a:lstStyle/>
          <a:p>
            <a:pPr algn="l"/>
            <a:r>
              <a:rPr sz="1200" b="0" i="0">
                <a:solidFill>
                  <a:srgbClr val="0C2340"/>
                </a:solidFill>
                <a:latin typeface="Arial"/>
              </a:rPr>
              <a:t>Course description, 3 credit hours and catalog prerequisites, retrieved with RAG.</a:t>
            </a:r>
          </a:p>
        </p:txBody>
      </p:sp>
      <p:sp>
        <p:nvSpPr>
          <p:cNvPr id="1018" name="INPUT 2 label"/>
          <p:cNvSpPr txBox="1"/>
          <p:nvPr/>
        </p:nvSpPr>
        <p:spPr>
          <a:xfrm>
            <a:off x="8476488" y="3218688"/>
            <a:ext cx="2980944" cy="228600"/>
          </a:xfrm>
          <a:prstGeom prst="rect">
            <a:avLst/>
          </a:prstGeom>
          <a:noFill/>
        </p:spPr>
        <p:txBody>
          <a:bodyPr wrap="square" lIns="0" tIns="0" rIns="0" bIns="0" anchor="t">
            <a:spAutoFit/>
          </a:bodyPr>
          <a:lstStyle/>
          <a:p>
            <a:pPr algn="l"/>
            <a:r>
              <a:rPr sz="1100" b="1" i="0">
                <a:solidFill>
                  <a:srgbClr val="1263B4"/>
                </a:solidFill>
                <a:latin typeface="Arial"/>
              </a:rPr>
              <a:t>INPUT 2</a:t>
            </a:r>
          </a:p>
        </p:txBody>
      </p:sp>
      <p:sp>
        <p:nvSpPr>
          <p:cNvPr id="1019" name="INPUT 2 text"/>
          <p:cNvSpPr txBox="1"/>
          <p:nvPr/>
        </p:nvSpPr>
        <p:spPr>
          <a:xfrm>
            <a:off x="8476488" y="3465576"/>
            <a:ext cx="2980944" cy="1097280"/>
          </a:xfrm>
          <a:prstGeom prst="rect">
            <a:avLst/>
          </a:prstGeom>
          <a:noFill/>
        </p:spPr>
        <p:txBody>
          <a:bodyPr wrap="square" lIns="0" tIns="0" rIns="0" bIns="0" anchor="t">
            <a:spAutoFit/>
          </a:bodyPr>
          <a:lstStyle/>
          <a:p>
            <a:pPr algn="l"/>
            <a:r>
              <a:rPr sz="1200" b="0" i="0">
                <a:solidFill>
                  <a:srgbClr val="0C2340"/>
                </a:solidFill>
                <a:latin typeface="Arial"/>
              </a:rPr>
              <a:t>“can i take it?” (no course named)</a:t>
            </a:r>
          </a:p>
        </p:txBody>
      </p:sp>
      <p:sp>
        <p:nvSpPr>
          <p:cNvPr id="1020" name="OUTPUT 2 label"/>
          <p:cNvSpPr txBox="1"/>
          <p:nvPr/>
        </p:nvSpPr>
        <p:spPr>
          <a:xfrm>
            <a:off x="8476488" y="3813048"/>
            <a:ext cx="2980944" cy="228600"/>
          </a:xfrm>
          <a:prstGeom prst="rect">
            <a:avLst/>
          </a:prstGeom>
          <a:noFill/>
        </p:spPr>
        <p:txBody>
          <a:bodyPr wrap="square" lIns="0" tIns="0" rIns="0" bIns="0" anchor="t">
            <a:spAutoFit/>
          </a:bodyPr>
          <a:lstStyle/>
          <a:p>
            <a:pPr algn="l"/>
            <a:r>
              <a:rPr sz="1100" b="1" i="0">
                <a:solidFill>
                  <a:srgbClr val="1E7B4F"/>
                </a:solidFill>
                <a:latin typeface="Arial"/>
              </a:rPr>
              <a:t>OUTPUT 2</a:t>
            </a:r>
          </a:p>
        </p:txBody>
      </p:sp>
      <p:sp>
        <p:nvSpPr>
          <p:cNvPr id="1021" name="OUTPUT 2 text"/>
          <p:cNvSpPr txBox="1"/>
          <p:nvPr/>
        </p:nvSpPr>
        <p:spPr>
          <a:xfrm>
            <a:off x="8476488" y="4059936"/>
            <a:ext cx="2980944" cy="1097280"/>
          </a:xfrm>
          <a:prstGeom prst="rect">
            <a:avLst/>
          </a:prstGeom>
          <a:noFill/>
        </p:spPr>
        <p:txBody>
          <a:bodyPr wrap="square" lIns="0" tIns="0" rIns="0" bIns="0" anchor="t">
            <a:spAutoFit/>
          </a:bodyPr>
          <a:lstStyle/>
          <a:p>
            <a:pPr algn="l"/>
            <a:r>
              <a:rPr sz="1200" b="0" i="0">
                <a:solidFill>
                  <a:srgbClr val="0C2340"/>
                </a:solidFill>
                <a:latin typeface="Arial"/>
              </a:rPr>
              <a:t>“it” resolved to CSE 4308 from history. Python checked the transcript: not eligible, missing CSE 3318 and IE 3301 or MATH 3313 (C or better).</a:t>
            </a:r>
          </a:p>
        </p:txBody>
      </p:sp>
      <p:sp>
        <p:nvSpPr>
          <p:cNvPr id="1022" name="Requirements chip"/>
          <p:cNvSpPr/>
          <p:nvPr/>
        </p:nvSpPr>
        <p:spPr>
          <a:xfrm>
            <a:off x="8476488" y="5532120"/>
            <a:ext cx="2980944" cy="548640"/>
          </a:xfrm>
          <a:prstGeom prst="roundRect">
            <a:avLst>
              <a:gd name="adj" fmla="val 6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3" name="Requirements text"/>
          <p:cNvSpPr txBox="1"/>
          <p:nvPr/>
        </p:nvSpPr>
        <p:spPr>
          <a:xfrm>
            <a:off x="8595360" y="5532120"/>
            <a:ext cx="2743200" cy="548640"/>
          </a:xfrm>
          <a:prstGeom prst="rect">
            <a:avLst/>
          </a:prstGeom>
          <a:noFill/>
        </p:spPr>
        <p:txBody>
          <a:bodyPr wrap="square" lIns="0" tIns="0" rIns="0" bIns="0" anchor="ctr">
            <a:spAutoFit/>
          </a:bodyPr>
          <a:lstStyle/>
          <a:p>
            <a:pPr algn="l"/>
            <a:r>
              <a:rPr sz="1100" b="1" i="0">
                <a:solidFill>
                  <a:srgbClr val="1263B4"/>
                </a:solidFill>
                <a:latin typeface="Arial"/>
              </a:rPr>
              <a:t>Shows requirements 3, 4(a) and 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Demo: Degree Plan Generation</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creenshot frame"/>
          <p:cNvSpPr/>
          <p:nvPr/>
        </p:nvSpPr>
        <p:spPr>
          <a:xfrm>
            <a:off x="548640" y="1481328"/>
            <a:ext cx="7516367" cy="3914889"/>
          </a:xfrm>
          <a:prstGeom prst="roundRect">
            <a:avLst>
              <a:gd name="adj" fmla="val 2000"/>
            </a:avLst>
          </a:prstGeom>
          <a:solidFill>
            <a:srgbClr val="DDE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11" name="Demo screenshot" descr="shot_plan.png"/>
          <p:cNvPicPr>
            <a:picLocks noChangeAspect="1"/>
          </p:cNvPicPr>
          <p:nvPr/>
        </p:nvPicPr>
        <p:blipFill>
          <a:blip r:embed="rId2"/>
          <a:stretch>
            <a:fillRect/>
          </a:stretch>
        </p:blipFill>
        <p:spPr>
          <a:xfrm>
            <a:off x="603504" y="1536192"/>
            <a:ext cx="7406640" cy="3805161"/>
          </a:xfrm>
          <a:prstGeom prst="rect">
            <a:avLst/>
          </a:prstGeom>
        </p:spPr>
      </p:pic>
      <p:sp>
        <p:nvSpPr>
          <p:cNvPr id="1012" name="Screenshot caption"/>
          <p:cNvSpPr txBox="1"/>
          <p:nvPr/>
        </p:nvSpPr>
        <p:spPr>
          <a:xfrm>
            <a:off x="548640" y="5515089"/>
            <a:ext cx="7406640" cy="274320"/>
          </a:xfrm>
          <a:prstGeom prst="rect">
            <a:avLst/>
          </a:prstGeom>
          <a:noFill/>
        </p:spPr>
        <p:txBody>
          <a:bodyPr wrap="square" lIns="0" tIns="0" rIns="0" bIns="0" anchor="t">
            <a:spAutoFit/>
          </a:bodyPr>
          <a:lstStyle/>
          <a:p>
            <a:pPr algn="l"/>
            <a:r>
              <a:rPr sz="1100" b="0" i="0">
                <a:solidFill>
                  <a:srgbClr val="64748B"/>
                </a:solidFill>
                <a:latin typeface="Arial"/>
              </a:rPr>
              <a:t>Logged in as Michael Smith (michael1234): BS-CS sophomore test profile, 17 credits completed</a:t>
            </a:r>
          </a:p>
        </p:txBody>
      </p:sp>
      <p:sp>
        <p:nvSpPr>
          <p:cNvPr id="1013" name="Explanation panel"/>
          <p:cNvSpPr/>
          <p:nvPr/>
        </p:nvSpPr>
        <p:spPr>
          <a:xfrm>
            <a:off x="8275320" y="1481328"/>
            <a:ext cx="3383280" cy="4754880"/>
          </a:xfrm>
          <a:prstGeom prst="roundRect">
            <a:avLst>
              <a:gd name="adj" fmla="val 6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4" name="INPUT label"/>
          <p:cNvSpPr txBox="1"/>
          <p:nvPr/>
        </p:nvSpPr>
        <p:spPr>
          <a:xfrm>
            <a:off x="8476488" y="1664208"/>
            <a:ext cx="2980944" cy="228600"/>
          </a:xfrm>
          <a:prstGeom prst="rect">
            <a:avLst/>
          </a:prstGeom>
          <a:noFill/>
        </p:spPr>
        <p:txBody>
          <a:bodyPr wrap="square" lIns="0" tIns="0" rIns="0" bIns="0" anchor="t">
            <a:spAutoFit/>
          </a:bodyPr>
          <a:lstStyle/>
          <a:p>
            <a:pPr algn="l"/>
            <a:r>
              <a:rPr sz="1100" b="1" i="0">
                <a:solidFill>
                  <a:srgbClr val="1263B4"/>
                </a:solidFill>
                <a:latin typeface="Arial"/>
              </a:rPr>
              <a:t>INPUT</a:t>
            </a:r>
          </a:p>
        </p:txBody>
      </p:sp>
      <p:sp>
        <p:nvSpPr>
          <p:cNvPr id="1015" name="INPUT text"/>
          <p:cNvSpPr txBox="1"/>
          <p:nvPr/>
        </p:nvSpPr>
        <p:spPr>
          <a:xfrm>
            <a:off x="8476488" y="1911095"/>
            <a:ext cx="2980944" cy="1097280"/>
          </a:xfrm>
          <a:prstGeom prst="rect">
            <a:avLst/>
          </a:prstGeom>
          <a:noFill/>
        </p:spPr>
        <p:txBody>
          <a:bodyPr wrap="square" lIns="0" tIns="0" rIns="0" bIns="0" anchor="t">
            <a:spAutoFit/>
          </a:bodyPr>
          <a:lstStyle/>
          <a:p>
            <a:pPr algn="l"/>
            <a:r>
              <a:rPr sz="1200" b="0" i="0">
                <a:solidFill>
                  <a:srgbClr val="0C2340"/>
                </a:solidFill>
                <a:latin typeface="Arial"/>
              </a:rPr>
              <a:t>“generate my degree plan without summer semesters”</a:t>
            </a:r>
          </a:p>
        </p:txBody>
      </p:sp>
      <p:sp>
        <p:nvSpPr>
          <p:cNvPr id="1016" name="OUTPUT label"/>
          <p:cNvSpPr txBox="1"/>
          <p:nvPr/>
        </p:nvSpPr>
        <p:spPr>
          <a:xfrm>
            <a:off x="8476488" y="2441448"/>
            <a:ext cx="2980944" cy="228600"/>
          </a:xfrm>
          <a:prstGeom prst="rect">
            <a:avLst/>
          </a:prstGeom>
          <a:noFill/>
        </p:spPr>
        <p:txBody>
          <a:bodyPr wrap="square" lIns="0" tIns="0" rIns="0" bIns="0" anchor="t">
            <a:spAutoFit/>
          </a:bodyPr>
          <a:lstStyle/>
          <a:p>
            <a:pPr algn="l"/>
            <a:r>
              <a:rPr sz="1100" b="1" i="0">
                <a:solidFill>
                  <a:srgbClr val="1E7B4F"/>
                </a:solidFill>
                <a:latin typeface="Arial"/>
              </a:rPr>
              <a:t>OUTPUT</a:t>
            </a:r>
          </a:p>
        </p:txBody>
      </p:sp>
      <p:sp>
        <p:nvSpPr>
          <p:cNvPr id="1017" name="OUTPUT text"/>
          <p:cNvSpPr txBox="1"/>
          <p:nvPr/>
        </p:nvSpPr>
        <p:spPr>
          <a:xfrm>
            <a:off x="8476488" y="2688336"/>
            <a:ext cx="2980944" cy="1097280"/>
          </a:xfrm>
          <a:prstGeom prst="rect">
            <a:avLst/>
          </a:prstGeom>
          <a:noFill/>
        </p:spPr>
        <p:txBody>
          <a:bodyPr wrap="square" lIns="0" tIns="0" rIns="0" bIns="0" anchor="t">
            <a:spAutoFit/>
          </a:bodyPr>
          <a:lstStyle/>
          <a:p>
            <a:pPr algn="l"/>
            <a:r>
              <a:rPr sz="1200" b="0" i="0">
                <a:solidFill>
                  <a:srgbClr val="0C2340"/>
                </a:solidFill>
                <a:latin typeface="Arial"/>
              </a:rPr>
              <a:t>A complete plan: 5 semesters, 2027-SP to 2029-SP, 73 credits.</a:t>
            </a:r>
          </a:p>
        </p:txBody>
      </p:sp>
      <p:sp>
        <p:nvSpPr>
          <p:cNvPr id="1018" name="WHAT IT SHOWS label"/>
          <p:cNvSpPr txBox="1"/>
          <p:nvPr/>
        </p:nvSpPr>
        <p:spPr>
          <a:xfrm>
            <a:off x="8476488" y="3218688"/>
            <a:ext cx="2980944" cy="228600"/>
          </a:xfrm>
          <a:prstGeom prst="rect">
            <a:avLst/>
          </a:prstGeom>
          <a:noFill/>
        </p:spPr>
        <p:txBody>
          <a:bodyPr wrap="square" lIns="0" tIns="0" rIns="0" bIns="0" anchor="t">
            <a:spAutoFit/>
          </a:bodyPr>
          <a:lstStyle/>
          <a:p>
            <a:pPr algn="l"/>
            <a:r>
              <a:rPr sz="1100" b="1" i="0">
                <a:solidFill>
                  <a:srgbClr val="0C2340"/>
                </a:solidFill>
                <a:latin typeface="Arial"/>
              </a:rPr>
              <a:t>WHAT IT SHOWS</a:t>
            </a:r>
          </a:p>
        </p:txBody>
      </p:sp>
      <p:sp>
        <p:nvSpPr>
          <p:cNvPr id="1019" name="WHAT IT SHOWS text"/>
          <p:cNvSpPr txBox="1"/>
          <p:nvPr/>
        </p:nvSpPr>
        <p:spPr>
          <a:xfrm>
            <a:off x="8476488" y="3465576"/>
            <a:ext cx="2980944" cy="1097280"/>
          </a:xfrm>
          <a:prstGeom prst="rect">
            <a:avLst/>
          </a:prstGeom>
          <a:noFill/>
        </p:spPr>
        <p:txBody>
          <a:bodyPr wrap="square" lIns="0" tIns="0" rIns="0" bIns="0" anchor="t">
            <a:spAutoFit/>
          </a:bodyPr>
          <a:lstStyle/>
          <a:p>
            <a:pPr algn="l"/>
            <a:r>
              <a:rPr sz="1200" b="0" i="0">
                <a:solidFill>
                  <a:srgbClr val="0C2340"/>
                </a:solidFill>
                <a:latin typeface="Arial"/>
              </a:rPr>
              <a:t>Fall and spring terms only, as the student asked. At most 15 credits per term. Prerequisites come first (CSE 3318 before CSE 4308). Built from Michael’s transcript.</a:t>
            </a:r>
          </a:p>
        </p:txBody>
      </p:sp>
      <p:sp>
        <p:nvSpPr>
          <p:cNvPr id="1020" name="Requirements chip"/>
          <p:cNvSpPr/>
          <p:nvPr/>
        </p:nvSpPr>
        <p:spPr>
          <a:xfrm>
            <a:off x="8476488" y="5532120"/>
            <a:ext cx="2980944" cy="548640"/>
          </a:xfrm>
          <a:prstGeom prst="roundRect">
            <a:avLst>
              <a:gd name="adj" fmla="val 6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1" name="Requirements text"/>
          <p:cNvSpPr txBox="1"/>
          <p:nvPr/>
        </p:nvSpPr>
        <p:spPr>
          <a:xfrm>
            <a:off x="8595360" y="5532120"/>
            <a:ext cx="2743200" cy="548640"/>
          </a:xfrm>
          <a:prstGeom prst="rect">
            <a:avLst/>
          </a:prstGeom>
          <a:noFill/>
        </p:spPr>
        <p:txBody>
          <a:bodyPr wrap="square" lIns="0" tIns="0" rIns="0" bIns="0" anchor="ctr">
            <a:spAutoFit/>
          </a:bodyPr>
          <a:lstStyle/>
          <a:p>
            <a:pPr algn="l"/>
            <a:r>
              <a:rPr sz="1100" b="1" i="0">
                <a:solidFill>
                  <a:srgbClr val="1263B4"/>
                </a:solidFill>
                <a:latin typeface="Arial"/>
              </a:rPr>
              <a:t>Shows requirements 2 and 4(a)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81C39"/>
        </a:solidFill>
        <a:effectLst/>
      </p:bgPr>
    </p:bg>
    <p:spTree>
      <p:nvGrpSpPr>
        <p:cNvPr id="1" name="Shape 945"/>
        <p:cNvGrpSpPr/>
        <p:nvPr/>
      </p:nvGrpSpPr>
      <p:grpSpPr>
        <a:xfrm>
          <a:off x="0" y="0"/>
          <a:ext cx="0" cy="0"/>
          <a:chOff x="0" y="0"/>
          <a:chExt cx="0" cy="0"/>
        </a:xfrm>
      </p:grpSpPr>
      <p:sp>
        <p:nvSpPr>
          <p:cNvPr id="946" name="Google Shape;946;p19"/>
          <p:cNvSpPr/>
          <p:nvPr/>
        </p:nvSpPr>
        <p:spPr>
          <a:xfrm>
            <a:off x="0" y="0"/>
            <a:ext cx="12191695" cy="82296"/>
          </a:xfrm>
          <a:prstGeom prst="rect">
            <a:avLst/>
          </a:prstGeom>
          <a:solidFill>
            <a:srgbClr val="F58A2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
        <p:nvSpPr>
          <p:cNvPr id="947" name="Google Shape;947;p19"/>
          <p:cNvSpPr txBox="1"/>
          <p:nvPr/>
        </p:nvSpPr>
        <p:spPr>
          <a:xfrm>
            <a:off x="914400" y="594360"/>
            <a:ext cx="10360152" cy="38472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1900"/>
              <a:buFont typeface="Play"/>
              <a:buNone/>
            </a:pPr>
            <a:r>
              <a:rPr lang="en-US" sz="1900" b="1" i="0" u="none" strike="noStrike" cap="none">
                <a:solidFill>
                  <a:schemeClr val="lt1"/>
                </a:solidFill>
                <a:latin typeface="Play"/>
                <a:ea typeface="Play"/>
                <a:cs typeface="Play"/>
                <a:sym typeface="Play"/>
              </a:rPr>
              <a:t>UTA  •  TEAM 2 AI ADVISOR</a:t>
            </a:r>
            <a:endParaRPr/>
          </a:p>
        </p:txBody>
      </p:sp>
      <p:sp>
        <p:nvSpPr>
          <p:cNvPr id="948" name="Google Shape;948;p19"/>
          <p:cNvSpPr txBox="1"/>
          <p:nvPr/>
        </p:nvSpPr>
        <p:spPr>
          <a:xfrm>
            <a:off x="640080" y="2240280"/>
            <a:ext cx="10908792" cy="10515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FFFFFF"/>
              </a:buClr>
              <a:buSzPts val="5400"/>
              <a:buFont typeface="Play"/>
              <a:buNone/>
            </a:pPr>
            <a:r>
              <a:rPr lang="en-US" sz="5400" b="1" i="0" u="none" strike="noStrike" cap="none">
                <a:solidFill>
                  <a:srgbClr val="FFFFFF"/>
                </a:solidFill>
                <a:latin typeface="Play"/>
                <a:ea typeface="Play"/>
                <a:cs typeface="Play"/>
                <a:sym typeface="Play"/>
              </a:rPr>
              <a:t>TEAM 2 AI ADVISOR</a:t>
            </a:r>
            <a:endParaRPr/>
          </a:p>
        </p:txBody>
      </p:sp>
      <p:sp>
        <p:nvSpPr>
          <p:cNvPr id="949" name="Google Shape;949;p19"/>
          <p:cNvSpPr/>
          <p:nvPr/>
        </p:nvSpPr>
        <p:spPr>
          <a:xfrm>
            <a:off x="5239512" y="3584448"/>
            <a:ext cx="1719072" cy="64008"/>
          </a:xfrm>
          <a:prstGeom prst="rect">
            <a:avLst/>
          </a:prstGeom>
          <a:solidFill>
            <a:srgbClr val="F58A2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
        <p:nvSpPr>
          <p:cNvPr id="950" name="Google Shape;950;p19"/>
          <p:cNvSpPr txBox="1"/>
          <p:nvPr/>
        </p:nvSpPr>
        <p:spPr>
          <a:xfrm>
            <a:off x="914400" y="3977639"/>
            <a:ext cx="10360152" cy="63094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3500"/>
              <a:buFont typeface="Play"/>
              <a:buNone/>
            </a:pPr>
            <a:r>
              <a:rPr lang="en-US" sz="3500" b="1" i="0" u="none" strike="noStrike" cap="none">
                <a:solidFill>
                  <a:schemeClr val="lt1"/>
                </a:solidFill>
                <a:latin typeface="Play"/>
                <a:ea typeface="Play"/>
                <a:cs typeface="Play"/>
                <a:sym typeface="Play"/>
              </a:rPr>
              <a:t>LIVE DEMO</a:t>
            </a:r>
            <a:endParaRPr/>
          </a:p>
        </p:txBody>
      </p:sp>
      <p:sp>
        <p:nvSpPr>
          <p:cNvPr id="951" name="Google Shape;951;p19"/>
          <p:cNvSpPr txBox="1"/>
          <p:nvPr/>
        </p:nvSpPr>
        <p:spPr>
          <a:xfrm>
            <a:off x="914400" y="6272784"/>
            <a:ext cx="10360152" cy="3200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9AB3CC"/>
              </a:buClr>
              <a:buSzPts val="1200"/>
              <a:buFont typeface="Play"/>
              <a:buNone/>
            </a:pPr>
            <a:r>
              <a:rPr lang="en-US" sz="1200" b="0" i="0" u="none" strike="noStrike" cap="none">
                <a:solidFill>
                  <a:srgbClr val="9AB3CC"/>
                </a:solidFill>
                <a:latin typeface="Play"/>
                <a:ea typeface="Play"/>
                <a:cs typeface="Play"/>
                <a:sym typeface="Play"/>
              </a:rPr>
              <a:t>CSE 4392 / 5320   •   TEAM ASSIGNMENT 2</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55"/>
        <p:cNvGrpSpPr/>
        <p:nvPr/>
      </p:nvGrpSpPr>
      <p:grpSpPr>
        <a:xfrm>
          <a:off x="0" y="0"/>
          <a:ext cx="0" cy="0"/>
          <a:chOff x="0" y="0"/>
          <a:chExt cx="0" cy="0"/>
        </a:xfrm>
      </p:grpSpPr>
      <p:sp>
        <p:nvSpPr>
          <p:cNvPr id="956" name="Google Shape;956;p20"/>
          <p:cNvSpPr/>
          <p:nvPr/>
        </p:nvSpPr>
        <p:spPr>
          <a:xfrm>
            <a:off x="0"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57" name="Google Shape;957;p20"/>
          <p:cNvSpPr txBox="1"/>
          <p:nvPr/>
        </p:nvSpPr>
        <p:spPr>
          <a:xfrm>
            <a:off x="502920" y="246888"/>
            <a:ext cx="4572000" cy="27432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000" b="1">
                <a:solidFill>
                  <a:srgbClr val="005BAE"/>
                </a:solidFill>
                <a:latin typeface="Arial"/>
                <a:ea typeface="Arial"/>
                <a:cs typeface="Arial"/>
                <a:sym typeface="Arial"/>
              </a:rPr>
              <a:t>UTA • TEAM 2 AI ADVISOR</a:t>
            </a:r>
            <a:endParaRPr/>
          </a:p>
        </p:txBody>
      </p:sp>
      <p:sp>
        <p:nvSpPr>
          <p:cNvPr id="958" name="Google Shape;958;p20"/>
          <p:cNvSpPr txBox="1"/>
          <p:nvPr/>
        </p:nvSpPr>
        <p:spPr>
          <a:xfrm>
            <a:off x="502920" y="621792"/>
            <a:ext cx="8229600" cy="50292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2900" b="1">
                <a:solidFill>
                  <a:srgbClr val="0D2646"/>
                </a:solidFill>
                <a:latin typeface="Arial"/>
                <a:ea typeface="Arial"/>
                <a:cs typeface="Arial"/>
                <a:sym typeface="Arial"/>
              </a:rPr>
              <a:t>Lessons Learned</a:t>
            </a:r>
            <a:endParaRPr/>
          </a:p>
        </p:txBody>
      </p:sp>
      <p:sp>
        <p:nvSpPr>
          <p:cNvPr id="959" name="Google Shape;959;p20"/>
          <p:cNvSpPr/>
          <p:nvPr/>
        </p:nvSpPr>
        <p:spPr>
          <a:xfrm>
            <a:off x="502920" y="1261872"/>
            <a:ext cx="11201400" cy="20116"/>
          </a:xfrm>
          <a:prstGeom prst="rect">
            <a:avLst/>
          </a:prstGeom>
          <a:solidFill>
            <a:srgbClr val="C7D0D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0" name="Google Shape;960;p20"/>
          <p:cNvSpPr/>
          <p:nvPr/>
        </p:nvSpPr>
        <p:spPr>
          <a:xfrm>
            <a:off x="667512" y="1655064"/>
            <a:ext cx="5394960" cy="3611880"/>
          </a:xfrm>
          <a:prstGeom prst="roundRect">
            <a:avLst>
              <a:gd name="adj" fmla="val 16667"/>
            </a:avLst>
          </a:prstGeom>
          <a:solidFill>
            <a:srgbClr val="DBE1E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1" name="Google Shape;961;p20"/>
          <p:cNvSpPr/>
          <p:nvPr/>
        </p:nvSpPr>
        <p:spPr>
          <a:xfrm>
            <a:off x="621792" y="1600200"/>
            <a:ext cx="5394960" cy="361188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2" name="Google Shape;962;p20"/>
          <p:cNvSpPr/>
          <p:nvPr/>
        </p:nvSpPr>
        <p:spPr>
          <a:xfrm>
            <a:off x="585216" y="1600200"/>
            <a:ext cx="68580" cy="3611880"/>
          </a:xfrm>
          <a:prstGeom prst="rect">
            <a:avLst/>
          </a:prstGeom>
          <a:solidFill>
            <a:srgbClr val="FF831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3" name="Google Shape;963;p20"/>
          <p:cNvSpPr txBox="1"/>
          <p:nvPr/>
        </p:nvSpPr>
        <p:spPr>
          <a:xfrm>
            <a:off x="795528" y="1810512"/>
            <a:ext cx="4983480" cy="39319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900" b="1">
                <a:solidFill>
                  <a:srgbClr val="0D2646"/>
                </a:solidFill>
                <a:latin typeface="Arial"/>
                <a:ea typeface="Arial"/>
                <a:cs typeface="Arial"/>
                <a:sym typeface="Arial"/>
              </a:rPr>
              <a:t>What we learned</a:t>
            </a:r>
            <a:endParaRPr/>
          </a:p>
        </p:txBody>
      </p:sp>
      <p:sp>
        <p:nvSpPr>
          <p:cNvPr id="964" name="Google Shape;964;p20"/>
          <p:cNvSpPr txBox="1"/>
          <p:nvPr/>
        </p:nvSpPr>
        <p:spPr>
          <a:xfrm>
            <a:off x="804672" y="2313432"/>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LLMs interpret student questions; Python enforces academic rules.</a:t>
            </a:r>
            <a:endParaRPr/>
          </a:p>
        </p:txBody>
      </p:sp>
      <p:sp>
        <p:nvSpPr>
          <p:cNvPr id="965" name="Google Shape;965;p20"/>
          <p:cNvSpPr txBox="1"/>
          <p:nvPr/>
        </p:nvSpPr>
        <p:spPr>
          <a:xfrm>
            <a:off x="804672" y="2935224"/>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DynamoDB provides catalog-year-specific courses, programs and transcripts.</a:t>
            </a:r>
            <a:endParaRPr/>
          </a:p>
        </p:txBody>
      </p:sp>
      <p:sp>
        <p:nvSpPr>
          <p:cNvPr id="966" name="Google Shape;966;p20"/>
          <p:cNvSpPr txBox="1"/>
          <p:nvPr/>
        </p:nvSpPr>
        <p:spPr>
          <a:xfrm>
            <a:off x="804672" y="3557015"/>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RAG retrieves supporting catalog text instead of relying on model memory.</a:t>
            </a:r>
            <a:endParaRPr/>
          </a:p>
        </p:txBody>
      </p:sp>
      <p:sp>
        <p:nvSpPr>
          <p:cNvPr id="967" name="Google Shape;967;p20"/>
          <p:cNvSpPr txBox="1"/>
          <p:nvPr/>
        </p:nvSpPr>
        <p:spPr>
          <a:xfrm>
            <a:off x="804672" y="4178808"/>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Modular AWS services simplify testing, deployment and troubleshooting.</a:t>
            </a:r>
            <a:endParaRPr/>
          </a:p>
        </p:txBody>
      </p:sp>
      <p:sp>
        <p:nvSpPr>
          <p:cNvPr id="968" name="Google Shape;968;p20"/>
          <p:cNvSpPr/>
          <p:nvPr/>
        </p:nvSpPr>
        <p:spPr>
          <a:xfrm>
            <a:off x="6291072" y="1655064"/>
            <a:ext cx="5394960" cy="3611880"/>
          </a:xfrm>
          <a:prstGeom prst="roundRect">
            <a:avLst>
              <a:gd name="adj" fmla="val 16667"/>
            </a:avLst>
          </a:prstGeom>
          <a:solidFill>
            <a:srgbClr val="DBE1E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9" name="Google Shape;969;p20"/>
          <p:cNvSpPr/>
          <p:nvPr/>
        </p:nvSpPr>
        <p:spPr>
          <a:xfrm>
            <a:off x="6245352" y="1600200"/>
            <a:ext cx="5394960" cy="361188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0" name="Google Shape;970;p20"/>
          <p:cNvSpPr/>
          <p:nvPr/>
        </p:nvSpPr>
        <p:spPr>
          <a:xfrm>
            <a:off x="6208776" y="1600200"/>
            <a:ext cx="68580" cy="3611880"/>
          </a:xfrm>
          <a:prstGeom prst="rect">
            <a:avLst/>
          </a:prstGeom>
          <a:solidFill>
            <a:srgbClr val="FF831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1" name="Google Shape;971;p20"/>
          <p:cNvSpPr txBox="1"/>
          <p:nvPr/>
        </p:nvSpPr>
        <p:spPr>
          <a:xfrm>
            <a:off x="6419088" y="1810512"/>
            <a:ext cx="4983480" cy="39319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900" b="1">
                <a:solidFill>
                  <a:srgbClr val="0D2646"/>
                </a:solidFill>
                <a:latin typeface="Arial"/>
                <a:ea typeface="Arial"/>
                <a:cs typeface="Arial"/>
                <a:sym typeface="Arial"/>
              </a:rPr>
              <a:t>Challenges &amp; improvements</a:t>
            </a:r>
            <a:endParaRPr/>
          </a:p>
        </p:txBody>
      </p:sp>
      <p:sp>
        <p:nvSpPr>
          <p:cNvPr id="972" name="Google Shape;972;p20"/>
          <p:cNvSpPr txBox="1"/>
          <p:nvPr/>
        </p:nvSpPr>
        <p:spPr>
          <a:xfrm>
            <a:off x="6428232" y="2313432"/>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Prerequisite text must be translated into accurate, validated rules.</a:t>
            </a:r>
            <a:endParaRPr/>
          </a:p>
        </p:txBody>
      </p:sp>
      <p:sp>
        <p:nvSpPr>
          <p:cNvPr id="973" name="Google Shape;973;p20"/>
          <p:cNvSpPr txBox="1"/>
          <p:nvPr/>
        </p:nvSpPr>
        <p:spPr>
          <a:xfrm>
            <a:off x="6428232" y="2935224"/>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Concurrent prerequisites and section conflicts require careful checks.</a:t>
            </a:r>
            <a:endParaRPr/>
          </a:p>
        </p:txBody>
      </p:sp>
      <p:sp>
        <p:nvSpPr>
          <p:cNvPr id="974" name="Google Shape;974;p20"/>
          <p:cNvSpPr txBox="1"/>
          <p:nvPr/>
        </p:nvSpPr>
        <p:spPr>
          <a:xfrm>
            <a:off x="6428232" y="3557015"/>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Missing or unvalidated catalog data can prevent complete degree plans.</a:t>
            </a:r>
            <a:endParaRPr/>
          </a:p>
        </p:txBody>
      </p:sp>
      <p:sp>
        <p:nvSpPr>
          <p:cNvPr id="975" name="Google Shape;975;p20"/>
          <p:cNvSpPr txBox="1"/>
          <p:nvPr/>
        </p:nvSpPr>
        <p:spPr>
          <a:xfrm>
            <a:off x="6428232" y="4178808"/>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Diverse student scenarios reveal edge cases before real-world use.</a:t>
            </a:r>
            <a:endParaRPr/>
          </a:p>
        </p:txBody>
      </p:sp>
      <p:sp>
        <p:nvSpPr>
          <p:cNvPr id="976" name="Google Shape;976;p20"/>
          <p:cNvSpPr txBox="1"/>
          <p:nvPr/>
        </p:nvSpPr>
        <p:spPr>
          <a:xfrm>
            <a:off x="512064" y="6519672"/>
            <a:ext cx="6400800" cy="18288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900" b="0">
                <a:solidFill>
                  <a:srgbClr val="596F8F"/>
                </a:solidFill>
                <a:latin typeface="Arial"/>
                <a:ea typeface="Arial"/>
                <a:cs typeface="Arial"/>
                <a:sym typeface="Arial"/>
              </a:rPr>
              <a:t>CSE 4392 / 5320  •  TEAM ASSIGNMENT 2</a:t>
            </a:r>
            <a:endParaRPr/>
          </a:p>
        </p:txBody>
      </p:sp>
      <p:sp>
        <p:nvSpPr>
          <p:cNvPr id="977" name="Google Shape;977;p20"/>
          <p:cNvSpPr/>
          <p:nvPr/>
        </p:nvSpPr>
        <p:spPr>
          <a:xfrm>
            <a:off x="0" y="12546"/>
            <a:ext cx="12191695" cy="118872"/>
          </a:xfrm>
          <a:prstGeom prst="rect">
            <a:avLst/>
          </a:prstGeom>
          <a:solidFill>
            <a:srgbClr val="0D2D5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81"/>
        <p:cNvGrpSpPr/>
        <p:nvPr/>
      </p:nvGrpSpPr>
      <p:grpSpPr>
        <a:xfrm>
          <a:off x="0" y="0"/>
          <a:ext cx="0" cy="0"/>
          <a:chOff x="0" y="0"/>
          <a:chExt cx="0" cy="0"/>
        </a:xfrm>
      </p:grpSpPr>
      <p:sp>
        <p:nvSpPr>
          <p:cNvPr id="982" name="Google Shape;982;p21"/>
          <p:cNvSpPr/>
          <p:nvPr/>
        </p:nvSpPr>
        <p:spPr>
          <a:xfrm>
            <a:off x="0"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3" name="Google Shape;983;p21"/>
          <p:cNvSpPr/>
          <p:nvPr/>
        </p:nvSpPr>
        <p:spPr>
          <a:xfrm>
            <a:off x="-11887" y="9144"/>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4" name="Google Shape;984;p21"/>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985" name="Google Shape;985;p21"/>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Conclusions and Future Work</a:t>
            </a:r>
            <a:endParaRPr/>
          </a:p>
        </p:txBody>
      </p:sp>
      <p:sp>
        <p:nvSpPr>
          <p:cNvPr id="986" name="Google Shape;986;p21"/>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7" name="Google Shape;987;p21"/>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988" name="Google Shape;988;p21"/>
          <p:cNvSpPr/>
          <p:nvPr/>
        </p:nvSpPr>
        <p:spPr>
          <a:xfrm>
            <a:off x="612648" y="1554480"/>
            <a:ext cx="10881360" cy="1216152"/>
          </a:xfrm>
          <a:prstGeom prst="roundRect">
            <a:avLst>
              <a:gd name="adj" fmla="val 13000"/>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9" name="Google Shape;989;p21"/>
          <p:cNvSpPr txBox="1"/>
          <p:nvPr/>
        </p:nvSpPr>
        <p:spPr>
          <a:xfrm>
            <a:off x="896112" y="1783080"/>
            <a:ext cx="9875520" cy="4114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400" b="1">
                <a:solidFill>
                  <a:srgbClr val="FFFFFF"/>
                </a:solidFill>
                <a:latin typeface="Arial"/>
                <a:ea typeface="Arial"/>
                <a:cs typeface="Arial"/>
                <a:sym typeface="Arial"/>
              </a:rPr>
              <a:t>An integrated AI advising prototype</a:t>
            </a:r>
            <a:endParaRPr/>
          </a:p>
        </p:txBody>
      </p:sp>
      <p:sp>
        <p:nvSpPr>
          <p:cNvPr id="990" name="Google Shape;990;p21"/>
          <p:cNvSpPr txBox="1"/>
          <p:nvPr/>
        </p:nvSpPr>
        <p:spPr>
          <a:xfrm>
            <a:off x="914400" y="2267712"/>
            <a:ext cx="9784080" cy="29260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400" b="0">
                <a:solidFill>
                  <a:srgbClr val="C8DFF4"/>
                </a:solidFill>
                <a:latin typeface="Arial"/>
                <a:ea typeface="Arial"/>
                <a:cs typeface="Arial"/>
                <a:sym typeface="Arial"/>
              </a:rPr>
              <a:t>Natural-language interaction + retrieval + academic rules + cloud deployment</a:t>
            </a:r>
            <a:endParaRPr/>
          </a:p>
        </p:txBody>
      </p:sp>
      <p:sp>
        <p:nvSpPr>
          <p:cNvPr id="991" name="Google Shape;991;p21"/>
          <p:cNvSpPr/>
          <p:nvPr/>
        </p:nvSpPr>
        <p:spPr>
          <a:xfrm>
            <a:off x="612648" y="3072384"/>
            <a:ext cx="5239512" cy="224028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2" name="Google Shape;992;p21"/>
          <p:cNvSpPr/>
          <p:nvPr/>
        </p:nvSpPr>
        <p:spPr>
          <a:xfrm>
            <a:off x="612648" y="3072384"/>
            <a:ext cx="64008" cy="2240280"/>
          </a:xfrm>
          <a:prstGeom prst="rect">
            <a:avLst/>
          </a:prstGeom>
          <a:solidFill>
            <a:srgbClr val="1263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3" name="Google Shape;993;p21"/>
          <p:cNvSpPr txBox="1"/>
          <p:nvPr/>
        </p:nvSpPr>
        <p:spPr>
          <a:xfrm>
            <a:off x="813816" y="3246120"/>
            <a:ext cx="4855464"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a:solidFill>
                  <a:srgbClr val="0C2340"/>
                </a:solidFill>
                <a:latin typeface="Arial"/>
                <a:ea typeface="Arial"/>
                <a:cs typeface="Arial"/>
                <a:sym typeface="Arial"/>
              </a:rPr>
              <a:t>Achievements</a:t>
            </a:r>
            <a:endParaRPr/>
          </a:p>
        </p:txBody>
      </p:sp>
      <p:sp>
        <p:nvSpPr>
          <p:cNvPr id="994" name="Google Shape;994;p21"/>
          <p:cNvSpPr txBox="1"/>
          <p:nvPr/>
        </p:nvSpPr>
        <p:spPr>
          <a:xfrm>
            <a:off x="813816" y="3730752"/>
            <a:ext cx="4855464" cy="148132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 Working student login and chat interface</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RAG-based course information</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Prerequisite checks and degree-plan generation</a:t>
            </a:r>
            <a:endParaRPr/>
          </a:p>
        </p:txBody>
      </p:sp>
      <p:sp>
        <p:nvSpPr>
          <p:cNvPr id="995" name="Google Shape;995;p21"/>
          <p:cNvSpPr/>
          <p:nvPr/>
        </p:nvSpPr>
        <p:spPr>
          <a:xfrm>
            <a:off x="6172200" y="3072384"/>
            <a:ext cx="5321808" cy="224028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6" name="Google Shape;996;p21"/>
          <p:cNvSpPr/>
          <p:nvPr/>
        </p:nvSpPr>
        <p:spPr>
          <a:xfrm>
            <a:off x="6172200" y="3072384"/>
            <a:ext cx="64008" cy="2240280"/>
          </a:xfrm>
          <a:prstGeom prst="rect">
            <a:avLst/>
          </a:prstGeom>
          <a:solidFill>
            <a:srgbClr val="F58A2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7" name="Google Shape;997;p21"/>
          <p:cNvSpPr txBox="1"/>
          <p:nvPr/>
        </p:nvSpPr>
        <p:spPr>
          <a:xfrm>
            <a:off x="6373368" y="3246120"/>
            <a:ext cx="4937760"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a:solidFill>
                  <a:srgbClr val="0C2340"/>
                </a:solidFill>
                <a:latin typeface="Arial"/>
                <a:ea typeface="Arial"/>
                <a:cs typeface="Arial"/>
                <a:sym typeface="Arial"/>
              </a:rPr>
              <a:t>Next steps</a:t>
            </a:r>
            <a:endParaRPr/>
          </a:p>
        </p:txBody>
      </p:sp>
      <p:sp>
        <p:nvSpPr>
          <p:cNvPr id="998" name="Google Shape;998;p21"/>
          <p:cNvSpPr txBox="1"/>
          <p:nvPr/>
        </p:nvSpPr>
        <p:spPr>
          <a:xfrm>
            <a:off x="6373368" y="3730752"/>
            <a:ext cx="4937760" cy="148132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 Expand validated catalog and technical electives</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Improve schedule optimization and plan visualization</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Add deeper testing and academic-policy coverage</a:t>
            </a:r>
            <a:endParaRPr/>
          </a:p>
        </p:txBody>
      </p:sp>
      <p:sp>
        <p:nvSpPr>
          <p:cNvPr id="999" name="Google Shape;999;p21"/>
          <p:cNvSpPr txBox="1"/>
          <p:nvPr/>
        </p:nvSpPr>
        <p:spPr>
          <a:xfrm>
            <a:off x="658368" y="5879592"/>
            <a:ext cx="10881360" cy="393192"/>
          </a:xfrm>
          <a:prstGeom prst="rect">
            <a:avLst/>
          </a:prstGeom>
          <a:noFill/>
          <a:ln>
            <a:noFill/>
          </a:ln>
        </p:spPr>
        <p:txBody>
          <a:bodyPr spcFirstLastPara="1" wrap="square" lIns="0" tIns="13700" rIns="0" bIns="0" anchor="t" anchorCtr="0">
            <a:spAutoFit/>
          </a:bodyPr>
          <a:lstStyle/>
          <a:p>
            <a:pPr marL="0" marR="0" lvl="0" indent="0" algn="ctr" rtl="0">
              <a:spcBef>
                <a:spcPts val="0"/>
              </a:spcBef>
              <a:spcAft>
                <a:spcPts val="0"/>
              </a:spcAft>
              <a:buNone/>
            </a:pPr>
            <a:r>
              <a:rPr lang="en-US" sz="2100" b="1">
                <a:solidFill>
                  <a:srgbClr val="1263B4"/>
                </a:solidFill>
                <a:latin typeface="Arial"/>
                <a:ea typeface="Arial"/>
                <a:cs typeface="Arial"/>
                <a:sym typeface="Arial"/>
              </a:rPr>
              <a:t>THANK YOU  •  QUESTIONS?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116</TotalTime>
  <Words>3795</Words>
  <Application>Microsoft Macintosh PowerPoint</Application>
  <PresentationFormat>Widescreen</PresentationFormat>
  <Paragraphs>662</Paragraphs>
  <Slides>26</Slides>
  <Notes>18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26</vt:i4>
      </vt:variant>
    </vt:vector>
  </HeadingPairs>
  <TitlesOfParts>
    <vt:vector size="32" baseType="lpstr">
      <vt:lpstr>Calibri</vt:lpstr>
      <vt:lpstr>Consolas</vt:lpstr>
      <vt:lpstr>Arial</vt:lpstr>
      <vt:lpstr>Play</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Marvin Wellington</cp:lastModifiedBy>
  <cp:revision>15</cp:revision>
  <dcterms:created xsi:type="dcterms:W3CDTF">2013-01-27T09:14:16Z</dcterms:created>
  <dcterms:modified xsi:type="dcterms:W3CDTF">2026-10-25T02:58:30Z</dcterms:modified>
</cp:coreProperties>
</file>