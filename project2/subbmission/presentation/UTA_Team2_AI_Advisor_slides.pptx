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30"/>
  </p:notesMasterIdLst>
  <p:sldIdLst>
    <p:sldId id="256" r:id="rId3"/>
    <p:sldId id="257" r:id="rId4"/>
    <p:sldId id="300" r:id="rId5"/>
    <p:sldId id="259" r:id="rId6"/>
    <p:sldId id="287" r:id="rId7"/>
    <p:sldId id="302" r:id="rId8"/>
    <p:sldId id="261" r:id="rId9"/>
    <p:sldId id="294" r:id="rId10"/>
    <p:sldId id="264" r:id="rId11"/>
    <p:sldId id="265" r:id="rId12"/>
    <p:sldId id="295" r:id="rId13"/>
    <p:sldId id="267" r:id="rId14"/>
    <p:sldId id="303" r:id="rId15"/>
    <p:sldId id="268" r:id="rId16"/>
    <p:sldId id="269" r:id="rId17"/>
    <p:sldId id="270" r:id="rId18"/>
    <p:sldId id="272" r:id="rId19"/>
    <p:sldId id="273" r:id="rId20"/>
    <p:sldId id="301" r:id="rId21"/>
    <p:sldId id="274" r:id="rId22"/>
    <p:sldId id="275" r:id="rId23"/>
    <p:sldId id="279" r:id="rId24"/>
    <p:sldId id="297" r:id="rId25"/>
    <p:sldId id="296" r:id="rId26"/>
    <p:sldId id="276" r:id="rId27"/>
    <p:sldId id="277" r:id="rId28"/>
    <p:sldId id="278" r:id="rId29"/>
  </p:sldIdLst>
  <p:sldSz cx="12192000" cy="6858000"/>
  <p:notesSz cx="6858000" cy="9144000"/>
  <p:embeddedFontLst>
    <p:embeddedFont>
      <p:font typeface="Consolas" panose="020B0609020204030204" pitchFamily="49" charset="0"/>
      <p:regular r:id="rId31"/>
      <p:bold r:id="rId32"/>
      <p:italic r:id="rId33"/>
      <p:boldItalic r:id="rId34"/>
    </p:embeddedFont>
    <p:embeddedFont>
      <p:font typeface="Play"/>
      <p:regular r:id="rId35"/>
      <p:bold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7" roundtripDataSignature="AMtx7mjcUIlunbVXKnqiZpJ6hMnwH0UF/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46"/>
    <p:restoredTop sz="94620"/>
  </p:normalViewPr>
  <p:slideViewPr>
    <p:cSldViewPr snapToGrid="0">
      <p:cViewPr varScale="1">
        <p:scale>
          <a:sx n="214" d="100"/>
          <a:sy n="214" d="100"/>
        </p:scale>
        <p:origin x="1016" y="1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font" Target="fonts/font4.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2.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6.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3.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h128d44af2f21f154_127_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7" name="Google Shape;397;h128d44af2f21f154_127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5" name="Google Shape;45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7" name="Google Shape;52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4" name="Google Shape;57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4" name="Google Shape;62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0" name="Google Shape;68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8" name="Google Shape;77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0" name="Google Shape;81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7" name="Google Shape;83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9" name="Google Shape;8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2" name="Google Shape;100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4" name="Google Shape;94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4" name="Google Shape;95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0" name="Google Shape;980;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2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2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2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2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2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3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2"/>
          <p:cNvSpPr>
            <a:spLocks noGrp="1"/>
          </p:cNvSpPr>
          <p:nvPr>
            <p:ph type="pic" idx="2"/>
          </p:nvPr>
        </p:nvSpPr>
        <p:spPr>
          <a:xfrm>
            <a:off x="1792288" y="612775"/>
            <a:ext cx="5486400" cy="4114800"/>
          </a:xfrm>
          <a:prstGeom prst="rect">
            <a:avLst/>
          </a:prstGeom>
          <a:noFill/>
          <a:ln>
            <a:noFill/>
          </a:ln>
        </p:spPr>
      </p:sp>
      <p:sp>
        <p:nvSpPr>
          <p:cNvPr id="68" name="Google Shape;68;p3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
        <p:cNvGrpSpPr/>
        <p:nvPr/>
      </p:nvGrpSpPr>
      <p:grpSpPr>
        <a:xfrm>
          <a:off x="0" y="0"/>
          <a:ext cx="0" cy="0"/>
          <a:chOff x="0" y="0"/>
          <a:chExt cx="0" cy="0"/>
        </a:xfrm>
      </p:grpSpPr>
      <p:sp>
        <p:nvSpPr>
          <p:cNvPr id="91" name="Google Shape;91;h128d44af2f21f154_127_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h128d44af2f21f154_127_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h128d44af2f21f154_127_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4"/>
        <p:cNvGrpSpPr/>
        <p:nvPr/>
      </p:nvGrpSpPr>
      <p:grpSpPr>
        <a:xfrm>
          <a:off x="0" y="0"/>
          <a:ext cx="0" cy="0"/>
          <a:chOff x="0" y="0"/>
          <a:chExt cx="0" cy="0"/>
        </a:xfrm>
      </p:grpSpPr>
      <p:sp>
        <p:nvSpPr>
          <p:cNvPr id="95" name="Google Shape;95;h128d44af2f21f154_127_1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h128d44af2f21f154_127_1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97" name="Google Shape;97;h128d44af2f21f154_127_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h128d44af2f21f154_127_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h128d44af2f21f154_127_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0"/>
        <p:cNvGrpSpPr/>
        <p:nvPr/>
      </p:nvGrpSpPr>
      <p:grpSpPr>
        <a:xfrm>
          <a:off x="0" y="0"/>
          <a:ext cx="0" cy="0"/>
          <a:chOff x="0" y="0"/>
          <a:chExt cx="0" cy="0"/>
        </a:xfrm>
      </p:grpSpPr>
      <p:sp>
        <p:nvSpPr>
          <p:cNvPr id="101" name="Google Shape;101;h128d44af2f21f154_127_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h128d44af2f21f154_127_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3" name="Google Shape;103;h128d44af2f21f154_127_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h128d44af2f21f154_127_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h128d44af2f21f154_127_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6"/>
        <p:cNvGrpSpPr/>
        <p:nvPr/>
      </p:nvGrpSpPr>
      <p:grpSpPr>
        <a:xfrm>
          <a:off x="0" y="0"/>
          <a:ext cx="0" cy="0"/>
          <a:chOff x="0" y="0"/>
          <a:chExt cx="0" cy="0"/>
        </a:xfrm>
      </p:grpSpPr>
      <p:sp>
        <p:nvSpPr>
          <p:cNvPr id="107" name="Google Shape;107;h128d44af2f21f154_127_2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h128d44af2f21f154_127_2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09" name="Google Shape;109;h128d44af2f21f154_127_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h128d44af2f21f154_127_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h128d44af2f21f154_127_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2"/>
        <p:cNvGrpSpPr/>
        <p:nvPr/>
      </p:nvGrpSpPr>
      <p:grpSpPr>
        <a:xfrm>
          <a:off x="0" y="0"/>
          <a:ext cx="0" cy="0"/>
          <a:chOff x="0" y="0"/>
          <a:chExt cx="0" cy="0"/>
        </a:xfrm>
      </p:grpSpPr>
      <p:sp>
        <p:nvSpPr>
          <p:cNvPr id="113" name="Google Shape;113;h128d44af2f21f154_127_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4" name="Google Shape;114;h128d44af2f21f154_127_2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5" name="Google Shape;115;h128d44af2f21f154_127_2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6" name="Google Shape;116;h128d44af2f21f154_127_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h128d44af2f21f154_127_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h128d44af2f21f154_127_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9"/>
        <p:cNvGrpSpPr/>
        <p:nvPr/>
      </p:nvGrpSpPr>
      <p:grpSpPr>
        <a:xfrm>
          <a:off x="0" y="0"/>
          <a:ext cx="0" cy="0"/>
          <a:chOff x="0" y="0"/>
          <a:chExt cx="0" cy="0"/>
        </a:xfrm>
      </p:grpSpPr>
      <p:sp>
        <p:nvSpPr>
          <p:cNvPr id="120" name="Google Shape;120;h128d44af2f21f154_127_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h128d44af2f21f154_127_3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2" name="Google Shape;122;h128d44af2f21f154_127_3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3" name="Google Shape;123;h128d44af2f21f154_127_3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4" name="Google Shape;124;h128d44af2f21f154_127_3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5" name="Google Shape;125;h128d44af2f21f154_127_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h128d44af2f21f154_127_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h128d44af2f21f154_127_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8"/>
        <p:cNvGrpSpPr/>
        <p:nvPr/>
      </p:nvGrpSpPr>
      <p:grpSpPr>
        <a:xfrm>
          <a:off x="0" y="0"/>
          <a:ext cx="0" cy="0"/>
          <a:chOff x="0" y="0"/>
          <a:chExt cx="0" cy="0"/>
        </a:xfrm>
      </p:grpSpPr>
      <p:sp>
        <p:nvSpPr>
          <p:cNvPr id="129" name="Google Shape;129;h128d44af2f21f154_127_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0" name="Google Shape;130;h128d44af2f21f154_127_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h128d44af2f21f154_127_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h128d44af2f21f154_127_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3"/>
        <p:cNvGrpSpPr/>
        <p:nvPr/>
      </p:nvGrpSpPr>
      <p:grpSpPr>
        <a:xfrm>
          <a:off x="0" y="0"/>
          <a:ext cx="0" cy="0"/>
          <a:chOff x="0" y="0"/>
          <a:chExt cx="0" cy="0"/>
        </a:xfrm>
      </p:grpSpPr>
      <p:sp>
        <p:nvSpPr>
          <p:cNvPr id="134" name="Google Shape;134;h128d44af2f21f154_127_4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h128d44af2f21f154_127_4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36" name="Google Shape;136;h128d44af2f21f154_127_4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37" name="Google Shape;137;h128d44af2f21f154_127_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h128d44af2f21f154_127_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h128d44af2f21f154_127_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0"/>
        <p:cNvGrpSpPr/>
        <p:nvPr/>
      </p:nvGrpSpPr>
      <p:grpSpPr>
        <a:xfrm>
          <a:off x="0" y="0"/>
          <a:ext cx="0" cy="0"/>
          <a:chOff x="0" y="0"/>
          <a:chExt cx="0" cy="0"/>
        </a:xfrm>
      </p:grpSpPr>
      <p:sp>
        <p:nvSpPr>
          <p:cNvPr id="141" name="Google Shape;141;h128d44af2f21f154_127_5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h128d44af2f21f154_127_56"/>
          <p:cNvSpPr>
            <a:spLocks noGrp="1"/>
          </p:cNvSpPr>
          <p:nvPr>
            <p:ph type="pic" idx="2"/>
          </p:nvPr>
        </p:nvSpPr>
        <p:spPr>
          <a:xfrm>
            <a:off x="1792288" y="612775"/>
            <a:ext cx="5486400" cy="4114800"/>
          </a:xfrm>
          <a:prstGeom prst="rect">
            <a:avLst/>
          </a:prstGeom>
          <a:noFill/>
          <a:ln>
            <a:noFill/>
          </a:ln>
        </p:spPr>
      </p:sp>
      <p:sp>
        <p:nvSpPr>
          <p:cNvPr id="143" name="Google Shape;143;h128d44af2f21f154_127_5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4" name="Google Shape;144;h128d44af2f21f154_127_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h128d44af2f21f154_127_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h128d44af2f21f154_127_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7"/>
        <p:cNvGrpSpPr/>
        <p:nvPr/>
      </p:nvGrpSpPr>
      <p:grpSpPr>
        <a:xfrm>
          <a:off x="0" y="0"/>
          <a:ext cx="0" cy="0"/>
          <a:chOff x="0" y="0"/>
          <a:chExt cx="0" cy="0"/>
        </a:xfrm>
      </p:grpSpPr>
      <p:sp>
        <p:nvSpPr>
          <p:cNvPr id="148" name="Google Shape;148;h128d44af2f21f154_127_6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h128d44af2f21f154_127_6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0" name="Google Shape;150;h128d44af2f21f154_127_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h128d44af2f21f154_127_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h128d44af2f21f154_127_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3"/>
        <p:cNvGrpSpPr/>
        <p:nvPr/>
      </p:nvGrpSpPr>
      <p:grpSpPr>
        <a:xfrm>
          <a:off x="0" y="0"/>
          <a:ext cx="0" cy="0"/>
          <a:chOff x="0" y="0"/>
          <a:chExt cx="0" cy="0"/>
        </a:xfrm>
      </p:grpSpPr>
      <p:sp>
        <p:nvSpPr>
          <p:cNvPr id="154" name="Google Shape;154;h128d44af2f21f154_127_6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h128d44af2f21f154_127_6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6" name="Google Shape;156;h128d44af2f21f154_127_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h128d44af2f21f154_127_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h128d44af2f21f154_127_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sp>
        <p:nvSpPr>
          <p:cNvPr id="85" name="Google Shape;85;h128d44af2f21f154_127_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6" name="Google Shape;86;h128d44af2f21f154_127_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7" name="Google Shape;87;h128d44af2f21f154_127_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h128d44af2f21f154_127_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h128d44af2f21f154_127_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
          <p:cNvSpPr/>
          <p:nvPr/>
        </p:nvSpPr>
        <p:spPr>
          <a:xfrm>
            <a:off x="-12241" y="0"/>
            <a:ext cx="12191695" cy="6858000"/>
          </a:xfrm>
          <a:prstGeom prst="rect">
            <a:avLst/>
          </a:prstGeom>
          <a:solidFill>
            <a:srgbClr val="0C234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5" name="Google Shape;165;p1"/>
          <p:cNvSpPr/>
          <p:nvPr/>
        </p:nvSpPr>
        <p:spPr>
          <a:xfrm>
            <a:off x="0" y="0"/>
            <a:ext cx="164592" cy="6858000"/>
          </a:xfrm>
          <a:prstGeom prst="rect">
            <a:avLst/>
          </a:prstGeom>
          <a:solidFill>
            <a:srgbClr val="F58A28"/>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6" name="Google Shape;166;p1"/>
          <p:cNvSpPr/>
          <p:nvPr/>
        </p:nvSpPr>
        <p:spPr>
          <a:xfrm>
            <a:off x="7406640" y="0"/>
            <a:ext cx="4785055" cy="6858000"/>
          </a:xfrm>
          <a:prstGeom prst="rect">
            <a:avLst/>
          </a:prstGeom>
          <a:solidFill>
            <a:srgbClr val="102F5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67" name="Google Shape;167;p1" descr="image.png"/>
          <p:cNvPicPr preferRelativeResize="0"/>
          <p:nvPr/>
        </p:nvPicPr>
        <p:blipFill rotWithShape="1">
          <a:blip r:embed="rId3">
            <a:alphaModFix/>
          </a:blip>
          <a:srcRect/>
          <a:stretch/>
        </p:blipFill>
        <p:spPr>
          <a:xfrm>
            <a:off x="7452360" y="960120"/>
            <a:ext cx="4343400" cy="4663440"/>
          </a:xfrm>
          <a:prstGeom prst="rect">
            <a:avLst/>
          </a:prstGeom>
          <a:noFill/>
          <a:ln>
            <a:noFill/>
          </a:ln>
        </p:spPr>
      </p:pic>
      <p:sp>
        <p:nvSpPr>
          <p:cNvPr id="168" name="Google Shape;168;p1"/>
          <p:cNvSpPr/>
          <p:nvPr/>
        </p:nvSpPr>
        <p:spPr>
          <a:xfrm>
            <a:off x="658368" y="694944"/>
            <a:ext cx="4251960" cy="338328"/>
          </a:xfrm>
          <a:prstGeom prst="roundRect">
            <a:avLst>
              <a:gd name="adj" fmla="val 13000"/>
            </a:avLst>
          </a:prstGeom>
          <a:solidFill>
            <a:srgbClr val="1262B4"/>
          </a:solidFill>
          <a:ln w="9525" cap="flat" cmpd="sng">
            <a:solidFill>
              <a:srgbClr val="0C2340"/>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9" name="Google Shape;169;p1"/>
          <p:cNvSpPr txBox="1"/>
          <p:nvPr/>
        </p:nvSpPr>
        <p:spPr>
          <a:xfrm>
            <a:off x="731519" y="745236"/>
            <a:ext cx="4105656" cy="228600"/>
          </a:xfrm>
          <a:prstGeom prst="rect">
            <a:avLst/>
          </a:prstGeom>
          <a:solidFill>
            <a:srgbClr val="1262B4"/>
          </a:solidFill>
          <a:ln>
            <a:noFill/>
          </a:ln>
        </p:spPr>
        <p:txBody>
          <a:bodyPr spcFirstLastPara="1" wrap="square" lIns="0" tIns="13700" rIns="0" bIns="0" anchor="t" anchorCtr="0">
            <a:spAutoFit/>
          </a:bodyPr>
          <a:lstStyle/>
          <a:p>
            <a:pPr marL="0" marR="0" lvl="0" indent="0" algn="ctr" rtl="0">
              <a:spcBef>
                <a:spcPts val="0"/>
              </a:spcBef>
              <a:spcAft>
                <a:spcPts val="0"/>
              </a:spcAft>
              <a:buNone/>
            </a:pPr>
            <a:r>
              <a:rPr lang="en-US" sz="1000" b="1" i="0" u="none" strike="noStrike" cap="none">
                <a:solidFill>
                  <a:srgbClr val="FFFFFF"/>
                </a:solidFill>
                <a:latin typeface="Arial"/>
                <a:ea typeface="Arial"/>
                <a:cs typeface="Arial"/>
                <a:sym typeface="Arial"/>
              </a:rPr>
              <a:t>SOFTWARE ENGINEERING WITH GENERATIVE AI</a:t>
            </a:r>
            <a:endParaRPr/>
          </a:p>
        </p:txBody>
      </p:sp>
      <p:sp>
        <p:nvSpPr>
          <p:cNvPr id="170" name="Google Shape;170;p1"/>
          <p:cNvSpPr txBox="1"/>
          <p:nvPr/>
        </p:nvSpPr>
        <p:spPr>
          <a:xfrm>
            <a:off x="658368" y="1371600"/>
            <a:ext cx="5943600" cy="50292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2100" b="1" i="0" u="none" strike="noStrike" cap="none">
                <a:solidFill>
                  <a:srgbClr val="32A9D8"/>
                </a:solidFill>
                <a:latin typeface="Arial"/>
                <a:ea typeface="Arial"/>
                <a:cs typeface="Arial"/>
                <a:sym typeface="Arial"/>
              </a:rPr>
              <a:t>UTA  |  TEAM 2</a:t>
            </a:r>
            <a:endParaRPr/>
          </a:p>
        </p:txBody>
      </p:sp>
      <p:sp>
        <p:nvSpPr>
          <p:cNvPr id="171" name="Google Shape;171;p1"/>
          <p:cNvSpPr txBox="1"/>
          <p:nvPr/>
        </p:nvSpPr>
        <p:spPr>
          <a:xfrm>
            <a:off x="658368" y="1874519"/>
            <a:ext cx="6583680" cy="150876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4300" b="1" i="0" u="none" strike="noStrike" cap="none">
                <a:solidFill>
                  <a:srgbClr val="FFFFFF"/>
                </a:solidFill>
                <a:latin typeface="Arial"/>
                <a:ea typeface="Arial"/>
                <a:cs typeface="Arial"/>
                <a:sym typeface="Arial"/>
              </a:rPr>
              <a:t>AI Academic</a:t>
            </a:r>
            <a:endParaRPr/>
          </a:p>
          <a:p>
            <a:pPr marL="0" marR="0" lvl="0" indent="0" algn="l" rtl="0">
              <a:spcBef>
                <a:spcPts val="400"/>
              </a:spcBef>
              <a:spcAft>
                <a:spcPts val="0"/>
              </a:spcAft>
              <a:buNone/>
            </a:pPr>
            <a:r>
              <a:rPr lang="en-US" sz="4300" b="1" i="0" u="none" strike="noStrike" cap="none">
                <a:solidFill>
                  <a:srgbClr val="FFFFFF"/>
                </a:solidFill>
                <a:latin typeface="Arial"/>
                <a:ea typeface="Arial"/>
                <a:cs typeface="Arial"/>
                <a:sym typeface="Arial"/>
              </a:rPr>
              <a:t>Advisor</a:t>
            </a:r>
            <a:endParaRPr/>
          </a:p>
        </p:txBody>
      </p:sp>
      <p:sp>
        <p:nvSpPr>
          <p:cNvPr id="172" name="Google Shape;172;p1"/>
          <p:cNvSpPr txBox="1"/>
          <p:nvPr/>
        </p:nvSpPr>
        <p:spPr>
          <a:xfrm>
            <a:off x="694944" y="3767328"/>
            <a:ext cx="6217920" cy="100584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2000" b="0" i="0" u="none" strike="noStrike" cap="none">
                <a:solidFill>
                  <a:srgbClr val="CBD9E9"/>
                </a:solidFill>
                <a:latin typeface="Arial"/>
                <a:ea typeface="Arial"/>
                <a:cs typeface="Arial"/>
                <a:sym typeface="Arial"/>
              </a:rPr>
              <a:t>An AI-powered student advising assistant built with LangChain, Amazon Bedrock, and AWS.</a:t>
            </a:r>
            <a:endParaRPr/>
          </a:p>
        </p:txBody>
      </p:sp>
      <p:sp>
        <p:nvSpPr>
          <p:cNvPr id="173" name="Google Shape;173;p1"/>
          <p:cNvSpPr/>
          <p:nvPr/>
        </p:nvSpPr>
        <p:spPr>
          <a:xfrm>
            <a:off x="685800" y="5303520"/>
            <a:ext cx="6126480" cy="18288"/>
          </a:xfrm>
          <a:prstGeom prst="rect">
            <a:avLst/>
          </a:prstGeom>
          <a:solidFill>
            <a:srgbClr val="47627D"/>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4" name="Google Shape;174;p1"/>
          <p:cNvSpPr txBox="1"/>
          <p:nvPr/>
        </p:nvSpPr>
        <p:spPr>
          <a:xfrm>
            <a:off x="694944" y="5541264"/>
            <a:ext cx="6035040" cy="465256"/>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1300" b="0" i="0" u="none" strike="noStrike" cap="none">
                <a:solidFill>
                  <a:srgbClr val="FFFFFF"/>
                </a:solidFill>
                <a:latin typeface="Arial"/>
                <a:ea typeface="Arial"/>
                <a:cs typeface="Arial"/>
                <a:sym typeface="Arial"/>
              </a:rPr>
              <a:t>Team: Marvin Wellington • Joseph Fitchett • Ryan Patterson </a:t>
            </a:r>
            <a:endParaRPr sz="18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None/>
            </a:pPr>
            <a:r>
              <a:rPr lang="en-US" sz="1300" b="0" i="0" u="none" strike="noStrike" cap="none">
                <a:solidFill>
                  <a:srgbClr val="FFFFFF"/>
                </a:solidFill>
                <a:latin typeface="Arial"/>
                <a:ea typeface="Arial"/>
                <a:cs typeface="Arial"/>
                <a:sym typeface="Arial"/>
              </a:rPr>
              <a:t>Sarthak Wadhawan • Emily Ford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
          <p:cNvSpPr/>
          <p:nvPr/>
        </p:nvSpPr>
        <p:spPr>
          <a:xfrm>
            <a:off x="-19670" y="292183"/>
            <a:ext cx="12191695" cy="6858000"/>
          </a:xfrm>
          <a:prstGeom prst="rect">
            <a:avLst/>
          </a:prstGeom>
          <a:solidFill>
            <a:srgbClr val="F7F9F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0" name="Google Shape;180;p2"/>
          <p:cNvSpPr txBox="1"/>
          <p:nvPr/>
        </p:nvSpPr>
        <p:spPr>
          <a:xfrm>
            <a:off x="502920" y="228600"/>
            <a:ext cx="6400800" cy="201168"/>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000" b="1" i="0" u="none" strike="noStrike" cap="none">
                <a:solidFill>
                  <a:srgbClr val="13569E"/>
                </a:solidFill>
                <a:latin typeface="Arial"/>
                <a:ea typeface="Arial"/>
                <a:cs typeface="Arial"/>
                <a:sym typeface="Arial"/>
              </a:rPr>
              <a:t>UTA  •  TEAM 2 AI ADVISOR</a:t>
            </a:r>
            <a:endParaRPr/>
          </a:p>
        </p:txBody>
      </p:sp>
      <p:sp>
        <p:nvSpPr>
          <p:cNvPr id="181" name="Google Shape;181;p2"/>
          <p:cNvSpPr txBox="1"/>
          <p:nvPr/>
        </p:nvSpPr>
        <p:spPr>
          <a:xfrm>
            <a:off x="491542" y="610636"/>
            <a:ext cx="10058400" cy="523220"/>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3100" b="1" i="0" u="none" strike="noStrike" cap="none">
                <a:solidFill>
                  <a:srgbClr val="0C2C52"/>
                </a:solidFill>
                <a:latin typeface="Arial"/>
                <a:ea typeface="Arial"/>
                <a:cs typeface="Arial"/>
                <a:sym typeface="Arial"/>
              </a:rPr>
              <a:t>Overview of Presentation</a:t>
            </a:r>
            <a:endParaRPr/>
          </a:p>
        </p:txBody>
      </p:sp>
      <p:sp>
        <p:nvSpPr>
          <p:cNvPr id="182" name="Google Shape;182;p2"/>
          <p:cNvSpPr txBox="1"/>
          <p:nvPr/>
        </p:nvSpPr>
        <p:spPr>
          <a:xfrm>
            <a:off x="530352" y="1188720"/>
            <a:ext cx="10058400" cy="320040"/>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400" b="0" i="0" u="none" strike="noStrike" cap="none">
                <a:solidFill>
                  <a:srgbClr val="55677D"/>
                </a:solidFill>
                <a:latin typeface="Arial"/>
                <a:ea typeface="Arial"/>
                <a:cs typeface="Arial"/>
                <a:sym typeface="Arial"/>
              </a:rPr>
              <a:t>From the academic advising challenge to our working AWS + LangChain solution</a:t>
            </a:r>
            <a:endParaRPr/>
          </a:p>
        </p:txBody>
      </p:sp>
      <p:sp>
        <p:nvSpPr>
          <p:cNvPr id="183" name="Google Shape;183;p2"/>
          <p:cNvSpPr/>
          <p:nvPr/>
        </p:nvSpPr>
        <p:spPr>
          <a:xfrm>
            <a:off x="521207" y="1764792"/>
            <a:ext cx="5550408" cy="950976"/>
          </a:xfrm>
          <a:prstGeom prst="roundRect">
            <a:avLst>
              <a:gd name="adj" fmla="val 16667"/>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4" name="Google Shape;184;p2"/>
          <p:cNvSpPr/>
          <p:nvPr/>
        </p:nvSpPr>
        <p:spPr>
          <a:xfrm>
            <a:off x="521207" y="1764792"/>
            <a:ext cx="64008" cy="950976"/>
          </a:xfrm>
          <a:prstGeom prst="rect">
            <a:avLst/>
          </a:prstGeom>
          <a:solidFill>
            <a:srgbClr val="13569E"/>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5" name="Google Shape;185;p2"/>
          <p:cNvSpPr/>
          <p:nvPr/>
        </p:nvSpPr>
        <p:spPr>
          <a:xfrm>
            <a:off x="713231" y="1956816"/>
            <a:ext cx="521207" cy="502920"/>
          </a:xfrm>
          <a:prstGeom prst="roundRect">
            <a:avLst>
              <a:gd name="adj" fmla="val 16667"/>
            </a:avLst>
          </a:prstGeom>
          <a:solidFill>
            <a:srgbClr val="0C2C5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6" name="Google Shape;186;p2"/>
          <p:cNvSpPr txBox="1"/>
          <p:nvPr/>
        </p:nvSpPr>
        <p:spPr>
          <a:xfrm>
            <a:off x="777240" y="2066543"/>
            <a:ext cx="429768" cy="201168"/>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300" b="1" i="0" u="none" strike="noStrike" cap="none">
                <a:solidFill>
                  <a:srgbClr val="FFFFFF"/>
                </a:solidFill>
                <a:latin typeface="Arial"/>
                <a:ea typeface="Arial"/>
                <a:cs typeface="Arial"/>
                <a:sym typeface="Arial"/>
              </a:rPr>
              <a:t>01</a:t>
            </a:r>
            <a:endParaRPr/>
          </a:p>
        </p:txBody>
      </p:sp>
      <p:sp>
        <p:nvSpPr>
          <p:cNvPr id="187" name="Google Shape;187;p2"/>
          <p:cNvSpPr txBox="1"/>
          <p:nvPr/>
        </p:nvSpPr>
        <p:spPr>
          <a:xfrm>
            <a:off x="1417319" y="1911095"/>
            <a:ext cx="4498848" cy="307777"/>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700" b="1" i="0" u="none" strike="noStrike" cap="none">
                <a:solidFill>
                  <a:srgbClr val="0C2C52"/>
                </a:solidFill>
                <a:latin typeface="Arial"/>
                <a:ea typeface="Arial"/>
                <a:cs typeface="Arial"/>
                <a:sym typeface="Arial"/>
              </a:rPr>
              <a:t>Project overview &amp; requirements</a:t>
            </a:r>
            <a:endParaRPr/>
          </a:p>
        </p:txBody>
      </p:sp>
      <p:sp>
        <p:nvSpPr>
          <p:cNvPr id="188" name="Google Shape;188;p2"/>
          <p:cNvSpPr txBox="1"/>
          <p:nvPr/>
        </p:nvSpPr>
        <p:spPr>
          <a:xfrm>
            <a:off x="1426464" y="2286000"/>
            <a:ext cx="4489704" cy="274320"/>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100" b="0" i="0" u="none" strike="noStrike" cap="none">
                <a:solidFill>
                  <a:srgbClr val="55677D"/>
                </a:solidFill>
                <a:latin typeface="Arial"/>
                <a:ea typeface="Arial"/>
                <a:cs typeface="Arial"/>
                <a:sym typeface="Arial"/>
              </a:rPr>
              <a:t>Implemented features and student advising use cases</a:t>
            </a:r>
            <a:endParaRPr/>
          </a:p>
        </p:txBody>
      </p:sp>
      <p:sp>
        <p:nvSpPr>
          <p:cNvPr id="189" name="Google Shape;189;p2"/>
          <p:cNvSpPr/>
          <p:nvPr/>
        </p:nvSpPr>
        <p:spPr>
          <a:xfrm>
            <a:off x="6327648" y="1764792"/>
            <a:ext cx="5550408" cy="950976"/>
          </a:xfrm>
          <a:prstGeom prst="roundRect">
            <a:avLst>
              <a:gd name="adj" fmla="val 16667"/>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0" name="Google Shape;190;p2"/>
          <p:cNvSpPr/>
          <p:nvPr/>
        </p:nvSpPr>
        <p:spPr>
          <a:xfrm>
            <a:off x="6327648" y="1764792"/>
            <a:ext cx="64008" cy="950976"/>
          </a:xfrm>
          <a:prstGeom prst="rect">
            <a:avLst/>
          </a:prstGeom>
          <a:solidFill>
            <a:srgbClr val="13569E"/>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1" name="Google Shape;191;p2"/>
          <p:cNvSpPr/>
          <p:nvPr/>
        </p:nvSpPr>
        <p:spPr>
          <a:xfrm>
            <a:off x="6519672" y="1956816"/>
            <a:ext cx="521207" cy="502920"/>
          </a:xfrm>
          <a:prstGeom prst="roundRect">
            <a:avLst>
              <a:gd name="adj" fmla="val 16667"/>
            </a:avLst>
          </a:prstGeom>
          <a:solidFill>
            <a:srgbClr val="0C2C5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2" name="Google Shape;192;p2"/>
          <p:cNvSpPr txBox="1"/>
          <p:nvPr/>
        </p:nvSpPr>
        <p:spPr>
          <a:xfrm>
            <a:off x="6583680" y="2066543"/>
            <a:ext cx="429768" cy="201168"/>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300" b="1" i="0" u="none" strike="noStrike" cap="none">
                <a:solidFill>
                  <a:srgbClr val="FFFFFF"/>
                </a:solidFill>
                <a:latin typeface="Arial"/>
                <a:ea typeface="Arial"/>
                <a:cs typeface="Arial"/>
                <a:sym typeface="Arial"/>
              </a:rPr>
              <a:t>02</a:t>
            </a:r>
            <a:endParaRPr/>
          </a:p>
        </p:txBody>
      </p:sp>
      <p:sp>
        <p:nvSpPr>
          <p:cNvPr id="193" name="Google Shape;193;p2"/>
          <p:cNvSpPr txBox="1"/>
          <p:nvPr/>
        </p:nvSpPr>
        <p:spPr>
          <a:xfrm>
            <a:off x="7223760" y="1911095"/>
            <a:ext cx="4498848" cy="307777"/>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700" b="1" i="0" u="none" strike="noStrike" cap="none">
                <a:solidFill>
                  <a:srgbClr val="0C2C52"/>
                </a:solidFill>
                <a:latin typeface="Arial"/>
                <a:ea typeface="Arial"/>
                <a:cs typeface="Arial"/>
                <a:sym typeface="Arial"/>
              </a:rPr>
              <a:t>Assumptions &amp; constraints</a:t>
            </a:r>
            <a:endParaRPr sz="1800" b="0" i="0" u="none" strike="noStrike" cap="none">
              <a:solidFill>
                <a:schemeClr val="dk1"/>
              </a:solidFill>
              <a:latin typeface="Calibri"/>
              <a:ea typeface="Calibri"/>
              <a:cs typeface="Calibri"/>
              <a:sym typeface="Calibri"/>
            </a:endParaRPr>
          </a:p>
        </p:txBody>
      </p:sp>
      <p:sp>
        <p:nvSpPr>
          <p:cNvPr id="194" name="Google Shape;194;p2"/>
          <p:cNvSpPr txBox="1"/>
          <p:nvPr/>
        </p:nvSpPr>
        <p:spPr>
          <a:xfrm>
            <a:off x="7232904" y="2286000"/>
            <a:ext cx="4489704" cy="274320"/>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100" b="0" i="0" u="none" strike="noStrike" cap="none">
                <a:solidFill>
                  <a:srgbClr val="55677D"/>
                </a:solidFill>
                <a:latin typeface="Arial"/>
                <a:ea typeface="Arial"/>
                <a:cs typeface="Arial"/>
                <a:sym typeface="Arial"/>
              </a:rPr>
              <a:t>Project data, prerequisite rules, and boundaries</a:t>
            </a:r>
            <a:endParaRPr/>
          </a:p>
        </p:txBody>
      </p:sp>
      <p:sp>
        <p:nvSpPr>
          <p:cNvPr id="195" name="Google Shape;195;p2"/>
          <p:cNvSpPr/>
          <p:nvPr/>
        </p:nvSpPr>
        <p:spPr>
          <a:xfrm>
            <a:off x="521207" y="2862072"/>
            <a:ext cx="5550408" cy="950976"/>
          </a:xfrm>
          <a:prstGeom prst="roundRect">
            <a:avLst>
              <a:gd name="adj" fmla="val 16667"/>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6" name="Google Shape;196;p2"/>
          <p:cNvSpPr/>
          <p:nvPr/>
        </p:nvSpPr>
        <p:spPr>
          <a:xfrm>
            <a:off x="521207" y="2862072"/>
            <a:ext cx="64008" cy="950976"/>
          </a:xfrm>
          <a:prstGeom prst="rect">
            <a:avLst/>
          </a:prstGeom>
          <a:solidFill>
            <a:srgbClr val="13569E"/>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7" name="Google Shape;197;p2"/>
          <p:cNvSpPr/>
          <p:nvPr/>
        </p:nvSpPr>
        <p:spPr>
          <a:xfrm>
            <a:off x="713231" y="3054096"/>
            <a:ext cx="521207" cy="502920"/>
          </a:xfrm>
          <a:prstGeom prst="roundRect">
            <a:avLst>
              <a:gd name="adj" fmla="val 16667"/>
            </a:avLst>
          </a:prstGeom>
          <a:solidFill>
            <a:srgbClr val="0C2C5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8" name="Google Shape;198;p2"/>
          <p:cNvSpPr txBox="1"/>
          <p:nvPr/>
        </p:nvSpPr>
        <p:spPr>
          <a:xfrm>
            <a:off x="777240" y="3163824"/>
            <a:ext cx="429768" cy="201168"/>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300" b="1" i="0" u="none" strike="noStrike" cap="none">
                <a:solidFill>
                  <a:srgbClr val="FFFFFF"/>
                </a:solidFill>
                <a:latin typeface="Arial"/>
                <a:ea typeface="Arial"/>
                <a:cs typeface="Arial"/>
                <a:sym typeface="Arial"/>
              </a:rPr>
              <a:t>03</a:t>
            </a:r>
            <a:endParaRPr/>
          </a:p>
        </p:txBody>
      </p:sp>
      <p:sp>
        <p:nvSpPr>
          <p:cNvPr id="199" name="Google Shape;199;p2"/>
          <p:cNvSpPr txBox="1"/>
          <p:nvPr/>
        </p:nvSpPr>
        <p:spPr>
          <a:xfrm>
            <a:off x="1417319" y="3008376"/>
            <a:ext cx="4498848" cy="283464"/>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700" b="1" i="0" u="none" strike="noStrike" cap="none">
                <a:solidFill>
                  <a:srgbClr val="0C2C52"/>
                </a:solidFill>
                <a:latin typeface="Arial"/>
                <a:ea typeface="Arial"/>
                <a:cs typeface="Arial"/>
                <a:sym typeface="Arial"/>
              </a:rPr>
              <a:t>AWS architecture &amp; RAG ingestion</a:t>
            </a:r>
            <a:endParaRPr/>
          </a:p>
        </p:txBody>
      </p:sp>
      <p:sp>
        <p:nvSpPr>
          <p:cNvPr id="200" name="Google Shape;200;p2"/>
          <p:cNvSpPr txBox="1"/>
          <p:nvPr/>
        </p:nvSpPr>
        <p:spPr>
          <a:xfrm>
            <a:off x="1426464" y="3383279"/>
            <a:ext cx="4489704" cy="274320"/>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100" b="0" i="0" u="none" strike="noStrike" cap="none">
                <a:solidFill>
                  <a:srgbClr val="55677D"/>
                </a:solidFill>
                <a:latin typeface="Arial"/>
                <a:ea typeface="Arial"/>
                <a:cs typeface="Arial"/>
                <a:sym typeface="Arial"/>
              </a:rPr>
              <a:t>AWS services, deployment, and document indexing</a:t>
            </a:r>
            <a:endParaRPr/>
          </a:p>
        </p:txBody>
      </p:sp>
      <p:sp>
        <p:nvSpPr>
          <p:cNvPr id="201" name="Google Shape;201;p2"/>
          <p:cNvSpPr/>
          <p:nvPr/>
        </p:nvSpPr>
        <p:spPr>
          <a:xfrm>
            <a:off x="6327648" y="2862072"/>
            <a:ext cx="5550408" cy="950976"/>
          </a:xfrm>
          <a:prstGeom prst="roundRect">
            <a:avLst>
              <a:gd name="adj" fmla="val 16667"/>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2" name="Google Shape;202;p2"/>
          <p:cNvSpPr/>
          <p:nvPr/>
        </p:nvSpPr>
        <p:spPr>
          <a:xfrm>
            <a:off x="6327648" y="2862072"/>
            <a:ext cx="64008" cy="950976"/>
          </a:xfrm>
          <a:prstGeom prst="rect">
            <a:avLst/>
          </a:prstGeom>
          <a:solidFill>
            <a:srgbClr val="EF853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3" name="Google Shape;203;p2"/>
          <p:cNvSpPr/>
          <p:nvPr/>
        </p:nvSpPr>
        <p:spPr>
          <a:xfrm>
            <a:off x="6519672" y="3054096"/>
            <a:ext cx="521207" cy="502920"/>
          </a:xfrm>
          <a:prstGeom prst="roundRect">
            <a:avLst>
              <a:gd name="adj" fmla="val 16667"/>
            </a:avLst>
          </a:prstGeom>
          <a:solidFill>
            <a:srgbClr val="0C2C5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4" name="Google Shape;204;p2"/>
          <p:cNvSpPr txBox="1"/>
          <p:nvPr/>
        </p:nvSpPr>
        <p:spPr>
          <a:xfrm>
            <a:off x="6583680" y="3163824"/>
            <a:ext cx="429768" cy="201168"/>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300" b="1" i="0" u="none" strike="noStrike" cap="none">
                <a:solidFill>
                  <a:srgbClr val="FFFFFF"/>
                </a:solidFill>
                <a:latin typeface="Arial"/>
                <a:ea typeface="Arial"/>
                <a:cs typeface="Arial"/>
                <a:sym typeface="Arial"/>
              </a:rPr>
              <a:t>04</a:t>
            </a:r>
            <a:endParaRPr/>
          </a:p>
        </p:txBody>
      </p:sp>
      <p:sp>
        <p:nvSpPr>
          <p:cNvPr id="205" name="Google Shape;205;p2"/>
          <p:cNvSpPr txBox="1"/>
          <p:nvPr/>
        </p:nvSpPr>
        <p:spPr>
          <a:xfrm>
            <a:off x="7223760" y="3008376"/>
            <a:ext cx="4498848" cy="283464"/>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700" b="1" i="0" u="none" strike="noStrike" cap="none">
                <a:solidFill>
                  <a:srgbClr val="0C2C52"/>
                </a:solidFill>
                <a:latin typeface="Arial"/>
                <a:ea typeface="Arial"/>
                <a:cs typeface="Arial"/>
                <a:sym typeface="Arial"/>
              </a:rPr>
              <a:t>LangChain routing &amp; RAG retrieval</a:t>
            </a:r>
            <a:endParaRPr/>
          </a:p>
        </p:txBody>
      </p:sp>
      <p:sp>
        <p:nvSpPr>
          <p:cNvPr id="206" name="Google Shape;206;p2"/>
          <p:cNvSpPr txBox="1"/>
          <p:nvPr/>
        </p:nvSpPr>
        <p:spPr>
          <a:xfrm>
            <a:off x="7232904" y="3383279"/>
            <a:ext cx="4489704" cy="274320"/>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100" b="0" i="0" u="none" strike="noStrike" cap="none">
                <a:solidFill>
                  <a:srgbClr val="55677D"/>
                </a:solidFill>
                <a:latin typeface="Arial"/>
                <a:ea typeface="Arial"/>
                <a:cs typeface="Arial"/>
                <a:sym typeface="Arial"/>
              </a:rPr>
              <a:t>Six intents, three paths, and router implementation</a:t>
            </a:r>
            <a:endParaRPr/>
          </a:p>
        </p:txBody>
      </p:sp>
      <p:sp>
        <p:nvSpPr>
          <p:cNvPr id="207" name="Google Shape;207;p2"/>
          <p:cNvSpPr/>
          <p:nvPr/>
        </p:nvSpPr>
        <p:spPr>
          <a:xfrm>
            <a:off x="521207" y="3959352"/>
            <a:ext cx="5550408" cy="950976"/>
          </a:xfrm>
          <a:prstGeom prst="roundRect">
            <a:avLst>
              <a:gd name="adj" fmla="val 16667"/>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8" name="Google Shape;208;p2"/>
          <p:cNvSpPr/>
          <p:nvPr/>
        </p:nvSpPr>
        <p:spPr>
          <a:xfrm>
            <a:off x="521207" y="3959352"/>
            <a:ext cx="64008" cy="950976"/>
          </a:xfrm>
          <a:prstGeom prst="rect">
            <a:avLst/>
          </a:prstGeom>
          <a:solidFill>
            <a:srgbClr val="EF853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9" name="Google Shape;209;p2"/>
          <p:cNvSpPr/>
          <p:nvPr/>
        </p:nvSpPr>
        <p:spPr>
          <a:xfrm>
            <a:off x="713231" y="4151376"/>
            <a:ext cx="521207" cy="502920"/>
          </a:xfrm>
          <a:prstGeom prst="roundRect">
            <a:avLst>
              <a:gd name="adj" fmla="val 16667"/>
            </a:avLst>
          </a:prstGeom>
          <a:solidFill>
            <a:srgbClr val="0C2C5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0" name="Google Shape;210;p2"/>
          <p:cNvSpPr txBox="1"/>
          <p:nvPr/>
        </p:nvSpPr>
        <p:spPr>
          <a:xfrm>
            <a:off x="777240" y="4261104"/>
            <a:ext cx="429768" cy="201168"/>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300" b="1" i="0" u="none" strike="noStrike" cap="none">
                <a:solidFill>
                  <a:srgbClr val="FFFFFF"/>
                </a:solidFill>
                <a:latin typeface="Arial"/>
                <a:ea typeface="Arial"/>
                <a:cs typeface="Arial"/>
                <a:sym typeface="Arial"/>
              </a:rPr>
              <a:t>05</a:t>
            </a:r>
            <a:endParaRPr/>
          </a:p>
        </p:txBody>
      </p:sp>
      <p:sp>
        <p:nvSpPr>
          <p:cNvPr id="211" name="Google Shape;211;p2"/>
          <p:cNvSpPr txBox="1"/>
          <p:nvPr/>
        </p:nvSpPr>
        <p:spPr>
          <a:xfrm>
            <a:off x="1417319" y="4105656"/>
            <a:ext cx="4498848" cy="283464"/>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700" b="1" i="0" u="none" strike="noStrike" cap="none">
                <a:solidFill>
                  <a:srgbClr val="0C2C52"/>
                </a:solidFill>
                <a:latin typeface="Arial"/>
                <a:ea typeface="Arial"/>
                <a:cs typeface="Arial"/>
                <a:sym typeface="Arial"/>
              </a:rPr>
              <a:t>Structured advising workflows</a:t>
            </a:r>
            <a:endParaRPr/>
          </a:p>
        </p:txBody>
      </p:sp>
      <p:sp>
        <p:nvSpPr>
          <p:cNvPr id="212" name="Google Shape;212;p2"/>
          <p:cNvSpPr txBox="1"/>
          <p:nvPr/>
        </p:nvSpPr>
        <p:spPr>
          <a:xfrm>
            <a:off x="1426464" y="4480560"/>
            <a:ext cx="4489704" cy="274320"/>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100" b="0" i="0" u="none" strike="noStrike" cap="none">
                <a:solidFill>
                  <a:srgbClr val="55677D"/>
                </a:solidFill>
                <a:latin typeface="Arial"/>
                <a:ea typeface="Arial"/>
                <a:cs typeface="Arial"/>
                <a:sym typeface="Arial"/>
              </a:rPr>
              <a:t>Student records, eligibility, and degree requirements</a:t>
            </a:r>
            <a:endParaRPr/>
          </a:p>
        </p:txBody>
      </p:sp>
      <p:sp>
        <p:nvSpPr>
          <p:cNvPr id="213" name="Google Shape;213;p2"/>
          <p:cNvSpPr/>
          <p:nvPr/>
        </p:nvSpPr>
        <p:spPr>
          <a:xfrm>
            <a:off x="6327648" y="3959352"/>
            <a:ext cx="5550408" cy="950976"/>
          </a:xfrm>
          <a:prstGeom prst="roundRect">
            <a:avLst>
              <a:gd name="adj" fmla="val 16667"/>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4" name="Google Shape;214;p2"/>
          <p:cNvSpPr/>
          <p:nvPr/>
        </p:nvSpPr>
        <p:spPr>
          <a:xfrm>
            <a:off x="6327648" y="3959352"/>
            <a:ext cx="64008" cy="950976"/>
          </a:xfrm>
          <a:prstGeom prst="rect">
            <a:avLst/>
          </a:prstGeom>
          <a:solidFill>
            <a:srgbClr val="EF853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5" name="Google Shape;215;p2"/>
          <p:cNvSpPr/>
          <p:nvPr/>
        </p:nvSpPr>
        <p:spPr>
          <a:xfrm>
            <a:off x="6519672" y="4151376"/>
            <a:ext cx="521207" cy="502920"/>
          </a:xfrm>
          <a:prstGeom prst="roundRect">
            <a:avLst>
              <a:gd name="adj" fmla="val 16667"/>
            </a:avLst>
          </a:prstGeom>
          <a:solidFill>
            <a:srgbClr val="0C2C5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6" name="Google Shape;216;p2"/>
          <p:cNvSpPr txBox="1"/>
          <p:nvPr/>
        </p:nvSpPr>
        <p:spPr>
          <a:xfrm>
            <a:off x="6583680" y="4261104"/>
            <a:ext cx="429768" cy="201168"/>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300" b="1" i="0" u="none" strike="noStrike" cap="none">
                <a:solidFill>
                  <a:srgbClr val="FFFFFF"/>
                </a:solidFill>
                <a:latin typeface="Arial"/>
                <a:ea typeface="Arial"/>
                <a:cs typeface="Arial"/>
                <a:sym typeface="Arial"/>
              </a:rPr>
              <a:t>06</a:t>
            </a:r>
            <a:endParaRPr/>
          </a:p>
        </p:txBody>
      </p:sp>
      <p:sp>
        <p:nvSpPr>
          <p:cNvPr id="217" name="Google Shape;217;p2"/>
          <p:cNvSpPr txBox="1"/>
          <p:nvPr/>
        </p:nvSpPr>
        <p:spPr>
          <a:xfrm>
            <a:off x="7223760" y="4105656"/>
            <a:ext cx="4498848" cy="307777"/>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700" b="1" i="0" u="none" strike="noStrike" cap="none">
                <a:solidFill>
                  <a:srgbClr val="0C2C52"/>
                </a:solidFill>
                <a:latin typeface="Arial"/>
                <a:ea typeface="Arial"/>
                <a:cs typeface="Arial"/>
                <a:sym typeface="Arial"/>
              </a:rPr>
              <a:t>Response generation &amp; degree planning</a:t>
            </a:r>
            <a:endParaRPr sz="1800" b="0" i="0" u="none" strike="noStrike" cap="none">
              <a:solidFill>
                <a:schemeClr val="dk1"/>
              </a:solidFill>
              <a:latin typeface="Calibri"/>
              <a:ea typeface="Calibri"/>
              <a:cs typeface="Calibri"/>
              <a:sym typeface="Calibri"/>
            </a:endParaRPr>
          </a:p>
        </p:txBody>
      </p:sp>
      <p:sp>
        <p:nvSpPr>
          <p:cNvPr id="218" name="Google Shape;218;p2"/>
          <p:cNvSpPr txBox="1"/>
          <p:nvPr/>
        </p:nvSpPr>
        <p:spPr>
          <a:xfrm>
            <a:off x="7232904" y="4480560"/>
            <a:ext cx="4489704" cy="274320"/>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100" b="0" i="0" u="none" strike="noStrike" cap="none">
                <a:solidFill>
                  <a:srgbClr val="55677D"/>
                </a:solidFill>
                <a:latin typeface="Arial"/>
                <a:ea typeface="Arial"/>
                <a:cs typeface="Arial"/>
                <a:sym typeface="Arial"/>
              </a:rPr>
              <a:t>Prompt instructions and Python advising tools</a:t>
            </a:r>
            <a:endParaRPr/>
          </a:p>
        </p:txBody>
      </p:sp>
      <p:sp>
        <p:nvSpPr>
          <p:cNvPr id="219" name="Google Shape;219;p2"/>
          <p:cNvSpPr/>
          <p:nvPr/>
        </p:nvSpPr>
        <p:spPr>
          <a:xfrm>
            <a:off x="521207" y="5056631"/>
            <a:ext cx="5550408" cy="950976"/>
          </a:xfrm>
          <a:prstGeom prst="roundRect">
            <a:avLst>
              <a:gd name="adj" fmla="val 16667"/>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0" name="Google Shape;220;p2"/>
          <p:cNvSpPr/>
          <p:nvPr/>
        </p:nvSpPr>
        <p:spPr>
          <a:xfrm>
            <a:off x="521207" y="5056631"/>
            <a:ext cx="64008" cy="950976"/>
          </a:xfrm>
          <a:prstGeom prst="rect">
            <a:avLst/>
          </a:prstGeom>
          <a:solidFill>
            <a:srgbClr val="13569E"/>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1" name="Google Shape;221;p2"/>
          <p:cNvSpPr/>
          <p:nvPr/>
        </p:nvSpPr>
        <p:spPr>
          <a:xfrm>
            <a:off x="713231" y="5248655"/>
            <a:ext cx="521207" cy="502920"/>
          </a:xfrm>
          <a:prstGeom prst="roundRect">
            <a:avLst>
              <a:gd name="adj" fmla="val 16667"/>
            </a:avLst>
          </a:prstGeom>
          <a:solidFill>
            <a:srgbClr val="0C2C5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2" name="Google Shape;222;p2"/>
          <p:cNvSpPr txBox="1"/>
          <p:nvPr/>
        </p:nvSpPr>
        <p:spPr>
          <a:xfrm>
            <a:off x="777240" y="5358383"/>
            <a:ext cx="429768" cy="201168"/>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300" b="1" i="0" u="none" strike="noStrike" cap="none">
                <a:solidFill>
                  <a:srgbClr val="FFFFFF"/>
                </a:solidFill>
                <a:latin typeface="Arial"/>
                <a:ea typeface="Arial"/>
                <a:cs typeface="Arial"/>
                <a:sym typeface="Arial"/>
              </a:rPr>
              <a:t>07</a:t>
            </a:r>
            <a:endParaRPr/>
          </a:p>
        </p:txBody>
      </p:sp>
      <p:sp>
        <p:nvSpPr>
          <p:cNvPr id="223" name="Google Shape;223;p2"/>
          <p:cNvSpPr txBox="1"/>
          <p:nvPr/>
        </p:nvSpPr>
        <p:spPr>
          <a:xfrm>
            <a:off x="1417319" y="5202936"/>
            <a:ext cx="4498848" cy="307777"/>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700" b="1" i="0" u="none" strike="noStrike" cap="none">
                <a:solidFill>
                  <a:srgbClr val="0C2C52"/>
                </a:solidFill>
                <a:latin typeface="Arial"/>
                <a:ea typeface="Arial"/>
                <a:cs typeface="Arial"/>
                <a:sym typeface="Arial"/>
              </a:rPr>
              <a:t>Testing &amp; live demonstration</a:t>
            </a:r>
            <a:endParaRPr/>
          </a:p>
        </p:txBody>
      </p:sp>
      <p:sp>
        <p:nvSpPr>
          <p:cNvPr id="224" name="Google Shape;224;p2"/>
          <p:cNvSpPr txBox="1"/>
          <p:nvPr/>
        </p:nvSpPr>
        <p:spPr>
          <a:xfrm>
            <a:off x="1426464" y="5577840"/>
            <a:ext cx="4489704" cy="274320"/>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100" b="0" i="0" u="none" strike="noStrike" cap="none">
                <a:solidFill>
                  <a:srgbClr val="55677D"/>
                </a:solidFill>
                <a:latin typeface="Arial"/>
                <a:ea typeface="Arial"/>
                <a:cs typeface="Arial"/>
                <a:sym typeface="Arial"/>
              </a:rPr>
              <a:t>Fictional students, live demo, and app screenshots</a:t>
            </a:r>
            <a:endParaRPr/>
          </a:p>
        </p:txBody>
      </p:sp>
      <p:sp>
        <p:nvSpPr>
          <p:cNvPr id="225" name="Google Shape;225;p2"/>
          <p:cNvSpPr/>
          <p:nvPr/>
        </p:nvSpPr>
        <p:spPr>
          <a:xfrm>
            <a:off x="6327648" y="5056631"/>
            <a:ext cx="5550408" cy="950976"/>
          </a:xfrm>
          <a:prstGeom prst="roundRect">
            <a:avLst>
              <a:gd name="adj" fmla="val 16667"/>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6" name="Google Shape;226;p2"/>
          <p:cNvSpPr/>
          <p:nvPr/>
        </p:nvSpPr>
        <p:spPr>
          <a:xfrm>
            <a:off x="6327648" y="5056631"/>
            <a:ext cx="64008" cy="950976"/>
          </a:xfrm>
          <a:prstGeom prst="rect">
            <a:avLst/>
          </a:prstGeom>
          <a:solidFill>
            <a:srgbClr val="13569E"/>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7" name="Google Shape;227;p2"/>
          <p:cNvSpPr/>
          <p:nvPr/>
        </p:nvSpPr>
        <p:spPr>
          <a:xfrm>
            <a:off x="6519672" y="5248655"/>
            <a:ext cx="521207" cy="502920"/>
          </a:xfrm>
          <a:prstGeom prst="roundRect">
            <a:avLst>
              <a:gd name="adj" fmla="val 16667"/>
            </a:avLst>
          </a:prstGeom>
          <a:solidFill>
            <a:srgbClr val="0C2C5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8" name="Google Shape;228;p2"/>
          <p:cNvSpPr txBox="1"/>
          <p:nvPr/>
        </p:nvSpPr>
        <p:spPr>
          <a:xfrm>
            <a:off x="6583680" y="5358383"/>
            <a:ext cx="429768" cy="201168"/>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300" b="1" i="0" u="none" strike="noStrike" cap="none">
                <a:solidFill>
                  <a:srgbClr val="FFFFFF"/>
                </a:solidFill>
                <a:latin typeface="Arial"/>
                <a:ea typeface="Arial"/>
                <a:cs typeface="Arial"/>
                <a:sym typeface="Arial"/>
              </a:rPr>
              <a:t>08</a:t>
            </a:r>
            <a:endParaRPr/>
          </a:p>
        </p:txBody>
      </p:sp>
      <p:sp>
        <p:nvSpPr>
          <p:cNvPr id="229" name="Google Shape;229;p2"/>
          <p:cNvSpPr txBox="1"/>
          <p:nvPr/>
        </p:nvSpPr>
        <p:spPr>
          <a:xfrm>
            <a:off x="7223760" y="5202936"/>
            <a:ext cx="4498848" cy="307777"/>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700" b="1" i="0" u="none" strike="noStrike" cap="none">
                <a:solidFill>
                  <a:srgbClr val="0C2C52"/>
                </a:solidFill>
                <a:latin typeface="Arial"/>
                <a:ea typeface="Arial"/>
                <a:cs typeface="Arial"/>
                <a:sym typeface="Arial"/>
              </a:rPr>
              <a:t>Lessons learned &amp; future work</a:t>
            </a:r>
            <a:endParaRPr sz="1800" b="0" i="0" u="none" strike="noStrike" cap="none">
              <a:solidFill>
                <a:schemeClr val="dk1"/>
              </a:solidFill>
              <a:latin typeface="Calibri"/>
              <a:ea typeface="Calibri"/>
              <a:cs typeface="Calibri"/>
              <a:sym typeface="Calibri"/>
            </a:endParaRPr>
          </a:p>
        </p:txBody>
      </p:sp>
      <p:sp>
        <p:nvSpPr>
          <p:cNvPr id="230" name="Google Shape;230;p2"/>
          <p:cNvSpPr txBox="1"/>
          <p:nvPr/>
        </p:nvSpPr>
        <p:spPr>
          <a:xfrm>
            <a:off x="7232904" y="5577840"/>
            <a:ext cx="4489704" cy="274320"/>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1100" b="0" i="0" u="none" strike="noStrike" cap="none">
                <a:solidFill>
                  <a:srgbClr val="55677D"/>
                </a:solidFill>
                <a:latin typeface="Arial"/>
                <a:ea typeface="Arial"/>
                <a:cs typeface="Arial"/>
                <a:sym typeface="Arial"/>
              </a:rPr>
              <a:t>Challenges, improvements, and future work</a:t>
            </a:r>
            <a:endParaRPr/>
          </a:p>
        </p:txBody>
      </p:sp>
      <p:sp>
        <p:nvSpPr>
          <p:cNvPr id="231" name="Google Shape;231;p2"/>
          <p:cNvSpPr/>
          <p:nvPr/>
        </p:nvSpPr>
        <p:spPr>
          <a:xfrm>
            <a:off x="502920" y="6355080"/>
            <a:ext cx="11201400" cy="12801"/>
          </a:xfrm>
          <a:prstGeom prst="rect">
            <a:avLst/>
          </a:prstGeom>
          <a:solidFill>
            <a:srgbClr val="DCE3E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2" name="Google Shape;232;p2"/>
          <p:cNvSpPr txBox="1"/>
          <p:nvPr/>
        </p:nvSpPr>
        <p:spPr>
          <a:xfrm>
            <a:off x="530352" y="6501384"/>
            <a:ext cx="7315200" cy="182880"/>
          </a:xfrm>
          <a:prstGeom prst="rect">
            <a:avLst/>
          </a:prstGeom>
          <a:noFill/>
          <a:ln>
            <a:noFill/>
          </a:ln>
        </p:spPr>
        <p:txBody>
          <a:bodyPr spcFirstLastPara="1" wrap="square" lIns="18275" tIns="0" rIns="18275" bIns="45700" anchor="t" anchorCtr="0">
            <a:spAutoFit/>
          </a:bodyPr>
          <a:lstStyle/>
          <a:p>
            <a:pPr marL="0" marR="0" lvl="0" indent="0" algn="l" rtl="0">
              <a:spcBef>
                <a:spcPts val="0"/>
              </a:spcBef>
              <a:spcAft>
                <a:spcPts val="0"/>
              </a:spcAft>
              <a:buNone/>
            </a:pPr>
            <a:r>
              <a:rPr lang="en-US" sz="900" b="0" i="0" u="none" strike="noStrike" cap="none">
                <a:solidFill>
                  <a:srgbClr val="55677D"/>
                </a:solidFill>
                <a:latin typeface="Arial"/>
                <a:ea typeface="Arial"/>
                <a:cs typeface="Arial"/>
                <a:sym typeface="Arial"/>
              </a:rPr>
              <a:t>CSE 4392 / 5320  •  TEAM ASSIGNMENT 2</a:t>
            </a:r>
            <a:endParaRPr/>
          </a:p>
        </p:txBody>
      </p:sp>
      <p:sp>
        <p:nvSpPr>
          <p:cNvPr id="233" name="Google Shape;233;p2"/>
          <p:cNvSpPr/>
          <p:nvPr/>
        </p:nvSpPr>
        <p:spPr>
          <a:xfrm>
            <a:off x="-19670" y="0"/>
            <a:ext cx="128016" cy="6858000"/>
          </a:xfrm>
          <a:prstGeom prst="rect">
            <a:avLst/>
          </a:prstGeom>
          <a:solidFill>
            <a:srgbClr val="0F243E"/>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F243E"/>
              </a:solidFill>
              <a:latin typeface="Calibri"/>
              <a:ea typeface="Calibri"/>
              <a:cs typeface="Calibri"/>
              <a:sym typeface="Calibri"/>
            </a:endParaRPr>
          </a:p>
        </p:txBody>
      </p:sp>
      <p:sp>
        <p:nvSpPr>
          <p:cNvPr id="234" name="Google Shape;234;p2"/>
          <p:cNvSpPr/>
          <p:nvPr/>
        </p:nvSpPr>
        <p:spPr>
          <a:xfrm>
            <a:off x="530352" y="1510057"/>
            <a:ext cx="11109960" cy="20116"/>
          </a:xfrm>
          <a:prstGeom prst="rect">
            <a:avLst/>
          </a:prstGeom>
          <a:solidFill>
            <a:srgbClr val="DDE6E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p22"/>
          <p:cNvSpPr/>
          <p:nvPr/>
        </p:nvSpPr>
        <p:spPr>
          <a:xfrm>
            <a:off x="-17983" y="14035"/>
            <a:ext cx="12191695" cy="6858000"/>
          </a:xfrm>
          <a:prstGeom prst="rect">
            <a:avLst/>
          </a:prstGeom>
          <a:solidFill>
            <a:srgbClr val="F5F8F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5" name="Google Shape;1005;p22"/>
          <p:cNvSpPr/>
          <p:nvPr/>
        </p:nvSpPr>
        <p:spPr>
          <a:xfrm>
            <a:off x="0" y="0"/>
            <a:ext cx="128016" cy="6858000"/>
          </a:xfrm>
          <a:prstGeom prst="rect">
            <a:avLst/>
          </a:prstGeom>
          <a:solidFill>
            <a:srgbClr val="0C234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6" name="Google Shape;1006;p22"/>
          <p:cNvSpPr txBox="1"/>
          <p:nvPr/>
        </p:nvSpPr>
        <p:spPr>
          <a:xfrm>
            <a:off x="493776" y="228600"/>
            <a:ext cx="7315200" cy="22860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900" b="1">
                <a:solidFill>
                  <a:srgbClr val="1263B4"/>
                </a:solidFill>
                <a:latin typeface="Arial"/>
                <a:ea typeface="Arial"/>
                <a:cs typeface="Arial"/>
                <a:sym typeface="Arial"/>
              </a:rPr>
              <a:t>UTA • TEAM 2 AI ADVISOR</a:t>
            </a:r>
            <a:endParaRPr/>
          </a:p>
        </p:txBody>
      </p:sp>
      <p:sp>
        <p:nvSpPr>
          <p:cNvPr id="1007" name="Google Shape;1007;p22"/>
          <p:cNvSpPr txBox="1"/>
          <p:nvPr/>
        </p:nvSpPr>
        <p:spPr>
          <a:xfrm>
            <a:off x="493776" y="566928"/>
            <a:ext cx="11155680" cy="429332"/>
          </a:xfrm>
          <a:prstGeom prst="rect">
            <a:avLst/>
          </a:prstGeom>
          <a:noFill/>
          <a:ln>
            <a:noFill/>
          </a:ln>
        </p:spPr>
        <p:txBody>
          <a:bodyPr spcFirstLastPara="1" wrap="square" lIns="0" tIns="13700" rIns="0" bIns="0" anchor="t" anchorCtr="0">
            <a:spAutoFit/>
          </a:bodyPr>
          <a:lstStyle/>
          <a:p>
            <a:pPr lvl="0"/>
            <a:r>
              <a:rPr lang="en-US" sz="2700" b="1" dirty="0">
                <a:solidFill>
                  <a:srgbClr val="0C2340"/>
                </a:solidFill>
              </a:rPr>
              <a:t>Functional Requirements Implemented</a:t>
            </a:r>
            <a:endParaRPr lang="en-US" sz="2800" dirty="0"/>
          </a:p>
        </p:txBody>
      </p:sp>
      <p:sp>
        <p:nvSpPr>
          <p:cNvPr id="1008" name="Google Shape;1008;p22"/>
          <p:cNvSpPr/>
          <p:nvPr/>
        </p:nvSpPr>
        <p:spPr>
          <a:xfrm>
            <a:off x="493776" y="1234440"/>
            <a:ext cx="11109960" cy="20116"/>
          </a:xfrm>
          <a:prstGeom prst="rect">
            <a:avLst/>
          </a:prstGeom>
          <a:solidFill>
            <a:srgbClr val="DDE6E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9" name="Google Shape;1009;p22"/>
          <p:cNvSpPr txBox="1"/>
          <p:nvPr/>
        </p:nvSpPr>
        <p:spPr>
          <a:xfrm>
            <a:off x="502920" y="6528816"/>
            <a:ext cx="7315200" cy="18288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900" b="0">
                <a:solidFill>
                  <a:srgbClr val="64748B"/>
                </a:solidFill>
                <a:latin typeface="Arial"/>
                <a:ea typeface="Arial"/>
                <a:cs typeface="Arial"/>
                <a:sym typeface="Arial"/>
              </a:rPr>
              <a:t>CSE 4392 / 5320  •  TEAM ASSIGNMENT 2</a:t>
            </a:r>
            <a:endParaRPr/>
          </a:p>
        </p:txBody>
      </p:sp>
      <p:sp>
        <p:nvSpPr>
          <p:cNvPr id="1010" name="Subtitle"/>
          <p:cNvSpPr txBox="1"/>
          <p:nvPr/>
        </p:nvSpPr>
        <p:spPr>
          <a:xfrm>
            <a:off x="502920" y="1371600"/>
            <a:ext cx="11064240" cy="274320"/>
          </a:xfrm>
          <a:prstGeom prst="rect">
            <a:avLst/>
          </a:prstGeom>
          <a:noFill/>
        </p:spPr>
        <p:txBody>
          <a:bodyPr wrap="square" lIns="0" tIns="0" rIns="0" bIns="0" anchor="t">
            <a:spAutoFit/>
          </a:bodyPr>
          <a:lstStyle/>
          <a:p>
            <a:pPr algn="l"/>
            <a:r>
              <a:rPr sz="1300" b="0" i="0">
                <a:solidFill>
                  <a:srgbClr val="64748B"/>
                </a:solidFill>
                <a:latin typeface="Arial"/>
              </a:rPr>
              <a:t>How each functional requirement in the assignment is met by our implementation</a:t>
            </a:r>
          </a:p>
        </p:txBody>
      </p:sp>
      <p:graphicFrame>
        <p:nvGraphicFramePr>
          <p:cNvPr id="1011" name="Coverage table"/>
          <p:cNvGraphicFramePr>
            <a:graphicFrameLocks noGrp="1"/>
          </p:cNvGraphicFramePr>
          <p:nvPr>
            <p:extLst>
              <p:ext uri="{D42A27DB-BD31-4B8C-83A1-F6EECF244321}">
                <p14:modId xmlns:p14="http://schemas.microsoft.com/office/powerpoint/2010/main" val="3069662327"/>
              </p:ext>
            </p:extLst>
          </p:nvPr>
        </p:nvGraphicFramePr>
        <p:xfrm>
          <a:off x="548640" y="1783080"/>
          <a:ext cx="11064240" cy="4041648"/>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667512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384048">
                <a:tc>
                  <a:txBody>
                    <a:bodyPr/>
                    <a:lstStyle/>
                    <a:p>
                      <a:pPr algn="ctr"/>
                      <a:r>
                        <a:rPr sz="1200" b="1">
                          <a:solidFill>
                            <a:srgbClr val="FFFFFF"/>
                          </a:solidFill>
                          <a:latin typeface="Arial"/>
                        </a:rPr>
                        <a:t>#</a:t>
                      </a:r>
                    </a:p>
                  </a:txBody>
                  <a:tcPr marT="36576" marB="36576" anchor="ctr">
                    <a:solidFill>
                      <a:srgbClr val="0C2340"/>
                    </a:solidFill>
                  </a:tcPr>
                </a:tc>
                <a:tc>
                  <a:txBody>
                    <a:bodyPr/>
                    <a:lstStyle/>
                    <a:p>
                      <a:pPr algn="l"/>
                      <a:r>
                        <a:rPr sz="1200" b="1">
                          <a:solidFill>
                            <a:srgbClr val="FFFFFF"/>
                          </a:solidFill>
                          <a:latin typeface="Arial"/>
                        </a:rPr>
                        <a:t>Requirement</a:t>
                      </a:r>
                    </a:p>
                  </a:txBody>
                  <a:tcPr marT="36576" marB="36576" anchor="ctr">
                    <a:solidFill>
                      <a:srgbClr val="0C2340"/>
                    </a:solidFill>
                  </a:tcPr>
                </a:tc>
                <a:tc>
                  <a:txBody>
                    <a:bodyPr/>
                    <a:lstStyle/>
                    <a:p>
                      <a:pPr algn="l"/>
                      <a:r>
                        <a:rPr sz="1200" b="1">
                          <a:solidFill>
                            <a:srgbClr val="FFFFFF"/>
                          </a:solidFill>
                          <a:latin typeface="Arial"/>
                        </a:rPr>
                        <a:t>How the AI Advisor meets it</a:t>
                      </a:r>
                    </a:p>
                  </a:txBody>
                  <a:tcPr marT="36576" marB="36576" anchor="ctr">
                    <a:solidFill>
                      <a:srgbClr val="0C2340"/>
                    </a:solidFill>
                  </a:tcPr>
                </a:tc>
                <a:tc>
                  <a:txBody>
                    <a:bodyPr/>
                    <a:lstStyle/>
                    <a:p>
                      <a:pPr algn="ctr"/>
                      <a:r>
                        <a:rPr sz="1200" b="1">
                          <a:solidFill>
                            <a:srgbClr val="FFFFFF"/>
                          </a:solidFill>
                          <a:latin typeface="Arial"/>
                        </a:rPr>
                        <a:t>Status</a:t>
                      </a:r>
                    </a:p>
                  </a:txBody>
                  <a:tcPr marT="36576" marB="36576" anchor="ctr">
                    <a:solidFill>
                      <a:srgbClr val="0C2340"/>
                    </a:solidFill>
                  </a:tcPr>
                </a:tc>
                <a:extLst>
                  <a:ext uri="{0D108BD9-81ED-4DB2-BD59-A6C34878D82A}">
                    <a16:rowId xmlns:a16="http://schemas.microsoft.com/office/drawing/2014/main" val="10000"/>
                  </a:ext>
                </a:extLst>
              </a:tr>
              <a:tr h="457200">
                <a:tc>
                  <a:txBody>
                    <a:bodyPr/>
                    <a:lstStyle/>
                    <a:p>
                      <a:pPr algn="ctr"/>
                      <a:r>
                        <a:rPr sz="1200" b="1">
                          <a:solidFill>
                            <a:srgbClr val="1263B4"/>
                          </a:solidFill>
                          <a:latin typeface="Arial"/>
                        </a:rPr>
                        <a:t>1</a:t>
                      </a:r>
                    </a:p>
                  </a:txBody>
                  <a:tcPr marT="36576" marB="36576" anchor="ctr">
                    <a:solidFill>
                      <a:srgbClr val="FFFFFF"/>
                    </a:solidFill>
                  </a:tcPr>
                </a:tc>
                <a:tc>
                  <a:txBody>
                    <a:bodyPr/>
                    <a:lstStyle/>
                    <a:p>
                      <a:pPr algn="l"/>
                      <a:r>
                        <a:rPr sz="1200" b="1">
                          <a:solidFill>
                            <a:srgbClr val="0C2340"/>
                          </a:solidFill>
                          <a:latin typeface="Arial"/>
                        </a:rPr>
                        <a:t>User interface</a:t>
                      </a:r>
                    </a:p>
                  </a:txBody>
                  <a:tcPr marT="36576" marB="36576" anchor="ctr">
                    <a:solidFill>
                      <a:srgbClr val="FFFFFF"/>
                    </a:solidFill>
                  </a:tcPr>
                </a:tc>
                <a:tc>
                  <a:txBody>
                    <a:bodyPr/>
                    <a:lstStyle/>
                    <a:p>
                      <a:pPr algn="l"/>
                      <a:r>
                        <a:rPr sz="1100" b="0">
                          <a:solidFill>
                            <a:srgbClr val="64748B"/>
                          </a:solidFill>
                          <a:latin typeface="Arial"/>
                        </a:rPr>
                        <a:t>Streamlit web chat UI (prompt-based queries) with Cognito student sign-in</a:t>
                      </a:r>
                    </a:p>
                  </a:txBody>
                  <a:tcPr marT="36576" marB="36576" anchor="ctr">
                    <a:solidFill>
                      <a:srgbClr val="FFFFFF"/>
                    </a:solidFill>
                  </a:tcPr>
                </a:tc>
                <a:tc>
                  <a:txBody>
                    <a:bodyPr/>
                    <a:lstStyle/>
                    <a:p>
                      <a:pPr algn="ctr"/>
                      <a:r>
                        <a:rPr sz="1200" b="1">
                          <a:solidFill>
                            <a:srgbClr val="1E7B4F"/>
                          </a:solidFill>
                          <a:latin typeface="Arial"/>
                        </a:rPr>
                        <a:t>Implemented</a:t>
                      </a:r>
                    </a:p>
                  </a:txBody>
                  <a:tcPr marT="36576" marB="36576" anchor="ctr">
                    <a:solidFill>
                      <a:srgbClr val="FFFFFF"/>
                    </a:solidFill>
                  </a:tcPr>
                </a:tc>
                <a:extLst>
                  <a:ext uri="{0D108BD9-81ED-4DB2-BD59-A6C34878D82A}">
                    <a16:rowId xmlns:a16="http://schemas.microsoft.com/office/drawing/2014/main" val="10001"/>
                  </a:ext>
                </a:extLst>
              </a:tr>
              <a:tr h="457200">
                <a:tc>
                  <a:txBody>
                    <a:bodyPr/>
                    <a:lstStyle/>
                    <a:p>
                      <a:pPr algn="ctr"/>
                      <a:r>
                        <a:rPr sz="1200" b="1">
                          <a:solidFill>
                            <a:srgbClr val="1263B4"/>
                          </a:solidFill>
                          <a:latin typeface="Arial"/>
                        </a:rPr>
                        <a:t>2</a:t>
                      </a:r>
                    </a:p>
                  </a:txBody>
                  <a:tcPr marT="36576" marB="36576" anchor="ctr">
                    <a:solidFill>
                      <a:srgbClr val="F1F6FC"/>
                    </a:solidFill>
                  </a:tcPr>
                </a:tc>
                <a:tc>
                  <a:txBody>
                    <a:bodyPr/>
                    <a:lstStyle/>
                    <a:p>
                      <a:pPr algn="l"/>
                      <a:r>
                        <a:rPr sz="1200" b="1">
                          <a:solidFill>
                            <a:srgbClr val="0C2340"/>
                          </a:solidFill>
                          <a:latin typeface="Arial"/>
                        </a:rPr>
                        <a:t>Multi-year degree plan</a:t>
                      </a:r>
                    </a:p>
                  </a:txBody>
                  <a:tcPr marT="36576" marB="36576" anchor="ctr">
                    <a:solidFill>
                      <a:srgbClr val="F1F6FC"/>
                    </a:solidFill>
                  </a:tcPr>
                </a:tc>
                <a:tc>
                  <a:txBody>
                    <a:bodyPr/>
                    <a:lstStyle/>
                    <a:p>
                      <a:pPr algn="l"/>
                      <a:r>
                        <a:rPr sz="1100" b="0">
                          <a:solidFill>
                            <a:srgbClr val="64748B"/>
                          </a:solidFill>
                          <a:latin typeface="Arial"/>
                        </a:rPr>
                        <a:t>degree_plan route: Python planner builds a semester-by-semester plan from the transcript; summers optional</a:t>
                      </a:r>
                    </a:p>
                  </a:txBody>
                  <a:tcPr marT="36576" marB="36576" anchor="ctr">
                    <a:solidFill>
                      <a:srgbClr val="F1F6FC"/>
                    </a:solidFill>
                  </a:tcPr>
                </a:tc>
                <a:tc>
                  <a:txBody>
                    <a:bodyPr/>
                    <a:lstStyle/>
                    <a:p>
                      <a:pPr algn="ctr"/>
                      <a:r>
                        <a:rPr sz="1200" b="1">
                          <a:solidFill>
                            <a:srgbClr val="1E7B4F"/>
                          </a:solidFill>
                          <a:latin typeface="Arial"/>
                        </a:rPr>
                        <a:t>Implemented</a:t>
                      </a:r>
                    </a:p>
                  </a:txBody>
                  <a:tcPr marT="36576" marB="36576" anchor="ctr">
                    <a:solidFill>
                      <a:srgbClr val="F1F6FC"/>
                    </a:solidFill>
                  </a:tcPr>
                </a:tc>
                <a:extLst>
                  <a:ext uri="{0D108BD9-81ED-4DB2-BD59-A6C34878D82A}">
                    <a16:rowId xmlns:a16="http://schemas.microsoft.com/office/drawing/2014/main" val="10002"/>
                  </a:ext>
                </a:extLst>
              </a:tr>
              <a:tr h="457200">
                <a:tc>
                  <a:txBody>
                    <a:bodyPr/>
                    <a:lstStyle/>
                    <a:p>
                      <a:pPr algn="ctr"/>
                      <a:r>
                        <a:rPr sz="1200" b="1">
                          <a:solidFill>
                            <a:srgbClr val="1263B4"/>
                          </a:solidFill>
                          <a:latin typeface="Arial"/>
                        </a:rPr>
                        <a:t>3</a:t>
                      </a:r>
                    </a:p>
                  </a:txBody>
                  <a:tcPr marT="36576" marB="36576" anchor="ctr">
                    <a:solidFill>
                      <a:srgbClr val="FFFFFF"/>
                    </a:solidFill>
                  </a:tcPr>
                </a:tc>
                <a:tc>
                  <a:txBody>
                    <a:bodyPr/>
                    <a:lstStyle/>
                    <a:p>
                      <a:pPr algn="l"/>
                      <a:r>
                        <a:rPr sz="1200" b="1">
                          <a:solidFill>
                            <a:srgbClr val="0C2340"/>
                          </a:solidFill>
                          <a:latin typeface="Arial"/>
                        </a:rPr>
                        <a:t>Exact &amp; semantic queries</a:t>
                      </a:r>
                    </a:p>
                  </a:txBody>
                  <a:tcPr marT="36576" marB="36576" anchor="ctr">
                    <a:solidFill>
                      <a:srgbClr val="FFFFFF"/>
                    </a:solidFill>
                  </a:tcPr>
                </a:tc>
                <a:tc>
                  <a:txBody>
                    <a:bodyPr/>
                    <a:lstStyle/>
                    <a:p>
                      <a:pPr algn="l"/>
                      <a:r>
                        <a:rPr sz="1100" b="0">
                          <a:solidFill>
                            <a:srgbClr val="64748B"/>
                          </a:solidFill>
                          <a:latin typeface="Arial"/>
                        </a:rPr>
                        <a:t>Exact: DynamoDB records + exact course lookup. Semantic: Titan embeddings + ChromaDB (RAG)</a:t>
                      </a:r>
                    </a:p>
                  </a:txBody>
                  <a:tcPr marT="36576" marB="36576" anchor="ctr">
                    <a:solidFill>
                      <a:srgbClr val="FFFFFF"/>
                    </a:solidFill>
                  </a:tcPr>
                </a:tc>
                <a:tc>
                  <a:txBody>
                    <a:bodyPr/>
                    <a:lstStyle/>
                    <a:p>
                      <a:pPr algn="ctr"/>
                      <a:r>
                        <a:rPr sz="1200" b="1">
                          <a:solidFill>
                            <a:srgbClr val="1E7B4F"/>
                          </a:solidFill>
                          <a:latin typeface="Arial"/>
                        </a:rPr>
                        <a:t>Implemented*</a:t>
                      </a:r>
                    </a:p>
                  </a:txBody>
                  <a:tcPr marT="36576" marB="36576" anchor="ctr">
                    <a:solidFill>
                      <a:srgbClr val="FFFFFF"/>
                    </a:solidFill>
                  </a:tcPr>
                </a:tc>
                <a:extLst>
                  <a:ext uri="{0D108BD9-81ED-4DB2-BD59-A6C34878D82A}">
                    <a16:rowId xmlns:a16="http://schemas.microsoft.com/office/drawing/2014/main" val="10003"/>
                  </a:ext>
                </a:extLst>
              </a:tr>
              <a:tr h="457200">
                <a:tc>
                  <a:txBody>
                    <a:bodyPr/>
                    <a:lstStyle/>
                    <a:p>
                      <a:pPr algn="ctr"/>
                      <a:r>
                        <a:rPr sz="1200" b="1">
                          <a:solidFill>
                            <a:srgbClr val="1263B4"/>
                          </a:solidFill>
                          <a:latin typeface="Arial"/>
                        </a:rPr>
                        <a:t>4</a:t>
                      </a:r>
                    </a:p>
                  </a:txBody>
                  <a:tcPr marT="36576" marB="36576" anchor="ctr">
                    <a:solidFill>
                      <a:srgbClr val="F1F6FC"/>
                    </a:solidFill>
                  </a:tcPr>
                </a:tc>
                <a:tc>
                  <a:txBody>
                    <a:bodyPr/>
                    <a:lstStyle/>
                    <a:p>
                      <a:pPr algn="l"/>
                      <a:r>
                        <a:rPr sz="1200" b="1">
                          <a:solidFill>
                            <a:srgbClr val="0C2340"/>
                          </a:solidFill>
                          <a:latin typeface="Arial"/>
                        </a:rPr>
                        <a:t>Verify before recommending</a:t>
                      </a:r>
                    </a:p>
                  </a:txBody>
                  <a:tcPr marT="36576" marB="36576" anchor="ctr">
                    <a:solidFill>
                      <a:srgbClr val="F1F6FC"/>
                    </a:solidFill>
                  </a:tcPr>
                </a:tc>
                <a:tc>
                  <a:txBody>
                    <a:bodyPr/>
                    <a:lstStyle/>
                    <a:p>
                      <a:pPr algn="l"/>
                      <a:r>
                        <a:rPr sz="1100" b="0">
                          <a:solidFill>
                            <a:srgbClr val="64748B"/>
                          </a:solidFill>
                          <a:latin typeface="Arial"/>
                        </a:rPr>
                        <a:t>Python checks AND / OR prerequisite groups and minimum grades against the transcript</a:t>
                      </a:r>
                    </a:p>
                  </a:txBody>
                  <a:tcPr marT="36576" marB="36576" anchor="ctr">
                    <a:solidFill>
                      <a:srgbClr val="F1F6FC"/>
                    </a:solidFill>
                  </a:tcPr>
                </a:tc>
                <a:tc>
                  <a:txBody>
                    <a:bodyPr/>
                    <a:lstStyle/>
                    <a:p>
                      <a:pPr algn="ctr"/>
                      <a:r>
                        <a:rPr sz="1200" b="1">
                          <a:solidFill>
                            <a:srgbClr val="B45309"/>
                          </a:solidFill>
                          <a:latin typeface="Arial"/>
                        </a:rPr>
                        <a:t>Partial*</a:t>
                      </a:r>
                    </a:p>
                  </a:txBody>
                  <a:tcPr marT="36576" marB="36576" anchor="ctr">
                    <a:solidFill>
                      <a:srgbClr val="F1F6FC"/>
                    </a:solidFill>
                  </a:tcPr>
                </a:tc>
                <a:extLst>
                  <a:ext uri="{0D108BD9-81ED-4DB2-BD59-A6C34878D82A}">
                    <a16:rowId xmlns:a16="http://schemas.microsoft.com/office/drawing/2014/main" val="10004"/>
                  </a:ext>
                </a:extLst>
              </a:tr>
              <a:tr h="457200">
                <a:tc>
                  <a:txBody>
                    <a:bodyPr/>
                    <a:lstStyle/>
                    <a:p>
                      <a:pPr algn="ctr"/>
                      <a:r>
                        <a:rPr sz="1200" b="1">
                          <a:solidFill>
                            <a:srgbClr val="1263B4"/>
                          </a:solidFill>
                          <a:latin typeface="Arial"/>
                        </a:rPr>
                        <a:t>5</a:t>
                      </a:r>
                    </a:p>
                  </a:txBody>
                  <a:tcPr marT="36576" marB="36576" anchor="ctr">
                    <a:solidFill>
                      <a:srgbClr val="FFFFFF"/>
                    </a:solidFill>
                  </a:tcPr>
                </a:tc>
                <a:tc>
                  <a:txBody>
                    <a:bodyPr/>
                    <a:lstStyle/>
                    <a:p>
                      <a:pPr algn="l"/>
                      <a:r>
                        <a:rPr sz="1200" b="1">
                          <a:solidFill>
                            <a:srgbClr val="0C2340"/>
                          </a:solidFill>
                          <a:latin typeface="Arial"/>
                        </a:rPr>
                        <a:t>Change plan / switch major</a:t>
                      </a:r>
                    </a:p>
                  </a:txBody>
                  <a:tcPr marT="36576" marB="36576" anchor="ctr">
                    <a:solidFill>
                      <a:srgbClr val="FFFFFF"/>
                    </a:solidFill>
                  </a:tcPr>
                </a:tc>
                <a:tc>
                  <a:txBody>
                    <a:bodyPr/>
                    <a:lstStyle/>
                    <a:p>
                      <a:pPr algn="l"/>
                      <a:r>
                        <a:rPr sz="1100" b="0">
                          <a:solidFill>
                            <a:srgbClr val="64748B"/>
                          </a:solidFill>
                          <a:latin typeface="Arial"/>
                        </a:rPr>
                        <a:t>Plan follow-ups (e.g. “without summer semesters”) and the compare_plans route</a:t>
                      </a:r>
                    </a:p>
                  </a:txBody>
                  <a:tcPr marT="36576" marB="36576" anchor="ctr">
                    <a:solidFill>
                      <a:srgbClr val="FFFFFF"/>
                    </a:solidFill>
                  </a:tcPr>
                </a:tc>
                <a:tc>
                  <a:txBody>
                    <a:bodyPr/>
                    <a:lstStyle/>
                    <a:p>
                      <a:pPr algn="ctr"/>
                      <a:r>
                        <a:rPr sz="1200" b="1">
                          <a:solidFill>
                            <a:srgbClr val="B45309"/>
                          </a:solidFill>
                          <a:latin typeface="Arial"/>
                        </a:rPr>
                        <a:t>Partial</a:t>
                      </a:r>
                    </a:p>
                  </a:txBody>
                  <a:tcPr marT="36576" marB="36576" anchor="ctr">
                    <a:solidFill>
                      <a:srgbClr val="FFFFFF"/>
                    </a:solidFill>
                  </a:tcPr>
                </a:tc>
                <a:extLst>
                  <a:ext uri="{0D108BD9-81ED-4DB2-BD59-A6C34878D82A}">
                    <a16:rowId xmlns:a16="http://schemas.microsoft.com/office/drawing/2014/main" val="10005"/>
                  </a:ext>
                </a:extLst>
              </a:tr>
              <a:tr h="457200">
                <a:tc>
                  <a:txBody>
                    <a:bodyPr/>
                    <a:lstStyle/>
                    <a:p>
                      <a:pPr algn="ctr"/>
                      <a:r>
                        <a:rPr sz="1200" b="1">
                          <a:solidFill>
                            <a:srgbClr val="1263B4"/>
                          </a:solidFill>
                          <a:latin typeface="Arial"/>
                        </a:rPr>
                        <a:t>6</a:t>
                      </a:r>
                    </a:p>
                  </a:txBody>
                  <a:tcPr marT="36576" marB="36576" anchor="ctr">
                    <a:solidFill>
                      <a:srgbClr val="F1F6FC"/>
                    </a:solidFill>
                  </a:tcPr>
                </a:tc>
                <a:tc>
                  <a:txBody>
                    <a:bodyPr/>
                    <a:lstStyle/>
                    <a:p>
                      <a:pPr algn="l"/>
                      <a:r>
                        <a:rPr sz="1200" b="1">
                          <a:solidFill>
                            <a:srgbClr val="0C2340"/>
                          </a:solidFill>
                          <a:latin typeface="Arial"/>
                        </a:rPr>
                        <a:t>Conversation state</a:t>
                      </a:r>
                    </a:p>
                  </a:txBody>
                  <a:tcPr marT="36576" marB="36576" anchor="ctr">
                    <a:solidFill>
                      <a:srgbClr val="F1F6FC"/>
                    </a:solidFill>
                  </a:tcPr>
                </a:tc>
                <a:tc>
                  <a:txBody>
                    <a:bodyPr/>
                    <a:lstStyle/>
                    <a:p>
                      <a:pPr algn="l"/>
                      <a:r>
                        <a:rPr lang="en-US" sz="1100" b="0" dirty="0">
                          <a:solidFill>
                            <a:srgbClr val="64748B"/>
                          </a:solidFill>
                          <a:latin typeface="+mn-lt"/>
                        </a:rPr>
                        <a:t>Chat history sent every turn; older turns summarized by the LLM (LangChain); router and course resolver use it</a:t>
                      </a:r>
                    </a:p>
                  </a:txBody>
                  <a:tcPr marT="36576" marB="36576" anchor="ctr">
                    <a:solidFill>
                      <a:srgbClr val="F1F6FC"/>
                    </a:solidFill>
                  </a:tcPr>
                </a:tc>
                <a:tc>
                  <a:txBody>
                    <a:bodyPr/>
                    <a:lstStyle/>
                    <a:p>
                      <a:pPr algn="ctr"/>
                      <a:r>
                        <a:rPr sz="1200" b="1">
                          <a:solidFill>
                            <a:srgbClr val="1E7B4F"/>
                          </a:solidFill>
                          <a:latin typeface="Arial"/>
                        </a:rPr>
                        <a:t>Implemented</a:t>
                      </a:r>
                    </a:p>
                  </a:txBody>
                  <a:tcPr marT="36576" marB="36576" anchor="ctr">
                    <a:solidFill>
                      <a:srgbClr val="F1F6FC"/>
                    </a:solidFill>
                  </a:tcPr>
                </a:tc>
                <a:extLst>
                  <a:ext uri="{0D108BD9-81ED-4DB2-BD59-A6C34878D82A}">
                    <a16:rowId xmlns:a16="http://schemas.microsoft.com/office/drawing/2014/main" val="10006"/>
                  </a:ext>
                </a:extLst>
              </a:tr>
              <a:tr h="457200">
                <a:tc>
                  <a:txBody>
                    <a:bodyPr/>
                    <a:lstStyle/>
                    <a:p>
                      <a:pPr algn="ctr"/>
                      <a:r>
                        <a:rPr sz="1200" b="1">
                          <a:solidFill>
                            <a:srgbClr val="1263B4"/>
                          </a:solidFill>
                          <a:latin typeface="Arial"/>
                        </a:rPr>
                        <a:t>7</a:t>
                      </a:r>
                    </a:p>
                  </a:txBody>
                  <a:tcPr marT="36576" marB="36576" anchor="ctr">
                    <a:solidFill>
                      <a:srgbClr val="FFFFFF"/>
                    </a:solidFill>
                  </a:tcPr>
                </a:tc>
                <a:tc>
                  <a:txBody>
                    <a:bodyPr/>
                    <a:lstStyle/>
                    <a:p>
                      <a:pPr algn="l"/>
                      <a:r>
                        <a:rPr sz="1200" b="1">
                          <a:solidFill>
                            <a:srgbClr val="0C2340"/>
                          </a:solidFill>
                          <a:latin typeface="Arial"/>
                        </a:rPr>
                        <a:t>Structured + unstructured data</a:t>
                      </a:r>
                    </a:p>
                  </a:txBody>
                  <a:tcPr marT="36576" marB="36576" anchor="ctr">
                    <a:solidFill>
                      <a:srgbClr val="FFFFFF"/>
                    </a:solidFill>
                  </a:tcPr>
                </a:tc>
                <a:tc>
                  <a:txBody>
                    <a:bodyPr/>
                    <a:lstStyle/>
                    <a:p>
                      <a:pPr algn="l"/>
                      <a:r>
                        <a:rPr sz="1100" b="0">
                          <a:solidFill>
                            <a:srgbClr val="64748B"/>
                          </a:solidFill>
                          <a:latin typeface="Arial"/>
                        </a:rPr>
                        <a:t>DynamoDB: students, transcripts, courses, programs. ChromaDB: catalogs and degree requirements</a:t>
                      </a:r>
                    </a:p>
                  </a:txBody>
                  <a:tcPr marT="36576" marB="36576" anchor="ctr">
                    <a:solidFill>
                      <a:srgbClr val="FFFFFF"/>
                    </a:solidFill>
                  </a:tcPr>
                </a:tc>
                <a:tc>
                  <a:txBody>
                    <a:bodyPr/>
                    <a:lstStyle/>
                    <a:p>
                      <a:pPr algn="ctr"/>
                      <a:r>
                        <a:rPr sz="1200" b="1" dirty="0">
                          <a:solidFill>
                            <a:srgbClr val="1E7B4F"/>
                          </a:solidFill>
                          <a:latin typeface="Arial"/>
                        </a:rPr>
                        <a:t>Implemented</a:t>
                      </a:r>
                    </a:p>
                  </a:txBody>
                  <a:tcPr marT="36576" marB="36576" anchor="ctr">
                    <a:solidFill>
                      <a:srgbClr val="FFFFFF"/>
                    </a:solidFill>
                  </a:tcPr>
                </a:tc>
                <a:extLst>
                  <a:ext uri="{0D108BD9-81ED-4DB2-BD59-A6C34878D82A}">
                    <a16:rowId xmlns:a16="http://schemas.microsoft.com/office/drawing/2014/main" val="10007"/>
                  </a:ext>
                </a:extLst>
              </a:tr>
              <a:tr h="457200">
                <a:tc>
                  <a:txBody>
                    <a:bodyPr/>
                    <a:lstStyle/>
                    <a:p>
                      <a:pPr algn="ctr"/>
                      <a:r>
                        <a:rPr sz="1200" b="1">
                          <a:solidFill>
                            <a:srgbClr val="1263B4"/>
                          </a:solidFill>
                          <a:latin typeface="Arial"/>
                        </a:rPr>
                        <a:t>8</a:t>
                      </a:r>
                    </a:p>
                  </a:txBody>
                  <a:tcPr marT="36576" marB="36576" anchor="ctr">
                    <a:solidFill>
                      <a:srgbClr val="F1F6FC"/>
                    </a:solidFill>
                  </a:tcPr>
                </a:tc>
                <a:tc>
                  <a:txBody>
                    <a:bodyPr/>
                    <a:lstStyle/>
                    <a:p>
                      <a:pPr algn="l"/>
                      <a:r>
                        <a:rPr sz="1200" b="1">
                          <a:solidFill>
                            <a:srgbClr val="0C2340"/>
                          </a:solidFill>
                          <a:latin typeface="Arial"/>
                        </a:rPr>
                        <a:t>Multiple DBMS</a:t>
                      </a:r>
                    </a:p>
                  </a:txBody>
                  <a:tcPr marT="36576" marB="36576" anchor="ctr">
                    <a:solidFill>
                      <a:srgbClr val="F1F6FC"/>
                    </a:solidFill>
                  </a:tcPr>
                </a:tc>
                <a:tc>
                  <a:txBody>
                    <a:bodyPr/>
                    <a:lstStyle/>
                    <a:p>
                      <a:pPr algn="l"/>
                      <a:r>
                        <a:rPr sz="1100" b="0" dirty="0">
                          <a:solidFill>
                            <a:srgbClr val="64748B"/>
                          </a:solidFill>
                          <a:latin typeface="Arial"/>
                        </a:rPr>
                        <a:t>DynamoDB (NoSQL) + </a:t>
                      </a:r>
                      <a:r>
                        <a:rPr sz="1100" b="0" dirty="0" err="1">
                          <a:solidFill>
                            <a:srgbClr val="64748B"/>
                          </a:solidFill>
                          <a:latin typeface="Arial"/>
                        </a:rPr>
                        <a:t>ChromaDB</a:t>
                      </a:r>
                      <a:r>
                        <a:rPr sz="1100" b="0" dirty="0">
                          <a:solidFill>
                            <a:srgbClr val="64748B"/>
                          </a:solidFill>
                          <a:latin typeface="Arial"/>
                        </a:rPr>
                        <a:t> (vector database); </a:t>
                      </a:r>
                    </a:p>
                  </a:txBody>
                  <a:tcPr marT="36576" marB="36576" anchor="ctr">
                    <a:solidFill>
                      <a:srgbClr val="F1F6FC"/>
                    </a:solidFill>
                  </a:tcPr>
                </a:tc>
                <a:tc>
                  <a:txBody>
                    <a:bodyPr/>
                    <a:lstStyle/>
                    <a:p>
                      <a:pPr algn="ctr"/>
                      <a:r>
                        <a:rPr lang="en-US" sz="1200" b="1" dirty="0">
                          <a:solidFill>
                            <a:srgbClr val="1E7B4F"/>
                          </a:solidFill>
                          <a:latin typeface="+mn-lt"/>
                        </a:rPr>
                        <a:t>Implemented</a:t>
                      </a:r>
                      <a:endParaRPr sz="1200" b="1" dirty="0">
                        <a:solidFill>
                          <a:srgbClr val="B45309"/>
                        </a:solidFill>
                        <a:latin typeface="Arial"/>
                      </a:endParaRPr>
                    </a:p>
                  </a:txBody>
                  <a:tcPr marT="36576" marB="36576" anchor="ctr">
                    <a:solidFill>
                      <a:srgbClr val="F1F6FC"/>
                    </a:solidFill>
                  </a:tcPr>
                </a:tc>
                <a:extLst>
                  <a:ext uri="{0D108BD9-81ED-4DB2-BD59-A6C34878D82A}">
                    <a16:rowId xmlns:a16="http://schemas.microsoft.com/office/drawing/2014/main" val="10008"/>
                  </a:ext>
                </a:extLst>
              </a:tr>
            </a:tbl>
          </a:graphicData>
        </a:graphic>
      </p:graphicFrame>
      <p:sp>
        <p:nvSpPr>
          <p:cNvPr id="1012" name="Footnote"/>
          <p:cNvSpPr txBox="1"/>
          <p:nvPr/>
        </p:nvSpPr>
        <p:spPr>
          <a:xfrm>
            <a:off x="548640" y="6035040"/>
            <a:ext cx="11064240" cy="365760"/>
          </a:xfrm>
          <a:prstGeom prst="rect">
            <a:avLst/>
          </a:prstGeom>
          <a:noFill/>
        </p:spPr>
        <p:txBody>
          <a:bodyPr wrap="square" lIns="0" tIns="0" rIns="0" bIns="0" anchor="t">
            <a:spAutoFit/>
          </a:bodyPr>
          <a:lstStyle/>
          <a:p>
            <a:pPr algn="l"/>
            <a:r>
              <a:rPr sz="1100" b="0" i="0">
                <a:solidFill>
                  <a:srgbClr val="64748B"/>
                </a:solidFill>
                <a:latin typeface="Arial"/>
              </a:rPr>
              <a:t>* Class schedule, add/drop queries and schedule-conflict checks (requirement 3 and 4d) are out of scope for this submission per the instructor.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
          <p:cNvSpPr/>
          <p:nvPr/>
        </p:nvSpPr>
        <p:spPr>
          <a:xfrm>
            <a:off x="0" y="0"/>
            <a:ext cx="12191695" cy="6858000"/>
          </a:xfrm>
          <a:prstGeom prst="rect">
            <a:avLst/>
          </a:prstGeom>
          <a:solidFill>
            <a:srgbClr val="F5F8F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9" name="Google Shape;269;p4"/>
          <p:cNvSpPr/>
          <p:nvPr/>
        </p:nvSpPr>
        <p:spPr>
          <a:xfrm>
            <a:off x="0" y="0"/>
            <a:ext cx="128016" cy="6858000"/>
          </a:xfrm>
          <a:prstGeom prst="rect">
            <a:avLst/>
          </a:prstGeom>
          <a:solidFill>
            <a:srgbClr val="0F243E"/>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0" name="Google Shape;270;p4"/>
          <p:cNvSpPr txBox="1"/>
          <p:nvPr/>
        </p:nvSpPr>
        <p:spPr>
          <a:xfrm>
            <a:off x="493776" y="228600"/>
            <a:ext cx="7315200" cy="22860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900" b="1" i="0" u="none" strike="noStrike" cap="none">
                <a:solidFill>
                  <a:srgbClr val="1263B4"/>
                </a:solidFill>
                <a:latin typeface="Arial"/>
                <a:ea typeface="Arial"/>
                <a:cs typeface="Arial"/>
                <a:sym typeface="Arial"/>
              </a:rPr>
              <a:t>UTA • TEAM 2 AI ADVISOR</a:t>
            </a:r>
            <a:endParaRPr/>
          </a:p>
        </p:txBody>
      </p:sp>
      <p:sp>
        <p:nvSpPr>
          <p:cNvPr id="271" name="Google Shape;271;p4"/>
          <p:cNvSpPr txBox="1"/>
          <p:nvPr/>
        </p:nvSpPr>
        <p:spPr>
          <a:xfrm>
            <a:off x="493776" y="566928"/>
            <a:ext cx="11155680" cy="54864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2700" b="1" i="0" u="none" strike="noStrike" cap="none">
                <a:solidFill>
                  <a:srgbClr val="0C2340"/>
                </a:solidFill>
                <a:latin typeface="Arial"/>
                <a:ea typeface="Arial"/>
                <a:cs typeface="Arial"/>
                <a:sym typeface="Arial"/>
              </a:rPr>
              <a:t>Assumptions and Constraints</a:t>
            </a:r>
            <a:endParaRPr/>
          </a:p>
        </p:txBody>
      </p:sp>
      <p:sp>
        <p:nvSpPr>
          <p:cNvPr id="272" name="Google Shape;272;p4"/>
          <p:cNvSpPr/>
          <p:nvPr/>
        </p:nvSpPr>
        <p:spPr>
          <a:xfrm>
            <a:off x="493776" y="1234440"/>
            <a:ext cx="11109960" cy="20116"/>
          </a:xfrm>
          <a:prstGeom prst="rect">
            <a:avLst/>
          </a:prstGeom>
          <a:solidFill>
            <a:srgbClr val="DDE6E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3" name="Google Shape;273;p4"/>
          <p:cNvSpPr txBox="1"/>
          <p:nvPr/>
        </p:nvSpPr>
        <p:spPr>
          <a:xfrm>
            <a:off x="502920" y="6528816"/>
            <a:ext cx="7315200" cy="18288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900" b="0" i="0" u="none" strike="noStrike" cap="none">
                <a:solidFill>
                  <a:srgbClr val="64748B"/>
                </a:solidFill>
                <a:latin typeface="Arial"/>
                <a:ea typeface="Arial"/>
                <a:cs typeface="Arial"/>
                <a:sym typeface="Arial"/>
              </a:rPr>
              <a:t>CSE 4392 / 5320  •  TEAM ASSIGNMENT 2</a:t>
            </a:r>
            <a:endParaRPr/>
          </a:p>
        </p:txBody>
      </p:sp>
      <p:sp>
        <p:nvSpPr>
          <p:cNvPr id="274" name="Google Shape;274;p4"/>
          <p:cNvSpPr/>
          <p:nvPr/>
        </p:nvSpPr>
        <p:spPr>
          <a:xfrm>
            <a:off x="594360" y="1572768"/>
            <a:ext cx="5321808" cy="3337560"/>
          </a:xfrm>
          <a:prstGeom prst="roundRect">
            <a:avLst>
              <a:gd name="adj" fmla="val 13000"/>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5" name="Google Shape;275;p4"/>
          <p:cNvSpPr/>
          <p:nvPr/>
        </p:nvSpPr>
        <p:spPr>
          <a:xfrm>
            <a:off x="594360" y="1572768"/>
            <a:ext cx="64008" cy="3337560"/>
          </a:xfrm>
          <a:prstGeom prst="rect">
            <a:avLst/>
          </a:prstGeom>
          <a:solidFill>
            <a:srgbClr val="1263B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6" name="Google Shape;276;p4"/>
          <p:cNvSpPr txBox="1"/>
          <p:nvPr/>
        </p:nvSpPr>
        <p:spPr>
          <a:xfrm>
            <a:off x="795528" y="1746504"/>
            <a:ext cx="4937760" cy="384048"/>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1700" b="1" i="0" u="none" strike="noStrike" cap="none">
                <a:solidFill>
                  <a:srgbClr val="0C2340"/>
                </a:solidFill>
                <a:latin typeface="Arial"/>
                <a:ea typeface="Arial"/>
                <a:cs typeface="Arial"/>
                <a:sym typeface="Arial"/>
              </a:rPr>
              <a:t>Project assumptions</a:t>
            </a:r>
            <a:endParaRPr/>
          </a:p>
        </p:txBody>
      </p:sp>
      <p:sp>
        <p:nvSpPr>
          <p:cNvPr id="277" name="Google Shape;277;p4"/>
          <p:cNvSpPr txBox="1"/>
          <p:nvPr/>
        </p:nvSpPr>
        <p:spPr>
          <a:xfrm>
            <a:off x="795528" y="2231136"/>
            <a:ext cx="4937760" cy="2578608"/>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1200" b="0" i="0" u="none" strike="noStrike" cap="none">
                <a:solidFill>
                  <a:srgbClr val="64748B"/>
                </a:solidFill>
                <a:latin typeface="Arial"/>
                <a:ea typeface="Arial"/>
                <a:cs typeface="Arial"/>
                <a:sym typeface="Arial"/>
              </a:rPr>
              <a:t>• Academic data comes from structured course and program records.</a:t>
            </a:r>
            <a:br>
              <a:rPr lang="en-US" sz="1200" b="0" i="0" u="none" strike="noStrike" cap="none">
                <a:solidFill>
                  <a:srgbClr val="64748B"/>
                </a:solidFill>
                <a:latin typeface="Arial"/>
                <a:ea typeface="Arial"/>
                <a:cs typeface="Arial"/>
                <a:sym typeface="Arial"/>
              </a:rPr>
            </a:br>
            <a:r>
              <a:rPr lang="en-US" sz="1200" b="0" i="0" u="none" strike="noStrike" cap="none">
                <a:solidFill>
                  <a:srgbClr val="64748B"/>
                </a:solidFill>
                <a:latin typeface="Arial"/>
                <a:ea typeface="Arial"/>
                <a:cs typeface="Arial"/>
                <a:sym typeface="Arial"/>
              </a:rPr>
              <a:t>• Students are fictional; records are for demonstration.</a:t>
            </a:r>
            <a:br>
              <a:rPr lang="en-US" sz="1200" b="0" i="0" u="none" strike="noStrike" cap="none">
                <a:solidFill>
                  <a:srgbClr val="64748B"/>
                </a:solidFill>
                <a:latin typeface="Arial"/>
                <a:ea typeface="Arial"/>
                <a:cs typeface="Arial"/>
                <a:sym typeface="Arial"/>
              </a:rPr>
            </a:br>
            <a:r>
              <a:rPr lang="en-US" sz="1200" b="0" i="0" u="none" strike="noStrike" cap="none">
                <a:solidFill>
                  <a:srgbClr val="64748B"/>
                </a:solidFill>
                <a:latin typeface="Arial"/>
                <a:ea typeface="Arial"/>
                <a:cs typeface="Arial"/>
                <a:sym typeface="Arial"/>
              </a:rPr>
              <a:t>• Simplified course-based prerequisite rules.</a:t>
            </a:r>
            <a:br>
              <a:rPr lang="en-US" sz="1200" b="0" i="0" u="none" strike="noStrike" cap="none">
                <a:solidFill>
                  <a:srgbClr val="64748B"/>
                </a:solidFill>
                <a:latin typeface="Arial"/>
                <a:ea typeface="Arial"/>
                <a:cs typeface="Arial"/>
                <a:sym typeface="Arial"/>
              </a:rPr>
            </a:br>
            <a:r>
              <a:rPr lang="en-US" sz="1200" b="0" i="0" u="none" strike="noStrike" cap="none">
                <a:solidFill>
                  <a:srgbClr val="64748B"/>
                </a:solidFill>
                <a:latin typeface="Arial"/>
                <a:ea typeface="Arial"/>
                <a:cs typeface="Arial"/>
                <a:sym typeface="Arial"/>
              </a:rPr>
              <a:t>• Results depend on available validated project data.</a:t>
            </a:r>
            <a:endParaRPr/>
          </a:p>
          <a:p>
            <a:pPr marL="0" marR="0" lvl="0" indent="0" algn="l" rtl="0">
              <a:spcBef>
                <a:spcPts val="400"/>
              </a:spcBef>
              <a:spcAft>
                <a:spcPts val="0"/>
              </a:spcAft>
              <a:buNone/>
            </a:pPr>
            <a:r>
              <a:rPr lang="en-US" sz="1200" b="0" i="0" u="none" strike="noStrike" cap="none">
                <a:solidFill>
                  <a:srgbClr val="64748B"/>
                </a:solidFill>
                <a:latin typeface="Arial"/>
                <a:ea typeface="Arial"/>
                <a:cs typeface="Arial"/>
                <a:sym typeface="Arial"/>
              </a:rPr>
              <a:t>• Earlier planned prerequisites are assumed to be passed.</a:t>
            </a:r>
            <a:endParaRPr/>
          </a:p>
          <a:p>
            <a:pPr marL="0" marR="0" lvl="0" indent="0" algn="l" rtl="0">
              <a:spcBef>
                <a:spcPts val="400"/>
              </a:spcBef>
              <a:spcAft>
                <a:spcPts val="0"/>
              </a:spcAft>
              <a:buNone/>
            </a:pPr>
            <a:r>
              <a:rPr lang="en-US" sz="1200" b="0" i="0" u="none" strike="noStrike" cap="none">
                <a:solidFill>
                  <a:srgbClr val="64748B"/>
                </a:solidFill>
                <a:latin typeface="Arial"/>
                <a:ea typeface="Arial"/>
                <a:cs typeface="Arial"/>
                <a:sym typeface="Arial"/>
              </a:rPr>
              <a:t>• Class schedules and add/drop questions are out of scope for this submission (instructor guidance).</a:t>
            </a:r>
            <a:endParaRPr/>
          </a:p>
        </p:txBody>
      </p:sp>
      <p:sp>
        <p:nvSpPr>
          <p:cNvPr id="278" name="Google Shape;278;p4"/>
          <p:cNvSpPr/>
          <p:nvPr/>
        </p:nvSpPr>
        <p:spPr>
          <a:xfrm>
            <a:off x="6190488" y="1572768"/>
            <a:ext cx="5321808" cy="3337560"/>
          </a:xfrm>
          <a:prstGeom prst="roundRect">
            <a:avLst>
              <a:gd name="adj" fmla="val 13000"/>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9" name="Google Shape;279;p4"/>
          <p:cNvSpPr/>
          <p:nvPr/>
        </p:nvSpPr>
        <p:spPr>
          <a:xfrm>
            <a:off x="6190488" y="1572768"/>
            <a:ext cx="64008" cy="3337560"/>
          </a:xfrm>
          <a:prstGeom prst="rect">
            <a:avLst/>
          </a:prstGeom>
          <a:solidFill>
            <a:srgbClr val="F58A28"/>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80" name="Google Shape;280;p4"/>
          <p:cNvSpPr txBox="1"/>
          <p:nvPr/>
        </p:nvSpPr>
        <p:spPr>
          <a:xfrm>
            <a:off x="6391655" y="1746504"/>
            <a:ext cx="4937760" cy="384048"/>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1700" b="1" i="0" u="none" strike="noStrike" cap="none">
                <a:solidFill>
                  <a:srgbClr val="0C2340"/>
                </a:solidFill>
                <a:latin typeface="Arial"/>
                <a:ea typeface="Arial"/>
                <a:cs typeface="Arial"/>
                <a:sym typeface="Arial"/>
              </a:rPr>
              <a:t>Operational constraints</a:t>
            </a:r>
            <a:endParaRPr/>
          </a:p>
        </p:txBody>
      </p:sp>
      <p:sp>
        <p:nvSpPr>
          <p:cNvPr id="281" name="Google Shape;281;p4"/>
          <p:cNvSpPr txBox="1"/>
          <p:nvPr/>
        </p:nvSpPr>
        <p:spPr>
          <a:xfrm>
            <a:off x="6391655" y="2231136"/>
            <a:ext cx="4937760" cy="2578608"/>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1200" b="0" i="0" u="none" strike="noStrike" cap="none">
                <a:solidFill>
                  <a:srgbClr val="64748B"/>
                </a:solidFill>
                <a:latin typeface="Arial"/>
                <a:ea typeface="Arial"/>
                <a:cs typeface="Arial"/>
                <a:sym typeface="Arial"/>
              </a:rPr>
              <a:t>• Prerequisite groups follow AND / OR logic.</a:t>
            </a:r>
            <a:br>
              <a:rPr lang="en-US" sz="1200" b="0" i="0" u="none" strike="noStrike" cap="none">
                <a:solidFill>
                  <a:srgbClr val="64748B"/>
                </a:solidFill>
                <a:latin typeface="Arial"/>
                <a:ea typeface="Arial"/>
                <a:cs typeface="Arial"/>
                <a:sym typeface="Arial"/>
              </a:rPr>
            </a:br>
            <a:r>
              <a:rPr lang="en-US" sz="1200" b="0" i="0" u="none" strike="noStrike" cap="none">
                <a:solidFill>
                  <a:srgbClr val="64748B"/>
                </a:solidFill>
                <a:latin typeface="Arial"/>
                <a:ea typeface="Arial"/>
                <a:cs typeface="Arial"/>
                <a:sym typeface="Arial"/>
              </a:rPr>
              <a:t>• Minimum grades and completed courses affect eligibility.</a:t>
            </a:r>
            <a:br>
              <a:rPr lang="en-US" sz="1200" b="0" i="0" u="none" strike="noStrike" cap="none">
                <a:solidFill>
                  <a:srgbClr val="64748B"/>
                </a:solidFill>
                <a:latin typeface="Arial"/>
                <a:ea typeface="Arial"/>
                <a:cs typeface="Arial"/>
                <a:sym typeface="Arial"/>
              </a:rPr>
            </a:br>
            <a:r>
              <a:rPr lang="en-US" sz="1200" b="0" i="0" u="none" strike="noStrike" cap="none">
                <a:solidFill>
                  <a:srgbClr val="64748B"/>
                </a:solidFill>
                <a:latin typeface="Arial"/>
                <a:ea typeface="Arial"/>
                <a:cs typeface="Arial"/>
                <a:sym typeface="Arial"/>
              </a:rPr>
              <a:t>• Course records must be validated for project rules.</a:t>
            </a:r>
            <a:br>
              <a:rPr lang="en-US" sz="1200" b="0" i="0" u="none" strike="noStrike" cap="none">
                <a:solidFill>
                  <a:srgbClr val="64748B"/>
                </a:solidFill>
                <a:latin typeface="Arial"/>
                <a:ea typeface="Arial"/>
                <a:cs typeface="Arial"/>
                <a:sym typeface="Arial"/>
              </a:rPr>
            </a:br>
            <a:r>
              <a:rPr lang="en-US" sz="1200" b="0" i="0" u="none" strike="noStrike" cap="none">
                <a:solidFill>
                  <a:srgbClr val="64748B"/>
                </a:solidFill>
                <a:latin typeface="Arial"/>
                <a:ea typeface="Arial"/>
                <a:cs typeface="Arial"/>
                <a:sym typeface="Arial"/>
              </a:rPr>
              <a:t>• Missing or unvalidated rules limit advising conclusions.</a:t>
            </a:r>
            <a:endParaRPr/>
          </a:p>
          <a:p>
            <a:pPr marL="0" marR="0" lvl="0" indent="0" algn="l" rtl="0">
              <a:spcBef>
                <a:spcPts val="400"/>
              </a:spcBef>
              <a:spcAft>
                <a:spcPts val="0"/>
              </a:spcAft>
              <a:buNone/>
            </a:pPr>
            <a:r>
              <a:rPr lang="en-US" sz="1200" b="0" i="0" u="none" strike="noStrike" cap="none">
                <a:solidFill>
                  <a:srgbClr val="64748B"/>
                </a:solidFill>
                <a:latin typeface="Arial"/>
                <a:ea typeface="Arial"/>
                <a:cs typeface="Arial"/>
                <a:sym typeface="Arial"/>
              </a:rPr>
              <a:t>• Required prerequisite order and concurrent options.</a:t>
            </a:r>
            <a:endParaRPr/>
          </a:p>
          <a:p>
            <a:pPr marL="0" marR="0" lvl="0" indent="0" algn="l" rtl="0">
              <a:spcBef>
                <a:spcPts val="400"/>
              </a:spcBef>
              <a:spcAft>
                <a:spcPts val="0"/>
              </a:spcAft>
              <a:buNone/>
            </a:pPr>
            <a:r>
              <a:rPr lang="en-US" sz="1200" b="0" i="0" u="none" strike="noStrike" cap="none">
                <a:solidFill>
                  <a:srgbClr val="64748B"/>
                </a:solidFill>
                <a:latin typeface="Arial"/>
                <a:ea typeface="Arial"/>
                <a:cs typeface="Arial"/>
                <a:sym typeface="Arial"/>
              </a:rPr>
              <a:t>• Data stores: DynamoDB (NoSQL) and ChromaDB (vectors); no SQL DBMS in this prototype.</a:t>
            </a:r>
            <a:endParaRPr/>
          </a:p>
          <a:p>
            <a:pPr marL="0" marR="0" lvl="0" indent="0" algn="l" rtl="0">
              <a:spcBef>
                <a:spcPts val="400"/>
              </a:spcBef>
              <a:spcAft>
                <a:spcPts val="0"/>
              </a:spcAft>
              <a:buNone/>
            </a:pPr>
            <a:r>
              <a:rPr lang="en-US" sz="1200" b="0" i="0" u="none" strike="noStrike" cap="none">
                <a:solidFill>
                  <a:srgbClr val="64748B"/>
                </a:solidFill>
                <a:latin typeface="Arial"/>
                <a:ea typeface="Arial"/>
                <a:cs typeface="Arial"/>
                <a:sym typeface="Arial"/>
              </a:rPr>
              <a:t>• Incomplete plans are reported and not saved.</a:t>
            </a:r>
            <a:endParaRPr/>
          </a:p>
        </p:txBody>
      </p:sp>
      <p:sp>
        <p:nvSpPr>
          <p:cNvPr id="282" name="Google Shape;282;p4"/>
          <p:cNvSpPr/>
          <p:nvPr/>
        </p:nvSpPr>
        <p:spPr>
          <a:xfrm>
            <a:off x="603504" y="5230368"/>
            <a:ext cx="10899648" cy="704088"/>
          </a:xfrm>
          <a:prstGeom prst="roundRect">
            <a:avLst>
              <a:gd name="adj" fmla="val 13000"/>
            </a:avLst>
          </a:prstGeom>
          <a:solidFill>
            <a:srgbClr val="E8F1FB"/>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83" name="Google Shape;283;p4"/>
          <p:cNvSpPr txBox="1"/>
          <p:nvPr/>
        </p:nvSpPr>
        <p:spPr>
          <a:xfrm>
            <a:off x="859536" y="5449824"/>
            <a:ext cx="10424160" cy="27432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1400" b="1" i="0" u="none" strike="noStrike" cap="none">
                <a:solidFill>
                  <a:srgbClr val="0C2340"/>
                </a:solidFill>
                <a:latin typeface="Arial"/>
                <a:ea typeface="Arial"/>
                <a:cs typeface="Arial"/>
                <a:sym typeface="Arial"/>
              </a:rPr>
              <a:t>Scope note: prototype advising support — not an official degree audit, registration, or UTA approval.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61041-C45B-CAFF-9F87-77B613D40A6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C743C4A-D573-8B8B-BEED-9B6506324D6B}"/>
              </a:ext>
            </a:extLst>
          </p:cNvPr>
          <p:cNvSpPr/>
          <p:nvPr/>
        </p:nvSpPr>
        <p:spPr>
          <a:xfrm>
            <a:off x="0" y="0"/>
            <a:ext cx="12191695" cy="777240"/>
          </a:xfrm>
          <a:prstGeom prst="rect">
            <a:avLst/>
          </a:prstGeom>
          <a:solidFill>
            <a:srgbClr val="102F55"/>
          </a:solidFill>
          <a:ln w="15240">
            <a:solidFill>
              <a:srgbClr val="102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313F71D7-FA61-277F-D1F1-5211553D05A5}"/>
              </a:ext>
            </a:extLst>
          </p:cNvPr>
          <p:cNvSpPr/>
          <p:nvPr/>
        </p:nvSpPr>
        <p:spPr>
          <a:xfrm>
            <a:off x="402336" y="173736"/>
            <a:ext cx="68580" cy="429768"/>
          </a:xfrm>
          <a:prstGeom prst="rect">
            <a:avLst/>
          </a:prstGeom>
          <a:solidFill>
            <a:srgbClr val="F28C32"/>
          </a:solidFill>
          <a:ln w="15240">
            <a:solidFill>
              <a:srgbClr val="F28C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8634671-366C-628E-E5EC-63736EAAFAAF}"/>
              </a:ext>
            </a:extLst>
          </p:cNvPr>
          <p:cNvSpPr txBox="1"/>
          <p:nvPr/>
        </p:nvSpPr>
        <p:spPr>
          <a:xfrm>
            <a:off x="640080" y="155448"/>
            <a:ext cx="10972800" cy="411480"/>
          </a:xfrm>
          <a:prstGeom prst="rect">
            <a:avLst/>
          </a:prstGeom>
          <a:noFill/>
        </p:spPr>
        <p:txBody>
          <a:bodyPr wrap="square" lIns="27432" tIns="27432" rIns="27432">
            <a:spAutoFit/>
          </a:bodyPr>
          <a:lstStyle/>
          <a:p>
            <a:pPr>
              <a:spcAft>
                <a:spcPts val="200"/>
              </a:spcAft>
              <a:defRPr sz="2500" b="1">
                <a:solidFill>
                  <a:srgbClr val="FFFFFF"/>
                </a:solidFill>
                <a:latin typeface="Aptos"/>
              </a:defRPr>
            </a:pPr>
            <a:r>
              <a:t>AWS SYSTEM ARCHITECTURE</a:t>
            </a:r>
          </a:p>
        </p:txBody>
      </p:sp>
      <p:sp>
        <p:nvSpPr>
          <p:cNvPr id="5" name="TextBox 4">
            <a:extLst>
              <a:ext uri="{FF2B5EF4-FFF2-40B4-BE49-F238E27FC236}">
                <a16:creationId xmlns:a16="http://schemas.microsoft.com/office/drawing/2014/main" id="{D4150381-9451-B82C-48AB-20BDAB731186}"/>
              </a:ext>
            </a:extLst>
          </p:cNvPr>
          <p:cNvSpPr txBox="1"/>
          <p:nvPr/>
        </p:nvSpPr>
        <p:spPr>
          <a:xfrm>
            <a:off x="594360" y="932688"/>
            <a:ext cx="10972800" cy="320040"/>
          </a:xfrm>
          <a:prstGeom prst="rect">
            <a:avLst/>
          </a:prstGeom>
          <a:noFill/>
        </p:spPr>
        <p:txBody>
          <a:bodyPr wrap="square" lIns="27432" tIns="27432" rIns="27432">
            <a:spAutoFit/>
          </a:bodyPr>
          <a:lstStyle/>
          <a:p>
            <a:pPr>
              <a:spcAft>
                <a:spcPts val="200"/>
              </a:spcAft>
              <a:defRPr sz="1400" b="0">
                <a:solidFill>
                  <a:srgbClr val="57708A"/>
                </a:solidFill>
                <a:latin typeface="Aptos"/>
              </a:defRPr>
            </a:pPr>
            <a:r>
              <a:t>Containerized application  •  Secure authentication  •  AI orchestration and data services</a:t>
            </a:r>
          </a:p>
        </p:txBody>
      </p:sp>
      <p:sp>
        <p:nvSpPr>
          <p:cNvPr id="51" name="Rectangle 50">
            <a:extLst>
              <a:ext uri="{FF2B5EF4-FFF2-40B4-BE49-F238E27FC236}">
                <a16:creationId xmlns:a16="http://schemas.microsoft.com/office/drawing/2014/main" id="{CEA383DE-291F-039B-D73E-E30698F0AEEE}"/>
              </a:ext>
            </a:extLst>
          </p:cNvPr>
          <p:cNvSpPr/>
          <p:nvPr/>
        </p:nvSpPr>
        <p:spPr>
          <a:xfrm>
            <a:off x="393192" y="6391656"/>
            <a:ext cx="11365992" cy="32004"/>
          </a:xfrm>
          <a:prstGeom prst="rect">
            <a:avLst/>
          </a:prstGeom>
          <a:solidFill>
            <a:srgbClr val="CFDAE5"/>
          </a:solidFill>
          <a:ln w="15240">
            <a:solidFill>
              <a:srgbClr val="CFDA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a:extLst>
              <a:ext uri="{FF2B5EF4-FFF2-40B4-BE49-F238E27FC236}">
                <a16:creationId xmlns:a16="http://schemas.microsoft.com/office/drawing/2014/main" id="{55637741-D8EF-E4E4-B18E-A26991D50837}"/>
              </a:ext>
            </a:extLst>
          </p:cNvPr>
          <p:cNvSpPr txBox="1"/>
          <p:nvPr/>
        </p:nvSpPr>
        <p:spPr>
          <a:xfrm>
            <a:off x="502920" y="6464808"/>
            <a:ext cx="10972800" cy="246888"/>
          </a:xfrm>
          <a:prstGeom prst="rect">
            <a:avLst/>
          </a:prstGeom>
          <a:noFill/>
        </p:spPr>
        <p:txBody>
          <a:bodyPr wrap="square" lIns="27432" tIns="27432" rIns="27432">
            <a:spAutoFit/>
          </a:bodyPr>
          <a:lstStyle/>
          <a:p>
            <a:pPr>
              <a:spcAft>
                <a:spcPts val="200"/>
              </a:spcAft>
              <a:defRPr sz="1100" b="1">
                <a:solidFill>
                  <a:srgbClr val="102F55"/>
                </a:solidFill>
                <a:latin typeface="Aptos"/>
              </a:defRPr>
            </a:pPr>
            <a:r>
              <a:rPr dirty="0"/>
              <a:t>REQUEST FLOW    Browser → ALB → </a:t>
            </a:r>
            <a:r>
              <a:rPr dirty="0" err="1"/>
              <a:t>Streamlit</a:t>
            </a:r>
            <a:r>
              <a:rPr dirty="0"/>
              <a:t> Chat UI → LangChain API → </a:t>
            </a:r>
            <a:r>
              <a:rPr dirty="0" err="1"/>
              <a:t>ChromaDB</a:t>
            </a:r>
            <a:r>
              <a:rPr dirty="0"/>
              <a:t> / DynamoDB / Bedrock</a:t>
            </a:r>
          </a:p>
        </p:txBody>
      </p:sp>
      <p:pic>
        <p:nvPicPr>
          <p:cNvPr id="7" name="Picture 6">
            <a:extLst>
              <a:ext uri="{FF2B5EF4-FFF2-40B4-BE49-F238E27FC236}">
                <a16:creationId xmlns:a16="http://schemas.microsoft.com/office/drawing/2014/main" id="{3BE630B8-0752-8A6D-1F27-8957AE7CA912}"/>
              </a:ext>
            </a:extLst>
          </p:cNvPr>
          <p:cNvPicPr>
            <a:picLocks noChangeAspect="1"/>
          </p:cNvPicPr>
          <p:nvPr/>
        </p:nvPicPr>
        <p:blipFill>
          <a:blip r:embed="rId2"/>
          <a:stretch>
            <a:fillRect/>
          </a:stretch>
        </p:blipFill>
        <p:spPr>
          <a:xfrm>
            <a:off x="1844003" y="1146950"/>
            <a:ext cx="8290634" cy="5244706"/>
          </a:xfrm>
          <a:prstGeom prst="rect">
            <a:avLst/>
          </a:prstGeom>
        </p:spPr>
      </p:pic>
    </p:spTree>
    <p:extLst>
      <p:ext uri="{BB962C8B-B14F-4D97-AF65-F5344CB8AC3E}">
        <p14:creationId xmlns:p14="http://schemas.microsoft.com/office/powerpoint/2010/main" val="2653619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p22"/>
          <p:cNvSpPr/>
          <p:nvPr/>
        </p:nvSpPr>
        <p:spPr>
          <a:xfrm>
            <a:off x="-17983" y="14035"/>
            <a:ext cx="12191695" cy="6858000"/>
          </a:xfrm>
          <a:prstGeom prst="rect">
            <a:avLst/>
          </a:prstGeom>
          <a:solidFill>
            <a:srgbClr val="F5F8F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5" name="Google Shape;1005;p22"/>
          <p:cNvSpPr/>
          <p:nvPr/>
        </p:nvSpPr>
        <p:spPr>
          <a:xfrm>
            <a:off x="0" y="0"/>
            <a:ext cx="128016" cy="6858000"/>
          </a:xfrm>
          <a:prstGeom prst="rect">
            <a:avLst/>
          </a:prstGeom>
          <a:solidFill>
            <a:srgbClr val="0C234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6" name="Google Shape;1006;p22"/>
          <p:cNvSpPr txBox="1"/>
          <p:nvPr/>
        </p:nvSpPr>
        <p:spPr>
          <a:xfrm>
            <a:off x="493776" y="228600"/>
            <a:ext cx="7315200" cy="22860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900" b="1">
                <a:solidFill>
                  <a:srgbClr val="1263B4"/>
                </a:solidFill>
                <a:latin typeface="Arial"/>
                <a:ea typeface="Arial"/>
                <a:cs typeface="Arial"/>
                <a:sym typeface="Arial"/>
              </a:rPr>
              <a:t>UTA • TEAM 2 AI ADVISOR</a:t>
            </a:r>
            <a:endParaRPr/>
          </a:p>
        </p:txBody>
      </p:sp>
      <p:sp>
        <p:nvSpPr>
          <p:cNvPr id="1007" name="Google Shape;1007;p22"/>
          <p:cNvSpPr txBox="1"/>
          <p:nvPr/>
        </p:nvSpPr>
        <p:spPr>
          <a:xfrm>
            <a:off x="493776" y="566928"/>
            <a:ext cx="11155680" cy="54864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2700" b="1">
                <a:solidFill>
                  <a:srgbClr val="0C2340"/>
                </a:solidFill>
                <a:latin typeface="Arial"/>
                <a:ea typeface="Arial"/>
                <a:cs typeface="Arial"/>
                <a:sym typeface="Arial"/>
              </a:rPr>
              <a:t>Models We Use: Gemma 3 27B IT and Titan Embeddings V2</a:t>
            </a:r>
            <a:endParaRPr/>
          </a:p>
        </p:txBody>
      </p:sp>
      <p:sp>
        <p:nvSpPr>
          <p:cNvPr id="1008" name="Google Shape;1008;p22"/>
          <p:cNvSpPr/>
          <p:nvPr/>
        </p:nvSpPr>
        <p:spPr>
          <a:xfrm>
            <a:off x="493776" y="1234440"/>
            <a:ext cx="11109960" cy="20116"/>
          </a:xfrm>
          <a:prstGeom prst="rect">
            <a:avLst/>
          </a:prstGeom>
          <a:solidFill>
            <a:srgbClr val="DDE6E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9" name="Google Shape;1009;p22"/>
          <p:cNvSpPr txBox="1"/>
          <p:nvPr/>
        </p:nvSpPr>
        <p:spPr>
          <a:xfrm>
            <a:off x="502920" y="6528816"/>
            <a:ext cx="7315200" cy="18288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900" b="0">
                <a:solidFill>
                  <a:srgbClr val="64748B"/>
                </a:solidFill>
                <a:latin typeface="Arial"/>
                <a:ea typeface="Arial"/>
                <a:cs typeface="Arial"/>
                <a:sym typeface="Arial"/>
              </a:rPr>
              <a:t>CSE 4392 / 5320  •  TEAM ASSIGNMENT 2</a:t>
            </a:r>
            <a:endParaRPr/>
          </a:p>
        </p:txBody>
      </p:sp>
      <p:sp>
        <p:nvSpPr>
          <p:cNvPr id="1010" name="Subtitle"/>
          <p:cNvSpPr txBox="1"/>
          <p:nvPr/>
        </p:nvSpPr>
        <p:spPr>
          <a:xfrm>
            <a:off x="502920" y="1371600"/>
            <a:ext cx="11064240" cy="274320"/>
          </a:xfrm>
          <a:prstGeom prst="rect">
            <a:avLst/>
          </a:prstGeom>
          <a:noFill/>
        </p:spPr>
        <p:txBody>
          <a:bodyPr wrap="square" lIns="0" tIns="0" rIns="0" bIns="0" anchor="t">
            <a:spAutoFit/>
          </a:bodyPr>
          <a:lstStyle/>
          <a:p>
            <a:pPr algn="l"/>
            <a:r>
              <a:rPr sz="1300" b="0">
                <a:solidFill>
                  <a:srgbClr val="64748B"/>
                </a:solidFill>
                <a:latin typeface="Arial"/>
              </a:rPr>
              <a:t>Both models run on Amazon Bedrock: Gemma reads and writes text, Titan turns text into vectors for search</a:t>
            </a:r>
          </a:p>
        </p:txBody>
      </p:sp>
      <p:sp>
        <p:nvSpPr>
          <p:cNvPr id="1011" name="Gemma card"/>
          <p:cNvSpPr/>
          <p:nvPr/>
        </p:nvSpPr>
        <p:spPr>
          <a:xfrm>
            <a:off x="548640" y="1783080"/>
            <a:ext cx="5440680" cy="3611880"/>
          </a:xfrm>
          <a:prstGeom prst="roundRect">
            <a:avLst>
              <a:gd name="adj" fmla="val 5000"/>
            </a:avLst>
          </a:prstGeom>
          <a:solidFill>
            <a:srgbClr val="FFFFFF"/>
          </a:solidFill>
          <a:ln w="12700">
            <a:solidFill>
              <a:srgbClr val="DD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Gemma kicker"/>
          <p:cNvSpPr txBox="1"/>
          <p:nvPr/>
        </p:nvSpPr>
        <p:spPr>
          <a:xfrm>
            <a:off x="822959" y="1984248"/>
            <a:ext cx="4892040" cy="228600"/>
          </a:xfrm>
          <a:prstGeom prst="rect">
            <a:avLst/>
          </a:prstGeom>
          <a:noFill/>
        </p:spPr>
        <p:txBody>
          <a:bodyPr wrap="square" lIns="0" tIns="0" rIns="0" bIns="0" anchor="t">
            <a:spAutoFit/>
          </a:bodyPr>
          <a:lstStyle/>
          <a:p>
            <a:pPr algn="l"/>
            <a:r>
              <a:rPr sz="1050" b="1">
                <a:solidFill>
                  <a:srgbClr val="1263B4"/>
                </a:solidFill>
                <a:latin typeface="Arial"/>
              </a:rPr>
              <a:t>LLM  •  google.gemma-3-27b-it</a:t>
            </a:r>
          </a:p>
        </p:txBody>
      </p:sp>
      <p:sp>
        <p:nvSpPr>
          <p:cNvPr id="1013" name="Gemma name"/>
          <p:cNvSpPr txBox="1"/>
          <p:nvPr/>
        </p:nvSpPr>
        <p:spPr>
          <a:xfrm>
            <a:off x="822959" y="2240280"/>
            <a:ext cx="4892040" cy="365760"/>
          </a:xfrm>
          <a:prstGeom prst="rect">
            <a:avLst/>
          </a:prstGeom>
          <a:noFill/>
        </p:spPr>
        <p:txBody>
          <a:bodyPr wrap="square" lIns="0" tIns="0" rIns="0" bIns="0" anchor="t">
            <a:spAutoFit/>
          </a:bodyPr>
          <a:lstStyle/>
          <a:p>
            <a:pPr algn="l"/>
            <a:r>
              <a:rPr sz="1800" b="1">
                <a:solidFill>
                  <a:srgbClr val="0C2340"/>
                </a:solidFill>
                <a:latin typeface="Arial"/>
              </a:rPr>
              <a:t>Google Gemma 3 27B IT</a:t>
            </a:r>
          </a:p>
        </p:txBody>
      </p:sp>
      <p:sp>
        <p:nvSpPr>
          <p:cNvPr id="1014" name="Gemma stat box"/>
          <p:cNvSpPr/>
          <p:nvPr/>
        </p:nvSpPr>
        <p:spPr>
          <a:xfrm>
            <a:off x="822959" y="2715768"/>
            <a:ext cx="1783080" cy="960120"/>
          </a:xfrm>
          <a:prstGeom prst="roundRect">
            <a:avLst>
              <a:gd name="adj" fmla="val 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5" name="Gemma stat"/>
          <p:cNvSpPr txBox="1"/>
          <p:nvPr/>
        </p:nvSpPr>
        <p:spPr>
          <a:xfrm>
            <a:off x="822959" y="2770632"/>
            <a:ext cx="1783080" cy="502920"/>
          </a:xfrm>
          <a:prstGeom prst="rect">
            <a:avLst/>
          </a:prstGeom>
          <a:noFill/>
        </p:spPr>
        <p:txBody>
          <a:bodyPr wrap="square" lIns="0" tIns="0" rIns="0" bIns="0" anchor="ctr">
            <a:spAutoFit/>
          </a:bodyPr>
          <a:lstStyle/>
          <a:p>
            <a:pPr algn="ctr"/>
            <a:r>
              <a:rPr sz="3000" b="1">
                <a:solidFill>
                  <a:srgbClr val="1263B4"/>
                </a:solidFill>
                <a:latin typeface="Arial"/>
              </a:rPr>
              <a:t>128K</a:t>
            </a:r>
          </a:p>
        </p:txBody>
      </p:sp>
      <p:sp>
        <p:nvSpPr>
          <p:cNvPr id="1016" name="Gemma stat label"/>
          <p:cNvSpPr txBox="1"/>
          <p:nvPr/>
        </p:nvSpPr>
        <p:spPr>
          <a:xfrm>
            <a:off x="896112" y="3264408"/>
            <a:ext cx="1645920" cy="365760"/>
          </a:xfrm>
          <a:prstGeom prst="rect">
            <a:avLst/>
          </a:prstGeom>
          <a:noFill/>
        </p:spPr>
        <p:txBody>
          <a:bodyPr wrap="square" lIns="0" tIns="0" rIns="0" bIns="0" anchor="t">
            <a:spAutoFit/>
          </a:bodyPr>
          <a:lstStyle/>
          <a:p>
            <a:pPr algn="ctr"/>
            <a:r>
              <a:rPr sz="1000" b="0">
                <a:solidFill>
                  <a:srgbClr val="0C2340"/>
                </a:solidFill>
                <a:latin typeface="Arial"/>
              </a:rPr>
              <a:t>token context window</a:t>
            </a:r>
          </a:p>
        </p:txBody>
      </p:sp>
      <p:sp>
        <p:nvSpPr>
          <p:cNvPr id="1017" name="Gemma facts"/>
          <p:cNvSpPr txBox="1"/>
          <p:nvPr/>
        </p:nvSpPr>
        <p:spPr>
          <a:xfrm>
            <a:off x="2834640" y="2743200"/>
            <a:ext cx="2880360" cy="960120"/>
          </a:xfrm>
          <a:prstGeom prst="rect">
            <a:avLst/>
          </a:prstGeom>
          <a:noFill/>
        </p:spPr>
        <p:txBody>
          <a:bodyPr wrap="square" lIns="0" tIns="0" rIns="0" bIns="0" anchor="ctr">
            <a:spAutoFit/>
          </a:bodyPr>
          <a:lstStyle/>
          <a:p>
            <a:pPr algn="l">
              <a:spcAft>
                <a:spcPts val="300"/>
              </a:spcAft>
            </a:pPr>
            <a:r>
              <a:rPr sz="1150" b="0">
                <a:solidFill>
                  <a:srgbClr val="64748B"/>
                </a:solidFill>
                <a:latin typeface="Arial"/>
              </a:rPr>
              <a:t>27 billion parameters, open-weight model from Google</a:t>
            </a:r>
          </a:p>
          <a:p>
            <a:pPr algn="l">
              <a:spcAft>
                <a:spcPts val="300"/>
              </a:spcAft>
            </a:pPr>
            <a:r>
              <a:rPr sz="1150" b="0">
                <a:solidFill>
                  <a:srgbClr val="64748B"/>
                </a:solidFill>
                <a:latin typeface="Arial"/>
              </a:rPr>
              <a:t>Text and image input, text output; 140+ languages</a:t>
            </a:r>
          </a:p>
          <a:p>
            <a:pPr algn="l">
              <a:spcAft>
                <a:spcPts val="300"/>
              </a:spcAft>
            </a:pPr>
            <a:r>
              <a:rPr sz="1150" b="0">
                <a:solidFill>
                  <a:srgbClr val="64748B"/>
                </a:solidFill>
                <a:latin typeface="Arial"/>
              </a:rPr>
              <a:t>Called through LangChain ChatBedrockConverse</a:t>
            </a:r>
          </a:p>
        </p:txBody>
      </p:sp>
      <p:sp>
        <p:nvSpPr>
          <p:cNvPr id="1018" name="Gemma uses title"/>
          <p:cNvSpPr txBox="1"/>
          <p:nvPr/>
        </p:nvSpPr>
        <p:spPr>
          <a:xfrm>
            <a:off x="822959" y="3867911"/>
            <a:ext cx="4892040" cy="228600"/>
          </a:xfrm>
          <a:prstGeom prst="rect">
            <a:avLst/>
          </a:prstGeom>
          <a:noFill/>
        </p:spPr>
        <p:txBody>
          <a:bodyPr wrap="square" lIns="0" tIns="0" rIns="0" bIns="0" anchor="t">
            <a:spAutoFit/>
          </a:bodyPr>
          <a:lstStyle/>
          <a:p>
            <a:pPr algn="l"/>
            <a:r>
              <a:rPr sz="1100" b="1">
                <a:solidFill>
                  <a:srgbClr val="0C2340"/>
                </a:solidFill>
                <a:latin typeface="Arial"/>
              </a:rPr>
              <a:t>WHAT WE USE IT FOR</a:t>
            </a:r>
          </a:p>
        </p:txBody>
      </p:sp>
      <p:sp>
        <p:nvSpPr>
          <p:cNvPr id="1019" name="Gemma uses"/>
          <p:cNvSpPr txBox="1"/>
          <p:nvPr/>
        </p:nvSpPr>
        <p:spPr>
          <a:xfrm>
            <a:off x="822959" y="4123944"/>
            <a:ext cx="4892040" cy="1188720"/>
          </a:xfrm>
          <a:prstGeom prst="rect">
            <a:avLst/>
          </a:prstGeom>
          <a:noFill/>
        </p:spPr>
        <p:txBody>
          <a:bodyPr wrap="square" lIns="0" tIns="0" rIns="0" bIns="0" anchor="t">
            <a:spAutoFit/>
          </a:bodyPr>
          <a:lstStyle/>
          <a:p>
            <a:pPr algn="l">
              <a:spcAft>
                <a:spcPts val="300"/>
              </a:spcAft>
            </a:pPr>
            <a:r>
              <a:rPr sz="1150" b="1">
                <a:solidFill>
                  <a:srgbClr val="1263B4"/>
                </a:solidFill>
                <a:latin typeface="Arial"/>
              </a:rPr>
              <a:t>1  </a:t>
            </a:r>
            <a:r>
              <a:rPr sz="1150" b="0">
                <a:solidFill>
                  <a:srgbClr val="0C2340"/>
                </a:solidFill>
                <a:latin typeface="Arial"/>
              </a:rPr>
              <a:t>Router: classify each question into a route (temperature 0)</a:t>
            </a:r>
          </a:p>
          <a:p>
            <a:pPr algn="l">
              <a:spcAft>
                <a:spcPts val="300"/>
              </a:spcAft>
            </a:pPr>
            <a:r>
              <a:rPr sz="1150" b="1">
                <a:solidFill>
                  <a:srgbClr val="1263B4"/>
                </a:solidFill>
                <a:latin typeface="Arial"/>
              </a:rPr>
              <a:t>2  </a:t>
            </a:r>
            <a:r>
              <a:rPr sz="1150" b="0">
                <a:solidFill>
                  <a:srgbClr val="0C2340"/>
                </a:solidFill>
                <a:latin typeface="Arial"/>
              </a:rPr>
              <a:t>RAG answers from retrieved catalog text (temperature 0.2)</a:t>
            </a:r>
          </a:p>
          <a:p>
            <a:pPr algn="l">
              <a:spcAft>
                <a:spcPts val="300"/>
              </a:spcAft>
            </a:pPr>
            <a:r>
              <a:rPr sz="1150" b="1">
                <a:solidFill>
                  <a:srgbClr val="1263B4"/>
                </a:solidFill>
                <a:latin typeface="Arial"/>
              </a:rPr>
              <a:t>3  </a:t>
            </a:r>
            <a:r>
              <a:rPr sz="1150" b="0">
                <a:solidFill>
                  <a:srgbClr val="0C2340"/>
                </a:solidFill>
                <a:latin typeface="Arial"/>
              </a:rPr>
              <a:t>Explain Python advising results: eligibility, degree plans</a:t>
            </a:r>
          </a:p>
          <a:p>
            <a:pPr algn="l">
              <a:spcAft>
                <a:spcPts val="300"/>
              </a:spcAft>
            </a:pPr>
            <a:r>
              <a:rPr sz="1150" b="1">
                <a:solidFill>
                  <a:srgbClr val="1263B4"/>
                </a:solidFill>
                <a:latin typeface="Arial"/>
              </a:rPr>
              <a:t>4  </a:t>
            </a:r>
            <a:r>
              <a:rPr sz="1150" b="0">
                <a:solidFill>
                  <a:srgbClr val="0C2340"/>
                </a:solidFill>
                <a:latin typeface="Arial"/>
              </a:rPr>
              <a:t>Summarize older chat history (max 300 output tokens)</a:t>
            </a:r>
          </a:p>
        </p:txBody>
      </p:sp>
      <p:sp>
        <p:nvSpPr>
          <p:cNvPr id="1020" name="Titan card"/>
          <p:cNvSpPr/>
          <p:nvPr/>
        </p:nvSpPr>
        <p:spPr>
          <a:xfrm>
            <a:off x="6172200" y="1783080"/>
            <a:ext cx="5440680" cy="3611880"/>
          </a:xfrm>
          <a:prstGeom prst="roundRect">
            <a:avLst>
              <a:gd name="adj" fmla="val 5000"/>
            </a:avLst>
          </a:prstGeom>
          <a:solidFill>
            <a:srgbClr val="FFFFFF"/>
          </a:solidFill>
          <a:ln w="12700">
            <a:solidFill>
              <a:srgbClr val="DD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Titan kicker"/>
          <p:cNvSpPr txBox="1"/>
          <p:nvPr/>
        </p:nvSpPr>
        <p:spPr>
          <a:xfrm>
            <a:off x="6446520" y="1984248"/>
            <a:ext cx="4892040" cy="228600"/>
          </a:xfrm>
          <a:prstGeom prst="rect">
            <a:avLst/>
          </a:prstGeom>
          <a:noFill/>
        </p:spPr>
        <p:txBody>
          <a:bodyPr wrap="square" lIns="0" tIns="0" rIns="0" bIns="0" anchor="t">
            <a:spAutoFit/>
          </a:bodyPr>
          <a:lstStyle/>
          <a:p>
            <a:pPr algn="l"/>
            <a:r>
              <a:rPr sz="1050" b="1">
                <a:solidFill>
                  <a:srgbClr val="E07612"/>
                </a:solidFill>
                <a:latin typeface="Arial"/>
              </a:rPr>
              <a:t>EMBEDDINGS  •  amazon.titan-embed-text-v2:0</a:t>
            </a:r>
          </a:p>
        </p:txBody>
      </p:sp>
      <p:sp>
        <p:nvSpPr>
          <p:cNvPr id="1022" name="Titan name"/>
          <p:cNvSpPr txBox="1"/>
          <p:nvPr/>
        </p:nvSpPr>
        <p:spPr>
          <a:xfrm>
            <a:off x="6446520" y="2240280"/>
            <a:ext cx="4892040" cy="365760"/>
          </a:xfrm>
          <a:prstGeom prst="rect">
            <a:avLst/>
          </a:prstGeom>
          <a:noFill/>
        </p:spPr>
        <p:txBody>
          <a:bodyPr wrap="square" lIns="0" tIns="0" rIns="0" bIns="0" anchor="t">
            <a:spAutoFit/>
          </a:bodyPr>
          <a:lstStyle/>
          <a:p>
            <a:pPr algn="l"/>
            <a:r>
              <a:rPr sz="1800" b="1">
                <a:solidFill>
                  <a:srgbClr val="0C2340"/>
                </a:solidFill>
                <a:latin typeface="Arial"/>
              </a:rPr>
              <a:t>Amazon Titan Text Embeddings V2</a:t>
            </a:r>
          </a:p>
        </p:txBody>
      </p:sp>
      <p:sp>
        <p:nvSpPr>
          <p:cNvPr id="1023" name="Titan stat box"/>
          <p:cNvSpPr/>
          <p:nvPr/>
        </p:nvSpPr>
        <p:spPr>
          <a:xfrm>
            <a:off x="6446520" y="2715768"/>
            <a:ext cx="1783080" cy="960120"/>
          </a:xfrm>
          <a:prstGeom prst="roundRect">
            <a:avLst>
              <a:gd name="adj" fmla="val 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4" name="Titan stat"/>
          <p:cNvSpPr txBox="1"/>
          <p:nvPr/>
        </p:nvSpPr>
        <p:spPr>
          <a:xfrm>
            <a:off x="6446520" y="2770632"/>
            <a:ext cx="1783080" cy="502920"/>
          </a:xfrm>
          <a:prstGeom prst="rect">
            <a:avLst/>
          </a:prstGeom>
          <a:noFill/>
        </p:spPr>
        <p:txBody>
          <a:bodyPr wrap="square" lIns="0" tIns="0" rIns="0" bIns="0" anchor="ctr">
            <a:spAutoFit/>
          </a:bodyPr>
          <a:lstStyle/>
          <a:p>
            <a:pPr algn="ctr"/>
            <a:r>
              <a:rPr sz="3000" b="1">
                <a:solidFill>
                  <a:srgbClr val="E07612"/>
                </a:solidFill>
                <a:latin typeface="Arial"/>
              </a:rPr>
              <a:t>8,192</a:t>
            </a:r>
          </a:p>
        </p:txBody>
      </p:sp>
      <p:sp>
        <p:nvSpPr>
          <p:cNvPr id="1025" name="Titan stat label"/>
          <p:cNvSpPr txBox="1"/>
          <p:nvPr/>
        </p:nvSpPr>
        <p:spPr>
          <a:xfrm>
            <a:off x="6519672" y="3264408"/>
            <a:ext cx="1645920" cy="365760"/>
          </a:xfrm>
          <a:prstGeom prst="rect">
            <a:avLst/>
          </a:prstGeom>
          <a:noFill/>
        </p:spPr>
        <p:txBody>
          <a:bodyPr wrap="square" lIns="0" tIns="0" rIns="0" bIns="0" anchor="t">
            <a:spAutoFit/>
          </a:bodyPr>
          <a:lstStyle/>
          <a:p>
            <a:pPr algn="ctr"/>
            <a:r>
              <a:rPr sz="1000" b="0">
                <a:solidFill>
                  <a:srgbClr val="0C2340"/>
                </a:solidFill>
                <a:latin typeface="Arial"/>
              </a:rPr>
              <a:t>max input tokens (50,000 chars)</a:t>
            </a:r>
          </a:p>
        </p:txBody>
      </p:sp>
      <p:sp>
        <p:nvSpPr>
          <p:cNvPr id="1026" name="Titan facts"/>
          <p:cNvSpPr txBox="1"/>
          <p:nvPr/>
        </p:nvSpPr>
        <p:spPr>
          <a:xfrm>
            <a:off x="8458200" y="2743200"/>
            <a:ext cx="2880360" cy="960120"/>
          </a:xfrm>
          <a:prstGeom prst="rect">
            <a:avLst/>
          </a:prstGeom>
          <a:noFill/>
        </p:spPr>
        <p:txBody>
          <a:bodyPr wrap="square" lIns="0" tIns="0" rIns="0" bIns="0" anchor="ctr">
            <a:spAutoFit/>
          </a:bodyPr>
          <a:lstStyle/>
          <a:p>
            <a:pPr algn="l">
              <a:spcAft>
                <a:spcPts val="300"/>
              </a:spcAft>
            </a:pPr>
            <a:r>
              <a:rPr sz="1150" b="0">
                <a:solidFill>
                  <a:srgbClr val="64748B"/>
                </a:solidFill>
                <a:latin typeface="Arial"/>
              </a:rPr>
              <a:t>Output vector: 1,024 dimensions (512 / 256 also available)</a:t>
            </a:r>
          </a:p>
          <a:p>
            <a:pPr algn="l">
              <a:spcAft>
                <a:spcPts val="300"/>
              </a:spcAft>
            </a:pPr>
            <a:r>
              <a:rPr sz="1150" b="0">
                <a:solidFill>
                  <a:srgbClr val="64748B"/>
                </a:solidFill>
                <a:latin typeface="Arial"/>
              </a:rPr>
              <a:t>We request normalized vectors for similarity search</a:t>
            </a:r>
          </a:p>
          <a:p>
            <a:pPr algn="l">
              <a:spcAft>
                <a:spcPts val="300"/>
              </a:spcAft>
            </a:pPr>
            <a:r>
              <a:rPr sz="1150" b="0">
                <a:solidFill>
                  <a:srgbClr val="64748B"/>
                </a:solidFill>
                <a:latin typeface="Arial"/>
              </a:rPr>
              <a:t>Called through LangChain BedrockEmbeddings and boto3</a:t>
            </a:r>
          </a:p>
        </p:txBody>
      </p:sp>
      <p:sp>
        <p:nvSpPr>
          <p:cNvPr id="1027" name="Titan uses title"/>
          <p:cNvSpPr txBox="1"/>
          <p:nvPr/>
        </p:nvSpPr>
        <p:spPr>
          <a:xfrm>
            <a:off x="6446520" y="3867911"/>
            <a:ext cx="4892040" cy="228600"/>
          </a:xfrm>
          <a:prstGeom prst="rect">
            <a:avLst/>
          </a:prstGeom>
          <a:noFill/>
        </p:spPr>
        <p:txBody>
          <a:bodyPr wrap="square" lIns="0" tIns="0" rIns="0" bIns="0" anchor="t">
            <a:spAutoFit/>
          </a:bodyPr>
          <a:lstStyle/>
          <a:p>
            <a:pPr algn="l"/>
            <a:r>
              <a:rPr sz="1100" b="1">
                <a:solidFill>
                  <a:srgbClr val="0C2340"/>
                </a:solidFill>
                <a:latin typeface="Arial"/>
              </a:rPr>
              <a:t>WHAT WE USE IT FOR</a:t>
            </a:r>
          </a:p>
        </p:txBody>
      </p:sp>
      <p:sp>
        <p:nvSpPr>
          <p:cNvPr id="1028" name="Titan uses"/>
          <p:cNvSpPr txBox="1"/>
          <p:nvPr/>
        </p:nvSpPr>
        <p:spPr>
          <a:xfrm>
            <a:off x="6446520" y="4123944"/>
            <a:ext cx="4892040" cy="1188720"/>
          </a:xfrm>
          <a:prstGeom prst="rect">
            <a:avLst/>
          </a:prstGeom>
          <a:noFill/>
        </p:spPr>
        <p:txBody>
          <a:bodyPr wrap="square" lIns="0" tIns="0" rIns="0" bIns="0" anchor="t">
            <a:spAutoFit/>
          </a:bodyPr>
          <a:lstStyle/>
          <a:p>
            <a:pPr algn="l">
              <a:spcAft>
                <a:spcPts val="300"/>
              </a:spcAft>
            </a:pPr>
            <a:r>
              <a:rPr sz="1150" b="1">
                <a:solidFill>
                  <a:srgbClr val="E07612"/>
                </a:solidFill>
                <a:latin typeface="Arial"/>
              </a:rPr>
              <a:t>1  </a:t>
            </a:r>
            <a:r>
              <a:rPr sz="1150" b="0">
                <a:solidFill>
                  <a:srgbClr val="0C2340"/>
                </a:solidFill>
                <a:latin typeface="Arial"/>
              </a:rPr>
              <a:t>Ingestion: Lambda embeds each 1,000-character catalog chunk (≈ 210 tokens)</a:t>
            </a:r>
          </a:p>
          <a:p>
            <a:pPr algn="l">
              <a:spcAft>
                <a:spcPts val="300"/>
              </a:spcAft>
            </a:pPr>
            <a:r>
              <a:rPr sz="1150" b="1">
                <a:solidFill>
                  <a:srgbClr val="E07612"/>
                </a:solidFill>
                <a:latin typeface="Arial"/>
              </a:rPr>
              <a:t>2  </a:t>
            </a:r>
            <a:r>
              <a:rPr sz="1150" b="0">
                <a:solidFill>
                  <a:srgbClr val="0C2340"/>
                </a:solidFill>
                <a:latin typeface="Arial"/>
              </a:rPr>
              <a:t>Query: embeds the student’s course question to search ChromaDB</a:t>
            </a:r>
          </a:p>
          <a:p>
            <a:pPr algn="l">
              <a:spcAft>
                <a:spcPts val="300"/>
              </a:spcAft>
            </a:pPr>
            <a:r>
              <a:rPr sz="1150" b="1">
                <a:solidFill>
                  <a:srgbClr val="E07612"/>
                </a:solidFill>
                <a:latin typeface="Arial"/>
              </a:rPr>
              <a:t>3  </a:t>
            </a:r>
            <a:r>
              <a:rPr sz="1150" b="0">
                <a:solidFill>
                  <a:srgbClr val="0C2340"/>
                </a:solidFill>
                <a:latin typeface="Arial"/>
              </a:rPr>
              <a:t>Same model and dimensions on both sides, so vectors compare</a:t>
            </a:r>
          </a:p>
        </p:txBody>
      </p:sp>
      <p:sp>
        <p:nvSpPr>
          <p:cNvPr id="1029" name="IT explanation band"/>
          <p:cNvSpPr/>
          <p:nvPr/>
        </p:nvSpPr>
        <p:spPr>
          <a:xfrm>
            <a:off x="548640" y="5532120"/>
            <a:ext cx="11064240" cy="804672"/>
          </a:xfrm>
          <a:prstGeom prst="roundRect">
            <a:avLst>
              <a:gd name="adj" fmla="val 5000"/>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0" name="IT explanation"/>
          <p:cNvSpPr txBox="1"/>
          <p:nvPr/>
        </p:nvSpPr>
        <p:spPr>
          <a:xfrm>
            <a:off x="777240" y="5532120"/>
            <a:ext cx="10607040" cy="804672"/>
          </a:xfrm>
          <a:prstGeom prst="rect">
            <a:avLst/>
          </a:prstGeom>
          <a:noFill/>
        </p:spPr>
        <p:txBody>
          <a:bodyPr wrap="square" lIns="0" tIns="0" rIns="0" bIns="0" anchor="ctr">
            <a:spAutoFit/>
          </a:bodyPr>
          <a:lstStyle/>
          <a:p>
            <a:pPr algn="l"/>
            <a:r>
              <a:rPr sz="1200" b="1">
                <a:solidFill>
                  <a:srgbClr val="76D3E2"/>
                </a:solidFill>
                <a:latin typeface="Arial"/>
              </a:rPr>
              <a:t>What “-it” means:  </a:t>
            </a:r>
            <a:r>
              <a:rPr sz="1200" b="1">
                <a:solidFill>
                  <a:srgbClr val="FFFFFF"/>
                </a:solidFill>
                <a:latin typeface="Arial"/>
              </a:rPr>
              <a:t>Instruction-Tuned. </a:t>
            </a:r>
            <a:r>
              <a:rPr sz="1200" b="0">
                <a:solidFill>
                  <a:srgbClr val="FFFFFF"/>
                </a:solidFill>
                <a:latin typeface="Arial"/>
              </a:rPr>
              <a:t>Google releases Gemma as PT (pre-trained: only continues text) and IT (further trained on instruction and chat examples to follow directions). Our prompts are instructions (“Return ONLY one route”, “Use ONLY RESULT”), so we use the IT version.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6"/>
          <p:cNvSpPr/>
          <p:nvPr/>
        </p:nvSpPr>
        <p:spPr>
          <a:xfrm>
            <a:off x="0" y="0"/>
            <a:ext cx="12192000" cy="76200"/>
          </a:xfrm>
          <a:prstGeom prst="rect">
            <a:avLst/>
          </a:prstGeom>
          <a:solidFill>
            <a:srgbClr val="0D3463"/>
          </a:solidFill>
          <a:ln w="9525" cap="flat" cmpd="sng">
            <a:solidFill>
              <a:srgbClr val="0D3463"/>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Calibri"/>
              <a:ea typeface="Calibri"/>
              <a:cs typeface="Calibri"/>
              <a:sym typeface="Calibri"/>
            </a:endParaRPr>
          </a:p>
        </p:txBody>
      </p:sp>
      <p:sp>
        <p:nvSpPr>
          <p:cNvPr id="300" name="Google Shape;300;p6"/>
          <p:cNvSpPr txBox="1"/>
          <p:nvPr/>
        </p:nvSpPr>
        <p:spPr>
          <a:xfrm>
            <a:off x="533400" y="251460"/>
            <a:ext cx="7620000" cy="258982"/>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1333" b="1" i="0" u="none" strike="noStrike" cap="none">
                <a:solidFill>
                  <a:srgbClr val="135AA4"/>
                </a:solidFill>
                <a:latin typeface="Arial"/>
                <a:ea typeface="Arial"/>
                <a:cs typeface="Arial"/>
                <a:sym typeface="Arial"/>
              </a:rPr>
              <a:t>UTA • TEAM 2 AI ADVISOR</a:t>
            </a:r>
            <a:endParaRPr/>
          </a:p>
        </p:txBody>
      </p:sp>
      <p:sp>
        <p:nvSpPr>
          <p:cNvPr id="301" name="Google Shape;301;p6"/>
          <p:cNvSpPr txBox="1"/>
          <p:nvPr/>
        </p:nvSpPr>
        <p:spPr>
          <a:xfrm>
            <a:off x="533400" y="632461"/>
            <a:ext cx="11430000" cy="464294"/>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2667" b="1" i="0" u="none" strike="noStrike" cap="none">
                <a:solidFill>
                  <a:srgbClr val="0D3463"/>
                </a:solidFill>
                <a:latin typeface="Arial"/>
                <a:ea typeface="Arial"/>
                <a:cs typeface="Arial"/>
                <a:sym typeface="Arial"/>
              </a:rPr>
              <a:t>RAG Pipeline: Document Ingestion &amp; Indexing</a:t>
            </a:r>
            <a:endParaRPr/>
          </a:p>
        </p:txBody>
      </p:sp>
      <p:sp>
        <p:nvSpPr>
          <p:cNvPr id="302" name="Google Shape;302;p6"/>
          <p:cNvSpPr/>
          <p:nvPr/>
        </p:nvSpPr>
        <p:spPr>
          <a:xfrm>
            <a:off x="533400" y="1257300"/>
            <a:ext cx="11125200" cy="26670"/>
          </a:xfrm>
          <a:prstGeom prst="rect">
            <a:avLst/>
          </a:prstGeom>
          <a:solidFill>
            <a:srgbClr val="CEDAE6"/>
          </a:solidFill>
          <a:ln w="9525" cap="flat" cmpd="sng">
            <a:solidFill>
              <a:srgbClr val="CEDAE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Calibri"/>
              <a:ea typeface="Calibri"/>
              <a:cs typeface="Calibri"/>
              <a:sym typeface="Calibri"/>
            </a:endParaRPr>
          </a:p>
        </p:txBody>
      </p:sp>
      <p:sp>
        <p:nvSpPr>
          <p:cNvPr id="303" name="Google Shape;303;p6"/>
          <p:cNvSpPr txBox="1"/>
          <p:nvPr/>
        </p:nvSpPr>
        <p:spPr>
          <a:xfrm>
            <a:off x="685800" y="1402080"/>
            <a:ext cx="10972800" cy="284693"/>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1500" b="0" i="0" u="none" strike="noStrike" cap="none">
                <a:solidFill>
                  <a:srgbClr val="546B86"/>
                </a:solidFill>
                <a:latin typeface="Arial"/>
                <a:ea typeface="Arial"/>
                <a:cs typeface="Arial"/>
                <a:sym typeface="Arial"/>
              </a:rPr>
              <a:t>Offline / update-time pipeline — prepares searchable knowledge before students ask questions</a:t>
            </a:r>
            <a:endParaRPr/>
          </a:p>
        </p:txBody>
      </p:sp>
      <p:sp>
        <p:nvSpPr>
          <p:cNvPr id="304" name="Google Shape;304;p6"/>
          <p:cNvSpPr/>
          <p:nvPr/>
        </p:nvSpPr>
        <p:spPr>
          <a:xfrm>
            <a:off x="571500" y="1927860"/>
            <a:ext cx="2301240" cy="1478280"/>
          </a:xfrm>
          <a:prstGeom prst="roundRect">
            <a:avLst>
              <a:gd name="adj" fmla="val 16667"/>
            </a:avLst>
          </a:prstGeom>
          <a:solidFill>
            <a:srgbClr val="FFFFFF"/>
          </a:solidFill>
          <a:ln w="9525" cap="flat" cmpd="sng">
            <a:solidFill>
              <a:srgbClr val="D2E1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Calibri"/>
              <a:ea typeface="Calibri"/>
              <a:cs typeface="Calibri"/>
              <a:sym typeface="Calibri"/>
            </a:endParaRPr>
          </a:p>
        </p:txBody>
      </p:sp>
      <p:sp>
        <p:nvSpPr>
          <p:cNvPr id="305" name="Google Shape;305;p6"/>
          <p:cNvSpPr/>
          <p:nvPr/>
        </p:nvSpPr>
        <p:spPr>
          <a:xfrm>
            <a:off x="678180" y="2034540"/>
            <a:ext cx="388620" cy="365760"/>
          </a:xfrm>
          <a:prstGeom prst="roundRect">
            <a:avLst>
              <a:gd name="adj" fmla="val 16667"/>
            </a:avLst>
          </a:prstGeom>
          <a:solidFill>
            <a:srgbClr val="135AA4"/>
          </a:solidFill>
          <a:ln w="9525" cap="flat" cmpd="sng">
            <a:solidFill>
              <a:srgbClr val="135AA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Calibri"/>
              <a:ea typeface="Calibri"/>
              <a:cs typeface="Calibri"/>
              <a:sym typeface="Calibri"/>
            </a:endParaRPr>
          </a:p>
        </p:txBody>
      </p:sp>
      <p:sp>
        <p:nvSpPr>
          <p:cNvPr id="306" name="Google Shape;306;p6"/>
          <p:cNvSpPr txBox="1"/>
          <p:nvPr/>
        </p:nvSpPr>
        <p:spPr>
          <a:xfrm>
            <a:off x="708660" y="2099311"/>
            <a:ext cx="327660" cy="194990"/>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917" b="1" i="0" u="none" strike="noStrike" cap="none">
                <a:solidFill>
                  <a:srgbClr val="FFFFFF"/>
                </a:solidFill>
                <a:latin typeface="Arial"/>
                <a:ea typeface="Arial"/>
                <a:cs typeface="Arial"/>
                <a:sym typeface="Arial"/>
              </a:rPr>
              <a:t>01</a:t>
            </a:r>
            <a:endParaRPr/>
          </a:p>
        </p:txBody>
      </p:sp>
      <p:sp>
        <p:nvSpPr>
          <p:cNvPr id="307" name="Google Shape;307;p6"/>
          <p:cNvSpPr txBox="1"/>
          <p:nvPr/>
        </p:nvSpPr>
        <p:spPr>
          <a:xfrm>
            <a:off x="693420" y="2522220"/>
            <a:ext cx="2095500" cy="271934"/>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1417" b="1" i="0" u="none" strike="noStrike" cap="none">
                <a:solidFill>
                  <a:srgbClr val="0D3463"/>
                </a:solidFill>
                <a:latin typeface="Arial"/>
                <a:ea typeface="Arial"/>
                <a:cs typeface="Arial"/>
                <a:sym typeface="Arial"/>
              </a:rPr>
              <a:t>GitHub Repository</a:t>
            </a:r>
            <a:endParaRPr/>
          </a:p>
        </p:txBody>
      </p:sp>
      <p:sp>
        <p:nvSpPr>
          <p:cNvPr id="308" name="Google Shape;308;p6"/>
          <p:cNvSpPr txBox="1"/>
          <p:nvPr/>
        </p:nvSpPr>
        <p:spPr>
          <a:xfrm>
            <a:off x="701040" y="2745394"/>
            <a:ext cx="2087880" cy="553806"/>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1083" b="0" i="0" u="none" strike="noStrike" cap="none">
                <a:solidFill>
                  <a:srgbClr val="546B86"/>
                </a:solidFill>
                <a:latin typeface="Arial"/>
                <a:ea typeface="Arial"/>
                <a:cs typeface="Arial"/>
                <a:sym typeface="Arial"/>
              </a:rPr>
              <a:t>Team pushes documents to GitHub (PDF, Word, .txt, md, csv, json)</a:t>
            </a:r>
            <a:endParaRPr sz="1083" b="0" i="0" u="none" strike="noStrike" cap="none">
              <a:solidFill>
                <a:schemeClr val="dk1"/>
              </a:solidFill>
              <a:latin typeface="Calibri"/>
              <a:ea typeface="Calibri"/>
              <a:cs typeface="Calibri"/>
              <a:sym typeface="Calibri"/>
            </a:endParaRPr>
          </a:p>
        </p:txBody>
      </p:sp>
      <p:sp>
        <p:nvSpPr>
          <p:cNvPr id="309" name="Google Shape;309;p6"/>
          <p:cNvSpPr/>
          <p:nvPr/>
        </p:nvSpPr>
        <p:spPr>
          <a:xfrm>
            <a:off x="3489960" y="1927860"/>
            <a:ext cx="2301240" cy="1478280"/>
          </a:xfrm>
          <a:prstGeom prst="roundRect">
            <a:avLst>
              <a:gd name="adj" fmla="val 16667"/>
            </a:avLst>
          </a:prstGeom>
          <a:solidFill>
            <a:srgbClr val="FFFFFF"/>
          </a:solidFill>
          <a:ln w="9525" cap="flat" cmpd="sng">
            <a:solidFill>
              <a:srgbClr val="D2E1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Calibri"/>
              <a:ea typeface="Calibri"/>
              <a:cs typeface="Calibri"/>
              <a:sym typeface="Calibri"/>
            </a:endParaRPr>
          </a:p>
        </p:txBody>
      </p:sp>
      <p:sp>
        <p:nvSpPr>
          <p:cNvPr id="310" name="Google Shape;310;p6"/>
          <p:cNvSpPr/>
          <p:nvPr/>
        </p:nvSpPr>
        <p:spPr>
          <a:xfrm>
            <a:off x="3596640" y="2034540"/>
            <a:ext cx="388620" cy="365760"/>
          </a:xfrm>
          <a:prstGeom prst="roundRect">
            <a:avLst>
              <a:gd name="adj" fmla="val 16667"/>
            </a:avLst>
          </a:prstGeom>
          <a:solidFill>
            <a:srgbClr val="135AA4"/>
          </a:solidFill>
          <a:ln w="9525" cap="flat" cmpd="sng">
            <a:solidFill>
              <a:srgbClr val="135AA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Calibri"/>
              <a:ea typeface="Calibri"/>
              <a:cs typeface="Calibri"/>
              <a:sym typeface="Calibri"/>
            </a:endParaRPr>
          </a:p>
        </p:txBody>
      </p:sp>
      <p:sp>
        <p:nvSpPr>
          <p:cNvPr id="311" name="Google Shape;311;p6"/>
          <p:cNvSpPr txBox="1"/>
          <p:nvPr/>
        </p:nvSpPr>
        <p:spPr>
          <a:xfrm>
            <a:off x="3627120" y="2099311"/>
            <a:ext cx="327660" cy="194990"/>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917" b="1" i="0" u="none" strike="noStrike" cap="none">
                <a:solidFill>
                  <a:srgbClr val="FFFFFF"/>
                </a:solidFill>
                <a:latin typeface="Arial"/>
                <a:ea typeface="Arial"/>
                <a:cs typeface="Arial"/>
                <a:sym typeface="Arial"/>
              </a:rPr>
              <a:t>02</a:t>
            </a:r>
            <a:endParaRPr/>
          </a:p>
        </p:txBody>
      </p:sp>
      <p:sp>
        <p:nvSpPr>
          <p:cNvPr id="312" name="Google Shape;312;p6"/>
          <p:cNvSpPr txBox="1"/>
          <p:nvPr/>
        </p:nvSpPr>
        <p:spPr>
          <a:xfrm>
            <a:off x="3611880" y="2522220"/>
            <a:ext cx="2095500" cy="271934"/>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1417" b="1" i="0" u="none" strike="noStrike" cap="none">
                <a:solidFill>
                  <a:srgbClr val="0D3463"/>
                </a:solidFill>
                <a:latin typeface="Arial"/>
                <a:ea typeface="Arial"/>
                <a:cs typeface="Arial"/>
                <a:sym typeface="Arial"/>
              </a:rPr>
              <a:t>GitHub Actions</a:t>
            </a:r>
            <a:endParaRPr/>
          </a:p>
        </p:txBody>
      </p:sp>
      <p:sp>
        <p:nvSpPr>
          <p:cNvPr id="313" name="Google Shape;313;p6"/>
          <p:cNvSpPr txBox="1"/>
          <p:nvPr/>
        </p:nvSpPr>
        <p:spPr>
          <a:xfrm>
            <a:off x="3611880" y="2834640"/>
            <a:ext cx="2087880" cy="387157"/>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1083" b="0" i="0" u="none" strike="noStrike" cap="none">
                <a:solidFill>
                  <a:srgbClr val="546B86"/>
                </a:solidFill>
                <a:latin typeface="Arial"/>
                <a:ea typeface="Arial"/>
                <a:cs typeface="Arial"/>
                <a:sym typeface="Arial"/>
              </a:rPr>
              <a:t>Push triggers workflow to upload academic documents</a:t>
            </a:r>
            <a:endParaRPr/>
          </a:p>
        </p:txBody>
      </p:sp>
      <p:sp>
        <p:nvSpPr>
          <p:cNvPr id="314" name="Google Shape;314;p6"/>
          <p:cNvSpPr/>
          <p:nvPr/>
        </p:nvSpPr>
        <p:spPr>
          <a:xfrm>
            <a:off x="6408420" y="1927860"/>
            <a:ext cx="2301240" cy="1478280"/>
          </a:xfrm>
          <a:prstGeom prst="roundRect">
            <a:avLst>
              <a:gd name="adj" fmla="val 16667"/>
            </a:avLst>
          </a:prstGeom>
          <a:solidFill>
            <a:srgbClr val="FFFFFF"/>
          </a:solidFill>
          <a:ln w="9525" cap="flat" cmpd="sng">
            <a:solidFill>
              <a:srgbClr val="D2E1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Calibri"/>
              <a:ea typeface="Calibri"/>
              <a:cs typeface="Calibri"/>
              <a:sym typeface="Calibri"/>
            </a:endParaRPr>
          </a:p>
        </p:txBody>
      </p:sp>
      <p:sp>
        <p:nvSpPr>
          <p:cNvPr id="315" name="Google Shape;315;p6"/>
          <p:cNvSpPr/>
          <p:nvPr/>
        </p:nvSpPr>
        <p:spPr>
          <a:xfrm>
            <a:off x="6515100" y="2034540"/>
            <a:ext cx="388620" cy="365760"/>
          </a:xfrm>
          <a:prstGeom prst="roundRect">
            <a:avLst>
              <a:gd name="adj" fmla="val 16667"/>
            </a:avLst>
          </a:prstGeom>
          <a:solidFill>
            <a:srgbClr val="135AA4"/>
          </a:solidFill>
          <a:ln w="9525" cap="flat" cmpd="sng">
            <a:solidFill>
              <a:srgbClr val="135AA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Calibri"/>
              <a:ea typeface="Calibri"/>
              <a:cs typeface="Calibri"/>
              <a:sym typeface="Calibri"/>
            </a:endParaRPr>
          </a:p>
        </p:txBody>
      </p:sp>
      <p:sp>
        <p:nvSpPr>
          <p:cNvPr id="316" name="Google Shape;316;p6"/>
          <p:cNvSpPr txBox="1"/>
          <p:nvPr/>
        </p:nvSpPr>
        <p:spPr>
          <a:xfrm>
            <a:off x="6545580" y="2099311"/>
            <a:ext cx="327660" cy="194990"/>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917" b="1" i="0" u="none" strike="noStrike" cap="none">
                <a:solidFill>
                  <a:srgbClr val="FFFFFF"/>
                </a:solidFill>
                <a:latin typeface="Arial"/>
                <a:ea typeface="Arial"/>
                <a:cs typeface="Arial"/>
                <a:sym typeface="Arial"/>
              </a:rPr>
              <a:t>03</a:t>
            </a:r>
            <a:endParaRPr/>
          </a:p>
        </p:txBody>
      </p:sp>
      <p:sp>
        <p:nvSpPr>
          <p:cNvPr id="317" name="Google Shape;317;p6"/>
          <p:cNvSpPr txBox="1"/>
          <p:nvPr/>
        </p:nvSpPr>
        <p:spPr>
          <a:xfrm>
            <a:off x="6530340" y="2522220"/>
            <a:ext cx="2095500" cy="271934"/>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1417" b="1" i="0" u="none" strike="noStrike" cap="none">
                <a:solidFill>
                  <a:srgbClr val="0D3463"/>
                </a:solidFill>
                <a:latin typeface="Arial"/>
                <a:ea typeface="Arial"/>
                <a:cs typeface="Arial"/>
                <a:sym typeface="Arial"/>
              </a:rPr>
              <a:t>Amazon S3</a:t>
            </a:r>
            <a:endParaRPr/>
          </a:p>
        </p:txBody>
      </p:sp>
      <p:sp>
        <p:nvSpPr>
          <p:cNvPr id="318" name="Google Shape;318;p6"/>
          <p:cNvSpPr txBox="1"/>
          <p:nvPr/>
        </p:nvSpPr>
        <p:spPr>
          <a:xfrm>
            <a:off x="6530340" y="2834640"/>
            <a:ext cx="2087880" cy="220510"/>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1083" b="0" i="0" u="none" strike="noStrike" cap="none">
                <a:solidFill>
                  <a:srgbClr val="546B86"/>
                </a:solidFill>
                <a:latin typeface="Arial"/>
                <a:ea typeface="Arial"/>
                <a:cs typeface="Arial"/>
                <a:sym typeface="Arial"/>
              </a:rPr>
              <a:t>Stores uploaded source files</a:t>
            </a:r>
            <a:endParaRPr/>
          </a:p>
        </p:txBody>
      </p:sp>
      <p:sp>
        <p:nvSpPr>
          <p:cNvPr id="319" name="Google Shape;319;p6"/>
          <p:cNvSpPr/>
          <p:nvPr/>
        </p:nvSpPr>
        <p:spPr>
          <a:xfrm>
            <a:off x="9326880" y="1927860"/>
            <a:ext cx="2301240" cy="1478280"/>
          </a:xfrm>
          <a:prstGeom prst="roundRect">
            <a:avLst>
              <a:gd name="adj" fmla="val 16667"/>
            </a:avLst>
          </a:prstGeom>
          <a:solidFill>
            <a:srgbClr val="FFFFFF"/>
          </a:solidFill>
          <a:ln w="9525" cap="flat" cmpd="sng">
            <a:solidFill>
              <a:srgbClr val="D2E1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Calibri"/>
              <a:ea typeface="Calibri"/>
              <a:cs typeface="Calibri"/>
              <a:sym typeface="Calibri"/>
            </a:endParaRPr>
          </a:p>
        </p:txBody>
      </p:sp>
      <p:sp>
        <p:nvSpPr>
          <p:cNvPr id="320" name="Google Shape;320;p6"/>
          <p:cNvSpPr/>
          <p:nvPr/>
        </p:nvSpPr>
        <p:spPr>
          <a:xfrm>
            <a:off x="9433560" y="2034540"/>
            <a:ext cx="388620" cy="365760"/>
          </a:xfrm>
          <a:prstGeom prst="roundRect">
            <a:avLst>
              <a:gd name="adj" fmla="val 16667"/>
            </a:avLst>
          </a:prstGeom>
          <a:solidFill>
            <a:srgbClr val="135AA4"/>
          </a:solidFill>
          <a:ln w="9525" cap="flat" cmpd="sng">
            <a:solidFill>
              <a:srgbClr val="135AA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Calibri"/>
              <a:ea typeface="Calibri"/>
              <a:cs typeface="Calibri"/>
              <a:sym typeface="Calibri"/>
            </a:endParaRPr>
          </a:p>
        </p:txBody>
      </p:sp>
      <p:sp>
        <p:nvSpPr>
          <p:cNvPr id="321" name="Google Shape;321;p6"/>
          <p:cNvSpPr txBox="1"/>
          <p:nvPr/>
        </p:nvSpPr>
        <p:spPr>
          <a:xfrm>
            <a:off x="9464040" y="2099311"/>
            <a:ext cx="327660" cy="194990"/>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917" b="1" i="0" u="none" strike="noStrike" cap="none">
                <a:solidFill>
                  <a:srgbClr val="FFFFFF"/>
                </a:solidFill>
                <a:latin typeface="Arial"/>
                <a:ea typeface="Arial"/>
                <a:cs typeface="Arial"/>
                <a:sym typeface="Arial"/>
              </a:rPr>
              <a:t>04</a:t>
            </a:r>
            <a:endParaRPr/>
          </a:p>
        </p:txBody>
      </p:sp>
      <p:sp>
        <p:nvSpPr>
          <p:cNvPr id="322" name="Google Shape;322;p6"/>
          <p:cNvSpPr txBox="1"/>
          <p:nvPr/>
        </p:nvSpPr>
        <p:spPr>
          <a:xfrm>
            <a:off x="9448800" y="2522220"/>
            <a:ext cx="2095500" cy="271934"/>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1417" b="1" i="0" u="none" strike="noStrike" cap="none">
                <a:solidFill>
                  <a:srgbClr val="0D3463"/>
                </a:solidFill>
                <a:latin typeface="Arial"/>
                <a:ea typeface="Arial"/>
                <a:cs typeface="Arial"/>
                <a:sym typeface="Arial"/>
              </a:rPr>
              <a:t>AWS Lambda</a:t>
            </a:r>
            <a:endParaRPr/>
          </a:p>
        </p:txBody>
      </p:sp>
      <p:sp>
        <p:nvSpPr>
          <p:cNvPr id="323" name="Google Shape;323;p6"/>
          <p:cNvSpPr txBox="1"/>
          <p:nvPr/>
        </p:nvSpPr>
        <p:spPr>
          <a:xfrm>
            <a:off x="9448800" y="2834640"/>
            <a:ext cx="2087880" cy="387157"/>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1083" b="0" i="0" u="none" strike="noStrike" cap="none">
                <a:solidFill>
                  <a:srgbClr val="546B86"/>
                </a:solidFill>
                <a:latin typeface="Arial"/>
                <a:ea typeface="Arial"/>
                <a:cs typeface="Arial"/>
                <a:sym typeface="Arial"/>
              </a:rPr>
              <a:t>S3 event triggers processing and text chunking</a:t>
            </a:r>
            <a:endParaRPr/>
          </a:p>
        </p:txBody>
      </p:sp>
      <p:sp>
        <p:nvSpPr>
          <p:cNvPr id="324" name="Google Shape;324;p6"/>
          <p:cNvSpPr/>
          <p:nvPr/>
        </p:nvSpPr>
        <p:spPr>
          <a:xfrm>
            <a:off x="2034540" y="3909060"/>
            <a:ext cx="2301240" cy="1478280"/>
          </a:xfrm>
          <a:prstGeom prst="roundRect">
            <a:avLst>
              <a:gd name="adj" fmla="val 16667"/>
            </a:avLst>
          </a:prstGeom>
          <a:solidFill>
            <a:srgbClr val="FFFFFF"/>
          </a:solidFill>
          <a:ln w="9525" cap="flat" cmpd="sng">
            <a:solidFill>
              <a:srgbClr val="D2E1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Calibri"/>
              <a:ea typeface="Calibri"/>
              <a:cs typeface="Calibri"/>
              <a:sym typeface="Calibri"/>
            </a:endParaRPr>
          </a:p>
        </p:txBody>
      </p:sp>
      <p:sp>
        <p:nvSpPr>
          <p:cNvPr id="325" name="Google Shape;325;p6"/>
          <p:cNvSpPr/>
          <p:nvPr/>
        </p:nvSpPr>
        <p:spPr>
          <a:xfrm>
            <a:off x="2141220" y="4015740"/>
            <a:ext cx="388620" cy="365760"/>
          </a:xfrm>
          <a:prstGeom prst="roundRect">
            <a:avLst>
              <a:gd name="adj" fmla="val 16667"/>
            </a:avLst>
          </a:prstGeom>
          <a:solidFill>
            <a:srgbClr val="135AA4"/>
          </a:solidFill>
          <a:ln w="9525" cap="flat" cmpd="sng">
            <a:solidFill>
              <a:srgbClr val="135AA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Calibri"/>
              <a:ea typeface="Calibri"/>
              <a:cs typeface="Calibri"/>
              <a:sym typeface="Calibri"/>
            </a:endParaRPr>
          </a:p>
        </p:txBody>
      </p:sp>
      <p:sp>
        <p:nvSpPr>
          <p:cNvPr id="326" name="Google Shape;326;p6"/>
          <p:cNvSpPr txBox="1"/>
          <p:nvPr/>
        </p:nvSpPr>
        <p:spPr>
          <a:xfrm>
            <a:off x="2171700" y="4080511"/>
            <a:ext cx="327660" cy="194990"/>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917" b="1" i="0" u="none" strike="noStrike" cap="none">
                <a:solidFill>
                  <a:srgbClr val="FFFFFF"/>
                </a:solidFill>
                <a:latin typeface="Arial"/>
                <a:ea typeface="Arial"/>
                <a:cs typeface="Arial"/>
                <a:sym typeface="Arial"/>
              </a:rPr>
              <a:t>05</a:t>
            </a:r>
            <a:endParaRPr/>
          </a:p>
        </p:txBody>
      </p:sp>
      <p:sp>
        <p:nvSpPr>
          <p:cNvPr id="327" name="Google Shape;327;p6"/>
          <p:cNvSpPr txBox="1"/>
          <p:nvPr/>
        </p:nvSpPr>
        <p:spPr>
          <a:xfrm>
            <a:off x="2118499" y="4466450"/>
            <a:ext cx="2217300" cy="271800"/>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1417" b="1">
                <a:solidFill>
                  <a:srgbClr val="0D3463"/>
                </a:solidFill>
              </a:rPr>
              <a:t>AWS </a:t>
            </a:r>
            <a:r>
              <a:rPr lang="en-US" sz="1417" b="1" i="0" u="none" strike="noStrike" cap="none">
                <a:solidFill>
                  <a:srgbClr val="0D3463"/>
                </a:solidFill>
                <a:latin typeface="Arial"/>
                <a:ea typeface="Arial"/>
                <a:cs typeface="Arial"/>
                <a:sym typeface="Arial"/>
              </a:rPr>
              <a:t>Titan Embed v2 (8K)</a:t>
            </a:r>
            <a:endParaRPr/>
          </a:p>
        </p:txBody>
      </p:sp>
      <p:sp>
        <p:nvSpPr>
          <p:cNvPr id="328" name="Google Shape;328;p6"/>
          <p:cNvSpPr txBox="1"/>
          <p:nvPr/>
        </p:nvSpPr>
        <p:spPr>
          <a:xfrm>
            <a:off x="2156460" y="4815840"/>
            <a:ext cx="2087880" cy="387157"/>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1083" b="0" i="0" u="none" strike="noStrike" cap="none">
                <a:solidFill>
                  <a:srgbClr val="546B86"/>
                </a:solidFill>
                <a:latin typeface="Arial"/>
                <a:ea typeface="Arial"/>
                <a:cs typeface="Arial"/>
                <a:sym typeface="Arial"/>
              </a:rPr>
              <a:t>Creates vector embeddings from text chunks</a:t>
            </a:r>
            <a:endParaRPr/>
          </a:p>
        </p:txBody>
      </p:sp>
      <p:sp>
        <p:nvSpPr>
          <p:cNvPr id="329" name="Google Shape;329;p6"/>
          <p:cNvSpPr/>
          <p:nvPr/>
        </p:nvSpPr>
        <p:spPr>
          <a:xfrm>
            <a:off x="4953000" y="3909060"/>
            <a:ext cx="2301240" cy="1478280"/>
          </a:xfrm>
          <a:prstGeom prst="roundRect">
            <a:avLst>
              <a:gd name="adj" fmla="val 16667"/>
            </a:avLst>
          </a:prstGeom>
          <a:solidFill>
            <a:srgbClr val="FFFFFF"/>
          </a:solidFill>
          <a:ln w="9525" cap="flat" cmpd="sng">
            <a:solidFill>
              <a:srgbClr val="D2E1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Calibri"/>
              <a:ea typeface="Calibri"/>
              <a:cs typeface="Calibri"/>
              <a:sym typeface="Calibri"/>
            </a:endParaRPr>
          </a:p>
        </p:txBody>
      </p:sp>
      <p:sp>
        <p:nvSpPr>
          <p:cNvPr id="330" name="Google Shape;330;p6"/>
          <p:cNvSpPr/>
          <p:nvPr/>
        </p:nvSpPr>
        <p:spPr>
          <a:xfrm>
            <a:off x="5059680" y="4015740"/>
            <a:ext cx="388620" cy="365760"/>
          </a:xfrm>
          <a:prstGeom prst="roundRect">
            <a:avLst>
              <a:gd name="adj" fmla="val 16667"/>
            </a:avLst>
          </a:prstGeom>
          <a:solidFill>
            <a:srgbClr val="135AA4"/>
          </a:solidFill>
          <a:ln w="9525" cap="flat" cmpd="sng">
            <a:solidFill>
              <a:srgbClr val="135AA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Calibri"/>
              <a:ea typeface="Calibri"/>
              <a:cs typeface="Calibri"/>
              <a:sym typeface="Calibri"/>
            </a:endParaRPr>
          </a:p>
        </p:txBody>
      </p:sp>
      <p:sp>
        <p:nvSpPr>
          <p:cNvPr id="331" name="Google Shape;331;p6"/>
          <p:cNvSpPr txBox="1"/>
          <p:nvPr/>
        </p:nvSpPr>
        <p:spPr>
          <a:xfrm>
            <a:off x="5090160" y="4080511"/>
            <a:ext cx="327660" cy="194990"/>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917" b="1" i="0" u="none" strike="noStrike" cap="none">
                <a:solidFill>
                  <a:srgbClr val="FFFFFF"/>
                </a:solidFill>
                <a:latin typeface="Arial"/>
                <a:ea typeface="Arial"/>
                <a:cs typeface="Arial"/>
                <a:sym typeface="Arial"/>
              </a:rPr>
              <a:t>06</a:t>
            </a:r>
            <a:endParaRPr/>
          </a:p>
        </p:txBody>
      </p:sp>
      <p:sp>
        <p:nvSpPr>
          <p:cNvPr id="332" name="Google Shape;332;p6"/>
          <p:cNvSpPr txBox="1"/>
          <p:nvPr/>
        </p:nvSpPr>
        <p:spPr>
          <a:xfrm>
            <a:off x="5074920" y="4503421"/>
            <a:ext cx="2095500" cy="271934"/>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1417" b="1" i="0" u="none" strike="noStrike" cap="none">
                <a:solidFill>
                  <a:srgbClr val="0D3463"/>
                </a:solidFill>
                <a:latin typeface="Arial"/>
                <a:ea typeface="Arial"/>
                <a:cs typeface="Arial"/>
                <a:sym typeface="Arial"/>
              </a:rPr>
              <a:t>ChromaDB</a:t>
            </a:r>
            <a:endParaRPr/>
          </a:p>
        </p:txBody>
      </p:sp>
      <p:sp>
        <p:nvSpPr>
          <p:cNvPr id="333" name="Google Shape;333;p6"/>
          <p:cNvSpPr txBox="1"/>
          <p:nvPr/>
        </p:nvSpPr>
        <p:spPr>
          <a:xfrm>
            <a:off x="5074920" y="4815840"/>
            <a:ext cx="2087880" cy="387157"/>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1083" b="0" i="0" u="none" strike="noStrike" cap="none">
                <a:solidFill>
                  <a:srgbClr val="546B86"/>
                </a:solidFill>
                <a:latin typeface="Arial"/>
                <a:ea typeface="Arial"/>
                <a:cs typeface="Arial"/>
                <a:sym typeface="Arial"/>
              </a:rPr>
              <a:t>Stores vectors, source text, and metadata</a:t>
            </a:r>
            <a:endParaRPr/>
          </a:p>
        </p:txBody>
      </p:sp>
      <p:sp>
        <p:nvSpPr>
          <p:cNvPr id="334" name="Google Shape;334;p6"/>
          <p:cNvSpPr/>
          <p:nvPr/>
        </p:nvSpPr>
        <p:spPr>
          <a:xfrm>
            <a:off x="7871460" y="3909060"/>
            <a:ext cx="2301240" cy="1478280"/>
          </a:xfrm>
          <a:prstGeom prst="roundRect">
            <a:avLst>
              <a:gd name="adj" fmla="val 16667"/>
            </a:avLst>
          </a:prstGeom>
          <a:solidFill>
            <a:srgbClr val="FFFFFF"/>
          </a:solidFill>
          <a:ln w="9525" cap="flat" cmpd="sng">
            <a:solidFill>
              <a:srgbClr val="D2E1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Calibri"/>
              <a:ea typeface="Calibri"/>
              <a:cs typeface="Calibri"/>
              <a:sym typeface="Calibri"/>
            </a:endParaRPr>
          </a:p>
        </p:txBody>
      </p:sp>
      <p:sp>
        <p:nvSpPr>
          <p:cNvPr id="335" name="Google Shape;335;p6"/>
          <p:cNvSpPr/>
          <p:nvPr/>
        </p:nvSpPr>
        <p:spPr>
          <a:xfrm>
            <a:off x="7978140" y="4015740"/>
            <a:ext cx="388620" cy="365760"/>
          </a:xfrm>
          <a:prstGeom prst="roundRect">
            <a:avLst>
              <a:gd name="adj" fmla="val 16667"/>
            </a:avLst>
          </a:prstGeom>
          <a:solidFill>
            <a:srgbClr val="135AA4"/>
          </a:solidFill>
          <a:ln w="9525" cap="flat" cmpd="sng">
            <a:solidFill>
              <a:srgbClr val="135AA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Calibri"/>
              <a:ea typeface="Calibri"/>
              <a:cs typeface="Calibri"/>
              <a:sym typeface="Calibri"/>
            </a:endParaRPr>
          </a:p>
        </p:txBody>
      </p:sp>
      <p:sp>
        <p:nvSpPr>
          <p:cNvPr id="336" name="Google Shape;336;p6"/>
          <p:cNvSpPr txBox="1"/>
          <p:nvPr/>
        </p:nvSpPr>
        <p:spPr>
          <a:xfrm>
            <a:off x="8008620" y="4080511"/>
            <a:ext cx="327660" cy="194990"/>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917" b="1" i="0" u="none" strike="noStrike" cap="none">
                <a:solidFill>
                  <a:srgbClr val="FFFFFF"/>
                </a:solidFill>
                <a:latin typeface="Arial"/>
                <a:ea typeface="Arial"/>
                <a:cs typeface="Arial"/>
                <a:sym typeface="Arial"/>
              </a:rPr>
              <a:t>07</a:t>
            </a:r>
            <a:endParaRPr/>
          </a:p>
        </p:txBody>
      </p:sp>
      <p:sp>
        <p:nvSpPr>
          <p:cNvPr id="337" name="Google Shape;337;p6"/>
          <p:cNvSpPr txBox="1"/>
          <p:nvPr/>
        </p:nvSpPr>
        <p:spPr>
          <a:xfrm>
            <a:off x="7993380" y="4503421"/>
            <a:ext cx="2095500" cy="271934"/>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1417" b="1" i="0" u="none" strike="noStrike" cap="none">
                <a:solidFill>
                  <a:srgbClr val="0D3463"/>
                </a:solidFill>
                <a:latin typeface="Arial"/>
                <a:ea typeface="Arial"/>
                <a:cs typeface="Arial"/>
                <a:sym typeface="Arial"/>
              </a:rPr>
              <a:t>Microsoft Teams</a:t>
            </a:r>
            <a:endParaRPr/>
          </a:p>
        </p:txBody>
      </p:sp>
      <p:sp>
        <p:nvSpPr>
          <p:cNvPr id="338" name="Google Shape;338;p6"/>
          <p:cNvSpPr txBox="1"/>
          <p:nvPr/>
        </p:nvSpPr>
        <p:spPr>
          <a:xfrm>
            <a:off x="7993380" y="4815840"/>
            <a:ext cx="2087880" cy="387157"/>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1083" b="0" i="0" u="none" strike="noStrike" cap="none">
                <a:solidFill>
                  <a:srgbClr val="546B86"/>
                </a:solidFill>
                <a:latin typeface="Arial"/>
                <a:ea typeface="Arial"/>
                <a:cs typeface="Arial"/>
                <a:sym typeface="Arial"/>
              </a:rPr>
              <a:t>Success notification sent to team chat </a:t>
            </a:r>
            <a:endParaRPr/>
          </a:p>
        </p:txBody>
      </p:sp>
      <p:sp>
        <p:nvSpPr>
          <p:cNvPr id="339" name="Google Shape;339;p6"/>
          <p:cNvSpPr txBox="1"/>
          <p:nvPr/>
        </p:nvSpPr>
        <p:spPr>
          <a:xfrm>
            <a:off x="3002280" y="2514601"/>
            <a:ext cx="358140" cy="387350"/>
          </a:xfrm>
          <a:prstGeom prst="rect">
            <a:avLst/>
          </a:prstGeom>
          <a:noFill/>
          <a:ln>
            <a:noFill/>
          </a:ln>
        </p:spPr>
        <p:txBody>
          <a:bodyPr spcFirstLastPara="1" wrap="square" lIns="15225" tIns="7600" rIns="15225" bIns="45700" anchor="t" anchorCtr="0">
            <a:spAutoFit/>
          </a:bodyPr>
          <a:lstStyle/>
          <a:p>
            <a:pPr marL="0" marR="0" lvl="0" indent="0" algn="ctr" rtl="0">
              <a:spcBef>
                <a:spcPts val="0"/>
              </a:spcBef>
              <a:spcAft>
                <a:spcPts val="0"/>
              </a:spcAft>
              <a:buNone/>
            </a:pPr>
            <a:r>
              <a:rPr lang="en-US" sz="2167" b="1" i="0" u="none" strike="noStrike" cap="none">
                <a:solidFill>
                  <a:srgbClr val="F07E23"/>
                </a:solidFill>
                <a:latin typeface="Arial"/>
                <a:ea typeface="Arial"/>
                <a:cs typeface="Arial"/>
                <a:sym typeface="Arial"/>
              </a:rPr>
              <a:t>→</a:t>
            </a:r>
            <a:endParaRPr/>
          </a:p>
        </p:txBody>
      </p:sp>
      <p:sp>
        <p:nvSpPr>
          <p:cNvPr id="340" name="Google Shape;340;p6"/>
          <p:cNvSpPr txBox="1"/>
          <p:nvPr/>
        </p:nvSpPr>
        <p:spPr>
          <a:xfrm>
            <a:off x="5920740" y="2514601"/>
            <a:ext cx="358140" cy="387350"/>
          </a:xfrm>
          <a:prstGeom prst="rect">
            <a:avLst/>
          </a:prstGeom>
          <a:noFill/>
          <a:ln>
            <a:noFill/>
          </a:ln>
        </p:spPr>
        <p:txBody>
          <a:bodyPr spcFirstLastPara="1" wrap="square" lIns="15225" tIns="7600" rIns="15225" bIns="45700" anchor="t" anchorCtr="0">
            <a:spAutoFit/>
          </a:bodyPr>
          <a:lstStyle/>
          <a:p>
            <a:pPr marL="0" marR="0" lvl="0" indent="0" algn="ctr" rtl="0">
              <a:spcBef>
                <a:spcPts val="0"/>
              </a:spcBef>
              <a:spcAft>
                <a:spcPts val="0"/>
              </a:spcAft>
              <a:buNone/>
            </a:pPr>
            <a:r>
              <a:rPr lang="en-US" sz="2167" b="1" i="0" u="none" strike="noStrike" cap="none">
                <a:solidFill>
                  <a:srgbClr val="F07E23"/>
                </a:solidFill>
                <a:latin typeface="Arial"/>
                <a:ea typeface="Arial"/>
                <a:cs typeface="Arial"/>
                <a:sym typeface="Arial"/>
              </a:rPr>
              <a:t>→</a:t>
            </a:r>
            <a:endParaRPr/>
          </a:p>
        </p:txBody>
      </p:sp>
      <p:sp>
        <p:nvSpPr>
          <p:cNvPr id="341" name="Google Shape;341;p6"/>
          <p:cNvSpPr txBox="1"/>
          <p:nvPr/>
        </p:nvSpPr>
        <p:spPr>
          <a:xfrm>
            <a:off x="8839200" y="2514601"/>
            <a:ext cx="358140" cy="387350"/>
          </a:xfrm>
          <a:prstGeom prst="rect">
            <a:avLst/>
          </a:prstGeom>
          <a:noFill/>
          <a:ln>
            <a:noFill/>
          </a:ln>
        </p:spPr>
        <p:txBody>
          <a:bodyPr spcFirstLastPara="1" wrap="square" lIns="15225" tIns="7600" rIns="15225" bIns="45700" anchor="t" anchorCtr="0">
            <a:spAutoFit/>
          </a:bodyPr>
          <a:lstStyle/>
          <a:p>
            <a:pPr marL="0" marR="0" lvl="0" indent="0" algn="ctr" rtl="0">
              <a:spcBef>
                <a:spcPts val="0"/>
              </a:spcBef>
              <a:spcAft>
                <a:spcPts val="0"/>
              </a:spcAft>
              <a:buNone/>
            </a:pPr>
            <a:r>
              <a:rPr lang="en-US" sz="2167" b="1" i="0" u="none" strike="noStrike" cap="none">
                <a:solidFill>
                  <a:srgbClr val="F07E23"/>
                </a:solidFill>
                <a:latin typeface="Arial"/>
                <a:ea typeface="Arial"/>
                <a:cs typeface="Arial"/>
                <a:sym typeface="Arial"/>
              </a:rPr>
              <a:t>→</a:t>
            </a:r>
            <a:endParaRPr/>
          </a:p>
        </p:txBody>
      </p:sp>
      <p:sp>
        <p:nvSpPr>
          <p:cNvPr id="342" name="Google Shape;342;p6"/>
          <p:cNvSpPr txBox="1"/>
          <p:nvPr/>
        </p:nvSpPr>
        <p:spPr>
          <a:xfrm>
            <a:off x="4503420" y="4434841"/>
            <a:ext cx="365760" cy="387350"/>
          </a:xfrm>
          <a:prstGeom prst="rect">
            <a:avLst/>
          </a:prstGeom>
          <a:noFill/>
          <a:ln>
            <a:noFill/>
          </a:ln>
        </p:spPr>
        <p:txBody>
          <a:bodyPr spcFirstLastPara="1" wrap="square" lIns="15225" tIns="7600" rIns="15225" bIns="45700" anchor="t" anchorCtr="0">
            <a:spAutoFit/>
          </a:bodyPr>
          <a:lstStyle/>
          <a:p>
            <a:pPr marL="0" marR="0" lvl="0" indent="0" algn="ctr" rtl="0">
              <a:spcBef>
                <a:spcPts val="0"/>
              </a:spcBef>
              <a:spcAft>
                <a:spcPts val="0"/>
              </a:spcAft>
              <a:buNone/>
            </a:pPr>
            <a:r>
              <a:rPr lang="en-US" sz="2167" b="1" i="0" u="none" strike="noStrike" cap="none">
                <a:solidFill>
                  <a:srgbClr val="F07E23"/>
                </a:solidFill>
                <a:latin typeface="Arial"/>
                <a:ea typeface="Arial"/>
                <a:cs typeface="Arial"/>
                <a:sym typeface="Arial"/>
              </a:rPr>
              <a:t>→</a:t>
            </a:r>
            <a:endParaRPr/>
          </a:p>
        </p:txBody>
      </p:sp>
      <p:sp>
        <p:nvSpPr>
          <p:cNvPr id="343" name="Google Shape;343;p6"/>
          <p:cNvSpPr txBox="1"/>
          <p:nvPr/>
        </p:nvSpPr>
        <p:spPr>
          <a:xfrm>
            <a:off x="7421880" y="4434841"/>
            <a:ext cx="365760" cy="387350"/>
          </a:xfrm>
          <a:prstGeom prst="rect">
            <a:avLst/>
          </a:prstGeom>
          <a:noFill/>
          <a:ln>
            <a:noFill/>
          </a:ln>
        </p:spPr>
        <p:txBody>
          <a:bodyPr spcFirstLastPara="1" wrap="square" lIns="15225" tIns="7600" rIns="15225" bIns="45700" anchor="t" anchorCtr="0">
            <a:spAutoFit/>
          </a:bodyPr>
          <a:lstStyle/>
          <a:p>
            <a:pPr marL="0" marR="0" lvl="0" indent="0" algn="ctr" rtl="0">
              <a:spcBef>
                <a:spcPts val="0"/>
              </a:spcBef>
              <a:spcAft>
                <a:spcPts val="0"/>
              </a:spcAft>
              <a:buNone/>
            </a:pPr>
            <a:r>
              <a:rPr lang="en-US" sz="2167" b="1" i="0" u="none" strike="noStrike" cap="none">
                <a:solidFill>
                  <a:srgbClr val="F07E23"/>
                </a:solidFill>
                <a:latin typeface="Arial"/>
                <a:ea typeface="Arial"/>
                <a:cs typeface="Arial"/>
                <a:sym typeface="Arial"/>
              </a:rPr>
              <a:t>→</a:t>
            </a:r>
            <a:endParaRPr/>
          </a:p>
        </p:txBody>
      </p:sp>
      <p:sp>
        <p:nvSpPr>
          <p:cNvPr id="344" name="Google Shape;344;p6"/>
          <p:cNvSpPr/>
          <p:nvPr/>
        </p:nvSpPr>
        <p:spPr>
          <a:xfrm>
            <a:off x="723900" y="5745480"/>
            <a:ext cx="10744200" cy="548640"/>
          </a:xfrm>
          <a:prstGeom prst="roundRect">
            <a:avLst>
              <a:gd name="adj" fmla="val 16667"/>
            </a:avLst>
          </a:prstGeom>
          <a:solidFill>
            <a:srgbClr val="EAF2FA"/>
          </a:solidFill>
          <a:ln w="9525" cap="flat" cmpd="sng">
            <a:solidFill>
              <a:srgbClr val="EAF2F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Calibri"/>
              <a:ea typeface="Calibri"/>
              <a:cs typeface="Calibri"/>
              <a:sym typeface="Calibri"/>
            </a:endParaRPr>
          </a:p>
        </p:txBody>
      </p:sp>
      <p:sp>
        <p:nvSpPr>
          <p:cNvPr id="345" name="Google Shape;345;p6"/>
          <p:cNvSpPr txBox="1"/>
          <p:nvPr/>
        </p:nvSpPr>
        <p:spPr>
          <a:xfrm>
            <a:off x="906780" y="5905500"/>
            <a:ext cx="1524000" cy="258982"/>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1333" b="1" i="0" u="none" strike="noStrike" cap="none">
                <a:solidFill>
                  <a:srgbClr val="0D3463"/>
                </a:solidFill>
                <a:latin typeface="Arial"/>
                <a:ea typeface="Arial"/>
                <a:cs typeface="Arial"/>
                <a:sym typeface="Arial"/>
              </a:rPr>
              <a:t>Indexed output</a:t>
            </a:r>
            <a:endParaRPr/>
          </a:p>
        </p:txBody>
      </p:sp>
      <p:sp>
        <p:nvSpPr>
          <p:cNvPr id="346" name="Google Shape;346;p6"/>
          <p:cNvSpPr txBox="1"/>
          <p:nvPr/>
        </p:nvSpPr>
        <p:spPr>
          <a:xfrm>
            <a:off x="2651760" y="5905500"/>
            <a:ext cx="8534400" cy="246221"/>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1250" b="0" i="0" u="none" strike="noStrike" cap="none">
                <a:solidFill>
                  <a:srgbClr val="0D3463"/>
                </a:solidFill>
                <a:latin typeface="Arial"/>
                <a:ea typeface="Arial"/>
                <a:cs typeface="Arial"/>
                <a:sym typeface="Arial"/>
              </a:rPr>
              <a:t>Text chunks  •  1024-dimensional vectors  •  source metadata  •  Teams success alert</a:t>
            </a:r>
            <a:endParaRPr/>
          </a:p>
        </p:txBody>
      </p:sp>
      <p:sp>
        <p:nvSpPr>
          <p:cNvPr id="347" name="Google Shape;347;p6"/>
          <p:cNvSpPr txBox="1"/>
          <p:nvPr/>
        </p:nvSpPr>
        <p:spPr>
          <a:xfrm>
            <a:off x="533400" y="6553200"/>
            <a:ext cx="6858000" cy="182038"/>
          </a:xfrm>
          <a:prstGeom prst="rect">
            <a:avLst/>
          </a:prstGeom>
          <a:noFill/>
          <a:ln>
            <a:noFill/>
          </a:ln>
        </p:spPr>
        <p:txBody>
          <a:bodyPr spcFirstLastPara="1" wrap="square" lIns="15225" tIns="7600" rIns="15225" bIns="45700" anchor="t" anchorCtr="0">
            <a:spAutoFit/>
          </a:bodyPr>
          <a:lstStyle/>
          <a:p>
            <a:pPr marL="0" marR="0" lvl="0" indent="0" algn="l" rtl="0">
              <a:spcBef>
                <a:spcPts val="0"/>
              </a:spcBef>
              <a:spcAft>
                <a:spcPts val="0"/>
              </a:spcAft>
              <a:buNone/>
            </a:pPr>
            <a:r>
              <a:rPr lang="en-US" sz="833" b="0" i="0" u="none" strike="noStrike" cap="none">
                <a:solidFill>
                  <a:srgbClr val="546B86"/>
                </a:solidFill>
                <a:latin typeface="Arial"/>
                <a:ea typeface="Arial"/>
                <a:cs typeface="Arial"/>
                <a:sym typeface="Arial"/>
              </a:rPr>
              <a:t>CSE 4392 / 5320  •  TEAM ASSIGNMENT 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1920"/>
          </a:xfrm>
          <a:prstGeom prst="rect">
            <a:avLst/>
          </a:prstGeom>
          <a:solidFill>
            <a:srgbClr val="0D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 name="TextBox 2"/>
          <p:cNvSpPr txBox="1"/>
          <p:nvPr/>
        </p:nvSpPr>
        <p:spPr>
          <a:xfrm>
            <a:off x="571500" y="274320"/>
            <a:ext cx="6858000" cy="241156"/>
          </a:xfrm>
          <a:prstGeom prst="rect">
            <a:avLst/>
          </a:prstGeom>
          <a:noFill/>
        </p:spPr>
        <p:txBody>
          <a:bodyPr wrap="square" lIns="30480" tIns="15240" rIns="15240">
            <a:spAutoFit/>
          </a:bodyPr>
          <a:lstStyle/>
          <a:p>
            <a:pPr>
              <a:defRPr sz="1400" b="1">
                <a:solidFill>
                  <a:srgbClr val="1B4C77"/>
                </a:solidFill>
                <a:latin typeface="Aptos"/>
              </a:defRPr>
            </a:pPr>
            <a:r>
              <a:rPr sz="1167"/>
              <a:t>UTA • TEAM 2 AI ADVISOR</a:t>
            </a:r>
          </a:p>
        </p:txBody>
      </p:sp>
      <p:sp>
        <p:nvSpPr>
          <p:cNvPr id="4" name="TextBox 3"/>
          <p:cNvSpPr txBox="1"/>
          <p:nvPr/>
        </p:nvSpPr>
        <p:spPr>
          <a:xfrm>
            <a:off x="571500" y="632460"/>
            <a:ext cx="11430000" cy="459036"/>
          </a:xfrm>
          <a:prstGeom prst="rect">
            <a:avLst/>
          </a:prstGeom>
          <a:noFill/>
        </p:spPr>
        <p:txBody>
          <a:bodyPr wrap="square" lIns="30480" tIns="15240" rIns="15240">
            <a:spAutoFit/>
          </a:bodyPr>
          <a:lstStyle/>
          <a:p>
            <a:pPr>
              <a:defRPr sz="3100" b="1">
                <a:solidFill>
                  <a:srgbClr val="0D213E"/>
                </a:solidFill>
                <a:latin typeface="Aptos"/>
              </a:defRPr>
            </a:pPr>
            <a:r>
              <a:rPr sz="2583"/>
              <a:t>AWS Lambda: LangChain RAG Document Ingestion</a:t>
            </a:r>
          </a:p>
        </p:txBody>
      </p:sp>
      <p:sp>
        <p:nvSpPr>
          <p:cNvPr id="5" name="TextBox 4"/>
          <p:cNvSpPr txBox="1"/>
          <p:nvPr/>
        </p:nvSpPr>
        <p:spPr>
          <a:xfrm>
            <a:off x="571500" y="1181100"/>
            <a:ext cx="11430000" cy="279628"/>
          </a:xfrm>
          <a:prstGeom prst="rect">
            <a:avLst/>
          </a:prstGeom>
          <a:noFill/>
        </p:spPr>
        <p:txBody>
          <a:bodyPr wrap="square" lIns="30480" tIns="15240" rIns="15240">
            <a:spAutoFit/>
          </a:bodyPr>
          <a:lstStyle/>
          <a:p>
            <a:pPr>
              <a:defRPr sz="1700" b="0">
                <a:solidFill>
                  <a:srgbClr val="607187"/>
                </a:solidFill>
                <a:latin typeface="Aptos"/>
              </a:defRPr>
            </a:pPr>
            <a:r>
              <a:rPr sz="1417"/>
              <a:t>Actual code excerpts from our S3-triggered document ingestion Lambda</a:t>
            </a:r>
          </a:p>
        </p:txBody>
      </p:sp>
      <p:sp>
        <p:nvSpPr>
          <p:cNvPr id="6" name="Rounded Rectangle 5"/>
          <p:cNvSpPr/>
          <p:nvPr/>
        </p:nvSpPr>
        <p:spPr>
          <a:xfrm>
            <a:off x="548640" y="1661160"/>
            <a:ext cx="5577840" cy="2225040"/>
          </a:xfrm>
          <a:prstGeom prst="round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7" name="Rounded Rectangle 6"/>
          <p:cNvSpPr/>
          <p:nvPr/>
        </p:nvSpPr>
        <p:spPr>
          <a:xfrm>
            <a:off x="685799" y="1783080"/>
            <a:ext cx="411480" cy="350520"/>
          </a:xfrm>
          <a:prstGeom prst="roundRect">
            <a:avLst/>
          </a:prstGeom>
          <a:solidFill>
            <a:srgbClr val="1B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8" name="TextBox 7"/>
          <p:cNvSpPr txBox="1"/>
          <p:nvPr/>
        </p:nvSpPr>
        <p:spPr>
          <a:xfrm>
            <a:off x="723900" y="1828800"/>
            <a:ext cx="335280" cy="228204"/>
          </a:xfrm>
          <a:prstGeom prst="rect">
            <a:avLst/>
          </a:prstGeom>
          <a:noFill/>
        </p:spPr>
        <p:txBody>
          <a:bodyPr wrap="square" lIns="30480" tIns="15240" rIns="15240">
            <a:spAutoFit/>
          </a:bodyPr>
          <a:lstStyle/>
          <a:p>
            <a:pPr>
              <a:defRPr sz="1300" b="1">
                <a:solidFill>
                  <a:srgbClr val="FFFFFF"/>
                </a:solidFill>
                <a:latin typeface="Aptos"/>
              </a:defRPr>
            </a:pPr>
            <a:r>
              <a:rPr sz="1083"/>
              <a:t>01</a:t>
            </a:r>
          </a:p>
        </p:txBody>
      </p:sp>
      <p:sp>
        <p:nvSpPr>
          <p:cNvPr id="9" name="TextBox 8"/>
          <p:cNvSpPr txBox="1"/>
          <p:nvPr/>
        </p:nvSpPr>
        <p:spPr>
          <a:xfrm>
            <a:off x="1211579" y="1790700"/>
            <a:ext cx="4724400" cy="292388"/>
          </a:xfrm>
          <a:prstGeom prst="rect">
            <a:avLst/>
          </a:prstGeom>
          <a:noFill/>
        </p:spPr>
        <p:txBody>
          <a:bodyPr wrap="square" lIns="30480" tIns="15240" rIns="15240">
            <a:spAutoFit/>
          </a:bodyPr>
          <a:lstStyle/>
          <a:p>
            <a:pPr>
              <a:defRPr sz="1800" b="1">
                <a:solidFill>
                  <a:srgbClr val="0D213E"/>
                </a:solidFill>
                <a:latin typeface="Aptos"/>
              </a:defRPr>
            </a:pPr>
            <a:r>
              <a:rPr sz="1500"/>
              <a:t>PARSE DOCUMENT</a:t>
            </a:r>
          </a:p>
        </p:txBody>
      </p:sp>
      <p:sp>
        <p:nvSpPr>
          <p:cNvPr id="10" name="TextBox 9"/>
          <p:cNvSpPr txBox="1"/>
          <p:nvPr/>
        </p:nvSpPr>
        <p:spPr>
          <a:xfrm>
            <a:off x="777240" y="2164080"/>
            <a:ext cx="5181600" cy="202684"/>
          </a:xfrm>
          <a:prstGeom prst="rect">
            <a:avLst/>
          </a:prstGeom>
          <a:noFill/>
        </p:spPr>
        <p:txBody>
          <a:bodyPr wrap="square" lIns="30480" tIns="15240" rIns="15240">
            <a:spAutoFit/>
          </a:bodyPr>
          <a:lstStyle/>
          <a:p>
            <a:pPr>
              <a:defRPr sz="1100" b="1">
                <a:solidFill>
                  <a:srgbClr val="1B4C77"/>
                </a:solidFill>
                <a:latin typeface="Aptos"/>
              </a:defRPr>
            </a:pPr>
            <a:r>
              <a:rPr sz="917"/>
              <a:t>Custom Python extraction</a:t>
            </a:r>
          </a:p>
        </p:txBody>
      </p:sp>
      <p:sp>
        <p:nvSpPr>
          <p:cNvPr id="11" name="Rounded Rectangle 10"/>
          <p:cNvSpPr/>
          <p:nvPr/>
        </p:nvSpPr>
        <p:spPr>
          <a:xfrm>
            <a:off x="716280" y="2415540"/>
            <a:ext cx="5242560" cy="1203960"/>
          </a:xfrm>
          <a:prstGeom prst="roundRect">
            <a:avLst/>
          </a:prstGeom>
          <a:solidFill>
            <a:srgbClr val="0D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12" name="TextBox 11"/>
          <p:cNvSpPr txBox="1"/>
          <p:nvPr/>
        </p:nvSpPr>
        <p:spPr>
          <a:xfrm>
            <a:off x="830579" y="2484120"/>
            <a:ext cx="4991100" cy="908326"/>
          </a:xfrm>
          <a:prstGeom prst="rect">
            <a:avLst/>
          </a:prstGeom>
          <a:noFill/>
        </p:spPr>
        <p:txBody>
          <a:bodyPr wrap="square" lIns="30480" tIns="15240" rIns="15240">
            <a:spAutoFit/>
          </a:bodyPr>
          <a:lstStyle/>
          <a:p>
            <a:pPr>
              <a:defRPr sz="1100" b="0">
                <a:solidFill>
                  <a:srgbClr val="F5F8FF"/>
                </a:solidFill>
                <a:latin typeface="Aptos Mono"/>
              </a:defRPr>
            </a:pPr>
            <a:r>
              <a:rPr sz="917"/>
              <a:t>if extension == ".pdf":</a:t>
            </a:r>
          </a:p>
          <a:p>
            <a:pPr>
              <a:defRPr sz="1100" b="0">
                <a:solidFill>
                  <a:srgbClr val="F5F8FF"/>
                </a:solidFill>
                <a:latin typeface="Aptos Mono"/>
              </a:defRPr>
            </a:pPr>
            <a:r>
              <a:rPr sz="917"/>
              <a:t>    reader = PdfReader(io.BytesIO(file_bytes))</a:t>
            </a:r>
          </a:p>
          <a:p>
            <a:pPr>
              <a:defRPr sz="1100" b="0">
                <a:solidFill>
                  <a:srgbClr val="F5F8FF"/>
                </a:solidFill>
                <a:latin typeface="Aptos Mono"/>
              </a:defRPr>
            </a:pPr>
            <a:r>
              <a:rPr sz="917"/>
              <a:t>    return "\n".join(</a:t>
            </a:r>
          </a:p>
          <a:p>
            <a:pPr>
              <a:defRPr sz="1100" b="0">
                <a:solidFill>
                  <a:srgbClr val="F5F8FF"/>
                </a:solidFill>
                <a:latin typeface="Aptos Mono"/>
              </a:defRPr>
            </a:pPr>
            <a:r>
              <a:rPr sz="917"/>
              <a:t>        page.extract_text() or ""</a:t>
            </a:r>
          </a:p>
          <a:p>
            <a:pPr>
              <a:defRPr sz="1100" b="0">
                <a:solidFill>
                  <a:srgbClr val="F5F8FF"/>
                </a:solidFill>
                <a:latin typeface="Aptos Mono"/>
              </a:defRPr>
            </a:pPr>
            <a:r>
              <a:rPr sz="917"/>
              <a:t>        for page in reader.pages</a:t>
            </a:r>
          </a:p>
          <a:p>
            <a:pPr>
              <a:defRPr sz="1100" b="0">
                <a:solidFill>
                  <a:srgbClr val="F5F8FF"/>
                </a:solidFill>
                <a:latin typeface="Aptos Mono"/>
              </a:defRPr>
            </a:pPr>
            <a:r>
              <a:rPr sz="917"/>
              <a:t>    )</a:t>
            </a:r>
          </a:p>
        </p:txBody>
      </p:sp>
      <p:sp>
        <p:nvSpPr>
          <p:cNvPr id="13" name="TextBox 12"/>
          <p:cNvSpPr txBox="1"/>
          <p:nvPr/>
        </p:nvSpPr>
        <p:spPr>
          <a:xfrm>
            <a:off x="777240" y="3688080"/>
            <a:ext cx="5181600" cy="202684"/>
          </a:xfrm>
          <a:prstGeom prst="rect">
            <a:avLst/>
          </a:prstGeom>
          <a:noFill/>
        </p:spPr>
        <p:txBody>
          <a:bodyPr wrap="square" lIns="30480" tIns="15240" rIns="15240">
            <a:spAutoFit/>
          </a:bodyPr>
          <a:lstStyle/>
          <a:p>
            <a:pPr>
              <a:defRPr sz="1100" b="0">
                <a:solidFill>
                  <a:srgbClr val="607187"/>
                </a:solidFill>
                <a:latin typeface="Aptos"/>
              </a:defRPr>
            </a:pPr>
            <a:r>
              <a:rPr sz="917"/>
              <a:t>PDF, DOCX, TXT, MD, CSV, JSON</a:t>
            </a:r>
          </a:p>
        </p:txBody>
      </p:sp>
      <p:sp>
        <p:nvSpPr>
          <p:cNvPr id="14" name="Rounded Rectangle 13"/>
          <p:cNvSpPr/>
          <p:nvPr/>
        </p:nvSpPr>
        <p:spPr>
          <a:xfrm>
            <a:off x="6301740" y="1661160"/>
            <a:ext cx="5577840" cy="2225040"/>
          </a:xfrm>
          <a:prstGeom prst="round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15" name="Rounded Rectangle 14"/>
          <p:cNvSpPr/>
          <p:nvPr/>
        </p:nvSpPr>
        <p:spPr>
          <a:xfrm>
            <a:off x="6438899" y="1783080"/>
            <a:ext cx="411480" cy="350520"/>
          </a:xfrm>
          <a:prstGeom prst="roundRect">
            <a:avLst/>
          </a:prstGeom>
          <a:solidFill>
            <a:srgbClr val="1B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16" name="TextBox 15"/>
          <p:cNvSpPr txBox="1"/>
          <p:nvPr/>
        </p:nvSpPr>
        <p:spPr>
          <a:xfrm>
            <a:off x="6477000" y="1828800"/>
            <a:ext cx="335280" cy="228204"/>
          </a:xfrm>
          <a:prstGeom prst="rect">
            <a:avLst/>
          </a:prstGeom>
          <a:noFill/>
        </p:spPr>
        <p:txBody>
          <a:bodyPr wrap="square" lIns="30480" tIns="15240" rIns="15240">
            <a:spAutoFit/>
          </a:bodyPr>
          <a:lstStyle/>
          <a:p>
            <a:pPr>
              <a:defRPr sz="1300" b="1">
                <a:solidFill>
                  <a:srgbClr val="FFFFFF"/>
                </a:solidFill>
                <a:latin typeface="Aptos"/>
              </a:defRPr>
            </a:pPr>
            <a:r>
              <a:rPr sz="1083"/>
              <a:t>02</a:t>
            </a:r>
          </a:p>
        </p:txBody>
      </p:sp>
      <p:sp>
        <p:nvSpPr>
          <p:cNvPr id="17" name="TextBox 16"/>
          <p:cNvSpPr txBox="1"/>
          <p:nvPr/>
        </p:nvSpPr>
        <p:spPr>
          <a:xfrm>
            <a:off x="6964679" y="1790700"/>
            <a:ext cx="4724400" cy="292388"/>
          </a:xfrm>
          <a:prstGeom prst="rect">
            <a:avLst/>
          </a:prstGeom>
          <a:noFill/>
        </p:spPr>
        <p:txBody>
          <a:bodyPr wrap="square" lIns="30480" tIns="15240" rIns="15240">
            <a:spAutoFit/>
          </a:bodyPr>
          <a:lstStyle/>
          <a:p>
            <a:pPr>
              <a:defRPr sz="1800" b="1">
                <a:solidFill>
                  <a:srgbClr val="0D213E"/>
                </a:solidFill>
                <a:latin typeface="Aptos"/>
              </a:defRPr>
            </a:pPr>
            <a:r>
              <a:rPr sz="1500"/>
              <a:t>CHUNK TEXT</a:t>
            </a:r>
          </a:p>
        </p:txBody>
      </p:sp>
      <p:sp>
        <p:nvSpPr>
          <p:cNvPr id="18" name="TextBox 17"/>
          <p:cNvSpPr txBox="1"/>
          <p:nvPr/>
        </p:nvSpPr>
        <p:spPr>
          <a:xfrm>
            <a:off x="6530340" y="2164080"/>
            <a:ext cx="5181600" cy="202684"/>
          </a:xfrm>
          <a:prstGeom prst="rect">
            <a:avLst/>
          </a:prstGeom>
          <a:noFill/>
        </p:spPr>
        <p:txBody>
          <a:bodyPr wrap="square" lIns="30480" tIns="15240" rIns="15240">
            <a:spAutoFit/>
          </a:bodyPr>
          <a:lstStyle/>
          <a:p>
            <a:pPr>
              <a:defRPr sz="1100" b="1">
                <a:solidFill>
                  <a:srgbClr val="1B4C77"/>
                </a:solidFill>
                <a:latin typeface="Aptos"/>
              </a:defRPr>
            </a:pPr>
            <a:r>
              <a:rPr sz="917"/>
              <a:t>LangChain • RecursiveCharacterTextSplitter</a:t>
            </a:r>
          </a:p>
        </p:txBody>
      </p:sp>
      <p:sp>
        <p:nvSpPr>
          <p:cNvPr id="19" name="Rounded Rectangle 18"/>
          <p:cNvSpPr/>
          <p:nvPr/>
        </p:nvSpPr>
        <p:spPr>
          <a:xfrm>
            <a:off x="6469380" y="2415540"/>
            <a:ext cx="5242560" cy="1203960"/>
          </a:xfrm>
          <a:prstGeom prst="roundRect">
            <a:avLst/>
          </a:prstGeom>
          <a:solidFill>
            <a:srgbClr val="0D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0" name="TextBox 19"/>
          <p:cNvSpPr txBox="1"/>
          <p:nvPr/>
        </p:nvSpPr>
        <p:spPr>
          <a:xfrm>
            <a:off x="6583679" y="2484120"/>
            <a:ext cx="4991100" cy="1190582"/>
          </a:xfrm>
          <a:prstGeom prst="rect">
            <a:avLst/>
          </a:prstGeom>
          <a:noFill/>
        </p:spPr>
        <p:txBody>
          <a:bodyPr wrap="square" lIns="30480" tIns="15240" rIns="15240">
            <a:spAutoFit/>
          </a:bodyPr>
          <a:lstStyle/>
          <a:p>
            <a:pPr>
              <a:defRPr sz="1100" b="0">
                <a:solidFill>
                  <a:srgbClr val="F5F8FF"/>
                </a:solidFill>
                <a:latin typeface="Aptos Mono"/>
              </a:defRPr>
            </a:pPr>
            <a:r>
              <a:rPr sz="917"/>
              <a:t>CHUNK_SIZE = 1000</a:t>
            </a:r>
          </a:p>
          <a:p>
            <a:pPr>
              <a:defRPr sz="1100" b="0">
                <a:solidFill>
                  <a:srgbClr val="F5F8FF"/>
                </a:solidFill>
                <a:latin typeface="Aptos Mono"/>
              </a:defRPr>
            </a:pPr>
            <a:r>
              <a:rPr sz="917"/>
              <a:t>CHUNK_OVERLAP = 150</a:t>
            </a:r>
          </a:p>
          <a:p>
            <a:pPr>
              <a:defRPr sz="1100" b="0">
                <a:solidFill>
                  <a:srgbClr val="F5F8FF"/>
                </a:solidFill>
                <a:latin typeface="Aptos Mono"/>
              </a:defRPr>
            </a:pPr>
            <a:r>
              <a:rPr sz="917"/>
              <a:t>splitter = RecursiveCharacterTextSplitter(</a:t>
            </a:r>
          </a:p>
          <a:p>
            <a:pPr>
              <a:defRPr sz="1100" b="0">
                <a:solidFill>
                  <a:srgbClr val="F5F8FF"/>
                </a:solidFill>
                <a:latin typeface="Aptos Mono"/>
              </a:defRPr>
            </a:pPr>
            <a:r>
              <a:rPr sz="917"/>
              <a:t>    chunk_size=CHUNK_SIZE,</a:t>
            </a:r>
          </a:p>
          <a:p>
            <a:pPr>
              <a:defRPr sz="1100" b="0">
                <a:solidFill>
                  <a:srgbClr val="F5F8FF"/>
                </a:solidFill>
                <a:latin typeface="Aptos Mono"/>
              </a:defRPr>
            </a:pPr>
            <a:r>
              <a:rPr sz="917"/>
              <a:t>    chunk_overlap=CHUNK_OVERLAP,</a:t>
            </a:r>
          </a:p>
          <a:p>
            <a:pPr>
              <a:defRPr sz="1100" b="0">
                <a:solidFill>
                  <a:srgbClr val="F5F8FF"/>
                </a:solidFill>
                <a:latin typeface="Aptos Mono"/>
              </a:defRPr>
            </a:pPr>
            <a:r>
              <a:rPr sz="917"/>
              <a:t>    separators=["\n\n", "\n", ". ", " ", ""]</a:t>
            </a:r>
          </a:p>
          <a:p>
            <a:pPr>
              <a:defRPr sz="1100" b="0">
                <a:solidFill>
                  <a:srgbClr val="F5F8FF"/>
                </a:solidFill>
                <a:latin typeface="Aptos Mono"/>
              </a:defRPr>
            </a:pPr>
            <a:r>
              <a:rPr sz="917"/>
              <a:t>)</a:t>
            </a:r>
          </a:p>
          <a:p>
            <a:pPr>
              <a:defRPr sz="1100" b="0">
                <a:solidFill>
                  <a:srgbClr val="F5F8FF"/>
                </a:solidFill>
                <a:latin typeface="Aptos Mono"/>
              </a:defRPr>
            </a:pPr>
            <a:r>
              <a:rPr sz="917"/>
              <a:t>chunks = splitter.split_text(text)</a:t>
            </a:r>
          </a:p>
        </p:txBody>
      </p:sp>
      <p:sp>
        <p:nvSpPr>
          <p:cNvPr id="21" name="TextBox 20"/>
          <p:cNvSpPr txBox="1"/>
          <p:nvPr/>
        </p:nvSpPr>
        <p:spPr>
          <a:xfrm>
            <a:off x="6530340" y="3688080"/>
            <a:ext cx="5181600" cy="202684"/>
          </a:xfrm>
          <a:prstGeom prst="rect">
            <a:avLst/>
          </a:prstGeom>
          <a:noFill/>
        </p:spPr>
        <p:txBody>
          <a:bodyPr wrap="square" lIns="30480" tIns="15240" rIns="15240">
            <a:spAutoFit/>
          </a:bodyPr>
          <a:lstStyle/>
          <a:p>
            <a:pPr>
              <a:defRPr sz="1100" b="0">
                <a:solidFill>
                  <a:srgbClr val="607187"/>
                </a:solidFill>
                <a:latin typeface="Aptos"/>
              </a:defRPr>
            </a:pPr>
            <a:r>
              <a:rPr sz="917"/>
              <a:t>~250 tokens per 1,000 characters (estimate)</a:t>
            </a:r>
          </a:p>
        </p:txBody>
      </p:sp>
      <p:sp>
        <p:nvSpPr>
          <p:cNvPr id="22" name="Rounded Rectangle 21"/>
          <p:cNvSpPr/>
          <p:nvPr/>
        </p:nvSpPr>
        <p:spPr>
          <a:xfrm>
            <a:off x="548640" y="4023360"/>
            <a:ext cx="5577840" cy="2225040"/>
          </a:xfrm>
          <a:prstGeom prst="round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3" name="Rounded Rectangle 22"/>
          <p:cNvSpPr/>
          <p:nvPr/>
        </p:nvSpPr>
        <p:spPr>
          <a:xfrm>
            <a:off x="685799" y="4145280"/>
            <a:ext cx="411480" cy="350520"/>
          </a:xfrm>
          <a:prstGeom prst="roundRect">
            <a:avLst/>
          </a:prstGeom>
          <a:solidFill>
            <a:srgbClr val="1B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4" name="TextBox 23"/>
          <p:cNvSpPr txBox="1"/>
          <p:nvPr/>
        </p:nvSpPr>
        <p:spPr>
          <a:xfrm>
            <a:off x="723900" y="4191000"/>
            <a:ext cx="335280" cy="228204"/>
          </a:xfrm>
          <a:prstGeom prst="rect">
            <a:avLst/>
          </a:prstGeom>
          <a:noFill/>
        </p:spPr>
        <p:txBody>
          <a:bodyPr wrap="square" lIns="30480" tIns="15240" rIns="15240">
            <a:spAutoFit/>
          </a:bodyPr>
          <a:lstStyle/>
          <a:p>
            <a:pPr>
              <a:defRPr sz="1300" b="1">
                <a:solidFill>
                  <a:srgbClr val="FFFFFF"/>
                </a:solidFill>
                <a:latin typeface="Aptos"/>
              </a:defRPr>
            </a:pPr>
            <a:r>
              <a:rPr sz="1083"/>
              <a:t>03</a:t>
            </a:r>
          </a:p>
        </p:txBody>
      </p:sp>
      <p:sp>
        <p:nvSpPr>
          <p:cNvPr id="25" name="TextBox 24"/>
          <p:cNvSpPr txBox="1"/>
          <p:nvPr/>
        </p:nvSpPr>
        <p:spPr>
          <a:xfrm>
            <a:off x="1211579" y="4152900"/>
            <a:ext cx="4724400" cy="292388"/>
          </a:xfrm>
          <a:prstGeom prst="rect">
            <a:avLst/>
          </a:prstGeom>
          <a:noFill/>
        </p:spPr>
        <p:txBody>
          <a:bodyPr wrap="square" lIns="30480" tIns="15240" rIns="15240">
            <a:spAutoFit/>
          </a:bodyPr>
          <a:lstStyle/>
          <a:p>
            <a:pPr>
              <a:defRPr sz="1800" b="1">
                <a:solidFill>
                  <a:srgbClr val="0D213E"/>
                </a:solidFill>
                <a:latin typeface="Aptos"/>
              </a:defRPr>
            </a:pPr>
            <a:r>
              <a:rPr sz="1500"/>
              <a:t>GENERATE EMBEDDINGS</a:t>
            </a:r>
          </a:p>
        </p:txBody>
      </p:sp>
      <p:sp>
        <p:nvSpPr>
          <p:cNvPr id="26" name="TextBox 25"/>
          <p:cNvSpPr txBox="1"/>
          <p:nvPr/>
        </p:nvSpPr>
        <p:spPr>
          <a:xfrm>
            <a:off x="777240" y="4526280"/>
            <a:ext cx="5181600" cy="202684"/>
          </a:xfrm>
          <a:prstGeom prst="rect">
            <a:avLst/>
          </a:prstGeom>
          <a:noFill/>
        </p:spPr>
        <p:txBody>
          <a:bodyPr wrap="square" lIns="30480" tIns="15240" rIns="15240">
            <a:spAutoFit/>
          </a:bodyPr>
          <a:lstStyle/>
          <a:p>
            <a:pPr>
              <a:defRPr sz="1100" b="1">
                <a:solidFill>
                  <a:srgbClr val="1B4C77"/>
                </a:solidFill>
                <a:latin typeface="Aptos"/>
              </a:defRPr>
            </a:pPr>
            <a:r>
              <a:rPr sz="917"/>
              <a:t>LangChain • BedrockEmbeddings</a:t>
            </a:r>
          </a:p>
        </p:txBody>
      </p:sp>
      <p:sp>
        <p:nvSpPr>
          <p:cNvPr id="27" name="Rounded Rectangle 26"/>
          <p:cNvSpPr/>
          <p:nvPr/>
        </p:nvSpPr>
        <p:spPr>
          <a:xfrm>
            <a:off x="716280" y="4777740"/>
            <a:ext cx="5242560" cy="1203960"/>
          </a:xfrm>
          <a:prstGeom prst="roundRect">
            <a:avLst/>
          </a:prstGeom>
          <a:solidFill>
            <a:srgbClr val="0D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8" name="TextBox 27"/>
          <p:cNvSpPr txBox="1"/>
          <p:nvPr/>
        </p:nvSpPr>
        <p:spPr>
          <a:xfrm>
            <a:off x="830579" y="4846320"/>
            <a:ext cx="4991100" cy="1343316"/>
          </a:xfrm>
          <a:prstGeom prst="rect">
            <a:avLst/>
          </a:prstGeom>
          <a:noFill/>
        </p:spPr>
        <p:txBody>
          <a:bodyPr wrap="square" lIns="30480" tIns="15240" rIns="15240">
            <a:spAutoFit/>
          </a:bodyPr>
          <a:lstStyle/>
          <a:p>
            <a:pPr>
              <a:defRPr sz="1000" b="0">
                <a:solidFill>
                  <a:srgbClr val="F5F8FF"/>
                </a:solidFill>
                <a:latin typeface="Aptos Mono"/>
              </a:defRPr>
            </a:pPr>
            <a:r>
              <a:rPr sz="833"/>
              <a:t>embeddings = BedrockEmbeddings(</a:t>
            </a:r>
          </a:p>
          <a:p>
            <a:pPr>
              <a:defRPr sz="1000" b="0">
                <a:solidFill>
                  <a:srgbClr val="F5F8FF"/>
                </a:solidFill>
                <a:latin typeface="Aptos Mono"/>
              </a:defRPr>
            </a:pPr>
            <a:r>
              <a:rPr sz="833"/>
              <a:t>    model_id=EMBEDDING_MODEL_ID,</a:t>
            </a:r>
          </a:p>
          <a:p>
            <a:pPr>
              <a:defRPr sz="1000" b="0">
                <a:solidFill>
                  <a:srgbClr val="F5F8FF"/>
                </a:solidFill>
                <a:latin typeface="Aptos Mono"/>
              </a:defRPr>
            </a:pPr>
            <a:r>
              <a:rPr sz="833"/>
              <a:t>    region_name=AWS_REGION,</a:t>
            </a:r>
          </a:p>
          <a:p>
            <a:pPr>
              <a:defRPr sz="1000" b="0">
                <a:solidFill>
                  <a:srgbClr val="F5F8FF"/>
                </a:solidFill>
                <a:latin typeface="Aptos Mono"/>
              </a:defRPr>
            </a:pPr>
            <a:r>
              <a:rPr sz="833"/>
              <a:t>    client=bedrock,</a:t>
            </a:r>
          </a:p>
          <a:p>
            <a:pPr>
              <a:defRPr sz="1000" b="0">
                <a:solidFill>
                  <a:srgbClr val="F5F8FF"/>
                </a:solidFill>
                <a:latin typeface="Aptos Mono"/>
              </a:defRPr>
            </a:pPr>
            <a:r>
              <a:rPr sz="833"/>
              <a:t>    model_kwargs={</a:t>
            </a:r>
          </a:p>
          <a:p>
            <a:pPr>
              <a:defRPr sz="1000" b="0">
                <a:solidFill>
                  <a:srgbClr val="F5F8FF"/>
                </a:solidFill>
                <a:latin typeface="Aptos Mono"/>
              </a:defRPr>
            </a:pPr>
            <a:r>
              <a:rPr sz="833"/>
              <a:t>        "dimensions": 1024,</a:t>
            </a:r>
          </a:p>
          <a:p>
            <a:pPr>
              <a:defRPr sz="1000" b="0">
                <a:solidFill>
                  <a:srgbClr val="F5F8FF"/>
                </a:solidFill>
                <a:latin typeface="Aptos Mono"/>
              </a:defRPr>
            </a:pPr>
            <a:r>
              <a:rPr sz="833"/>
              <a:t>        "normalize": True</a:t>
            </a:r>
          </a:p>
          <a:p>
            <a:pPr>
              <a:defRPr sz="1000" b="0">
                <a:solidFill>
                  <a:srgbClr val="F5F8FF"/>
                </a:solidFill>
                <a:latin typeface="Aptos Mono"/>
              </a:defRPr>
            </a:pPr>
            <a:r>
              <a:rPr sz="833"/>
              <a:t>    }</a:t>
            </a:r>
          </a:p>
          <a:p>
            <a:pPr>
              <a:defRPr sz="1000" b="0">
                <a:solidFill>
                  <a:srgbClr val="F5F8FF"/>
                </a:solidFill>
                <a:latin typeface="Aptos Mono"/>
              </a:defRPr>
            </a:pPr>
            <a:r>
              <a:rPr sz="833"/>
              <a:t>)</a:t>
            </a:r>
          </a:p>
          <a:p>
            <a:pPr>
              <a:defRPr sz="1000" b="0">
                <a:solidFill>
                  <a:srgbClr val="F5F8FF"/>
                </a:solidFill>
                <a:latin typeface="Aptos Mono"/>
              </a:defRPr>
            </a:pPr>
            <a:r>
              <a:rPr sz="833"/>
              <a:t>vectors = embeddings.embed_documents(chunks)</a:t>
            </a:r>
          </a:p>
        </p:txBody>
      </p:sp>
      <p:sp>
        <p:nvSpPr>
          <p:cNvPr id="29" name="TextBox 28"/>
          <p:cNvSpPr txBox="1"/>
          <p:nvPr/>
        </p:nvSpPr>
        <p:spPr>
          <a:xfrm>
            <a:off x="777240" y="6050280"/>
            <a:ext cx="5181600" cy="202684"/>
          </a:xfrm>
          <a:prstGeom prst="rect">
            <a:avLst/>
          </a:prstGeom>
          <a:noFill/>
        </p:spPr>
        <p:txBody>
          <a:bodyPr wrap="square" lIns="30480" tIns="15240" rIns="15240">
            <a:spAutoFit/>
          </a:bodyPr>
          <a:lstStyle/>
          <a:p>
            <a:pPr>
              <a:defRPr sz="1100" b="0">
                <a:solidFill>
                  <a:srgbClr val="607187"/>
                </a:solidFill>
                <a:latin typeface="Aptos"/>
              </a:defRPr>
            </a:pPr>
            <a:r>
              <a:rPr sz="917"/>
              <a:t>Amazon Titan Text Embeddings V2</a:t>
            </a:r>
          </a:p>
        </p:txBody>
      </p:sp>
      <p:sp>
        <p:nvSpPr>
          <p:cNvPr id="30" name="Rounded Rectangle 29"/>
          <p:cNvSpPr/>
          <p:nvPr/>
        </p:nvSpPr>
        <p:spPr>
          <a:xfrm>
            <a:off x="6301740" y="4023360"/>
            <a:ext cx="5577840" cy="2225040"/>
          </a:xfrm>
          <a:prstGeom prst="round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1" name="Rounded Rectangle 30"/>
          <p:cNvSpPr/>
          <p:nvPr/>
        </p:nvSpPr>
        <p:spPr>
          <a:xfrm>
            <a:off x="6438899" y="4145280"/>
            <a:ext cx="411480" cy="350520"/>
          </a:xfrm>
          <a:prstGeom prst="roundRect">
            <a:avLst/>
          </a:prstGeom>
          <a:solidFill>
            <a:srgbClr val="1B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2" name="TextBox 31"/>
          <p:cNvSpPr txBox="1"/>
          <p:nvPr/>
        </p:nvSpPr>
        <p:spPr>
          <a:xfrm>
            <a:off x="6477000" y="4191000"/>
            <a:ext cx="335280" cy="228204"/>
          </a:xfrm>
          <a:prstGeom prst="rect">
            <a:avLst/>
          </a:prstGeom>
          <a:noFill/>
        </p:spPr>
        <p:txBody>
          <a:bodyPr wrap="square" lIns="30480" tIns="15240" rIns="15240">
            <a:spAutoFit/>
          </a:bodyPr>
          <a:lstStyle/>
          <a:p>
            <a:pPr>
              <a:defRPr sz="1300" b="1">
                <a:solidFill>
                  <a:srgbClr val="FFFFFF"/>
                </a:solidFill>
                <a:latin typeface="Aptos"/>
              </a:defRPr>
            </a:pPr>
            <a:r>
              <a:rPr sz="1083"/>
              <a:t>04</a:t>
            </a:r>
          </a:p>
        </p:txBody>
      </p:sp>
      <p:sp>
        <p:nvSpPr>
          <p:cNvPr id="33" name="TextBox 32"/>
          <p:cNvSpPr txBox="1"/>
          <p:nvPr/>
        </p:nvSpPr>
        <p:spPr>
          <a:xfrm>
            <a:off x="6964679" y="4152900"/>
            <a:ext cx="4724400" cy="292388"/>
          </a:xfrm>
          <a:prstGeom prst="rect">
            <a:avLst/>
          </a:prstGeom>
          <a:noFill/>
        </p:spPr>
        <p:txBody>
          <a:bodyPr wrap="square" lIns="30480" tIns="15240" rIns="15240">
            <a:spAutoFit/>
          </a:bodyPr>
          <a:lstStyle/>
          <a:p>
            <a:pPr>
              <a:defRPr sz="1800" b="1">
                <a:solidFill>
                  <a:srgbClr val="0D213E"/>
                </a:solidFill>
                <a:latin typeface="Aptos"/>
              </a:defRPr>
            </a:pPr>
            <a:r>
              <a:rPr sz="1500"/>
              <a:t>INGEST INTO VECTOR DB</a:t>
            </a:r>
          </a:p>
        </p:txBody>
      </p:sp>
      <p:sp>
        <p:nvSpPr>
          <p:cNvPr id="34" name="TextBox 33"/>
          <p:cNvSpPr txBox="1"/>
          <p:nvPr/>
        </p:nvSpPr>
        <p:spPr>
          <a:xfrm>
            <a:off x="6530340" y="4526280"/>
            <a:ext cx="5181600" cy="202684"/>
          </a:xfrm>
          <a:prstGeom prst="rect">
            <a:avLst/>
          </a:prstGeom>
          <a:noFill/>
        </p:spPr>
        <p:txBody>
          <a:bodyPr wrap="square" lIns="30480" tIns="15240" rIns="15240">
            <a:spAutoFit/>
          </a:bodyPr>
          <a:lstStyle/>
          <a:p>
            <a:pPr>
              <a:defRPr sz="1100" b="1">
                <a:solidFill>
                  <a:srgbClr val="1B4C77"/>
                </a:solidFill>
                <a:latin typeface="Aptos"/>
              </a:defRPr>
            </a:pPr>
            <a:r>
              <a:rPr sz="917"/>
              <a:t>Custom Python • ChromaDB REST API</a:t>
            </a:r>
          </a:p>
        </p:txBody>
      </p:sp>
      <p:sp>
        <p:nvSpPr>
          <p:cNvPr id="35" name="Rounded Rectangle 34"/>
          <p:cNvSpPr/>
          <p:nvPr/>
        </p:nvSpPr>
        <p:spPr>
          <a:xfrm>
            <a:off x="6469380" y="4777740"/>
            <a:ext cx="5242560" cy="1203960"/>
          </a:xfrm>
          <a:prstGeom prst="roundRect">
            <a:avLst/>
          </a:prstGeom>
          <a:solidFill>
            <a:srgbClr val="0D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6" name="TextBox 35"/>
          <p:cNvSpPr txBox="1"/>
          <p:nvPr/>
        </p:nvSpPr>
        <p:spPr>
          <a:xfrm>
            <a:off x="6583679" y="4846320"/>
            <a:ext cx="4991100" cy="1343316"/>
          </a:xfrm>
          <a:prstGeom prst="rect">
            <a:avLst/>
          </a:prstGeom>
          <a:noFill/>
        </p:spPr>
        <p:txBody>
          <a:bodyPr wrap="square" lIns="30480" tIns="15240" rIns="15240">
            <a:spAutoFit/>
          </a:bodyPr>
          <a:lstStyle/>
          <a:p>
            <a:pPr>
              <a:defRPr sz="1000" b="0">
                <a:solidFill>
                  <a:srgbClr val="F5F8FF"/>
                </a:solidFill>
                <a:latin typeface="Aptos Mono"/>
              </a:defRPr>
            </a:pPr>
            <a:r>
              <a:rPr sz="833"/>
              <a:t>chroma_request("upsert", {</a:t>
            </a:r>
          </a:p>
          <a:p>
            <a:pPr>
              <a:defRPr sz="1000" b="0">
                <a:solidFill>
                  <a:srgbClr val="F5F8FF"/>
                </a:solidFill>
                <a:latin typeface="Aptos Mono"/>
              </a:defRPr>
            </a:pPr>
            <a:r>
              <a:rPr sz="833"/>
              <a:t>    "ids": [chunk_id],</a:t>
            </a:r>
          </a:p>
          <a:p>
            <a:pPr>
              <a:defRPr sz="1000" b="0">
                <a:solidFill>
                  <a:srgbClr val="F5F8FF"/>
                </a:solidFill>
                <a:latin typeface="Aptos Mono"/>
              </a:defRPr>
            </a:pPr>
            <a:r>
              <a:rPr sz="833"/>
              <a:t>    "embeddings": [embedding],</a:t>
            </a:r>
          </a:p>
          <a:p>
            <a:pPr>
              <a:defRPr sz="1000" b="0">
                <a:solidFill>
                  <a:srgbClr val="F5F8FF"/>
                </a:solidFill>
                <a:latin typeface="Aptos Mono"/>
              </a:defRPr>
            </a:pPr>
            <a:r>
              <a:rPr sz="833"/>
              <a:t>    "documents": [text],</a:t>
            </a:r>
          </a:p>
          <a:p>
            <a:pPr>
              <a:defRPr sz="1000" b="0">
                <a:solidFill>
                  <a:srgbClr val="F5F8FF"/>
                </a:solidFill>
                <a:latin typeface="Aptos Mono"/>
              </a:defRPr>
            </a:pPr>
            <a:r>
              <a:rPr sz="833"/>
              <a:t>    "metadatas": [{</a:t>
            </a:r>
          </a:p>
          <a:p>
            <a:pPr>
              <a:defRPr sz="1000" b="0">
                <a:solidFill>
                  <a:srgbClr val="F5F8FF"/>
                </a:solidFill>
                <a:latin typeface="Aptos Mono"/>
              </a:defRPr>
            </a:pPr>
            <a:r>
              <a:rPr sz="833"/>
              <a:t>        "source": source,</a:t>
            </a:r>
          </a:p>
          <a:p>
            <a:pPr>
              <a:defRPr sz="1000" b="0">
                <a:solidFill>
                  <a:srgbClr val="F5F8FF"/>
                </a:solidFill>
                <a:latin typeface="Aptos Mono"/>
              </a:defRPr>
            </a:pPr>
            <a:r>
              <a:rPr sz="833"/>
              <a:t>        "chunk_index": chunk_index,</a:t>
            </a:r>
          </a:p>
          <a:p>
            <a:pPr>
              <a:defRPr sz="1000" b="0">
                <a:solidFill>
                  <a:srgbClr val="F5F8FF"/>
                </a:solidFill>
                <a:latin typeface="Aptos Mono"/>
              </a:defRPr>
            </a:pPr>
            <a:r>
              <a:rPr sz="833"/>
              <a:t>        "document_hash": document_hash</a:t>
            </a:r>
          </a:p>
          <a:p>
            <a:pPr>
              <a:defRPr sz="1000" b="0">
                <a:solidFill>
                  <a:srgbClr val="F5F8FF"/>
                </a:solidFill>
                <a:latin typeface="Aptos Mono"/>
              </a:defRPr>
            </a:pPr>
            <a:r>
              <a:rPr sz="833"/>
              <a:t>    }]</a:t>
            </a:r>
          </a:p>
          <a:p>
            <a:pPr>
              <a:defRPr sz="1000" b="0">
                <a:solidFill>
                  <a:srgbClr val="F5F8FF"/>
                </a:solidFill>
                <a:latin typeface="Aptos Mono"/>
              </a:defRPr>
            </a:pPr>
            <a:r>
              <a:rPr sz="833"/>
              <a:t>})</a:t>
            </a:r>
          </a:p>
        </p:txBody>
      </p:sp>
      <p:sp>
        <p:nvSpPr>
          <p:cNvPr id="37" name="TextBox 36"/>
          <p:cNvSpPr txBox="1"/>
          <p:nvPr/>
        </p:nvSpPr>
        <p:spPr>
          <a:xfrm>
            <a:off x="6530340" y="6050280"/>
            <a:ext cx="5181600" cy="202684"/>
          </a:xfrm>
          <a:prstGeom prst="rect">
            <a:avLst/>
          </a:prstGeom>
          <a:noFill/>
        </p:spPr>
        <p:txBody>
          <a:bodyPr wrap="square" lIns="30480" tIns="15240" rIns="15240">
            <a:spAutoFit/>
          </a:bodyPr>
          <a:lstStyle/>
          <a:p>
            <a:pPr>
              <a:defRPr sz="1100" b="0">
                <a:solidFill>
                  <a:srgbClr val="607187"/>
                </a:solidFill>
                <a:latin typeface="Aptos"/>
              </a:defRPr>
            </a:pPr>
            <a:r>
              <a:rPr sz="917"/>
              <a:t>ChromaDB stores vectors + text + metadata</a:t>
            </a:r>
          </a:p>
        </p:txBody>
      </p:sp>
      <p:sp>
        <p:nvSpPr>
          <p:cNvPr id="38" name="Rounded Rectangle 37"/>
          <p:cNvSpPr/>
          <p:nvPr/>
        </p:nvSpPr>
        <p:spPr>
          <a:xfrm>
            <a:off x="548640" y="6461760"/>
            <a:ext cx="11315700" cy="259080"/>
          </a:xfrm>
          <a:prstGeom prst="roundRect">
            <a:avLst/>
          </a:prstGeom>
          <a:solidFill>
            <a:srgbClr val="E4E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9" name="TextBox 38"/>
          <p:cNvSpPr txBox="1"/>
          <p:nvPr/>
        </p:nvSpPr>
        <p:spPr>
          <a:xfrm>
            <a:off x="731520" y="6492240"/>
            <a:ext cx="10820400" cy="202684"/>
          </a:xfrm>
          <a:prstGeom prst="rect">
            <a:avLst/>
          </a:prstGeom>
          <a:noFill/>
        </p:spPr>
        <p:txBody>
          <a:bodyPr wrap="square" lIns="30480" tIns="15240" rIns="15240">
            <a:spAutoFit/>
          </a:bodyPr>
          <a:lstStyle/>
          <a:p>
            <a:pPr>
              <a:defRPr sz="1100" b="1">
                <a:solidFill>
                  <a:srgbClr val="1B4C77"/>
                </a:solidFill>
                <a:latin typeface="Aptos"/>
              </a:defRPr>
            </a:pPr>
            <a:r>
              <a:rPr sz="917"/>
              <a:t>DynamoDB prevents duplicate ingestion using document hashes, ETags, and processing locks.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h128d44af2f21f154_127_75"/>
          <p:cNvSpPr/>
          <p:nvPr/>
        </p:nvSpPr>
        <p:spPr>
          <a:xfrm>
            <a:off x="0" y="0"/>
            <a:ext cx="12192000" cy="6858000"/>
          </a:xfrm>
          <a:prstGeom prst="rect">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0" name="Google Shape;400;h128d44af2f21f154_127_75"/>
          <p:cNvSpPr txBox="1"/>
          <p:nvPr/>
        </p:nvSpPr>
        <p:spPr>
          <a:xfrm>
            <a:off x="419100" y="127000"/>
            <a:ext cx="11010900" cy="21177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50" b="1" i="0" u="none" strike="noStrike" cap="none">
                <a:solidFill>
                  <a:srgbClr val="185DA5"/>
                </a:solidFill>
                <a:latin typeface="Arial"/>
                <a:ea typeface="Arial"/>
                <a:cs typeface="Arial"/>
                <a:sym typeface="Arial"/>
              </a:rPr>
              <a:t>UTA • TEAM 2 AI ADVISOR</a:t>
            </a:r>
            <a:endParaRPr/>
          </a:p>
        </p:txBody>
      </p:sp>
      <p:sp>
        <p:nvSpPr>
          <p:cNvPr id="401" name="Google Shape;401;h128d44af2f21f154_127_75"/>
          <p:cNvSpPr txBox="1"/>
          <p:nvPr/>
        </p:nvSpPr>
        <p:spPr>
          <a:xfrm>
            <a:off x="419100" y="469899"/>
            <a:ext cx="11010900" cy="43275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350" b="1" i="0" u="none" strike="noStrike" cap="none">
                <a:solidFill>
                  <a:srgbClr val="103763"/>
                </a:solidFill>
                <a:latin typeface="Arial"/>
                <a:ea typeface="Arial"/>
                <a:cs typeface="Arial"/>
                <a:sym typeface="Arial"/>
              </a:rPr>
              <a:t>RAG Lifecycle: Sourcing, Ingestion &amp; Confirmation</a:t>
            </a:r>
            <a:endParaRPr/>
          </a:p>
        </p:txBody>
      </p:sp>
      <p:sp>
        <p:nvSpPr>
          <p:cNvPr id="402" name="Google Shape;402;h128d44af2f21f154_127_75"/>
          <p:cNvSpPr/>
          <p:nvPr/>
        </p:nvSpPr>
        <p:spPr>
          <a:xfrm>
            <a:off x="419100" y="908050"/>
            <a:ext cx="11353800" cy="12700"/>
          </a:xfrm>
          <a:prstGeom prst="rect">
            <a:avLst/>
          </a:prstGeom>
          <a:solidFill>
            <a:srgbClr val="D1E0EE"/>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3" name="Google Shape;403;h128d44af2f21f154_127_75"/>
          <p:cNvSpPr txBox="1"/>
          <p:nvPr/>
        </p:nvSpPr>
        <p:spPr>
          <a:xfrm>
            <a:off x="419100" y="1047749"/>
            <a:ext cx="11010900" cy="23939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00" b="0" i="0" u="none" strike="noStrike" cap="none">
                <a:solidFill>
                  <a:srgbClr val="526E8D"/>
                </a:solidFill>
                <a:latin typeface="Arial"/>
                <a:ea typeface="Arial"/>
                <a:cs typeface="Arial"/>
                <a:sym typeface="Arial"/>
              </a:rPr>
              <a:t>Official academic sources → searchable knowledge → ingestion confirmation</a:t>
            </a:r>
            <a:endParaRPr/>
          </a:p>
        </p:txBody>
      </p:sp>
      <p:sp>
        <p:nvSpPr>
          <p:cNvPr id="404" name="Google Shape;404;h128d44af2f21f154_127_75"/>
          <p:cNvSpPr/>
          <p:nvPr/>
        </p:nvSpPr>
        <p:spPr>
          <a:xfrm>
            <a:off x="419100" y="1441450"/>
            <a:ext cx="3517900" cy="4749800"/>
          </a:xfrm>
          <a:prstGeom prst="roundRect">
            <a:avLst>
              <a:gd name="adj" fmla="val 4332"/>
            </a:avLst>
          </a:prstGeom>
          <a:solidFill>
            <a:srgbClr val="F5F7FA"/>
          </a:solidFill>
          <a:ln w="12700" cap="flat" cmpd="sng">
            <a:solidFill>
              <a:srgbClr val="D1E0EE"/>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5" name="Google Shape;405;h128d44af2f21f154_127_75"/>
          <p:cNvSpPr/>
          <p:nvPr/>
        </p:nvSpPr>
        <p:spPr>
          <a:xfrm>
            <a:off x="596900" y="1593850"/>
            <a:ext cx="393700" cy="317500"/>
          </a:xfrm>
          <a:prstGeom prst="roundRect">
            <a:avLst>
              <a:gd name="adj" fmla="val 10000"/>
            </a:avLst>
          </a:prstGeom>
          <a:solidFill>
            <a:srgbClr val="185DA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6" name="Google Shape;406;h128d44af2f21f154_127_75"/>
          <p:cNvSpPr txBox="1"/>
          <p:nvPr/>
        </p:nvSpPr>
        <p:spPr>
          <a:xfrm>
            <a:off x="711200" y="1663700"/>
            <a:ext cx="10718800" cy="21177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50" b="1" i="0" u="none" strike="noStrike" cap="none">
                <a:solidFill>
                  <a:srgbClr val="FFFFFF"/>
                </a:solidFill>
                <a:latin typeface="Arial"/>
                <a:ea typeface="Arial"/>
                <a:cs typeface="Arial"/>
                <a:sym typeface="Arial"/>
              </a:rPr>
              <a:t>01</a:t>
            </a:r>
            <a:endParaRPr/>
          </a:p>
        </p:txBody>
      </p:sp>
      <p:sp>
        <p:nvSpPr>
          <p:cNvPr id="407" name="Google Shape;407;h128d44af2f21f154_127_75"/>
          <p:cNvSpPr txBox="1"/>
          <p:nvPr/>
        </p:nvSpPr>
        <p:spPr>
          <a:xfrm>
            <a:off x="1079500" y="1689100"/>
            <a:ext cx="10350500" cy="184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b="1" i="0" u="none" strike="noStrike" cap="none">
                <a:solidFill>
                  <a:srgbClr val="185DA5"/>
                </a:solidFill>
                <a:latin typeface="Arial"/>
                <a:ea typeface="Arial"/>
                <a:cs typeface="Arial"/>
                <a:sym typeface="Arial"/>
              </a:rPr>
              <a:t>COLLECT &amp; CHECK</a:t>
            </a:r>
            <a:endParaRPr/>
          </a:p>
        </p:txBody>
      </p:sp>
      <p:sp>
        <p:nvSpPr>
          <p:cNvPr id="408" name="Google Shape;408;h128d44af2f21f154_127_75"/>
          <p:cNvSpPr txBox="1"/>
          <p:nvPr/>
        </p:nvSpPr>
        <p:spPr>
          <a:xfrm>
            <a:off x="596900" y="2095499"/>
            <a:ext cx="10833100" cy="23939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00" b="1" i="0" u="none" strike="noStrike" cap="none">
                <a:solidFill>
                  <a:srgbClr val="103763"/>
                </a:solidFill>
                <a:latin typeface="Arial"/>
                <a:ea typeface="Arial"/>
                <a:cs typeface="Arial"/>
                <a:sym typeface="Arial"/>
              </a:rPr>
              <a:t>Document Retrieval &amp; Sourcing</a:t>
            </a:r>
            <a:endParaRPr/>
          </a:p>
        </p:txBody>
      </p:sp>
      <p:sp>
        <p:nvSpPr>
          <p:cNvPr id="409" name="Google Shape;409;h128d44af2f21f154_127_75"/>
          <p:cNvSpPr/>
          <p:nvPr/>
        </p:nvSpPr>
        <p:spPr>
          <a:xfrm>
            <a:off x="4229100" y="1441450"/>
            <a:ext cx="3517900" cy="4749800"/>
          </a:xfrm>
          <a:prstGeom prst="roundRect">
            <a:avLst>
              <a:gd name="adj" fmla="val 4332"/>
            </a:avLst>
          </a:prstGeom>
          <a:solidFill>
            <a:srgbClr val="F5F7FA"/>
          </a:solidFill>
          <a:ln w="12700" cap="flat" cmpd="sng">
            <a:solidFill>
              <a:srgbClr val="D1E0EE"/>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0" name="Google Shape;410;h128d44af2f21f154_127_75"/>
          <p:cNvSpPr/>
          <p:nvPr/>
        </p:nvSpPr>
        <p:spPr>
          <a:xfrm>
            <a:off x="4406900" y="1593850"/>
            <a:ext cx="393700" cy="317500"/>
          </a:xfrm>
          <a:prstGeom prst="roundRect">
            <a:avLst>
              <a:gd name="adj" fmla="val 10000"/>
            </a:avLst>
          </a:prstGeom>
          <a:solidFill>
            <a:srgbClr val="185DA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1" name="Google Shape;411;h128d44af2f21f154_127_75"/>
          <p:cNvSpPr txBox="1"/>
          <p:nvPr/>
        </p:nvSpPr>
        <p:spPr>
          <a:xfrm>
            <a:off x="4521200" y="1663700"/>
            <a:ext cx="6908800" cy="21177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50" b="1" i="0" u="none" strike="noStrike" cap="none">
                <a:solidFill>
                  <a:srgbClr val="FFFFFF"/>
                </a:solidFill>
                <a:latin typeface="Arial"/>
                <a:ea typeface="Arial"/>
                <a:cs typeface="Arial"/>
                <a:sym typeface="Arial"/>
              </a:rPr>
              <a:t>02</a:t>
            </a:r>
            <a:endParaRPr/>
          </a:p>
        </p:txBody>
      </p:sp>
      <p:sp>
        <p:nvSpPr>
          <p:cNvPr id="412" name="Google Shape;412;h128d44af2f21f154_127_75"/>
          <p:cNvSpPr txBox="1"/>
          <p:nvPr/>
        </p:nvSpPr>
        <p:spPr>
          <a:xfrm>
            <a:off x="4889500" y="1689100"/>
            <a:ext cx="6540500" cy="184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b="1" i="0" u="none" strike="noStrike" cap="none">
                <a:solidFill>
                  <a:srgbClr val="185DA5"/>
                </a:solidFill>
                <a:latin typeface="Arial"/>
                <a:ea typeface="Arial"/>
                <a:cs typeface="Arial"/>
                <a:sym typeface="Arial"/>
              </a:rPr>
              <a:t>TRANSFORM</a:t>
            </a:r>
            <a:endParaRPr/>
          </a:p>
        </p:txBody>
      </p:sp>
      <p:sp>
        <p:nvSpPr>
          <p:cNvPr id="413" name="Google Shape;413;h128d44af2f21f154_127_75"/>
          <p:cNvSpPr txBox="1"/>
          <p:nvPr/>
        </p:nvSpPr>
        <p:spPr>
          <a:xfrm>
            <a:off x="4406900" y="2095499"/>
            <a:ext cx="7023100" cy="23939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00" b="1" i="0" u="none" strike="noStrike" cap="none">
                <a:solidFill>
                  <a:srgbClr val="103763"/>
                </a:solidFill>
                <a:latin typeface="Arial"/>
                <a:ea typeface="Arial"/>
                <a:cs typeface="Arial"/>
                <a:sym typeface="Arial"/>
              </a:rPr>
              <a:t>Document Parsing &amp; Ingestion</a:t>
            </a:r>
            <a:endParaRPr/>
          </a:p>
        </p:txBody>
      </p:sp>
      <p:sp>
        <p:nvSpPr>
          <p:cNvPr id="414" name="Google Shape;414;h128d44af2f21f154_127_75"/>
          <p:cNvSpPr/>
          <p:nvPr/>
        </p:nvSpPr>
        <p:spPr>
          <a:xfrm>
            <a:off x="8039099" y="1441450"/>
            <a:ext cx="3517900" cy="4749800"/>
          </a:xfrm>
          <a:prstGeom prst="roundRect">
            <a:avLst>
              <a:gd name="adj" fmla="val 4332"/>
            </a:avLst>
          </a:prstGeom>
          <a:solidFill>
            <a:srgbClr val="F5F7FA"/>
          </a:solidFill>
          <a:ln w="12700" cap="flat" cmpd="sng">
            <a:solidFill>
              <a:srgbClr val="D1E0EE"/>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5" name="Google Shape;415;h128d44af2f21f154_127_75"/>
          <p:cNvSpPr/>
          <p:nvPr/>
        </p:nvSpPr>
        <p:spPr>
          <a:xfrm>
            <a:off x="8216900" y="1593850"/>
            <a:ext cx="393700" cy="317500"/>
          </a:xfrm>
          <a:prstGeom prst="roundRect">
            <a:avLst>
              <a:gd name="adj" fmla="val 10000"/>
            </a:avLst>
          </a:prstGeom>
          <a:solidFill>
            <a:srgbClr val="185DA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6" name="Google Shape;416;h128d44af2f21f154_127_75"/>
          <p:cNvSpPr txBox="1"/>
          <p:nvPr/>
        </p:nvSpPr>
        <p:spPr>
          <a:xfrm>
            <a:off x="8331200" y="1663700"/>
            <a:ext cx="3098800" cy="21177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50" b="1" i="0" u="none" strike="noStrike" cap="none">
                <a:solidFill>
                  <a:srgbClr val="FFFFFF"/>
                </a:solidFill>
                <a:latin typeface="Arial"/>
                <a:ea typeface="Arial"/>
                <a:cs typeface="Arial"/>
                <a:sym typeface="Arial"/>
              </a:rPr>
              <a:t>03</a:t>
            </a:r>
            <a:endParaRPr/>
          </a:p>
        </p:txBody>
      </p:sp>
      <p:sp>
        <p:nvSpPr>
          <p:cNvPr id="417" name="Google Shape;417;h128d44af2f21f154_127_75"/>
          <p:cNvSpPr txBox="1"/>
          <p:nvPr/>
        </p:nvSpPr>
        <p:spPr>
          <a:xfrm>
            <a:off x="8699500" y="1689100"/>
            <a:ext cx="2730500" cy="184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b="1" i="0" u="none" strike="noStrike" cap="none">
                <a:solidFill>
                  <a:srgbClr val="185DA5"/>
                </a:solidFill>
                <a:latin typeface="Arial"/>
                <a:ea typeface="Arial"/>
                <a:cs typeface="Arial"/>
                <a:sym typeface="Arial"/>
              </a:rPr>
              <a:t>CONFIRM</a:t>
            </a:r>
            <a:endParaRPr/>
          </a:p>
        </p:txBody>
      </p:sp>
      <p:sp>
        <p:nvSpPr>
          <p:cNvPr id="418" name="Google Shape;418;h128d44af2f21f154_127_75"/>
          <p:cNvSpPr txBox="1"/>
          <p:nvPr/>
        </p:nvSpPr>
        <p:spPr>
          <a:xfrm>
            <a:off x="8216900" y="2095499"/>
            <a:ext cx="3213100" cy="23939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00" b="1" i="0" u="none" strike="noStrike" cap="none">
                <a:solidFill>
                  <a:srgbClr val="103763"/>
                </a:solidFill>
                <a:latin typeface="Arial"/>
                <a:ea typeface="Arial"/>
                <a:cs typeface="Arial"/>
                <a:sym typeface="Arial"/>
              </a:rPr>
              <a:t>Ingestion Confirmation</a:t>
            </a:r>
            <a:endParaRPr/>
          </a:p>
        </p:txBody>
      </p:sp>
      <p:pic>
        <p:nvPicPr>
          <p:cNvPr id="419" name="Google Shape;419;h128d44af2f21f154_127_75" descr="image.png"/>
          <p:cNvPicPr preferRelativeResize="0"/>
          <p:nvPr/>
        </p:nvPicPr>
        <p:blipFill rotWithShape="1">
          <a:blip r:embed="rId3">
            <a:alphaModFix/>
          </a:blip>
          <a:srcRect/>
          <a:stretch/>
        </p:blipFill>
        <p:spPr>
          <a:xfrm>
            <a:off x="596900" y="2425700"/>
            <a:ext cx="3162300" cy="1981199"/>
          </a:xfrm>
          <a:prstGeom prst="rect">
            <a:avLst/>
          </a:prstGeom>
          <a:noFill/>
          <a:ln>
            <a:noFill/>
          </a:ln>
        </p:spPr>
      </p:pic>
      <p:sp>
        <p:nvSpPr>
          <p:cNvPr id="420" name="Google Shape;420;h128d44af2f21f154_127_75"/>
          <p:cNvSpPr txBox="1"/>
          <p:nvPr/>
        </p:nvSpPr>
        <p:spPr>
          <a:xfrm>
            <a:off x="596900" y="4559300"/>
            <a:ext cx="10833100" cy="184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b="0" i="0" u="none" strike="noStrike" cap="none">
                <a:solidFill>
                  <a:srgbClr val="526E8D"/>
                </a:solidFill>
                <a:latin typeface="Arial"/>
                <a:ea typeface="Arial"/>
                <a:cs typeface="Arial"/>
                <a:sym typeface="Arial"/>
              </a:rPr>
              <a:t>Collected official UTA catalogs, degree requirements,</a:t>
            </a:r>
            <a:endParaRPr/>
          </a:p>
        </p:txBody>
      </p:sp>
      <p:sp>
        <p:nvSpPr>
          <p:cNvPr id="421" name="Google Shape;421;h128d44af2f21f154_127_75"/>
          <p:cNvSpPr txBox="1"/>
          <p:nvPr/>
        </p:nvSpPr>
        <p:spPr>
          <a:xfrm>
            <a:off x="596900" y="4724400"/>
            <a:ext cx="10833100" cy="184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b="0" i="0" u="none" strike="noStrike" cap="none">
                <a:solidFill>
                  <a:srgbClr val="526E8D"/>
                </a:solidFill>
                <a:latin typeface="Arial"/>
                <a:ea typeface="Arial"/>
                <a:cs typeface="Arial"/>
                <a:sym typeface="Arial"/>
              </a:rPr>
              <a:t>prerequisites, policies and schedules. Checked</a:t>
            </a:r>
            <a:endParaRPr/>
          </a:p>
        </p:txBody>
      </p:sp>
      <p:sp>
        <p:nvSpPr>
          <p:cNvPr id="422" name="Google Shape;422;h128d44af2f21f154_127_75"/>
          <p:cNvSpPr txBox="1"/>
          <p:nvPr/>
        </p:nvSpPr>
        <p:spPr>
          <a:xfrm>
            <a:off x="596900" y="4889500"/>
            <a:ext cx="10833100" cy="184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b="0" i="0" u="none" strike="noStrike" cap="none">
                <a:solidFill>
                  <a:srgbClr val="526E8D"/>
                </a:solidFill>
                <a:latin typeface="Arial"/>
                <a:ea typeface="Arial"/>
                <a:cs typeface="Arial"/>
                <a:sym typeface="Arial"/>
              </a:rPr>
              <a:t>extracted content against published sources; preserved</a:t>
            </a:r>
            <a:endParaRPr/>
          </a:p>
        </p:txBody>
      </p:sp>
      <p:sp>
        <p:nvSpPr>
          <p:cNvPr id="423" name="Google Shape;423;h128d44af2f21f154_127_75"/>
          <p:cNvSpPr txBox="1"/>
          <p:nvPr/>
        </p:nvSpPr>
        <p:spPr>
          <a:xfrm>
            <a:off x="596900" y="5054600"/>
            <a:ext cx="10833100" cy="184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b="0" i="0" u="none" strike="noStrike" cap="none">
                <a:solidFill>
                  <a:srgbClr val="526E8D"/>
                </a:solidFill>
                <a:latin typeface="Arial"/>
                <a:ea typeface="Arial"/>
                <a:cs typeface="Arial"/>
                <a:sym typeface="Arial"/>
              </a:rPr>
              <a:t>references and known limitations.</a:t>
            </a:r>
            <a:endParaRPr/>
          </a:p>
        </p:txBody>
      </p:sp>
      <p:sp>
        <p:nvSpPr>
          <p:cNvPr id="424" name="Google Shape;424;h128d44af2f21f154_127_75"/>
          <p:cNvSpPr txBox="1"/>
          <p:nvPr/>
        </p:nvSpPr>
        <p:spPr>
          <a:xfrm>
            <a:off x="628650" y="5295900"/>
            <a:ext cx="10801350" cy="19335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85DA5"/>
                </a:solidFill>
                <a:latin typeface="Arial"/>
                <a:ea typeface="Arial"/>
                <a:cs typeface="Arial"/>
                <a:sym typeface="Arial"/>
              </a:rPr>
              <a:t>•</a:t>
            </a:r>
            <a:endParaRPr/>
          </a:p>
        </p:txBody>
      </p:sp>
      <p:sp>
        <p:nvSpPr>
          <p:cNvPr id="425" name="Google Shape;425;h128d44af2f21f154_127_75"/>
          <p:cNvSpPr txBox="1"/>
          <p:nvPr/>
        </p:nvSpPr>
        <p:spPr>
          <a:xfrm>
            <a:off x="762000" y="5295900"/>
            <a:ext cx="10668000" cy="17494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50" b="0" i="0" u="none" strike="noStrike" cap="none">
                <a:solidFill>
                  <a:srgbClr val="526E8D"/>
                </a:solidFill>
                <a:latin typeface="Arial"/>
                <a:ea typeface="Arial"/>
                <a:cs typeface="Arial"/>
                <a:sym typeface="Arial"/>
              </a:rPr>
              <a:t>5 catalog years: 2022–2023 through 2026–2027</a:t>
            </a:r>
            <a:endParaRPr/>
          </a:p>
        </p:txBody>
      </p:sp>
      <p:sp>
        <p:nvSpPr>
          <p:cNvPr id="426" name="Google Shape;426;h128d44af2f21f154_127_75"/>
          <p:cNvSpPr txBox="1"/>
          <p:nvPr/>
        </p:nvSpPr>
        <p:spPr>
          <a:xfrm>
            <a:off x="628650" y="5530850"/>
            <a:ext cx="10801350" cy="19335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85DA5"/>
                </a:solidFill>
                <a:latin typeface="Arial"/>
                <a:ea typeface="Arial"/>
                <a:cs typeface="Arial"/>
                <a:sym typeface="Arial"/>
              </a:rPr>
              <a:t>•</a:t>
            </a:r>
            <a:endParaRPr/>
          </a:p>
        </p:txBody>
      </p:sp>
      <p:sp>
        <p:nvSpPr>
          <p:cNvPr id="427" name="Google Shape;427;h128d44af2f21f154_127_75"/>
          <p:cNvSpPr txBox="1"/>
          <p:nvPr/>
        </p:nvSpPr>
        <p:spPr>
          <a:xfrm>
            <a:off x="762000" y="5530850"/>
            <a:ext cx="10668000" cy="17494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50" b="0" i="0" u="none" strike="noStrike" cap="none">
                <a:solidFill>
                  <a:srgbClr val="526E8D"/>
                </a:solidFill>
                <a:latin typeface="Arial"/>
                <a:ea typeface="Arial"/>
                <a:cs typeface="Arial"/>
                <a:sym typeface="Arial"/>
              </a:rPr>
              <a:t>CS, Computer Engineering and Software Engineering</a:t>
            </a:r>
            <a:endParaRPr/>
          </a:p>
        </p:txBody>
      </p:sp>
      <p:sp>
        <p:nvSpPr>
          <p:cNvPr id="428" name="Google Shape;428;h128d44af2f21f154_127_75"/>
          <p:cNvSpPr txBox="1"/>
          <p:nvPr/>
        </p:nvSpPr>
        <p:spPr>
          <a:xfrm>
            <a:off x="628650" y="5765800"/>
            <a:ext cx="10801350" cy="19335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85DA5"/>
                </a:solidFill>
                <a:latin typeface="Arial"/>
                <a:ea typeface="Arial"/>
                <a:cs typeface="Arial"/>
                <a:sym typeface="Arial"/>
              </a:rPr>
              <a:t>•</a:t>
            </a:r>
            <a:endParaRPr/>
          </a:p>
        </p:txBody>
      </p:sp>
      <p:sp>
        <p:nvSpPr>
          <p:cNvPr id="429" name="Google Shape;429;h128d44af2f21f154_127_75"/>
          <p:cNvSpPr txBox="1"/>
          <p:nvPr/>
        </p:nvSpPr>
        <p:spPr>
          <a:xfrm>
            <a:off x="762000" y="5765800"/>
            <a:ext cx="10668000" cy="17494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50" b="0" i="0" u="none" strike="noStrike" cap="none">
                <a:solidFill>
                  <a:srgbClr val="526E8D"/>
                </a:solidFill>
                <a:latin typeface="Arial"/>
                <a:ea typeface="Arial"/>
                <a:cs typeface="Arial"/>
                <a:sym typeface="Arial"/>
              </a:rPr>
              <a:t>127 files organized for advisor ingestion</a:t>
            </a:r>
            <a:endParaRPr/>
          </a:p>
        </p:txBody>
      </p:sp>
      <p:pic>
        <p:nvPicPr>
          <p:cNvPr id="430" name="Google Shape;430;h128d44af2f21f154_127_75" descr="image.png"/>
          <p:cNvPicPr preferRelativeResize="0"/>
          <p:nvPr/>
        </p:nvPicPr>
        <p:blipFill rotWithShape="1">
          <a:blip r:embed="rId4">
            <a:alphaModFix/>
          </a:blip>
          <a:srcRect/>
          <a:stretch/>
        </p:blipFill>
        <p:spPr>
          <a:xfrm>
            <a:off x="4470400" y="2476500"/>
            <a:ext cx="984250" cy="835317"/>
          </a:xfrm>
          <a:prstGeom prst="rect">
            <a:avLst/>
          </a:prstGeom>
          <a:noFill/>
          <a:ln>
            <a:noFill/>
          </a:ln>
        </p:spPr>
      </p:pic>
      <p:sp>
        <p:nvSpPr>
          <p:cNvPr id="431" name="Google Shape;431;h128d44af2f21f154_127_75"/>
          <p:cNvSpPr txBox="1"/>
          <p:nvPr/>
        </p:nvSpPr>
        <p:spPr>
          <a:xfrm>
            <a:off x="5676900" y="2654300"/>
            <a:ext cx="5753100" cy="2301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50" b="1" i="0" u="none" strike="noStrike" cap="none">
                <a:solidFill>
                  <a:srgbClr val="103763"/>
                </a:solidFill>
                <a:latin typeface="Arial"/>
                <a:ea typeface="Arial"/>
                <a:cs typeface="Arial"/>
                <a:sym typeface="Arial"/>
              </a:rPr>
              <a:t>Documents</a:t>
            </a:r>
            <a:endParaRPr/>
          </a:p>
        </p:txBody>
      </p:sp>
      <p:sp>
        <p:nvSpPr>
          <p:cNvPr id="432" name="Google Shape;432;h128d44af2f21f154_127_75"/>
          <p:cNvSpPr txBox="1"/>
          <p:nvPr/>
        </p:nvSpPr>
        <p:spPr>
          <a:xfrm>
            <a:off x="5676900" y="2876550"/>
            <a:ext cx="5753100" cy="17494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50" b="0" i="0" u="none" strike="noStrike" cap="none">
                <a:solidFill>
                  <a:srgbClr val="526E8D"/>
                </a:solidFill>
                <a:latin typeface="Arial"/>
                <a:ea typeface="Arial"/>
                <a:cs typeface="Arial"/>
                <a:sym typeface="Arial"/>
              </a:rPr>
              <a:t>Academic source files</a:t>
            </a:r>
            <a:endParaRPr/>
          </a:p>
        </p:txBody>
      </p:sp>
      <p:pic>
        <p:nvPicPr>
          <p:cNvPr id="433" name="Google Shape;433;h128d44af2f21f154_127_75" descr="image.png"/>
          <p:cNvPicPr preferRelativeResize="0"/>
          <p:nvPr/>
        </p:nvPicPr>
        <p:blipFill rotWithShape="1">
          <a:blip r:embed="rId5">
            <a:alphaModFix/>
          </a:blip>
          <a:srcRect/>
          <a:stretch/>
        </p:blipFill>
        <p:spPr>
          <a:xfrm>
            <a:off x="4470400" y="3397250"/>
            <a:ext cx="984250" cy="548908"/>
          </a:xfrm>
          <a:prstGeom prst="rect">
            <a:avLst/>
          </a:prstGeom>
          <a:noFill/>
          <a:ln>
            <a:noFill/>
          </a:ln>
        </p:spPr>
      </p:pic>
      <p:sp>
        <p:nvSpPr>
          <p:cNvPr id="434" name="Google Shape;434;h128d44af2f21f154_127_75"/>
          <p:cNvSpPr txBox="1"/>
          <p:nvPr/>
        </p:nvSpPr>
        <p:spPr>
          <a:xfrm>
            <a:off x="5676900" y="3575050"/>
            <a:ext cx="5753100" cy="2301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50" b="1" i="0" u="none" strike="noStrike" cap="none">
                <a:solidFill>
                  <a:srgbClr val="103763"/>
                </a:solidFill>
                <a:latin typeface="Arial"/>
                <a:ea typeface="Arial"/>
                <a:cs typeface="Arial"/>
                <a:sym typeface="Arial"/>
              </a:rPr>
              <a:t>Text chunks</a:t>
            </a:r>
            <a:endParaRPr/>
          </a:p>
        </p:txBody>
      </p:sp>
      <p:sp>
        <p:nvSpPr>
          <p:cNvPr id="435" name="Google Shape;435;h128d44af2f21f154_127_75"/>
          <p:cNvSpPr txBox="1"/>
          <p:nvPr/>
        </p:nvSpPr>
        <p:spPr>
          <a:xfrm>
            <a:off x="5676900" y="3797300"/>
            <a:ext cx="5753100" cy="17494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50" b="0" i="0" u="none" strike="noStrike" cap="none">
                <a:solidFill>
                  <a:srgbClr val="526E8D"/>
                </a:solidFill>
                <a:latin typeface="Arial"/>
                <a:ea typeface="Arial"/>
                <a:cs typeface="Arial"/>
                <a:sym typeface="Arial"/>
              </a:rPr>
              <a:t>AWS Lambda</a:t>
            </a:r>
            <a:endParaRPr/>
          </a:p>
        </p:txBody>
      </p:sp>
      <p:pic>
        <p:nvPicPr>
          <p:cNvPr id="436" name="Google Shape;436;h128d44af2f21f154_127_75" descr="image.png"/>
          <p:cNvPicPr preferRelativeResize="0"/>
          <p:nvPr/>
        </p:nvPicPr>
        <p:blipFill rotWithShape="1">
          <a:blip r:embed="rId6">
            <a:alphaModFix/>
          </a:blip>
          <a:srcRect/>
          <a:stretch/>
        </p:blipFill>
        <p:spPr>
          <a:xfrm>
            <a:off x="4470400" y="4222750"/>
            <a:ext cx="984250" cy="511550"/>
          </a:xfrm>
          <a:prstGeom prst="rect">
            <a:avLst/>
          </a:prstGeom>
          <a:noFill/>
          <a:ln>
            <a:noFill/>
          </a:ln>
        </p:spPr>
      </p:pic>
      <p:sp>
        <p:nvSpPr>
          <p:cNvPr id="437" name="Google Shape;437;h128d44af2f21f154_127_75"/>
          <p:cNvSpPr txBox="1"/>
          <p:nvPr/>
        </p:nvSpPr>
        <p:spPr>
          <a:xfrm>
            <a:off x="5676900" y="4400550"/>
            <a:ext cx="5753100" cy="2301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50" b="1" i="0" u="none" strike="noStrike" cap="none">
                <a:solidFill>
                  <a:srgbClr val="103763"/>
                </a:solidFill>
                <a:latin typeface="Arial"/>
                <a:ea typeface="Arial"/>
                <a:cs typeface="Arial"/>
                <a:sym typeface="Arial"/>
              </a:rPr>
              <a:t>Embeddings</a:t>
            </a:r>
            <a:endParaRPr/>
          </a:p>
        </p:txBody>
      </p:sp>
      <p:sp>
        <p:nvSpPr>
          <p:cNvPr id="438" name="Google Shape;438;h128d44af2f21f154_127_75"/>
          <p:cNvSpPr txBox="1"/>
          <p:nvPr/>
        </p:nvSpPr>
        <p:spPr>
          <a:xfrm>
            <a:off x="5676900" y="4622800"/>
            <a:ext cx="5753100" cy="17494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50" b="0" i="0" u="none" strike="noStrike" cap="none">
                <a:solidFill>
                  <a:srgbClr val="526E8D"/>
                </a:solidFill>
                <a:latin typeface="Arial"/>
                <a:ea typeface="Arial"/>
                <a:cs typeface="Arial"/>
                <a:sym typeface="Arial"/>
              </a:rPr>
              <a:t>Amazon Titan v2</a:t>
            </a:r>
            <a:endParaRPr/>
          </a:p>
        </p:txBody>
      </p:sp>
      <p:pic>
        <p:nvPicPr>
          <p:cNvPr id="439" name="Google Shape;439;h128d44af2f21f154_127_75" descr="image.png"/>
          <p:cNvPicPr preferRelativeResize="0"/>
          <p:nvPr/>
        </p:nvPicPr>
        <p:blipFill rotWithShape="1">
          <a:blip r:embed="rId7">
            <a:alphaModFix/>
          </a:blip>
          <a:srcRect/>
          <a:stretch/>
        </p:blipFill>
        <p:spPr>
          <a:xfrm>
            <a:off x="4470400" y="5022850"/>
            <a:ext cx="984250" cy="731712"/>
          </a:xfrm>
          <a:prstGeom prst="rect">
            <a:avLst/>
          </a:prstGeom>
          <a:noFill/>
          <a:ln>
            <a:noFill/>
          </a:ln>
        </p:spPr>
      </p:pic>
      <p:sp>
        <p:nvSpPr>
          <p:cNvPr id="440" name="Google Shape;440;h128d44af2f21f154_127_75"/>
          <p:cNvSpPr txBox="1"/>
          <p:nvPr/>
        </p:nvSpPr>
        <p:spPr>
          <a:xfrm>
            <a:off x="5676900" y="5200650"/>
            <a:ext cx="5753100" cy="2301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50" b="1" i="0" u="none" strike="noStrike" cap="none">
                <a:solidFill>
                  <a:srgbClr val="103763"/>
                </a:solidFill>
                <a:latin typeface="Arial"/>
                <a:ea typeface="Arial"/>
                <a:cs typeface="Arial"/>
                <a:sym typeface="Arial"/>
              </a:rPr>
              <a:t>Vector store</a:t>
            </a:r>
            <a:endParaRPr/>
          </a:p>
        </p:txBody>
      </p:sp>
      <p:sp>
        <p:nvSpPr>
          <p:cNvPr id="441" name="Google Shape;441;h128d44af2f21f154_127_75"/>
          <p:cNvSpPr txBox="1"/>
          <p:nvPr/>
        </p:nvSpPr>
        <p:spPr>
          <a:xfrm>
            <a:off x="5676900" y="5422900"/>
            <a:ext cx="5753100" cy="17494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50" b="0" i="0" u="none" strike="noStrike" cap="none">
                <a:solidFill>
                  <a:srgbClr val="526E8D"/>
                </a:solidFill>
                <a:latin typeface="Arial"/>
                <a:ea typeface="Arial"/>
                <a:cs typeface="Arial"/>
                <a:sym typeface="Arial"/>
              </a:rPr>
              <a:t>ChromaDB</a:t>
            </a:r>
            <a:endParaRPr/>
          </a:p>
        </p:txBody>
      </p:sp>
      <p:sp>
        <p:nvSpPr>
          <p:cNvPr id="442" name="Google Shape;442;h128d44af2f21f154_127_75"/>
          <p:cNvSpPr txBox="1"/>
          <p:nvPr/>
        </p:nvSpPr>
        <p:spPr>
          <a:xfrm>
            <a:off x="5905500" y="3232150"/>
            <a:ext cx="5524500" cy="26701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50" b="1" i="0" u="none" strike="noStrike" cap="none">
                <a:solidFill>
                  <a:srgbClr val="80A5C8"/>
                </a:solidFill>
                <a:latin typeface="Arial"/>
                <a:ea typeface="Arial"/>
                <a:cs typeface="Arial"/>
                <a:sym typeface="Arial"/>
              </a:rPr>
              <a:t>↓</a:t>
            </a:r>
            <a:endParaRPr/>
          </a:p>
        </p:txBody>
      </p:sp>
      <p:sp>
        <p:nvSpPr>
          <p:cNvPr id="443" name="Google Shape;443;h128d44af2f21f154_127_75"/>
          <p:cNvSpPr txBox="1"/>
          <p:nvPr/>
        </p:nvSpPr>
        <p:spPr>
          <a:xfrm>
            <a:off x="5905500" y="4064000"/>
            <a:ext cx="5524500" cy="26701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50" b="1" i="0" u="none" strike="noStrike" cap="none">
                <a:solidFill>
                  <a:srgbClr val="80A5C8"/>
                </a:solidFill>
                <a:latin typeface="Arial"/>
                <a:ea typeface="Arial"/>
                <a:cs typeface="Arial"/>
                <a:sym typeface="Arial"/>
              </a:rPr>
              <a:t>↓</a:t>
            </a:r>
            <a:endParaRPr/>
          </a:p>
        </p:txBody>
      </p:sp>
      <p:sp>
        <p:nvSpPr>
          <p:cNvPr id="444" name="Google Shape;444;h128d44af2f21f154_127_75"/>
          <p:cNvSpPr txBox="1"/>
          <p:nvPr/>
        </p:nvSpPr>
        <p:spPr>
          <a:xfrm>
            <a:off x="5905500" y="4870450"/>
            <a:ext cx="5524500" cy="26701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50" b="1" i="0" u="none" strike="noStrike" cap="none">
                <a:solidFill>
                  <a:srgbClr val="80A5C8"/>
                </a:solidFill>
                <a:latin typeface="Arial"/>
                <a:ea typeface="Arial"/>
                <a:cs typeface="Arial"/>
                <a:sym typeface="Arial"/>
              </a:rPr>
              <a:t>↓</a:t>
            </a:r>
            <a:endParaRPr/>
          </a:p>
        </p:txBody>
      </p:sp>
      <p:pic>
        <p:nvPicPr>
          <p:cNvPr id="445" name="Google Shape;445;h128d44af2f21f154_127_75" descr="image.png"/>
          <p:cNvPicPr preferRelativeResize="0"/>
          <p:nvPr/>
        </p:nvPicPr>
        <p:blipFill rotWithShape="1">
          <a:blip r:embed="rId8">
            <a:alphaModFix/>
          </a:blip>
          <a:srcRect/>
          <a:stretch/>
        </p:blipFill>
        <p:spPr>
          <a:xfrm>
            <a:off x="8216900" y="2425700"/>
            <a:ext cx="3162300" cy="2232025"/>
          </a:xfrm>
          <a:prstGeom prst="rect">
            <a:avLst/>
          </a:prstGeom>
          <a:noFill/>
          <a:ln>
            <a:noFill/>
          </a:ln>
        </p:spPr>
      </p:pic>
      <p:sp>
        <p:nvSpPr>
          <p:cNvPr id="446" name="Google Shape;446;h128d44af2f21f154_127_75"/>
          <p:cNvSpPr txBox="1"/>
          <p:nvPr/>
        </p:nvSpPr>
        <p:spPr>
          <a:xfrm>
            <a:off x="8216900" y="4838700"/>
            <a:ext cx="3213100" cy="19335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526E8D"/>
                </a:solidFill>
                <a:latin typeface="Arial"/>
                <a:ea typeface="Arial"/>
                <a:cs typeface="Arial"/>
                <a:sym typeface="Arial"/>
              </a:rPr>
              <a:t>DynamoDB tracks document hashes and processing</a:t>
            </a:r>
            <a:endParaRPr/>
          </a:p>
        </p:txBody>
      </p:sp>
      <p:sp>
        <p:nvSpPr>
          <p:cNvPr id="447" name="Google Shape;447;h128d44af2f21f154_127_75"/>
          <p:cNvSpPr txBox="1"/>
          <p:nvPr/>
        </p:nvSpPr>
        <p:spPr>
          <a:xfrm>
            <a:off x="8216900" y="5022850"/>
            <a:ext cx="3213100" cy="19335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526E8D"/>
                </a:solidFill>
                <a:latin typeface="Arial"/>
                <a:ea typeface="Arial"/>
                <a:cs typeface="Arial"/>
                <a:sym typeface="Arial"/>
              </a:rPr>
              <a:t>status. After ingestion completes, a Teams</a:t>
            </a:r>
            <a:endParaRPr/>
          </a:p>
        </p:txBody>
      </p:sp>
      <p:sp>
        <p:nvSpPr>
          <p:cNvPr id="448" name="Google Shape;448;h128d44af2f21f154_127_75"/>
          <p:cNvSpPr txBox="1"/>
          <p:nvPr/>
        </p:nvSpPr>
        <p:spPr>
          <a:xfrm>
            <a:off x="8216900" y="5207000"/>
            <a:ext cx="3213100" cy="19335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526E8D"/>
                </a:solidFill>
                <a:latin typeface="Arial"/>
                <a:ea typeface="Arial"/>
                <a:cs typeface="Arial"/>
                <a:sym typeface="Arial"/>
              </a:rPr>
              <a:t>notification reports the document, stored chunk</a:t>
            </a:r>
            <a:endParaRPr/>
          </a:p>
        </p:txBody>
      </p:sp>
      <p:sp>
        <p:nvSpPr>
          <p:cNvPr id="449" name="Google Shape;449;h128d44af2f21f154_127_75"/>
          <p:cNvSpPr txBox="1"/>
          <p:nvPr/>
        </p:nvSpPr>
        <p:spPr>
          <a:xfrm>
            <a:off x="8216900" y="5391150"/>
            <a:ext cx="3213100" cy="19335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526E8D"/>
                </a:solidFill>
                <a:latin typeface="Arial"/>
                <a:ea typeface="Arial"/>
                <a:cs typeface="Arial"/>
                <a:sym typeface="Arial"/>
              </a:rPr>
              <a:t>count, embedding model and vector database.</a:t>
            </a:r>
            <a:endParaRPr/>
          </a:p>
        </p:txBody>
      </p:sp>
      <p:sp>
        <p:nvSpPr>
          <p:cNvPr id="450" name="Google Shape;450;h128d44af2f21f154_127_75"/>
          <p:cNvSpPr txBox="1"/>
          <p:nvPr/>
        </p:nvSpPr>
        <p:spPr>
          <a:xfrm>
            <a:off x="8216900" y="5842000"/>
            <a:ext cx="3213100" cy="15652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50" b="1" i="0" u="none" strike="noStrike" cap="none">
                <a:solidFill>
                  <a:srgbClr val="185DA5"/>
                </a:solidFill>
                <a:latin typeface="Arial"/>
                <a:ea typeface="Arial"/>
                <a:cs typeface="Arial"/>
                <a:sym typeface="Arial"/>
              </a:rPr>
              <a:t>Actual Teams ingestion notification</a:t>
            </a:r>
            <a:endParaRPr/>
          </a:p>
        </p:txBody>
      </p:sp>
      <p:sp>
        <p:nvSpPr>
          <p:cNvPr id="451" name="Google Shape;451;h128d44af2f21f154_127_75"/>
          <p:cNvSpPr txBox="1"/>
          <p:nvPr/>
        </p:nvSpPr>
        <p:spPr>
          <a:xfrm>
            <a:off x="419100" y="6400800"/>
            <a:ext cx="11010900" cy="15652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50" b="0" i="0" u="none" strike="noStrike" cap="none">
                <a:solidFill>
                  <a:srgbClr val="526E8D"/>
                </a:solidFill>
                <a:latin typeface="Arial"/>
                <a:ea typeface="Arial"/>
                <a:cs typeface="Arial"/>
                <a:sym typeface="Arial"/>
              </a:rPr>
              <a:t>CSE 4392 / 5320 • TEAM ASSIGNMENT 2</a:t>
            </a:r>
            <a:endParaRPr/>
          </a:p>
        </p:txBody>
      </p:sp>
      <p:sp>
        <p:nvSpPr>
          <p:cNvPr id="452" name="Google Shape;452;h128d44af2f21f154_127_75"/>
          <p:cNvSpPr txBox="1"/>
          <p:nvPr/>
        </p:nvSpPr>
        <p:spPr>
          <a:xfrm>
            <a:off x="4914900" y="6400800"/>
            <a:ext cx="6515100" cy="15652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50" b="0" i="0" u="none" strike="noStrike" cap="none">
                <a:solidFill>
                  <a:srgbClr val="526E8D"/>
                </a:solidFill>
                <a:latin typeface="Arial"/>
                <a:ea typeface="Arial"/>
                <a:cs typeface="Arial"/>
                <a:sym typeface="Arial"/>
              </a:rPr>
              <a:t>Source review: Oct. 16, 2026 • Known limitations retained • Schedules are snapshots</a:t>
            </a:r>
            <a:endParaRPr/>
          </a:p>
        </p:txBody>
      </p:sp>
      <p:sp>
        <p:nvSpPr>
          <p:cNvPr id="2" name="Google Shape;299;p6">
            <a:extLst>
              <a:ext uri="{FF2B5EF4-FFF2-40B4-BE49-F238E27FC236}">
                <a16:creationId xmlns:a16="http://schemas.microsoft.com/office/drawing/2014/main" id="{7589BD72-0353-861C-06DC-BD46B84A3FF5}"/>
              </a:ext>
            </a:extLst>
          </p:cNvPr>
          <p:cNvSpPr/>
          <p:nvPr/>
        </p:nvSpPr>
        <p:spPr>
          <a:xfrm>
            <a:off x="0" y="0"/>
            <a:ext cx="12192000" cy="76200"/>
          </a:xfrm>
          <a:prstGeom prst="rect">
            <a:avLst/>
          </a:prstGeom>
          <a:solidFill>
            <a:srgbClr val="0D3463"/>
          </a:solidFill>
          <a:ln w="9525" cap="flat" cmpd="sng">
            <a:solidFill>
              <a:srgbClr val="0D3463"/>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8"/>
          <p:cNvSpPr/>
          <p:nvPr/>
        </p:nvSpPr>
        <p:spPr>
          <a:xfrm>
            <a:off x="0" y="0"/>
            <a:ext cx="12191695" cy="6858000"/>
          </a:xfrm>
          <a:prstGeom prst="rect">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58" name="Google Shape;458;p8"/>
          <p:cNvSpPr txBox="1"/>
          <p:nvPr/>
        </p:nvSpPr>
        <p:spPr>
          <a:xfrm>
            <a:off x="502920" y="274320"/>
            <a:ext cx="7315200" cy="320040"/>
          </a:xfrm>
          <a:prstGeom prst="rect">
            <a:avLst/>
          </a:prstGeom>
          <a:noFill/>
          <a:ln>
            <a:noFill/>
          </a:ln>
        </p:spPr>
        <p:txBody>
          <a:bodyPr spcFirstLastPara="1" wrap="square" lIns="36575" tIns="22850" rIns="36575" bIns="45700" anchor="t" anchorCtr="0">
            <a:spAutoFit/>
          </a:bodyPr>
          <a:lstStyle/>
          <a:p>
            <a:pPr marL="0" marR="0" lvl="0" indent="0" algn="l" rtl="0">
              <a:spcBef>
                <a:spcPts val="0"/>
              </a:spcBef>
              <a:spcAft>
                <a:spcPts val="0"/>
              </a:spcAft>
              <a:buNone/>
            </a:pPr>
            <a:r>
              <a:rPr lang="en-US" sz="1100" b="1" i="0" u="none" strike="noStrike" cap="none">
                <a:solidFill>
                  <a:srgbClr val="1C5EA0"/>
                </a:solidFill>
                <a:latin typeface="Arial"/>
                <a:ea typeface="Arial"/>
                <a:cs typeface="Arial"/>
                <a:sym typeface="Arial"/>
              </a:rPr>
              <a:t>UTA  •  TEAM 2 AI ADVISOR</a:t>
            </a:r>
            <a:endParaRPr/>
          </a:p>
        </p:txBody>
      </p:sp>
      <p:sp>
        <p:nvSpPr>
          <p:cNvPr id="459" name="Google Shape;459;p8"/>
          <p:cNvSpPr txBox="1"/>
          <p:nvPr/>
        </p:nvSpPr>
        <p:spPr>
          <a:xfrm>
            <a:off x="502920" y="658368"/>
            <a:ext cx="10972800" cy="484748"/>
          </a:xfrm>
          <a:prstGeom prst="rect">
            <a:avLst/>
          </a:prstGeom>
          <a:noFill/>
          <a:ln>
            <a:noFill/>
          </a:ln>
        </p:spPr>
        <p:txBody>
          <a:bodyPr spcFirstLastPara="1" wrap="square" lIns="36575" tIns="22850" rIns="36575" bIns="45700" anchor="t" anchorCtr="0">
            <a:spAutoFit/>
          </a:bodyPr>
          <a:lstStyle/>
          <a:p>
            <a:pPr marL="0" marR="0" lvl="0" indent="0" algn="l" rtl="0">
              <a:spcBef>
                <a:spcPts val="0"/>
              </a:spcBef>
              <a:spcAft>
                <a:spcPts val="0"/>
              </a:spcAft>
              <a:buNone/>
            </a:pPr>
            <a:r>
              <a:rPr lang="en-US" sz="2700" b="1" i="0" u="none" strike="noStrike" cap="none">
                <a:solidFill>
                  <a:srgbClr val="0D1F38"/>
                </a:solidFill>
                <a:latin typeface="Arial"/>
                <a:ea typeface="Arial"/>
                <a:cs typeface="Arial"/>
                <a:sym typeface="Arial"/>
              </a:rPr>
              <a:t>LangChain Router: 6 Routes → 3 Processing Paths</a:t>
            </a:r>
            <a:endParaRPr/>
          </a:p>
        </p:txBody>
      </p:sp>
      <p:sp>
        <p:nvSpPr>
          <p:cNvPr id="460" name="Google Shape;460;p8"/>
          <p:cNvSpPr txBox="1"/>
          <p:nvPr/>
        </p:nvSpPr>
        <p:spPr>
          <a:xfrm>
            <a:off x="502920" y="1271016"/>
            <a:ext cx="10972800" cy="365760"/>
          </a:xfrm>
          <a:prstGeom prst="rect">
            <a:avLst/>
          </a:prstGeom>
          <a:noFill/>
          <a:ln>
            <a:noFill/>
          </a:ln>
        </p:spPr>
        <p:txBody>
          <a:bodyPr spcFirstLastPara="1" wrap="square" lIns="36575" tIns="22850" rIns="36575" bIns="45700" anchor="t" anchorCtr="0">
            <a:spAutoFit/>
          </a:bodyPr>
          <a:lstStyle/>
          <a:p>
            <a:pPr marL="0" marR="0" lvl="0" indent="0" algn="l" rtl="0">
              <a:spcBef>
                <a:spcPts val="0"/>
              </a:spcBef>
              <a:spcAft>
                <a:spcPts val="0"/>
              </a:spcAft>
              <a:buNone/>
            </a:pPr>
            <a:r>
              <a:rPr lang="en-US" sz="1300" b="0" i="0" u="none" strike="noStrike" cap="none">
                <a:solidFill>
                  <a:srgbClr val="5D6F84"/>
                </a:solidFill>
                <a:latin typeface="Arial"/>
                <a:ea typeface="Arial"/>
                <a:cs typeface="Arial"/>
                <a:sym typeface="Arial"/>
              </a:rPr>
              <a:t>The Bedrock LLM classifies the request; Python dispatches to the correct workflow.</a:t>
            </a:r>
            <a:endParaRPr/>
          </a:p>
        </p:txBody>
      </p:sp>
      <p:sp>
        <p:nvSpPr>
          <p:cNvPr id="461" name="Google Shape;461;p8"/>
          <p:cNvSpPr/>
          <p:nvPr/>
        </p:nvSpPr>
        <p:spPr>
          <a:xfrm>
            <a:off x="731520" y="1828800"/>
            <a:ext cx="2971800" cy="585216"/>
          </a:xfrm>
          <a:prstGeom prst="roundRect">
            <a:avLst>
              <a:gd name="adj" fmla="val 16667"/>
            </a:avLst>
          </a:prstGeom>
          <a:solidFill>
            <a:srgbClr val="0D1F38"/>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62" name="Google Shape;462;p8"/>
          <p:cNvSpPr txBox="1"/>
          <p:nvPr/>
        </p:nvSpPr>
        <p:spPr>
          <a:xfrm>
            <a:off x="850392" y="1947672"/>
            <a:ext cx="2743200" cy="329184"/>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1500" b="1" i="0" u="none" strike="noStrike" cap="none">
                <a:solidFill>
                  <a:srgbClr val="FFFFFF"/>
                </a:solidFill>
                <a:latin typeface="Arial"/>
                <a:ea typeface="Arial"/>
                <a:cs typeface="Arial"/>
                <a:sym typeface="Arial"/>
              </a:rPr>
              <a:t>Student question → FastAPI</a:t>
            </a:r>
            <a:endParaRPr/>
          </a:p>
        </p:txBody>
      </p:sp>
      <p:sp>
        <p:nvSpPr>
          <p:cNvPr id="463" name="Google Shape;463;p8"/>
          <p:cNvSpPr txBox="1"/>
          <p:nvPr/>
        </p:nvSpPr>
        <p:spPr>
          <a:xfrm>
            <a:off x="3776472" y="1920240"/>
            <a:ext cx="502920" cy="274320"/>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2300" b="1" i="0" u="none" strike="noStrike" cap="none">
                <a:solidFill>
                  <a:srgbClr val="1C5EA0"/>
                </a:solidFill>
                <a:latin typeface="Arial"/>
                <a:ea typeface="Arial"/>
                <a:cs typeface="Arial"/>
                <a:sym typeface="Arial"/>
              </a:rPr>
              <a:t>→</a:t>
            </a:r>
            <a:endParaRPr/>
          </a:p>
        </p:txBody>
      </p:sp>
      <p:sp>
        <p:nvSpPr>
          <p:cNvPr id="464" name="Google Shape;464;p8"/>
          <p:cNvSpPr/>
          <p:nvPr/>
        </p:nvSpPr>
        <p:spPr>
          <a:xfrm>
            <a:off x="4370832" y="1746504"/>
            <a:ext cx="3364992" cy="777240"/>
          </a:xfrm>
          <a:prstGeom prst="roundRect">
            <a:avLst>
              <a:gd name="adj" fmla="val 16667"/>
            </a:avLst>
          </a:prstGeom>
          <a:solidFill>
            <a:srgbClr val="1C5EA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65" name="Google Shape;465;p8"/>
          <p:cNvSpPr txBox="1"/>
          <p:nvPr/>
        </p:nvSpPr>
        <p:spPr>
          <a:xfrm>
            <a:off x="4489704" y="1837943"/>
            <a:ext cx="3118104" cy="500107"/>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1400" b="1" i="0" u="none" strike="noStrike" cap="none" dirty="0">
                <a:solidFill>
                  <a:srgbClr val="FFFFFF"/>
                </a:solidFill>
                <a:latin typeface="Arial"/>
                <a:ea typeface="Arial"/>
                <a:cs typeface="Arial"/>
                <a:sym typeface="Arial"/>
              </a:rPr>
              <a:t>LangChain </a:t>
            </a:r>
            <a:r>
              <a:rPr lang="en-US" b="1" dirty="0">
                <a:solidFill>
                  <a:srgbClr val="FFFFFF"/>
                </a:solidFill>
              </a:rPr>
              <a:t>Structure Prompt </a:t>
            </a:r>
          </a:p>
          <a:p>
            <a:pPr marL="0" marR="0" lvl="0" indent="0" algn="ctr" rtl="0">
              <a:spcBef>
                <a:spcPts val="0"/>
              </a:spcBef>
              <a:spcAft>
                <a:spcPts val="0"/>
              </a:spcAft>
              <a:buNone/>
            </a:pPr>
            <a:r>
              <a:rPr lang="en-US" b="1" dirty="0">
                <a:solidFill>
                  <a:srgbClr val="FFFFFF"/>
                </a:solidFill>
              </a:rPr>
              <a:t>with</a:t>
            </a:r>
            <a:r>
              <a:rPr lang="en-US" sz="1400" b="1" i="0" u="none" strike="noStrike" cap="none" dirty="0">
                <a:solidFill>
                  <a:srgbClr val="FFFFFF"/>
                </a:solidFill>
                <a:latin typeface="Arial"/>
                <a:ea typeface="Arial"/>
                <a:cs typeface="Arial"/>
                <a:sym typeface="Arial"/>
              </a:rPr>
              <a:t> Student </a:t>
            </a:r>
            <a:r>
              <a:rPr lang="en-US" b="1" dirty="0">
                <a:solidFill>
                  <a:srgbClr val="FFFFFF"/>
                </a:solidFill>
              </a:rPr>
              <a:t>Question</a:t>
            </a:r>
            <a:endParaRPr sz="1800" b="0" i="0" u="none" strike="noStrike" cap="none" dirty="0">
              <a:solidFill>
                <a:schemeClr val="dk1"/>
              </a:solidFill>
              <a:latin typeface="Calibri"/>
              <a:ea typeface="Calibri"/>
              <a:cs typeface="Calibri"/>
              <a:sym typeface="Calibri"/>
            </a:endParaRPr>
          </a:p>
        </p:txBody>
      </p:sp>
      <p:sp>
        <p:nvSpPr>
          <p:cNvPr id="466" name="Google Shape;466;p8"/>
          <p:cNvSpPr txBox="1"/>
          <p:nvPr/>
        </p:nvSpPr>
        <p:spPr>
          <a:xfrm>
            <a:off x="7790688" y="1920240"/>
            <a:ext cx="457200" cy="274320"/>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2300" b="1" i="0" u="none" strike="noStrike" cap="none">
                <a:solidFill>
                  <a:srgbClr val="1C5EA0"/>
                </a:solidFill>
                <a:latin typeface="Arial"/>
                <a:ea typeface="Arial"/>
                <a:cs typeface="Arial"/>
                <a:sym typeface="Arial"/>
              </a:rPr>
              <a:t>→</a:t>
            </a:r>
            <a:endParaRPr/>
          </a:p>
        </p:txBody>
      </p:sp>
      <p:sp>
        <p:nvSpPr>
          <p:cNvPr id="467" name="Google Shape;467;p8"/>
          <p:cNvSpPr/>
          <p:nvPr/>
        </p:nvSpPr>
        <p:spPr>
          <a:xfrm>
            <a:off x="8321040" y="1828800"/>
            <a:ext cx="3081528" cy="585216"/>
          </a:xfrm>
          <a:prstGeom prst="roundRect">
            <a:avLst>
              <a:gd name="adj" fmla="val 16667"/>
            </a:avLst>
          </a:prstGeom>
          <a:solidFill>
            <a:srgbClr val="0D1F38"/>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68" name="Google Shape;468;p8"/>
          <p:cNvSpPr txBox="1"/>
          <p:nvPr/>
        </p:nvSpPr>
        <p:spPr>
          <a:xfrm>
            <a:off x="8394192" y="1947672"/>
            <a:ext cx="2926080" cy="284693"/>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1400" b="1" i="0" u="none" strike="noStrike" cap="none">
                <a:solidFill>
                  <a:srgbClr val="FFFFFF"/>
                </a:solidFill>
                <a:latin typeface="Arial"/>
                <a:ea typeface="Arial"/>
                <a:cs typeface="Arial"/>
                <a:sym typeface="Arial"/>
              </a:rPr>
              <a:t>LLM Selects </a:t>
            </a:r>
            <a:r>
              <a:rPr lang="en-US" sz="1400" b="1" i="0" u="none" strike="noStrike" cap="none" dirty="0">
                <a:solidFill>
                  <a:srgbClr val="FFFFFF"/>
                </a:solidFill>
                <a:latin typeface="Arial"/>
                <a:ea typeface="Arial"/>
                <a:cs typeface="Arial"/>
                <a:sym typeface="Arial"/>
              </a:rPr>
              <a:t>route</a:t>
            </a:r>
            <a:endParaRPr dirty="0"/>
          </a:p>
        </p:txBody>
      </p:sp>
      <p:sp>
        <p:nvSpPr>
          <p:cNvPr id="469" name="Google Shape;469;p8"/>
          <p:cNvSpPr txBox="1"/>
          <p:nvPr/>
        </p:nvSpPr>
        <p:spPr>
          <a:xfrm>
            <a:off x="4114800" y="2633472"/>
            <a:ext cx="3931920" cy="253916"/>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1200" b="0" i="0" u="none" strike="noStrike" cap="none">
                <a:solidFill>
                  <a:srgbClr val="5D6F84"/>
                </a:solidFill>
                <a:latin typeface="Arial"/>
                <a:ea typeface="Arial"/>
                <a:cs typeface="Arial"/>
                <a:sym typeface="Arial"/>
              </a:rPr>
              <a:t>One question → one route → one workflow</a:t>
            </a:r>
            <a:endParaRPr sz="1800" b="0" i="0" u="none" strike="noStrike" cap="none">
              <a:solidFill>
                <a:schemeClr val="dk1"/>
              </a:solidFill>
              <a:latin typeface="Calibri"/>
              <a:ea typeface="Calibri"/>
              <a:cs typeface="Calibri"/>
              <a:sym typeface="Calibri"/>
            </a:endParaRPr>
          </a:p>
        </p:txBody>
      </p:sp>
      <p:sp>
        <p:nvSpPr>
          <p:cNvPr id="470" name="Google Shape;470;p8"/>
          <p:cNvSpPr/>
          <p:nvPr/>
        </p:nvSpPr>
        <p:spPr>
          <a:xfrm>
            <a:off x="548640" y="3246120"/>
            <a:ext cx="3502152" cy="2331720"/>
          </a:xfrm>
          <a:prstGeom prst="roundRect">
            <a:avLst>
              <a:gd name="adj" fmla="val 16667"/>
            </a:avLst>
          </a:prstGeom>
          <a:solidFill>
            <a:srgbClr val="EFF5FB"/>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71" name="Google Shape;471;p8"/>
          <p:cNvSpPr/>
          <p:nvPr/>
        </p:nvSpPr>
        <p:spPr>
          <a:xfrm>
            <a:off x="548640" y="3246120"/>
            <a:ext cx="3502152" cy="448056"/>
          </a:xfrm>
          <a:prstGeom prst="roundRect">
            <a:avLst>
              <a:gd name="adj" fmla="val 16667"/>
            </a:avLst>
          </a:prstGeom>
          <a:solidFill>
            <a:srgbClr val="1C5EA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72" name="Google Shape;472;p8"/>
          <p:cNvSpPr txBox="1"/>
          <p:nvPr/>
        </p:nvSpPr>
        <p:spPr>
          <a:xfrm>
            <a:off x="667512" y="3328416"/>
            <a:ext cx="3264408" cy="237744"/>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1300" b="1" i="0" u="none" strike="noStrike" cap="none">
                <a:solidFill>
                  <a:srgbClr val="FFFFFF"/>
                </a:solidFill>
                <a:latin typeface="Arial"/>
                <a:ea typeface="Arial"/>
                <a:cs typeface="Arial"/>
                <a:sym typeface="Arial"/>
              </a:rPr>
              <a:t>PATH A  |  RAG</a:t>
            </a:r>
            <a:endParaRPr/>
          </a:p>
        </p:txBody>
      </p:sp>
      <p:sp>
        <p:nvSpPr>
          <p:cNvPr id="473" name="Google Shape;473;p8"/>
          <p:cNvSpPr txBox="1"/>
          <p:nvPr/>
        </p:nvSpPr>
        <p:spPr>
          <a:xfrm>
            <a:off x="731520" y="3849624"/>
            <a:ext cx="3136392" cy="859536"/>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1400" b="1" i="0" u="none" strike="noStrike" cap="none">
                <a:solidFill>
                  <a:srgbClr val="0D1F38"/>
                </a:solidFill>
                <a:latin typeface="Arial"/>
                <a:ea typeface="Arial"/>
                <a:cs typeface="Arial"/>
                <a:sym typeface="Arial"/>
              </a:rPr>
              <a:t>course_information</a:t>
            </a:r>
            <a:endParaRPr/>
          </a:p>
        </p:txBody>
      </p:sp>
      <p:sp>
        <p:nvSpPr>
          <p:cNvPr id="474" name="Google Shape;474;p8"/>
          <p:cNvSpPr txBox="1"/>
          <p:nvPr/>
        </p:nvSpPr>
        <p:spPr>
          <a:xfrm>
            <a:off x="713232" y="4846320"/>
            <a:ext cx="3182112" cy="630936"/>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1100" b="0" i="0" u="none" strike="noStrike" cap="none">
                <a:solidFill>
                  <a:srgbClr val="5D6F84"/>
                </a:solidFill>
                <a:latin typeface="Arial"/>
                <a:ea typeface="Arial"/>
                <a:cs typeface="Arial"/>
                <a:sym typeface="Arial"/>
              </a:rPr>
              <a:t>Titan Embeddings → ChromaDB</a:t>
            </a:r>
            <a:endParaRPr/>
          </a:p>
          <a:p>
            <a:pPr marL="0" marR="0" lvl="0" indent="0" algn="ctr" rtl="0">
              <a:spcBef>
                <a:spcPts val="200"/>
              </a:spcBef>
              <a:spcAft>
                <a:spcPts val="0"/>
              </a:spcAft>
              <a:buNone/>
            </a:pPr>
            <a:r>
              <a:rPr lang="en-US" sz="1100" b="0" i="0" u="none" strike="noStrike" cap="none">
                <a:solidFill>
                  <a:srgbClr val="5D6F84"/>
                </a:solidFill>
                <a:latin typeface="Arial"/>
                <a:ea typeface="Arial"/>
                <a:cs typeface="Arial"/>
                <a:sym typeface="Arial"/>
              </a:rPr>
              <a:t>→ Retrieved catalog context</a:t>
            </a:r>
            <a:endParaRPr/>
          </a:p>
        </p:txBody>
      </p:sp>
      <p:sp>
        <p:nvSpPr>
          <p:cNvPr id="475" name="Google Shape;475;p8"/>
          <p:cNvSpPr txBox="1"/>
          <p:nvPr/>
        </p:nvSpPr>
        <p:spPr>
          <a:xfrm>
            <a:off x="2039112" y="2898648"/>
            <a:ext cx="502920" cy="320040"/>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2300" b="1" i="0" u="none" strike="noStrike" cap="none">
                <a:solidFill>
                  <a:srgbClr val="1C5EA0"/>
                </a:solidFill>
                <a:latin typeface="Arial"/>
                <a:ea typeface="Arial"/>
                <a:cs typeface="Arial"/>
                <a:sym typeface="Arial"/>
              </a:rPr>
              <a:t>↓</a:t>
            </a:r>
            <a:endParaRPr/>
          </a:p>
        </p:txBody>
      </p:sp>
      <p:sp>
        <p:nvSpPr>
          <p:cNvPr id="476" name="Google Shape;476;p8"/>
          <p:cNvSpPr/>
          <p:nvPr/>
        </p:nvSpPr>
        <p:spPr>
          <a:xfrm>
            <a:off x="4224528" y="3246120"/>
            <a:ext cx="3502152" cy="2331720"/>
          </a:xfrm>
          <a:prstGeom prst="roundRect">
            <a:avLst>
              <a:gd name="adj" fmla="val 16667"/>
            </a:avLst>
          </a:prstGeom>
          <a:solidFill>
            <a:srgbClr val="EFF5FB"/>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77" name="Google Shape;477;p8"/>
          <p:cNvSpPr/>
          <p:nvPr/>
        </p:nvSpPr>
        <p:spPr>
          <a:xfrm>
            <a:off x="4224528" y="3246120"/>
            <a:ext cx="3502152" cy="448056"/>
          </a:xfrm>
          <a:prstGeom prst="roundRect">
            <a:avLst>
              <a:gd name="adj" fmla="val 16667"/>
            </a:avLst>
          </a:prstGeom>
          <a:solidFill>
            <a:srgbClr val="1C5EA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78" name="Google Shape;478;p8"/>
          <p:cNvSpPr txBox="1"/>
          <p:nvPr/>
        </p:nvSpPr>
        <p:spPr>
          <a:xfrm>
            <a:off x="4343400" y="3328416"/>
            <a:ext cx="3264408" cy="237744"/>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1300" b="1" i="0" u="none" strike="noStrike" cap="none">
                <a:solidFill>
                  <a:srgbClr val="FFFFFF"/>
                </a:solidFill>
                <a:latin typeface="Arial"/>
                <a:ea typeface="Arial"/>
                <a:cs typeface="Arial"/>
                <a:sym typeface="Arial"/>
              </a:rPr>
              <a:t>PATH B  |  STRUCTURED ADVISING</a:t>
            </a:r>
            <a:endParaRPr/>
          </a:p>
        </p:txBody>
      </p:sp>
      <p:sp>
        <p:nvSpPr>
          <p:cNvPr id="479" name="Google Shape;479;p8"/>
          <p:cNvSpPr txBox="1"/>
          <p:nvPr/>
        </p:nvSpPr>
        <p:spPr>
          <a:xfrm>
            <a:off x="4407408" y="3849624"/>
            <a:ext cx="3136392" cy="1007968"/>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1400" b="1" i="0" u="none" strike="noStrike" cap="none">
                <a:solidFill>
                  <a:srgbClr val="0D1F38"/>
                </a:solidFill>
                <a:latin typeface="Arial"/>
                <a:ea typeface="Arial"/>
                <a:cs typeface="Arial"/>
                <a:sym typeface="Arial"/>
              </a:rPr>
              <a:t>student_record</a:t>
            </a:r>
            <a:endParaRPr/>
          </a:p>
          <a:p>
            <a:pPr marL="0" marR="0" lvl="0" indent="0" algn="ctr" rtl="0">
              <a:spcBef>
                <a:spcPts val="200"/>
              </a:spcBef>
              <a:spcAft>
                <a:spcPts val="0"/>
              </a:spcAft>
              <a:buNone/>
            </a:pPr>
            <a:r>
              <a:rPr lang="en-US" sz="1400" b="1" i="0" u="none" strike="noStrike" cap="none">
                <a:solidFill>
                  <a:srgbClr val="0D1F38"/>
                </a:solidFill>
                <a:latin typeface="Arial"/>
                <a:ea typeface="Arial"/>
                <a:cs typeface="Arial"/>
                <a:sym typeface="Arial"/>
              </a:rPr>
              <a:t>course_eligibility</a:t>
            </a:r>
            <a:endParaRPr/>
          </a:p>
          <a:p>
            <a:pPr marL="0" marR="0" lvl="0" indent="0" algn="ctr" rtl="0">
              <a:spcBef>
                <a:spcPts val="200"/>
              </a:spcBef>
              <a:spcAft>
                <a:spcPts val="0"/>
              </a:spcAft>
              <a:buNone/>
            </a:pPr>
            <a:r>
              <a:rPr lang="en-US" sz="1400" b="1" i="0" u="none" strike="noStrike" cap="none">
                <a:solidFill>
                  <a:srgbClr val="0D1F38"/>
                </a:solidFill>
                <a:latin typeface="Arial"/>
                <a:ea typeface="Arial"/>
                <a:cs typeface="Arial"/>
                <a:sym typeface="Arial"/>
              </a:rPr>
              <a:t>degree_plan</a:t>
            </a:r>
            <a:endParaRPr/>
          </a:p>
          <a:p>
            <a:pPr marL="0" marR="0" lvl="0" indent="0" algn="ctr" rtl="0">
              <a:spcBef>
                <a:spcPts val="200"/>
              </a:spcBef>
              <a:spcAft>
                <a:spcPts val="0"/>
              </a:spcAft>
              <a:buNone/>
            </a:pPr>
            <a:r>
              <a:rPr lang="en-US" sz="1400" b="1" i="0" u="none" strike="noStrike" cap="none">
                <a:solidFill>
                  <a:srgbClr val="0D1F38"/>
                </a:solidFill>
                <a:latin typeface="Arial"/>
                <a:ea typeface="Arial"/>
                <a:cs typeface="Arial"/>
                <a:sym typeface="Arial"/>
              </a:rPr>
              <a:t>compare_plans</a:t>
            </a:r>
            <a:endParaRPr/>
          </a:p>
        </p:txBody>
      </p:sp>
      <p:sp>
        <p:nvSpPr>
          <p:cNvPr id="480" name="Google Shape;480;p8"/>
          <p:cNvSpPr txBox="1"/>
          <p:nvPr/>
        </p:nvSpPr>
        <p:spPr>
          <a:xfrm>
            <a:off x="4389120" y="4846320"/>
            <a:ext cx="3182112" cy="630936"/>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1100" b="0" i="0" u="none" strike="noStrike" cap="none">
                <a:solidFill>
                  <a:srgbClr val="5D6F84"/>
                </a:solidFill>
                <a:latin typeface="Arial"/>
                <a:ea typeface="Arial"/>
                <a:cs typeface="Arial"/>
                <a:sym typeface="Arial"/>
              </a:rPr>
              <a:t>DynamoDB → Python advisor tools</a:t>
            </a:r>
            <a:endParaRPr/>
          </a:p>
          <a:p>
            <a:pPr marL="0" marR="0" lvl="0" indent="0" algn="ctr" rtl="0">
              <a:spcBef>
                <a:spcPts val="200"/>
              </a:spcBef>
              <a:spcAft>
                <a:spcPts val="0"/>
              </a:spcAft>
              <a:buNone/>
            </a:pPr>
            <a:r>
              <a:rPr lang="en-US" sz="1100" b="0" i="0" u="none" strike="noStrike" cap="none">
                <a:solidFill>
                  <a:srgbClr val="5D6F84"/>
                </a:solidFill>
                <a:latin typeface="Arial"/>
                <a:ea typeface="Arial"/>
                <a:cs typeface="Arial"/>
                <a:sym typeface="Arial"/>
              </a:rPr>
              <a:t>→ Validation / planning</a:t>
            </a:r>
            <a:endParaRPr/>
          </a:p>
        </p:txBody>
      </p:sp>
      <p:sp>
        <p:nvSpPr>
          <p:cNvPr id="481" name="Google Shape;481;p8"/>
          <p:cNvSpPr txBox="1"/>
          <p:nvPr/>
        </p:nvSpPr>
        <p:spPr>
          <a:xfrm>
            <a:off x="5715000" y="2898648"/>
            <a:ext cx="502920" cy="320040"/>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2300" b="1" i="0" u="none" strike="noStrike" cap="none">
                <a:solidFill>
                  <a:srgbClr val="1C5EA0"/>
                </a:solidFill>
                <a:latin typeface="Arial"/>
                <a:ea typeface="Arial"/>
                <a:cs typeface="Arial"/>
                <a:sym typeface="Arial"/>
              </a:rPr>
              <a:t>↓</a:t>
            </a:r>
            <a:endParaRPr/>
          </a:p>
        </p:txBody>
      </p:sp>
      <p:sp>
        <p:nvSpPr>
          <p:cNvPr id="482" name="Google Shape;482;p8"/>
          <p:cNvSpPr/>
          <p:nvPr/>
        </p:nvSpPr>
        <p:spPr>
          <a:xfrm>
            <a:off x="7900416" y="3246120"/>
            <a:ext cx="3502152" cy="2331720"/>
          </a:xfrm>
          <a:prstGeom prst="roundRect">
            <a:avLst>
              <a:gd name="adj" fmla="val 16667"/>
            </a:avLst>
          </a:prstGeom>
          <a:solidFill>
            <a:srgbClr val="EFF5FB"/>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83" name="Google Shape;483;p8"/>
          <p:cNvSpPr/>
          <p:nvPr/>
        </p:nvSpPr>
        <p:spPr>
          <a:xfrm>
            <a:off x="7900416" y="3246120"/>
            <a:ext cx="3502152" cy="448056"/>
          </a:xfrm>
          <a:prstGeom prst="roundRect">
            <a:avLst>
              <a:gd name="adj" fmla="val 16667"/>
            </a:avLst>
          </a:prstGeom>
          <a:solidFill>
            <a:srgbClr val="5D6F8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84" name="Google Shape;484;p8"/>
          <p:cNvSpPr txBox="1"/>
          <p:nvPr/>
        </p:nvSpPr>
        <p:spPr>
          <a:xfrm>
            <a:off x="8019288" y="3328416"/>
            <a:ext cx="3264408" cy="237744"/>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1300" b="1" i="0" u="none" strike="noStrike" cap="none">
                <a:solidFill>
                  <a:srgbClr val="FFFFFF"/>
                </a:solidFill>
                <a:latin typeface="Arial"/>
                <a:ea typeface="Arial"/>
                <a:cs typeface="Arial"/>
                <a:sym typeface="Arial"/>
              </a:rPr>
              <a:t>PATH C  |  FALLBACK</a:t>
            </a:r>
            <a:endParaRPr/>
          </a:p>
        </p:txBody>
      </p:sp>
      <p:sp>
        <p:nvSpPr>
          <p:cNvPr id="485" name="Google Shape;485;p8"/>
          <p:cNvSpPr txBox="1"/>
          <p:nvPr/>
        </p:nvSpPr>
        <p:spPr>
          <a:xfrm>
            <a:off x="8083296" y="3849624"/>
            <a:ext cx="3136392" cy="859536"/>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1400" b="1" i="0" u="none" strike="noStrike" cap="none">
                <a:solidFill>
                  <a:srgbClr val="0D1F38"/>
                </a:solidFill>
                <a:latin typeface="Arial"/>
                <a:ea typeface="Arial"/>
                <a:cs typeface="Arial"/>
                <a:sym typeface="Arial"/>
              </a:rPr>
              <a:t>unsupported</a:t>
            </a:r>
            <a:endParaRPr/>
          </a:p>
        </p:txBody>
      </p:sp>
      <p:sp>
        <p:nvSpPr>
          <p:cNvPr id="486" name="Google Shape;486;p8"/>
          <p:cNvSpPr txBox="1"/>
          <p:nvPr/>
        </p:nvSpPr>
        <p:spPr>
          <a:xfrm>
            <a:off x="8065008" y="4846320"/>
            <a:ext cx="3182112" cy="630936"/>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1100" b="0" i="0" u="none" strike="noStrike" cap="none">
                <a:solidFill>
                  <a:srgbClr val="5D6F84"/>
                </a:solidFill>
                <a:latin typeface="Arial"/>
                <a:ea typeface="Arial"/>
                <a:cs typeface="Arial"/>
                <a:sym typeface="Arial"/>
              </a:rPr>
              <a:t>Safe response explaining</a:t>
            </a:r>
            <a:endParaRPr/>
          </a:p>
          <a:p>
            <a:pPr marL="0" marR="0" lvl="0" indent="0" algn="ctr" rtl="0">
              <a:spcBef>
                <a:spcPts val="200"/>
              </a:spcBef>
              <a:spcAft>
                <a:spcPts val="0"/>
              </a:spcAft>
              <a:buNone/>
            </a:pPr>
            <a:r>
              <a:rPr lang="en-US" sz="1100" b="0" i="0" u="none" strike="noStrike" cap="none">
                <a:solidFill>
                  <a:srgbClr val="5D6F84"/>
                </a:solidFill>
                <a:latin typeface="Arial"/>
                <a:ea typeface="Arial"/>
                <a:cs typeface="Arial"/>
                <a:sym typeface="Arial"/>
              </a:rPr>
              <a:t>what the advisor cannot do</a:t>
            </a:r>
            <a:endParaRPr/>
          </a:p>
        </p:txBody>
      </p:sp>
      <p:sp>
        <p:nvSpPr>
          <p:cNvPr id="487" name="Google Shape;487;p8"/>
          <p:cNvSpPr txBox="1"/>
          <p:nvPr/>
        </p:nvSpPr>
        <p:spPr>
          <a:xfrm>
            <a:off x="9390888" y="2898648"/>
            <a:ext cx="502920" cy="320040"/>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2300" b="1" i="0" u="none" strike="noStrike" cap="none">
                <a:solidFill>
                  <a:srgbClr val="1C5EA0"/>
                </a:solidFill>
                <a:latin typeface="Arial"/>
                <a:ea typeface="Arial"/>
                <a:cs typeface="Arial"/>
                <a:sym typeface="Arial"/>
              </a:rPr>
              <a:t>↓</a:t>
            </a:r>
            <a:endParaRPr/>
          </a:p>
        </p:txBody>
      </p:sp>
      <p:sp>
        <p:nvSpPr>
          <p:cNvPr id="488" name="Google Shape;488;p8"/>
          <p:cNvSpPr/>
          <p:nvPr/>
        </p:nvSpPr>
        <p:spPr>
          <a:xfrm>
            <a:off x="548640" y="5879592"/>
            <a:ext cx="10853928" cy="493776"/>
          </a:xfrm>
          <a:prstGeom prst="roundRect">
            <a:avLst>
              <a:gd name="adj" fmla="val 16667"/>
            </a:avLst>
          </a:prstGeom>
          <a:solidFill>
            <a:srgbClr val="0D1F38"/>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89" name="Google Shape;489;p8"/>
          <p:cNvSpPr txBox="1"/>
          <p:nvPr/>
        </p:nvSpPr>
        <p:spPr>
          <a:xfrm>
            <a:off x="768096" y="5989320"/>
            <a:ext cx="10469880" cy="269304"/>
          </a:xfrm>
          <a:prstGeom prst="rect">
            <a:avLst/>
          </a:prstGeom>
          <a:noFill/>
          <a:ln>
            <a:noFill/>
          </a:ln>
        </p:spPr>
        <p:txBody>
          <a:bodyPr spcFirstLastPara="1" wrap="square" lIns="36575" tIns="22850" rIns="36575" bIns="45700" anchor="t" anchorCtr="0">
            <a:spAutoFit/>
          </a:bodyPr>
          <a:lstStyle/>
          <a:p>
            <a:pPr marL="0" marR="0" lvl="0" indent="0" algn="ctr" rtl="0">
              <a:spcBef>
                <a:spcPts val="0"/>
              </a:spcBef>
              <a:spcAft>
                <a:spcPts val="0"/>
              </a:spcAft>
              <a:buNone/>
            </a:pPr>
            <a:r>
              <a:rPr lang="en-US" sz="1300" b="1" i="0" u="none" strike="noStrike" cap="none">
                <a:solidFill>
                  <a:srgbClr val="FFFFFF"/>
                </a:solidFill>
                <a:latin typeface="Arial"/>
                <a:ea typeface="Arial"/>
                <a:cs typeface="Arial"/>
                <a:sym typeface="Arial"/>
              </a:rPr>
              <a:t>KEY POINT  •  Six route labels do not require six separate LLMs or AWS services.</a:t>
            </a:r>
            <a:endParaRPr/>
          </a:p>
        </p:txBody>
      </p:sp>
      <p:sp>
        <p:nvSpPr>
          <p:cNvPr id="490" name="Google Shape;490;p8"/>
          <p:cNvSpPr txBox="1"/>
          <p:nvPr/>
        </p:nvSpPr>
        <p:spPr>
          <a:xfrm>
            <a:off x="548640" y="6556248"/>
            <a:ext cx="8229600" cy="201168"/>
          </a:xfrm>
          <a:prstGeom prst="rect">
            <a:avLst/>
          </a:prstGeom>
          <a:noFill/>
          <a:ln>
            <a:noFill/>
          </a:ln>
        </p:spPr>
        <p:txBody>
          <a:bodyPr spcFirstLastPara="1" wrap="square" lIns="36575" tIns="22850" rIns="36575" bIns="45700" anchor="t" anchorCtr="0">
            <a:spAutoFit/>
          </a:bodyPr>
          <a:lstStyle/>
          <a:p>
            <a:pPr marL="0" marR="0" lvl="0" indent="0" algn="l" rtl="0">
              <a:spcBef>
                <a:spcPts val="0"/>
              </a:spcBef>
              <a:spcAft>
                <a:spcPts val="0"/>
              </a:spcAft>
              <a:buNone/>
            </a:pPr>
            <a:r>
              <a:rPr lang="en-US" sz="900" b="0" i="0" u="none" strike="noStrike" cap="none">
                <a:solidFill>
                  <a:srgbClr val="5D6F84"/>
                </a:solidFill>
                <a:latin typeface="Arial"/>
                <a:ea typeface="Arial"/>
                <a:cs typeface="Arial"/>
                <a:sym typeface="Arial"/>
              </a:rPr>
              <a:t>CSE 4392 / 5320  •  TEAM ASSIGNMENT 2</a:t>
            </a:r>
            <a:endParaRPr/>
          </a:p>
        </p:txBody>
      </p:sp>
      <p:sp>
        <p:nvSpPr>
          <p:cNvPr id="491" name="Google Shape;491;p8"/>
          <p:cNvSpPr/>
          <p:nvPr/>
        </p:nvSpPr>
        <p:spPr>
          <a:xfrm>
            <a:off x="0" y="0"/>
            <a:ext cx="12191695" cy="82296"/>
          </a:xfrm>
          <a:prstGeom prst="rect">
            <a:avLst/>
          </a:prstGeom>
          <a:solidFill>
            <a:srgbClr val="0C3567"/>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401" y="35300"/>
            <a:ext cx="12198096" cy="6858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56032"/>
            <a:ext cx="6400800" cy="218521"/>
          </a:xfrm>
          <a:prstGeom prst="rect">
            <a:avLst/>
          </a:prstGeom>
          <a:noFill/>
        </p:spPr>
        <p:txBody>
          <a:bodyPr wrap="square" lIns="36576" tIns="18288">
            <a:spAutoFit/>
          </a:bodyPr>
          <a:lstStyle/>
          <a:p>
            <a:pPr>
              <a:spcAft>
                <a:spcPts val="100"/>
              </a:spcAft>
              <a:defRPr sz="1000" b="1">
                <a:solidFill>
                  <a:srgbClr val="0099AE"/>
                </a:solidFill>
                <a:latin typeface="Aptos"/>
              </a:defRPr>
            </a:pPr>
            <a:r>
              <a:rPr dirty="0">
                <a:solidFill>
                  <a:srgbClr val="002060"/>
                </a:solidFill>
              </a:rPr>
              <a:t>UTA  •  TEAM 2 AI ADVISOR</a:t>
            </a:r>
          </a:p>
        </p:txBody>
      </p:sp>
      <p:sp>
        <p:nvSpPr>
          <p:cNvPr id="5" name="TextBox 4"/>
          <p:cNvSpPr txBox="1"/>
          <p:nvPr/>
        </p:nvSpPr>
        <p:spPr>
          <a:xfrm>
            <a:off x="566928" y="603504"/>
            <a:ext cx="10972800" cy="530352"/>
          </a:xfrm>
          <a:prstGeom prst="rect">
            <a:avLst/>
          </a:prstGeom>
          <a:noFill/>
        </p:spPr>
        <p:txBody>
          <a:bodyPr wrap="square" lIns="36576" tIns="18288">
            <a:spAutoFit/>
          </a:bodyPr>
          <a:lstStyle/>
          <a:p>
            <a:pPr>
              <a:spcAft>
                <a:spcPts val="100"/>
              </a:spcAft>
              <a:defRPr sz="2800" b="1">
                <a:solidFill>
                  <a:srgbClr val="0D1B30"/>
                </a:solidFill>
                <a:latin typeface="Aptos"/>
              </a:defRPr>
            </a:pPr>
            <a:r>
              <a:rPr dirty="0"/>
              <a:t>LangChain: LLM Intent Classification</a:t>
            </a:r>
          </a:p>
        </p:txBody>
      </p:sp>
      <p:sp>
        <p:nvSpPr>
          <p:cNvPr id="6" name="TextBox 5"/>
          <p:cNvSpPr txBox="1"/>
          <p:nvPr/>
        </p:nvSpPr>
        <p:spPr>
          <a:xfrm>
            <a:off x="566928" y="1143000"/>
            <a:ext cx="10972800" cy="320040"/>
          </a:xfrm>
          <a:prstGeom prst="rect">
            <a:avLst/>
          </a:prstGeom>
          <a:noFill/>
        </p:spPr>
        <p:txBody>
          <a:bodyPr wrap="square" lIns="36576" tIns="18288">
            <a:spAutoFit/>
          </a:bodyPr>
          <a:lstStyle/>
          <a:p>
            <a:pPr>
              <a:spcAft>
                <a:spcPts val="100"/>
              </a:spcAft>
              <a:defRPr sz="1300" b="0">
                <a:solidFill>
                  <a:srgbClr val="5F7083"/>
                </a:solidFill>
                <a:latin typeface="Aptos"/>
              </a:defRPr>
            </a:pPr>
            <a:r>
              <a:t>Prompt template  →  Bedrock LLM  →  Output parser  →  Selected route</a:t>
            </a:r>
          </a:p>
        </p:txBody>
      </p:sp>
      <p:sp>
        <p:nvSpPr>
          <p:cNvPr id="7" name="Rounded Rectangle 6"/>
          <p:cNvSpPr/>
          <p:nvPr/>
        </p:nvSpPr>
        <p:spPr>
          <a:xfrm>
            <a:off x="548640" y="1636776"/>
            <a:ext cx="6720840" cy="3154680"/>
          </a:xfrm>
          <a:prstGeom prst="roundRect">
            <a:avLst/>
          </a:prstGeom>
          <a:solidFill>
            <a:srgbClr val="0D1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1810512"/>
            <a:ext cx="6309360" cy="292608"/>
          </a:xfrm>
          <a:prstGeom prst="rect">
            <a:avLst/>
          </a:prstGeom>
          <a:noFill/>
        </p:spPr>
        <p:txBody>
          <a:bodyPr wrap="square" lIns="36576" tIns="18288">
            <a:spAutoFit/>
          </a:bodyPr>
          <a:lstStyle/>
          <a:p>
            <a:pPr>
              <a:spcAft>
                <a:spcPts val="100"/>
              </a:spcAft>
              <a:defRPr sz="1300" b="1">
                <a:solidFill>
                  <a:srgbClr val="5EDCE0"/>
                </a:solidFill>
                <a:latin typeface="Aptos"/>
              </a:defRPr>
            </a:pPr>
            <a:r>
              <a:t>01  ROUTER PROMPT  •  ChatPromptTemplate</a:t>
            </a:r>
          </a:p>
        </p:txBody>
      </p:sp>
      <p:sp>
        <p:nvSpPr>
          <p:cNvPr id="9" name="TextBox 8"/>
          <p:cNvSpPr txBox="1"/>
          <p:nvPr/>
        </p:nvSpPr>
        <p:spPr>
          <a:xfrm>
            <a:off x="786384" y="2176272"/>
            <a:ext cx="6217920" cy="2393476"/>
          </a:xfrm>
          <a:prstGeom prst="rect">
            <a:avLst/>
          </a:prstGeom>
          <a:noFill/>
        </p:spPr>
        <p:txBody>
          <a:bodyPr wrap="square" lIns="36576" tIns="18288">
            <a:spAutoFit/>
          </a:bodyPr>
          <a:lstStyle/>
          <a:p>
            <a:pPr>
              <a:spcAft>
                <a:spcPts val="100"/>
              </a:spcAft>
              <a:defRPr sz="1300" b="0">
                <a:solidFill>
                  <a:srgbClr val="FFFFFF"/>
                </a:solidFill>
                <a:latin typeface="Aptos Mono"/>
              </a:defRPr>
            </a:pPr>
            <a:r>
              <a:rPr dirty="0" err="1"/>
              <a:t>router_prompt</a:t>
            </a:r>
            <a:r>
              <a:rPr dirty="0"/>
              <a:t> = </a:t>
            </a:r>
            <a:r>
              <a:rPr dirty="0" err="1"/>
              <a:t>ChatPromptTemplate.from_messages</a:t>
            </a:r>
            <a:r>
              <a:rPr dirty="0"/>
              <a:t>([</a:t>
            </a:r>
          </a:p>
          <a:p>
            <a:pPr>
              <a:spcAft>
                <a:spcPts val="100"/>
              </a:spcAft>
              <a:defRPr sz="1300" b="0">
                <a:solidFill>
                  <a:srgbClr val="FFFFFF"/>
                </a:solidFill>
                <a:latin typeface="Aptos Mono"/>
              </a:defRPr>
            </a:pPr>
            <a:r>
              <a:rPr dirty="0"/>
              <a:t>  ("system", """You are the request router for</a:t>
            </a:r>
          </a:p>
          <a:p>
            <a:pPr>
              <a:spcAft>
                <a:spcPts val="100"/>
              </a:spcAft>
              <a:defRPr sz="1300" b="0">
                <a:solidFill>
                  <a:srgbClr val="FFFFFF"/>
                </a:solidFill>
                <a:latin typeface="Aptos Mono"/>
              </a:defRPr>
            </a:pPr>
            <a:r>
              <a:rPr dirty="0"/>
              <a:t>   the UTA AI Advisor.</a:t>
            </a:r>
          </a:p>
          <a:p>
            <a:pPr>
              <a:spcAft>
                <a:spcPts val="100"/>
              </a:spcAft>
              <a:defRPr sz="1300" b="0">
                <a:solidFill>
                  <a:srgbClr val="FFFFFF"/>
                </a:solidFill>
                <a:latin typeface="Aptos Mono"/>
              </a:defRPr>
            </a:pPr>
            <a:r>
              <a:rPr dirty="0"/>
              <a:t>   Classify the student's question into</a:t>
            </a:r>
          </a:p>
          <a:p>
            <a:pPr>
              <a:spcAft>
                <a:spcPts val="100"/>
              </a:spcAft>
              <a:defRPr sz="1300" b="0">
                <a:solidFill>
                  <a:srgbClr val="FFFFFF"/>
                </a:solidFill>
                <a:latin typeface="Aptos Mono"/>
              </a:defRPr>
            </a:pPr>
            <a:r>
              <a:rPr dirty="0"/>
              <a:t>   exactly one route.</a:t>
            </a:r>
          </a:p>
          <a:p>
            <a:pPr>
              <a:spcAft>
                <a:spcPts val="100"/>
              </a:spcAft>
              <a:defRPr sz="1300" b="0">
                <a:solidFill>
                  <a:srgbClr val="FFFFFF"/>
                </a:solidFill>
                <a:latin typeface="Aptos Mono"/>
              </a:defRPr>
            </a:pPr>
            <a:r>
              <a:rPr dirty="0"/>
              <a:t>   </a:t>
            </a:r>
            <a:r>
              <a:rPr lang="en-US" dirty="0"/>
              <a:t>Conversation</a:t>
            </a:r>
            <a:r>
              <a:rPr dirty="0"/>
              <a:t> </a:t>
            </a:r>
            <a:r>
              <a:rPr lang="en-US" dirty="0"/>
              <a:t>history</a:t>
            </a:r>
            <a:r>
              <a:rPr dirty="0"/>
              <a:t>: {</a:t>
            </a:r>
            <a:r>
              <a:rPr lang="en-US" dirty="0"/>
              <a:t>history</a:t>
            </a:r>
            <a:r>
              <a:rPr dirty="0"/>
              <a:t>}</a:t>
            </a:r>
            <a:endParaRPr lang="en-US" dirty="0"/>
          </a:p>
          <a:p>
            <a:pPr>
              <a:spcAft>
                <a:spcPts val="100"/>
              </a:spcAft>
              <a:defRPr sz="1300" b="0">
                <a:solidFill>
                  <a:srgbClr val="FFFFFF"/>
                </a:solidFill>
                <a:latin typeface="Aptos Mono"/>
              </a:defRPr>
            </a:pPr>
            <a:r>
              <a:rPr lang="en-US" dirty="0"/>
              <a:t>   Available Routes.....</a:t>
            </a:r>
            <a:endParaRPr dirty="0"/>
          </a:p>
          <a:p>
            <a:pPr>
              <a:spcAft>
                <a:spcPts val="100"/>
              </a:spcAft>
              <a:defRPr sz="1300" b="0">
                <a:solidFill>
                  <a:srgbClr val="FFFFFF"/>
                </a:solidFill>
                <a:latin typeface="Aptos Mono"/>
              </a:defRPr>
            </a:pPr>
            <a:r>
              <a:rPr dirty="0"/>
              <a:t>   Return ONLY one exact route value.</a:t>
            </a:r>
          </a:p>
          <a:p>
            <a:pPr>
              <a:spcAft>
                <a:spcPts val="100"/>
              </a:spcAft>
              <a:defRPr sz="1300" b="0">
                <a:solidFill>
                  <a:srgbClr val="FFFFFF"/>
                </a:solidFill>
                <a:latin typeface="Aptos Mono"/>
              </a:defRPr>
            </a:pPr>
            <a:r>
              <a:rPr dirty="0"/>
              <a:t>   Do not answer the student's question."""),</a:t>
            </a:r>
          </a:p>
          <a:p>
            <a:pPr>
              <a:spcAft>
                <a:spcPts val="100"/>
              </a:spcAft>
              <a:defRPr sz="1300" b="0">
                <a:solidFill>
                  <a:srgbClr val="FFFFFF"/>
                </a:solidFill>
                <a:latin typeface="Aptos Mono"/>
              </a:defRPr>
            </a:pPr>
            <a:r>
              <a:rPr dirty="0"/>
              <a:t>  ("human", "{question}")</a:t>
            </a:r>
          </a:p>
          <a:p>
            <a:pPr>
              <a:spcAft>
                <a:spcPts val="100"/>
              </a:spcAft>
              <a:defRPr sz="1300" b="0">
                <a:solidFill>
                  <a:srgbClr val="FFFFFF"/>
                </a:solidFill>
                <a:latin typeface="Aptos Mono"/>
              </a:defRPr>
            </a:pPr>
            <a:r>
              <a:rPr dirty="0"/>
              <a:t>])</a:t>
            </a:r>
          </a:p>
        </p:txBody>
      </p:sp>
      <p:sp>
        <p:nvSpPr>
          <p:cNvPr id="10" name="Rounded Rectangle 9"/>
          <p:cNvSpPr/>
          <p:nvPr/>
        </p:nvSpPr>
        <p:spPr>
          <a:xfrm>
            <a:off x="7470648" y="1636776"/>
            <a:ext cx="4160520" cy="3154680"/>
          </a:xfrm>
          <a:prstGeom prst="roundRect">
            <a:avLst/>
          </a:prstGeom>
          <a:solidFill>
            <a:srgbClr val="EF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08392" y="1819656"/>
            <a:ext cx="3611880" cy="310896"/>
          </a:xfrm>
          <a:prstGeom prst="rect">
            <a:avLst/>
          </a:prstGeom>
          <a:noFill/>
        </p:spPr>
        <p:txBody>
          <a:bodyPr wrap="square" lIns="36576" tIns="18288">
            <a:spAutoFit/>
          </a:bodyPr>
          <a:lstStyle/>
          <a:p>
            <a:pPr>
              <a:spcAft>
                <a:spcPts val="100"/>
              </a:spcAft>
              <a:defRPr sz="1300" b="1">
                <a:solidFill>
                  <a:srgbClr val="1E314C"/>
                </a:solidFill>
                <a:latin typeface="Aptos"/>
              </a:defRPr>
            </a:pPr>
            <a:r>
              <a:t>SIX POSSIBLE ROUTES</a:t>
            </a:r>
          </a:p>
        </p:txBody>
      </p:sp>
      <p:sp>
        <p:nvSpPr>
          <p:cNvPr id="12" name="Rounded Rectangle 11"/>
          <p:cNvSpPr/>
          <p:nvPr/>
        </p:nvSpPr>
        <p:spPr>
          <a:xfrm>
            <a:off x="7708392" y="2212848"/>
            <a:ext cx="3593592"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36408" y="2249424"/>
            <a:ext cx="3383280" cy="246888"/>
          </a:xfrm>
          <a:prstGeom prst="rect">
            <a:avLst/>
          </a:prstGeom>
          <a:noFill/>
        </p:spPr>
        <p:txBody>
          <a:bodyPr wrap="square" lIns="36576" tIns="18288">
            <a:spAutoFit/>
          </a:bodyPr>
          <a:lstStyle/>
          <a:p>
            <a:pPr>
              <a:spcAft>
                <a:spcPts val="100"/>
              </a:spcAft>
              <a:defRPr sz="1200" b="0">
                <a:solidFill>
                  <a:srgbClr val="1E314C"/>
                </a:solidFill>
                <a:latin typeface="Aptos Mono"/>
              </a:defRPr>
            </a:pPr>
            <a:r>
              <a:rPr dirty="0"/>
              <a:t>course_information</a:t>
            </a:r>
            <a:r>
              <a:rPr lang="en-US" dirty="0"/>
              <a:t> (vector search)</a:t>
            </a:r>
            <a:endParaRPr dirty="0"/>
          </a:p>
        </p:txBody>
      </p:sp>
      <p:sp>
        <p:nvSpPr>
          <p:cNvPr id="14" name="Rounded Rectangle 13"/>
          <p:cNvSpPr/>
          <p:nvPr/>
        </p:nvSpPr>
        <p:spPr>
          <a:xfrm>
            <a:off x="7708392" y="2587752"/>
            <a:ext cx="3593592"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36408" y="2624328"/>
            <a:ext cx="3383280" cy="246888"/>
          </a:xfrm>
          <a:prstGeom prst="rect">
            <a:avLst/>
          </a:prstGeom>
          <a:noFill/>
        </p:spPr>
        <p:txBody>
          <a:bodyPr wrap="square" lIns="36576" tIns="18288">
            <a:spAutoFit/>
          </a:bodyPr>
          <a:lstStyle/>
          <a:p>
            <a:pPr>
              <a:spcAft>
                <a:spcPts val="100"/>
              </a:spcAft>
              <a:defRPr sz="1200" b="0">
                <a:solidFill>
                  <a:srgbClr val="1E314C"/>
                </a:solidFill>
                <a:latin typeface="Aptos Mono"/>
              </a:defRPr>
            </a:pPr>
            <a:r>
              <a:rPr dirty="0"/>
              <a:t>student_record</a:t>
            </a:r>
            <a:r>
              <a:rPr lang="en-US" dirty="0"/>
              <a:t> (dynamoDB)</a:t>
            </a:r>
            <a:endParaRPr dirty="0"/>
          </a:p>
        </p:txBody>
      </p:sp>
      <p:sp>
        <p:nvSpPr>
          <p:cNvPr id="16" name="Rounded Rectangle 15"/>
          <p:cNvSpPr/>
          <p:nvPr/>
        </p:nvSpPr>
        <p:spPr>
          <a:xfrm>
            <a:off x="7708392" y="2962656"/>
            <a:ext cx="3593592"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36408" y="2999232"/>
            <a:ext cx="3483864" cy="249299"/>
          </a:xfrm>
          <a:prstGeom prst="rect">
            <a:avLst/>
          </a:prstGeom>
          <a:noFill/>
        </p:spPr>
        <p:txBody>
          <a:bodyPr wrap="square" lIns="36576" tIns="18288">
            <a:spAutoFit/>
          </a:bodyPr>
          <a:lstStyle/>
          <a:p>
            <a:pPr>
              <a:spcAft>
                <a:spcPts val="100"/>
              </a:spcAft>
              <a:defRPr sz="1200" b="0">
                <a:solidFill>
                  <a:srgbClr val="1E314C"/>
                </a:solidFill>
                <a:latin typeface="Aptos Mono"/>
              </a:defRPr>
            </a:pPr>
            <a:r>
              <a:rPr dirty="0"/>
              <a:t>course_eligibility</a:t>
            </a:r>
            <a:r>
              <a:rPr lang="en-US" dirty="0"/>
              <a:t> (dynamo + Python)</a:t>
            </a:r>
            <a:endParaRPr dirty="0"/>
          </a:p>
        </p:txBody>
      </p:sp>
      <p:sp>
        <p:nvSpPr>
          <p:cNvPr id="18" name="Rounded Rectangle 17"/>
          <p:cNvSpPr/>
          <p:nvPr/>
        </p:nvSpPr>
        <p:spPr>
          <a:xfrm>
            <a:off x="7708392" y="3337560"/>
            <a:ext cx="3593592"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36408" y="3374136"/>
            <a:ext cx="3383280" cy="246888"/>
          </a:xfrm>
          <a:prstGeom prst="rect">
            <a:avLst/>
          </a:prstGeom>
          <a:noFill/>
        </p:spPr>
        <p:txBody>
          <a:bodyPr wrap="square" lIns="36576" tIns="18288">
            <a:spAutoFit/>
          </a:bodyPr>
          <a:lstStyle/>
          <a:p>
            <a:pPr>
              <a:spcAft>
                <a:spcPts val="100"/>
              </a:spcAft>
              <a:defRPr sz="1200" b="1">
                <a:solidFill>
                  <a:srgbClr val="0099AE"/>
                </a:solidFill>
                <a:latin typeface="Aptos Mono"/>
              </a:defRPr>
            </a:pPr>
            <a:r>
              <a:rPr dirty="0">
                <a:solidFill>
                  <a:srgbClr val="002060"/>
                </a:solidFill>
              </a:rPr>
              <a:t>degree_plan</a:t>
            </a:r>
            <a:r>
              <a:rPr lang="en-US" dirty="0">
                <a:solidFill>
                  <a:srgbClr val="002060"/>
                </a:solidFill>
              </a:rPr>
              <a:t> </a:t>
            </a:r>
            <a:r>
              <a:rPr lang="en-US" dirty="0">
                <a:solidFill>
                  <a:srgbClr val="1E314C"/>
                </a:solidFill>
              </a:rPr>
              <a:t>(dynamo + Python)</a:t>
            </a:r>
            <a:endParaRPr dirty="0">
              <a:solidFill>
                <a:srgbClr val="1E314C"/>
              </a:solidFill>
            </a:endParaRPr>
          </a:p>
        </p:txBody>
      </p:sp>
      <p:sp>
        <p:nvSpPr>
          <p:cNvPr id="20" name="Rounded Rectangle 19"/>
          <p:cNvSpPr/>
          <p:nvPr/>
        </p:nvSpPr>
        <p:spPr>
          <a:xfrm>
            <a:off x="7708392" y="3712463"/>
            <a:ext cx="3593592"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836408" y="3749039"/>
            <a:ext cx="3383280" cy="246888"/>
          </a:xfrm>
          <a:prstGeom prst="rect">
            <a:avLst/>
          </a:prstGeom>
          <a:noFill/>
        </p:spPr>
        <p:txBody>
          <a:bodyPr wrap="square" lIns="36576" tIns="18288">
            <a:spAutoFit/>
          </a:bodyPr>
          <a:lstStyle/>
          <a:p>
            <a:pPr>
              <a:spcAft>
                <a:spcPts val="100"/>
              </a:spcAft>
              <a:defRPr sz="1200" b="0">
                <a:solidFill>
                  <a:srgbClr val="1E314C"/>
                </a:solidFill>
                <a:latin typeface="Aptos Mono"/>
              </a:defRPr>
            </a:pPr>
            <a:r>
              <a:rPr dirty="0"/>
              <a:t>compare_plans</a:t>
            </a:r>
            <a:r>
              <a:rPr lang="en-US" dirty="0"/>
              <a:t> (dynamo + Python)</a:t>
            </a:r>
            <a:endParaRPr dirty="0"/>
          </a:p>
        </p:txBody>
      </p:sp>
      <p:sp>
        <p:nvSpPr>
          <p:cNvPr id="22" name="Rounded Rectangle 21"/>
          <p:cNvSpPr/>
          <p:nvPr/>
        </p:nvSpPr>
        <p:spPr>
          <a:xfrm>
            <a:off x="7708392" y="4087368"/>
            <a:ext cx="3593592"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836408" y="4123944"/>
            <a:ext cx="3383280" cy="246888"/>
          </a:xfrm>
          <a:prstGeom prst="rect">
            <a:avLst/>
          </a:prstGeom>
          <a:noFill/>
        </p:spPr>
        <p:txBody>
          <a:bodyPr wrap="square" lIns="36576" tIns="18288">
            <a:spAutoFit/>
          </a:bodyPr>
          <a:lstStyle/>
          <a:p>
            <a:pPr>
              <a:spcAft>
                <a:spcPts val="100"/>
              </a:spcAft>
              <a:defRPr sz="1200" b="0">
                <a:solidFill>
                  <a:srgbClr val="1E314C"/>
                </a:solidFill>
                <a:latin typeface="Aptos Mono"/>
              </a:defRPr>
            </a:pPr>
            <a:r>
              <a:rPr lang="en-US" dirty="0"/>
              <a:t>U</a:t>
            </a:r>
            <a:r>
              <a:rPr dirty="0"/>
              <a:t>nsupported</a:t>
            </a:r>
            <a:r>
              <a:rPr lang="en-US" dirty="0"/>
              <a:t> (fallback response)</a:t>
            </a:r>
            <a:endParaRPr dirty="0"/>
          </a:p>
        </p:txBody>
      </p:sp>
      <p:sp>
        <p:nvSpPr>
          <p:cNvPr id="24" name="Rounded Rectangle 23"/>
          <p:cNvSpPr/>
          <p:nvPr/>
        </p:nvSpPr>
        <p:spPr>
          <a:xfrm>
            <a:off x="548640" y="4983480"/>
            <a:ext cx="6720840" cy="1344168"/>
          </a:xfrm>
          <a:prstGeom prst="roundRect">
            <a:avLst/>
          </a:prstGeom>
          <a:solidFill>
            <a:srgbClr val="EF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8952" y="5102352"/>
            <a:ext cx="6309360" cy="246888"/>
          </a:xfrm>
          <a:prstGeom prst="rect">
            <a:avLst/>
          </a:prstGeom>
          <a:noFill/>
        </p:spPr>
        <p:txBody>
          <a:bodyPr wrap="square" lIns="36576" tIns="18288">
            <a:spAutoFit/>
          </a:bodyPr>
          <a:lstStyle/>
          <a:p>
            <a:pPr>
              <a:spcAft>
                <a:spcPts val="100"/>
              </a:spcAft>
              <a:defRPr sz="1200" b="1">
                <a:solidFill>
                  <a:srgbClr val="0099AE"/>
                </a:solidFill>
                <a:latin typeface="Aptos"/>
              </a:defRPr>
            </a:pPr>
            <a:r>
              <a:rPr dirty="0"/>
              <a:t>02  LANGCHAIN PIPELINE</a:t>
            </a:r>
          </a:p>
        </p:txBody>
      </p:sp>
      <p:sp>
        <p:nvSpPr>
          <p:cNvPr id="26" name="TextBox 25"/>
          <p:cNvSpPr txBox="1"/>
          <p:nvPr/>
        </p:nvSpPr>
        <p:spPr>
          <a:xfrm>
            <a:off x="758952" y="5431536"/>
            <a:ext cx="6510528" cy="264688"/>
          </a:xfrm>
          <a:prstGeom prst="rect">
            <a:avLst/>
          </a:prstGeom>
          <a:noFill/>
        </p:spPr>
        <p:txBody>
          <a:bodyPr wrap="square" lIns="36576" tIns="18288">
            <a:spAutoFit/>
          </a:bodyPr>
          <a:lstStyle/>
          <a:p>
            <a:pPr>
              <a:spcAft>
                <a:spcPts val="100"/>
              </a:spcAft>
              <a:defRPr sz="1300" b="1">
                <a:solidFill>
                  <a:srgbClr val="0D1B30"/>
                </a:solidFill>
                <a:latin typeface="Aptos Mono"/>
              </a:defRPr>
            </a:pPr>
            <a:r>
              <a:rPr dirty="0" err="1"/>
              <a:t>router_chain</a:t>
            </a:r>
            <a:r>
              <a:rPr dirty="0"/>
              <a:t> = (</a:t>
            </a:r>
            <a:r>
              <a:rPr dirty="0" err="1"/>
              <a:t>router_prompt</a:t>
            </a:r>
            <a:r>
              <a:rPr dirty="0"/>
              <a:t> | </a:t>
            </a:r>
            <a:r>
              <a:rPr dirty="0" err="1"/>
              <a:t>router_llm</a:t>
            </a:r>
            <a:r>
              <a:rPr dirty="0"/>
              <a:t> |</a:t>
            </a:r>
            <a:r>
              <a:rPr lang="en-US" dirty="0"/>
              <a:t> </a:t>
            </a:r>
            <a:r>
              <a:rPr dirty="0" err="1"/>
              <a:t>StrOutputParser</a:t>
            </a:r>
            <a:r>
              <a:rPr dirty="0"/>
              <a:t>())</a:t>
            </a:r>
          </a:p>
        </p:txBody>
      </p:sp>
      <p:sp>
        <p:nvSpPr>
          <p:cNvPr id="27" name="Rounded Rectangle 26"/>
          <p:cNvSpPr/>
          <p:nvPr/>
        </p:nvSpPr>
        <p:spPr>
          <a:xfrm>
            <a:off x="7470648" y="4983480"/>
            <a:ext cx="4160520" cy="1344168"/>
          </a:xfrm>
          <a:prstGeom prst="roundRect">
            <a:avLst/>
          </a:prstGeom>
          <a:solidFill>
            <a:srgbClr val="0D1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80960" y="5102352"/>
            <a:ext cx="3749039" cy="246888"/>
          </a:xfrm>
          <a:prstGeom prst="rect">
            <a:avLst/>
          </a:prstGeom>
          <a:noFill/>
        </p:spPr>
        <p:txBody>
          <a:bodyPr wrap="square" lIns="36576" tIns="18288">
            <a:spAutoFit/>
          </a:bodyPr>
          <a:lstStyle/>
          <a:p>
            <a:pPr>
              <a:spcAft>
                <a:spcPts val="100"/>
              </a:spcAft>
              <a:defRPr sz="1200" b="1">
                <a:solidFill>
                  <a:srgbClr val="5EDCE0"/>
                </a:solidFill>
                <a:latin typeface="Aptos"/>
              </a:defRPr>
            </a:pPr>
            <a:r>
              <a:t>03  INVOKE THE CHAIN</a:t>
            </a:r>
          </a:p>
        </p:txBody>
      </p:sp>
      <p:sp>
        <p:nvSpPr>
          <p:cNvPr id="29" name="TextBox 28"/>
          <p:cNvSpPr txBox="1"/>
          <p:nvPr/>
        </p:nvSpPr>
        <p:spPr>
          <a:xfrm>
            <a:off x="7680960" y="5422392"/>
            <a:ext cx="3767328" cy="767903"/>
          </a:xfrm>
          <a:prstGeom prst="rect">
            <a:avLst/>
          </a:prstGeom>
          <a:noFill/>
        </p:spPr>
        <p:txBody>
          <a:bodyPr wrap="square" lIns="36576" tIns="18288">
            <a:spAutoFit/>
          </a:bodyPr>
          <a:lstStyle/>
          <a:p>
            <a:pPr>
              <a:spcAft>
                <a:spcPts val="100"/>
              </a:spcAft>
              <a:defRPr sz="1080" b="0">
                <a:solidFill>
                  <a:srgbClr val="FFFFFF"/>
                </a:solidFill>
                <a:latin typeface="Aptos Mono"/>
              </a:defRPr>
            </a:pPr>
            <a:r>
              <a:rPr dirty="0"/>
              <a:t>decision = </a:t>
            </a:r>
            <a:r>
              <a:rPr dirty="0" err="1"/>
              <a:t>router_chain.invoke</a:t>
            </a:r>
            <a:r>
              <a:rPr dirty="0"/>
              <a:t>({</a:t>
            </a:r>
          </a:p>
          <a:p>
            <a:pPr>
              <a:spcAft>
                <a:spcPts val="100"/>
              </a:spcAft>
              <a:defRPr sz="1080" b="0">
                <a:solidFill>
                  <a:srgbClr val="FFFFFF"/>
                </a:solidFill>
                <a:latin typeface="Aptos Mono"/>
              </a:defRPr>
            </a:pPr>
            <a:r>
              <a:rPr dirty="0"/>
              <a:t>  "question": question,</a:t>
            </a:r>
          </a:p>
          <a:p>
            <a:pPr>
              <a:spcAft>
                <a:spcPts val="100"/>
              </a:spcAft>
              <a:defRPr sz="1080" b="0">
                <a:solidFill>
                  <a:srgbClr val="FFFFFF"/>
                </a:solidFill>
                <a:latin typeface="Aptos Mono"/>
              </a:defRPr>
            </a:pPr>
            <a:r>
              <a:rPr dirty="0"/>
              <a:t>  "</a:t>
            </a:r>
            <a:r>
              <a:rPr lang="en-US" dirty="0"/>
              <a:t>history</a:t>
            </a:r>
            <a:r>
              <a:rPr dirty="0"/>
              <a:t>": </a:t>
            </a:r>
            <a:r>
              <a:rPr lang="en-US" dirty="0" err="1"/>
              <a:t>history_text</a:t>
            </a:r>
            <a:endParaRPr dirty="0"/>
          </a:p>
          <a:p>
            <a:pPr>
              <a:spcAft>
                <a:spcPts val="100"/>
              </a:spcAft>
              <a:defRPr sz="1080" b="0">
                <a:solidFill>
                  <a:srgbClr val="FFFFFF"/>
                </a:solidFill>
                <a:latin typeface="Aptos Mono"/>
              </a:defRPr>
            </a:pPr>
            <a:r>
              <a:rPr dirty="0"/>
              <a:t>})</a:t>
            </a:r>
          </a:p>
        </p:txBody>
      </p:sp>
      <p:sp>
        <p:nvSpPr>
          <p:cNvPr id="30" name="TextBox 29"/>
          <p:cNvSpPr txBox="1"/>
          <p:nvPr/>
        </p:nvSpPr>
        <p:spPr>
          <a:xfrm>
            <a:off x="594360" y="6510528"/>
            <a:ext cx="10972800" cy="201168"/>
          </a:xfrm>
          <a:prstGeom prst="rect">
            <a:avLst/>
          </a:prstGeom>
          <a:noFill/>
        </p:spPr>
        <p:txBody>
          <a:bodyPr wrap="square" lIns="36576" tIns="18288">
            <a:spAutoFit/>
          </a:bodyPr>
          <a:lstStyle/>
          <a:p>
            <a:pPr>
              <a:spcAft>
                <a:spcPts val="100"/>
              </a:spcAft>
              <a:defRPr sz="1100" b="0">
                <a:solidFill>
                  <a:srgbClr val="5F7083"/>
                </a:solidFill>
                <a:latin typeface="Aptos"/>
              </a:defRPr>
            </a:pPr>
            <a:r>
              <a:t>The LLM classifies intent only; Python dispatches the selected advising workflow.</a:t>
            </a:r>
          </a:p>
        </p:txBody>
      </p:sp>
      <p:sp>
        <p:nvSpPr>
          <p:cNvPr id="31" name="Rectangle 30">
            <a:extLst>
              <a:ext uri="{FF2B5EF4-FFF2-40B4-BE49-F238E27FC236}">
                <a16:creationId xmlns:a16="http://schemas.microsoft.com/office/drawing/2014/main" id="{69E11393-CAF6-ADAA-B4DE-06C5DE863C1D}"/>
              </a:ext>
            </a:extLst>
          </p:cNvPr>
          <p:cNvSpPr/>
          <p:nvPr/>
        </p:nvSpPr>
        <p:spPr>
          <a:xfrm>
            <a:off x="0" y="0"/>
            <a:ext cx="12191695" cy="82296"/>
          </a:xfrm>
          <a:prstGeom prst="rect">
            <a:avLst/>
          </a:prstGeom>
          <a:solidFill>
            <a:srgbClr val="0C35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10"/>
          <p:cNvSpPr/>
          <p:nvPr/>
        </p:nvSpPr>
        <p:spPr>
          <a:xfrm>
            <a:off x="305" y="0"/>
            <a:ext cx="12191695" cy="82296"/>
          </a:xfrm>
          <a:prstGeom prst="rect">
            <a:avLst/>
          </a:prstGeom>
          <a:solidFill>
            <a:srgbClr val="0C3568"/>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30" name="Google Shape;530;p10"/>
          <p:cNvSpPr txBox="1"/>
          <p:nvPr/>
        </p:nvSpPr>
        <p:spPr>
          <a:xfrm>
            <a:off x="521207" y="246888"/>
            <a:ext cx="6400800" cy="228600"/>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300" b="1" i="0" u="none" strike="noStrike" cap="none">
                <a:solidFill>
                  <a:srgbClr val="0055A4"/>
                </a:solidFill>
                <a:latin typeface="Arial"/>
                <a:ea typeface="Arial"/>
                <a:cs typeface="Arial"/>
                <a:sym typeface="Arial"/>
              </a:rPr>
              <a:t>UTA • TEAM 2 AI ADVISOR</a:t>
            </a:r>
            <a:endParaRPr/>
          </a:p>
        </p:txBody>
      </p:sp>
      <p:sp>
        <p:nvSpPr>
          <p:cNvPr id="531" name="Google Shape;531;p10"/>
          <p:cNvSpPr txBox="1"/>
          <p:nvPr/>
        </p:nvSpPr>
        <p:spPr>
          <a:xfrm>
            <a:off x="521207" y="630936"/>
            <a:ext cx="10972800" cy="495520"/>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2800" b="1" i="0" u="none" strike="noStrike" cap="none">
                <a:solidFill>
                  <a:srgbClr val="0C3568"/>
                </a:solidFill>
                <a:latin typeface="Arial"/>
                <a:ea typeface="Arial"/>
                <a:cs typeface="Arial"/>
                <a:sym typeface="Arial"/>
              </a:rPr>
              <a:t>Path A: RAG / Vector Search Retrieval</a:t>
            </a:r>
            <a:endParaRPr/>
          </a:p>
        </p:txBody>
      </p:sp>
      <p:sp>
        <p:nvSpPr>
          <p:cNvPr id="532" name="Google Shape;532;p10"/>
          <p:cNvSpPr/>
          <p:nvPr/>
        </p:nvSpPr>
        <p:spPr>
          <a:xfrm>
            <a:off x="502920" y="1271016"/>
            <a:ext cx="11338560" cy="22860"/>
          </a:xfrm>
          <a:prstGeom prst="rect">
            <a:avLst/>
          </a:prstGeom>
          <a:solidFill>
            <a:srgbClr val="CDD7E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33" name="Google Shape;533;p10"/>
          <p:cNvSpPr txBox="1"/>
          <p:nvPr/>
        </p:nvSpPr>
        <p:spPr>
          <a:xfrm>
            <a:off x="740664" y="1435608"/>
            <a:ext cx="10972800" cy="411480"/>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500" b="0" i="0" u="none" strike="noStrike" cap="none">
                <a:solidFill>
                  <a:srgbClr val="596E88"/>
                </a:solidFill>
                <a:latin typeface="Arial"/>
                <a:ea typeface="Arial"/>
                <a:cs typeface="Arial"/>
                <a:sym typeface="Arial"/>
              </a:rPr>
              <a:t>LangChain first routes the question; course-information requests enter the RAG pipeline</a:t>
            </a:r>
            <a:endParaRPr/>
          </a:p>
        </p:txBody>
      </p:sp>
      <p:sp>
        <p:nvSpPr>
          <p:cNvPr id="534" name="Google Shape;534;p10"/>
          <p:cNvSpPr/>
          <p:nvPr/>
        </p:nvSpPr>
        <p:spPr>
          <a:xfrm>
            <a:off x="521207" y="2121408"/>
            <a:ext cx="1732788" cy="2395728"/>
          </a:xfrm>
          <a:prstGeom prst="roundRect">
            <a:avLst>
              <a:gd name="adj" fmla="val 16667"/>
            </a:avLst>
          </a:prstGeom>
          <a:solidFill>
            <a:srgbClr val="FFFFFF"/>
          </a:solidFill>
          <a:ln w="9525" cap="flat" cmpd="sng">
            <a:solidFill>
              <a:srgbClr val="DCE6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35" name="Google Shape;535;p10"/>
          <p:cNvSpPr/>
          <p:nvPr/>
        </p:nvSpPr>
        <p:spPr>
          <a:xfrm>
            <a:off x="640080" y="2276856"/>
            <a:ext cx="393192" cy="393192"/>
          </a:xfrm>
          <a:prstGeom prst="roundRect">
            <a:avLst>
              <a:gd name="adj" fmla="val 16667"/>
            </a:avLst>
          </a:prstGeom>
          <a:solidFill>
            <a:srgbClr val="002060"/>
          </a:solidFill>
          <a:ln w="9525" cap="flat" cmpd="sng">
            <a:solidFill>
              <a:srgbClr val="002060"/>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36" name="Google Shape;536;p10"/>
          <p:cNvSpPr txBox="1"/>
          <p:nvPr/>
        </p:nvSpPr>
        <p:spPr>
          <a:xfrm>
            <a:off x="731519" y="2322576"/>
            <a:ext cx="237744" cy="228600"/>
          </a:xfrm>
          <a:prstGeom prst="rect">
            <a:avLst/>
          </a:prstGeom>
          <a:noFill/>
          <a:ln w="9525" cap="flat" cmpd="sng">
            <a:solidFill>
              <a:srgbClr val="002060"/>
            </a:solidFill>
            <a:prstDash val="solid"/>
            <a:round/>
            <a:headEnd type="none" w="sm" len="sm"/>
            <a:tailEnd type="none" w="sm" len="sm"/>
          </a:ln>
        </p:spPr>
        <p:txBody>
          <a:bodyPr spcFirstLastPara="1" wrap="square" lIns="27425" tIns="18275" rIns="91425" bIns="45700" anchor="t" anchorCtr="0">
            <a:spAutoFit/>
          </a:bodyPr>
          <a:lstStyle/>
          <a:p>
            <a:pPr marL="0" marR="0" lvl="0" indent="0" algn="l" rtl="0">
              <a:spcBef>
                <a:spcPts val="0"/>
              </a:spcBef>
              <a:spcAft>
                <a:spcPts val="0"/>
              </a:spcAft>
              <a:buNone/>
            </a:pPr>
            <a:r>
              <a:rPr lang="en-US" sz="1100" b="1" i="0" u="none" strike="noStrike" cap="none">
                <a:solidFill>
                  <a:srgbClr val="FFFFFF"/>
                </a:solidFill>
                <a:latin typeface="Arial"/>
                <a:ea typeface="Arial"/>
                <a:cs typeface="Arial"/>
                <a:sym typeface="Arial"/>
              </a:rPr>
              <a:t>1</a:t>
            </a:r>
            <a:endParaRPr/>
          </a:p>
        </p:txBody>
      </p:sp>
      <p:sp>
        <p:nvSpPr>
          <p:cNvPr id="537" name="Google Shape;537;p10"/>
          <p:cNvSpPr txBox="1"/>
          <p:nvPr/>
        </p:nvSpPr>
        <p:spPr>
          <a:xfrm>
            <a:off x="649224" y="2852928"/>
            <a:ext cx="1513332" cy="502920"/>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600" b="1" i="0" u="none" strike="noStrike" cap="none">
                <a:solidFill>
                  <a:srgbClr val="0C3568"/>
                </a:solidFill>
                <a:latin typeface="Arial"/>
                <a:ea typeface="Arial"/>
                <a:cs typeface="Arial"/>
                <a:sym typeface="Arial"/>
              </a:rPr>
              <a:t>Question</a:t>
            </a:r>
            <a:endParaRPr/>
          </a:p>
        </p:txBody>
      </p:sp>
      <p:sp>
        <p:nvSpPr>
          <p:cNvPr id="538" name="Google Shape;538;p10"/>
          <p:cNvSpPr txBox="1"/>
          <p:nvPr/>
        </p:nvSpPr>
        <p:spPr>
          <a:xfrm>
            <a:off x="649224" y="3383280"/>
            <a:ext cx="1504188" cy="932688"/>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200" b="0" i="0" u="none" strike="noStrike" cap="none">
                <a:solidFill>
                  <a:srgbClr val="596E88"/>
                </a:solidFill>
                <a:latin typeface="Arial"/>
                <a:ea typeface="Arial"/>
                <a:cs typeface="Arial"/>
                <a:sym typeface="Arial"/>
              </a:rPr>
              <a:t>“What is CSE 4308 about?”</a:t>
            </a:r>
            <a:endParaRPr/>
          </a:p>
        </p:txBody>
      </p:sp>
      <p:sp>
        <p:nvSpPr>
          <p:cNvPr id="540" name="Google Shape;540;p10"/>
          <p:cNvSpPr/>
          <p:nvPr/>
        </p:nvSpPr>
        <p:spPr>
          <a:xfrm>
            <a:off x="2409444" y="2121408"/>
            <a:ext cx="1732788" cy="2395728"/>
          </a:xfrm>
          <a:prstGeom prst="roundRect">
            <a:avLst>
              <a:gd name="adj" fmla="val 16667"/>
            </a:avLst>
          </a:prstGeom>
          <a:solidFill>
            <a:srgbClr val="FFFFFF"/>
          </a:solidFill>
          <a:ln w="9525" cap="flat" cmpd="sng">
            <a:solidFill>
              <a:srgbClr val="DCE6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41" name="Google Shape;541;p10"/>
          <p:cNvSpPr/>
          <p:nvPr/>
        </p:nvSpPr>
        <p:spPr>
          <a:xfrm>
            <a:off x="2528316" y="2276856"/>
            <a:ext cx="393192" cy="393192"/>
          </a:xfrm>
          <a:prstGeom prst="roundRect">
            <a:avLst>
              <a:gd name="adj" fmla="val 16667"/>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42" name="Google Shape;542;p10"/>
          <p:cNvSpPr txBox="1"/>
          <p:nvPr/>
        </p:nvSpPr>
        <p:spPr>
          <a:xfrm>
            <a:off x="2619756" y="2322576"/>
            <a:ext cx="237744" cy="228600"/>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100" b="1" i="0" u="none" strike="noStrike" cap="none">
                <a:solidFill>
                  <a:srgbClr val="FFFFFF"/>
                </a:solidFill>
                <a:latin typeface="Arial"/>
                <a:ea typeface="Arial"/>
                <a:cs typeface="Arial"/>
                <a:sym typeface="Arial"/>
              </a:rPr>
              <a:t>2</a:t>
            </a:r>
            <a:endParaRPr/>
          </a:p>
        </p:txBody>
      </p:sp>
      <p:sp>
        <p:nvSpPr>
          <p:cNvPr id="543" name="Google Shape;543;p10"/>
          <p:cNvSpPr txBox="1"/>
          <p:nvPr/>
        </p:nvSpPr>
        <p:spPr>
          <a:xfrm>
            <a:off x="2537460" y="2852928"/>
            <a:ext cx="1513332" cy="502920"/>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600" b="1" i="0" u="none" strike="noStrike" cap="none">
                <a:solidFill>
                  <a:srgbClr val="0C3568"/>
                </a:solidFill>
                <a:latin typeface="Arial"/>
                <a:ea typeface="Arial"/>
                <a:cs typeface="Arial"/>
                <a:sym typeface="Arial"/>
              </a:rPr>
              <a:t>LLM routing</a:t>
            </a:r>
            <a:endParaRPr/>
          </a:p>
        </p:txBody>
      </p:sp>
      <p:sp>
        <p:nvSpPr>
          <p:cNvPr id="544" name="Google Shape;544;p10"/>
          <p:cNvSpPr txBox="1"/>
          <p:nvPr/>
        </p:nvSpPr>
        <p:spPr>
          <a:xfrm>
            <a:off x="2537460" y="3383280"/>
            <a:ext cx="1504188" cy="618631"/>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200" b="0" i="0" u="none" strike="noStrike" cap="none">
                <a:solidFill>
                  <a:srgbClr val="596E88"/>
                </a:solidFill>
                <a:latin typeface="Arial"/>
                <a:ea typeface="Arial"/>
                <a:cs typeface="Arial"/>
                <a:sym typeface="Arial"/>
              </a:rPr>
              <a:t>Bedrock classifies question → course_information</a:t>
            </a:r>
            <a:endParaRPr/>
          </a:p>
        </p:txBody>
      </p:sp>
      <p:sp>
        <p:nvSpPr>
          <p:cNvPr id="546" name="Google Shape;546;p10"/>
          <p:cNvSpPr/>
          <p:nvPr/>
        </p:nvSpPr>
        <p:spPr>
          <a:xfrm>
            <a:off x="4297680" y="2121408"/>
            <a:ext cx="1732788" cy="2395728"/>
          </a:xfrm>
          <a:prstGeom prst="roundRect">
            <a:avLst>
              <a:gd name="adj" fmla="val 16667"/>
            </a:avLst>
          </a:prstGeom>
          <a:solidFill>
            <a:srgbClr val="FFFFFF"/>
          </a:solidFill>
          <a:ln w="9525" cap="flat" cmpd="sng">
            <a:solidFill>
              <a:srgbClr val="DCE6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47" name="Google Shape;547;p10"/>
          <p:cNvSpPr/>
          <p:nvPr/>
        </p:nvSpPr>
        <p:spPr>
          <a:xfrm>
            <a:off x="4416552" y="2276856"/>
            <a:ext cx="393192" cy="393192"/>
          </a:xfrm>
          <a:prstGeom prst="roundRect">
            <a:avLst>
              <a:gd name="adj" fmla="val 16667"/>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48" name="Google Shape;548;p10"/>
          <p:cNvSpPr txBox="1"/>
          <p:nvPr/>
        </p:nvSpPr>
        <p:spPr>
          <a:xfrm>
            <a:off x="4507992" y="2322576"/>
            <a:ext cx="237744" cy="228600"/>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100" b="1" i="0" u="none" strike="noStrike" cap="none">
                <a:solidFill>
                  <a:srgbClr val="FFFFFF"/>
                </a:solidFill>
                <a:latin typeface="Arial"/>
                <a:ea typeface="Arial"/>
                <a:cs typeface="Arial"/>
                <a:sym typeface="Arial"/>
              </a:rPr>
              <a:t>3</a:t>
            </a:r>
            <a:endParaRPr/>
          </a:p>
        </p:txBody>
      </p:sp>
      <p:sp>
        <p:nvSpPr>
          <p:cNvPr id="549" name="Google Shape;549;p10"/>
          <p:cNvSpPr txBox="1"/>
          <p:nvPr/>
        </p:nvSpPr>
        <p:spPr>
          <a:xfrm>
            <a:off x="4425696" y="2852928"/>
            <a:ext cx="1513332" cy="502920"/>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600" b="1" i="0" u="none" strike="noStrike" cap="none">
                <a:solidFill>
                  <a:srgbClr val="0C3568"/>
                </a:solidFill>
                <a:latin typeface="Arial"/>
                <a:ea typeface="Arial"/>
                <a:cs typeface="Arial"/>
                <a:sym typeface="Arial"/>
              </a:rPr>
              <a:t>Embed query</a:t>
            </a:r>
            <a:endParaRPr/>
          </a:p>
        </p:txBody>
      </p:sp>
      <p:sp>
        <p:nvSpPr>
          <p:cNvPr id="550" name="Google Shape;550;p10"/>
          <p:cNvSpPr txBox="1"/>
          <p:nvPr/>
        </p:nvSpPr>
        <p:spPr>
          <a:xfrm>
            <a:off x="4425696" y="3383280"/>
            <a:ext cx="1504188" cy="932688"/>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200" b="0" i="0" u="none" strike="noStrike" cap="none">
                <a:solidFill>
                  <a:srgbClr val="596E88"/>
                </a:solidFill>
                <a:latin typeface="Arial"/>
                <a:ea typeface="Arial"/>
                <a:cs typeface="Arial"/>
                <a:sym typeface="Arial"/>
              </a:rPr>
              <a:t>Titan Embed v2 converts question to vector</a:t>
            </a:r>
            <a:endParaRPr/>
          </a:p>
        </p:txBody>
      </p:sp>
      <p:sp>
        <p:nvSpPr>
          <p:cNvPr id="552" name="Google Shape;552;p10"/>
          <p:cNvSpPr/>
          <p:nvPr/>
        </p:nvSpPr>
        <p:spPr>
          <a:xfrm>
            <a:off x="6185916" y="2121408"/>
            <a:ext cx="1732788" cy="2395728"/>
          </a:xfrm>
          <a:prstGeom prst="roundRect">
            <a:avLst>
              <a:gd name="adj" fmla="val 16667"/>
            </a:avLst>
          </a:prstGeom>
          <a:solidFill>
            <a:srgbClr val="FFFFFF"/>
          </a:solidFill>
          <a:ln w="9525" cap="flat" cmpd="sng">
            <a:solidFill>
              <a:srgbClr val="DCE6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53" name="Google Shape;553;p10"/>
          <p:cNvSpPr/>
          <p:nvPr/>
        </p:nvSpPr>
        <p:spPr>
          <a:xfrm>
            <a:off x="6304788" y="2276856"/>
            <a:ext cx="393192" cy="393192"/>
          </a:xfrm>
          <a:prstGeom prst="roundRect">
            <a:avLst>
              <a:gd name="adj" fmla="val 16667"/>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54" name="Google Shape;554;p10"/>
          <p:cNvSpPr txBox="1"/>
          <p:nvPr/>
        </p:nvSpPr>
        <p:spPr>
          <a:xfrm>
            <a:off x="6396228" y="2322576"/>
            <a:ext cx="237744" cy="228600"/>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100" b="1" i="0" u="none" strike="noStrike" cap="none">
                <a:solidFill>
                  <a:srgbClr val="FFFFFF"/>
                </a:solidFill>
                <a:latin typeface="Arial"/>
                <a:ea typeface="Arial"/>
                <a:cs typeface="Arial"/>
                <a:sym typeface="Arial"/>
              </a:rPr>
              <a:t>4</a:t>
            </a:r>
            <a:endParaRPr/>
          </a:p>
        </p:txBody>
      </p:sp>
      <p:sp>
        <p:nvSpPr>
          <p:cNvPr id="555" name="Google Shape;555;p10"/>
          <p:cNvSpPr txBox="1"/>
          <p:nvPr/>
        </p:nvSpPr>
        <p:spPr>
          <a:xfrm>
            <a:off x="6313932" y="2852928"/>
            <a:ext cx="1513332" cy="502920"/>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600" b="1" i="0" u="none" strike="noStrike" cap="none">
                <a:solidFill>
                  <a:srgbClr val="0C3568"/>
                </a:solidFill>
                <a:latin typeface="Arial"/>
                <a:ea typeface="Arial"/>
                <a:cs typeface="Arial"/>
                <a:sym typeface="Arial"/>
              </a:rPr>
              <a:t>Vector search</a:t>
            </a:r>
            <a:endParaRPr/>
          </a:p>
        </p:txBody>
      </p:sp>
      <p:sp>
        <p:nvSpPr>
          <p:cNvPr id="556" name="Google Shape;556;p10"/>
          <p:cNvSpPr txBox="1"/>
          <p:nvPr/>
        </p:nvSpPr>
        <p:spPr>
          <a:xfrm>
            <a:off x="6313932" y="3383280"/>
            <a:ext cx="1504188" cy="618631"/>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200" b="0" i="0" u="none" strike="noStrike" cap="none">
                <a:solidFill>
                  <a:srgbClr val="596E88"/>
                </a:solidFill>
                <a:latin typeface="Arial"/>
                <a:ea typeface="Arial"/>
                <a:cs typeface="Arial"/>
                <a:sym typeface="Arial"/>
              </a:rPr>
              <a:t>ChromaDB provides relevant document chunks</a:t>
            </a:r>
            <a:endParaRPr/>
          </a:p>
        </p:txBody>
      </p:sp>
      <p:sp>
        <p:nvSpPr>
          <p:cNvPr id="558" name="Google Shape;558;p10"/>
          <p:cNvSpPr/>
          <p:nvPr/>
        </p:nvSpPr>
        <p:spPr>
          <a:xfrm>
            <a:off x="8074152" y="2121408"/>
            <a:ext cx="1732788" cy="2395728"/>
          </a:xfrm>
          <a:prstGeom prst="roundRect">
            <a:avLst>
              <a:gd name="adj" fmla="val 16667"/>
            </a:avLst>
          </a:prstGeom>
          <a:solidFill>
            <a:srgbClr val="FFFFFF"/>
          </a:solidFill>
          <a:ln w="9525" cap="flat" cmpd="sng">
            <a:solidFill>
              <a:srgbClr val="DCE6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59" name="Google Shape;559;p10"/>
          <p:cNvSpPr/>
          <p:nvPr/>
        </p:nvSpPr>
        <p:spPr>
          <a:xfrm>
            <a:off x="8193024" y="2276856"/>
            <a:ext cx="393192" cy="393192"/>
          </a:xfrm>
          <a:prstGeom prst="roundRect">
            <a:avLst>
              <a:gd name="adj" fmla="val 16667"/>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60" name="Google Shape;560;p10"/>
          <p:cNvSpPr txBox="1"/>
          <p:nvPr/>
        </p:nvSpPr>
        <p:spPr>
          <a:xfrm>
            <a:off x="8284464" y="2322576"/>
            <a:ext cx="237744" cy="228600"/>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100" b="1" i="0" u="none" strike="noStrike" cap="none">
                <a:solidFill>
                  <a:srgbClr val="FFFFFF"/>
                </a:solidFill>
                <a:latin typeface="Arial"/>
                <a:ea typeface="Arial"/>
                <a:cs typeface="Arial"/>
                <a:sym typeface="Arial"/>
              </a:rPr>
              <a:t>5</a:t>
            </a:r>
            <a:endParaRPr/>
          </a:p>
        </p:txBody>
      </p:sp>
      <p:sp>
        <p:nvSpPr>
          <p:cNvPr id="561" name="Google Shape;561;p10"/>
          <p:cNvSpPr txBox="1"/>
          <p:nvPr/>
        </p:nvSpPr>
        <p:spPr>
          <a:xfrm>
            <a:off x="8202168" y="2852928"/>
            <a:ext cx="1513332" cy="502920"/>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600" b="1" i="0" u="none" strike="noStrike" cap="none">
                <a:solidFill>
                  <a:srgbClr val="0C3568"/>
                </a:solidFill>
                <a:latin typeface="Arial"/>
                <a:ea typeface="Arial"/>
                <a:cs typeface="Arial"/>
                <a:sym typeface="Arial"/>
              </a:rPr>
              <a:t>Prompt assembly</a:t>
            </a:r>
            <a:endParaRPr/>
          </a:p>
        </p:txBody>
      </p:sp>
      <p:sp>
        <p:nvSpPr>
          <p:cNvPr id="562" name="Google Shape;562;p10"/>
          <p:cNvSpPr txBox="1"/>
          <p:nvPr/>
        </p:nvSpPr>
        <p:spPr>
          <a:xfrm>
            <a:off x="8202168" y="3383280"/>
            <a:ext cx="1504188" cy="932688"/>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200" b="0" i="0" u="none" strike="noStrike" cap="none">
                <a:solidFill>
                  <a:srgbClr val="596E88"/>
                </a:solidFill>
                <a:latin typeface="Arial"/>
                <a:ea typeface="Arial"/>
                <a:cs typeface="Arial"/>
                <a:sym typeface="Arial"/>
              </a:rPr>
              <a:t>LangChain combines question + context</a:t>
            </a:r>
            <a:endParaRPr/>
          </a:p>
        </p:txBody>
      </p:sp>
      <p:sp>
        <p:nvSpPr>
          <p:cNvPr id="564" name="Google Shape;564;p10"/>
          <p:cNvSpPr/>
          <p:nvPr/>
        </p:nvSpPr>
        <p:spPr>
          <a:xfrm>
            <a:off x="9962388" y="2121408"/>
            <a:ext cx="1732788" cy="2395728"/>
          </a:xfrm>
          <a:prstGeom prst="roundRect">
            <a:avLst>
              <a:gd name="adj" fmla="val 16667"/>
            </a:avLst>
          </a:prstGeom>
          <a:solidFill>
            <a:srgbClr val="FFFFFF"/>
          </a:solidFill>
          <a:ln w="9525" cap="flat" cmpd="sng">
            <a:solidFill>
              <a:srgbClr val="DCE6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65" name="Google Shape;565;p10"/>
          <p:cNvSpPr/>
          <p:nvPr/>
        </p:nvSpPr>
        <p:spPr>
          <a:xfrm>
            <a:off x="10081260" y="2276856"/>
            <a:ext cx="393192" cy="393192"/>
          </a:xfrm>
          <a:prstGeom prst="roundRect">
            <a:avLst>
              <a:gd name="adj" fmla="val 16667"/>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66" name="Google Shape;566;p10"/>
          <p:cNvSpPr txBox="1"/>
          <p:nvPr/>
        </p:nvSpPr>
        <p:spPr>
          <a:xfrm>
            <a:off x="10172700" y="2322576"/>
            <a:ext cx="237744" cy="228600"/>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100" b="1" i="0" u="none" strike="noStrike" cap="none">
                <a:solidFill>
                  <a:srgbClr val="FFFFFF"/>
                </a:solidFill>
                <a:latin typeface="Arial"/>
                <a:ea typeface="Arial"/>
                <a:cs typeface="Arial"/>
                <a:sym typeface="Arial"/>
              </a:rPr>
              <a:t>6</a:t>
            </a:r>
            <a:endParaRPr/>
          </a:p>
        </p:txBody>
      </p:sp>
      <p:sp>
        <p:nvSpPr>
          <p:cNvPr id="567" name="Google Shape;567;p10"/>
          <p:cNvSpPr txBox="1"/>
          <p:nvPr/>
        </p:nvSpPr>
        <p:spPr>
          <a:xfrm>
            <a:off x="10090404" y="2852928"/>
            <a:ext cx="1513332" cy="502920"/>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600" b="1" i="0" u="none" strike="noStrike" cap="none">
                <a:solidFill>
                  <a:srgbClr val="0C3568"/>
                </a:solidFill>
                <a:latin typeface="Arial"/>
                <a:ea typeface="Arial"/>
                <a:cs typeface="Arial"/>
                <a:sym typeface="Arial"/>
              </a:rPr>
              <a:t>LLM response</a:t>
            </a:r>
            <a:endParaRPr/>
          </a:p>
        </p:txBody>
      </p:sp>
      <p:sp>
        <p:nvSpPr>
          <p:cNvPr id="568" name="Google Shape;568;p10"/>
          <p:cNvSpPr txBox="1"/>
          <p:nvPr/>
        </p:nvSpPr>
        <p:spPr>
          <a:xfrm>
            <a:off x="10090404" y="3383280"/>
            <a:ext cx="1504188" cy="932688"/>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200" b="0" i="0" u="none" strike="noStrike" cap="none">
                <a:solidFill>
                  <a:srgbClr val="596E88"/>
                </a:solidFill>
                <a:latin typeface="Arial"/>
                <a:ea typeface="Arial"/>
                <a:cs typeface="Arial"/>
                <a:sym typeface="Arial"/>
              </a:rPr>
              <a:t>Bedrock Gemma generates grounded answer</a:t>
            </a:r>
            <a:endParaRPr/>
          </a:p>
        </p:txBody>
      </p:sp>
      <p:sp>
        <p:nvSpPr>
          <p:cNvPr id="569" name="Google Shape;569;p10"/>
          <p:cNvSpPr/>
          <p:nvPr/>
        </p:nvSpPr>
        <p:spPr>
          <a:xfrm>
            <a:off x="786384" y="4974336"/>
            <a:ext cx="10652760" cy="804672"/>
          </a:xfrm>
          <a:prstGeom prst="roundRect">
            <a:avLst>
              <a:gd name="adj" fmla="val 16667"/>
            </a:avLst>
          </a:prstGeom>
          <a:solidFill>
            <a:srgbClr val="EAF2F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70" name="Google Shape;570;p10"/>
          <p:cNvSpPr txBox="1"/>
          <p:nvPr/>
        </p:nvSpPr>
        <p:spPr>
          <a:xfrm>
            <a:off x="987552" y="5157216"/>
            <a:ext cx="10332720" cy="438912"/>
          </a:xfrm>
          <a:prstGeom prst="rect">
            <a:avLst/>
          </a:prstGeom>
          <a:noFill/>
          <a:ln>
            <a:noFill/>
          </a:ln>
        </p:spPr>
        <p:txBody>
          <a:bodyPr spcFirstLastPara="1" wrap="square" lIns="27425" tIns="18275" rIns="91425" bIns="45700" anchor="t" anchorCtr="0">
            <a:spAutoFit/>
          </a:bodyPr>
          <a:lstStyle/>
          <a:p>
            <a:pPr marL="0" marR="0" lvl="0" indent="0" algn="ctr" rtl="0">
              <a:spcBef>
                <a:spcPts val="0"/>
              </a:spcBef>
              <a:spcAft>
                <a:spcPts val="0"/>
              </a:spcAft>
              <a:buNone/>
            </a:pPr>
            <a:r>
              <a:rPr lang="en-US" sz="1400" b="1" i="0" u="none" strike="noStrike" cap="none">
                <a:solidFill>
                  <a:srgbClr val="0C3568"/>
                </a:solidFill>
                <a:latin typeface="Arial"/>
                <a:ea typeface="Arial"/>
                <a:cs typeface="Arial"/>
                <a:sym typeface="Arial"/>
              </a:rPr>
              <a:t>Routing decision: only course_information uses RAG; other routes use their own advising workflows.</a:t>
            </a:r>
            <a:endParaRPr/>
          </a:p>
        </p:txBody>
      </p:sp>
      <p:sp>
        <p:nvSpPr>
          <p:cNvPr id="571" name="Google Shape;571;p10"/>
          <p:cNvSpPr txBox="1"/>
          <p:nvPr/>
        </p:nvSpPr>
        <p:spPr>
          <a:xfrm>
            <a:off x="530352" y="6519672"/>
            <a:ext cx="6400800" cy="201168"/>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900" b="0" i="0" u="none" strike="noStrike" cap="none">
                <a:solidFill>
                  <a:srgbClr val="596E88"/>
                </a:solidFill>
                <a:latin typeface="Arial"/>
                <a:ea typeface="Arial"/>
                <a:cs typeface="Arial"/>
                <a:sym typeface="Arial"/>
              </a:rPr>
              <a:t>CSE 4392 / 5320  •  TEAM ASSIGNMENT 2</a:t>
            </a:r>
            <a:endParaRPr/>
          </a:p>
        </p:txBody>
      </p:sp>
      <p:sp>
        <p:nvSpPr>
          <p:cNvPr id="539" name="Google Shape;539;p10"/>
          <p:cNvSpPr txBox="1"/>
          <p:nvPr/>
        </p:nvSpPr>
        <p:spPr>
          <a:xfrm>
            <a:off x="2258568" y="3136392"/>
            <a:ext cx="164592" cy="326210"/>
          </a:xfrm>
          <a:prstGeom prst="rect">
            <a:avLst/>
          </a:prstGeom>
          <a:noFill/>
          <a:ln>
            <a:noFill/>
          </a:ln>
        </p:spPr>
        <p:txBody>
          <a:bodyPr spcFirstLastPara="1" wrap="square" lIns="27425" tIns="18275" rIns="91425" bIns="45700" anchor="t" anchorCtr="0">
            <a:spAutoFit/>
          </a:bodyPr>
          <a:lstStyle/>
          <a:p>
            <a:pPr lvl="1"/>
            <a:r>
              <a:rPr lang="en-US" sz="1700" b="1" i="0" u="none" strike="noStrike" cap="none" dirty="0">
                <a:solidFill>
                  <a:srgbClr val="F57725"/>
                </a:solidFill>
                <a:latin typeface="Arial"/>
                <a:ea typeface="Arial"/>
                <a:cs typeface="Arial"/>
                <a:sym typeface="Arial"/>
              </a:rPr>
              <a:t>→</a:t>
            </a:r>
            <a:endParaRPr dirty="0"/>
          </a:p>
        </p:txBody>
      </p:sp>
      <p:sp>
        <p:nvSpPr>
          <p:cNvPr id="545" name="Google Shape;545;p10"/>
          <p:cNvSpPr txBox="1"/>
          <p:nvPr/>
        </p:nvSpPr>
        <p:spPr>
          <a:xfrm>
            <a:off x="4146804" y="3136392"/>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i="0" u="none" strike="noStrike" cap="none" dirty="0">
                <a:solidFill>
                  <a:srgbClr val="F57725"/>
                </a:solidFill>
                <a:latin typeface="Arial"/>
                <a:ea typeface="Arial"/>
                <a:cs typeface="Arial"/>
                <a:sym typeface="Arial"/>
              </a:rPr>
              <a:t>→</a:t>
            </a:r>
            <a:endParaRPr dirty="0"/>
          </a:p>
        </p:txBody>
      </p:sp>
      <p:sp>
        <p:nvSpPr>
          <p:cNvPr id="551" name="Google Shape;551;p10"/>
          <p:cNvSpPr txBox="1"/>
          <p:nvPr/>
        </p:nvSpPr>
        <p:spPr>
          <a:xfrm>
            <a:off x="6035040" y="3136392"/>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i="0" u="none" strike="noStrike" cap="none" dirty="0">
                <a:solidFill>
                  <a:srgbClr val="F57725"/>
                </a:solidFill>
                <a:latin typeface="Arial"/>
                <a:ea typeface="Arial"/>
                <a:cs typeface="Arial"/>
                <a:sym typeface="Arial"/>
              </a:rPr>
              <a:t>→</a:t>
            </a:r>
            <a:endParaRPr dirty="0"/>
          </a:p>
        </p:txBody>
      </p:sp>
      <p:sp>
        <p:nvSpPr>
          <p:cNvPr id="557" name="Google Shape;557;p10"/>
          <p:cNvSpPr txBox="1"/>
          <p:nvPr/>
        </p:nvSpPr>
        <p:spPr>
          <a:xfrm>
            <a:off x="7923276" y="3136392"/>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i="0" u="none" strike="noStrike" cap="none" dirty="0">
                <a:solidFill>
                  <a:srgbClr val="F57725"/>
                </a:solidFill>
                <a:latin typeface="Arial"/>
                <a:ea typeface="Arial"/>
                <a:cs typeface="Arial"/>
                <a:sym typeface="Arial"/>
              </a:rPr>
              <a:t>→</a:t>
            </a:r>
            <a:endParaRPr dirty="0"/>
          </a:p>
        </p:txBody>
      </p:sp>
      <p:sp>
        <p:nvSpPr>
          <p:cNvPr id="563" name="Google Shape;563;p10"/>
          <p:cNvSpPr txBox="1"/>
          <p:nvPr/>
        </p:nvSpPr>
        <p:spPr>
          <a:xfrm>
            <a:off x="9811512" y="3136392"/>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i="0" u="none" strike="noStrike" cap="none" dirty="0">
                <a:solidFill>
                  <a:srgbClr val="F57725"/>
                </a:solidFill>
                <a:latin typeface="Arial"/>
                <a:ea typeface="Arial"/>
                <a:cs typeface="Arial"/>
                <a:sym typeface="Arial"/>
              </a:rPr>
              <a:t>→</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p22"/>
          <p:cNvSpPr/>
          <p:nvPr/>
        </p:nvSpPr>
        <p:spPr>
          <a:xfrm>
            <a:off x="-24232" y="0"/>
            <a:ext cx="12191695" cy="6858000"/>
          </a:xfrm>
          <a:prstGeom prst="rect">
            <a:avLst/>
          </a:prstGeom>
          <a:solidFill>
            <a:srgbClr val="F5F8F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6" name="Google Shape;1006;p22"/>
          <p:cNvSpPr txBox="1"/>
          <p:nvPr/>
        </p:nvSpPr>
        <p:spPr>
          <a:xfrm>
            <a:off x="493776" y="228600"/>
            <a:ext cx="7315200" cy="22860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900" b="1">
                <a:solidFill>
                  <a:srgbClr val="1263B4"/>
                </a:solidFill>
                <a:latin typeface="Arial"/>
                <a:ea typeface="Arial"/>
                <a:cs typeface="Arial"/>
                <a:sym typeface="Arial"/>
              </a:rPr>
              <a:t>UTA • TEAM 2 AI ADVISOR</a:t>
            </a:r>
            <a:endParaRPr/>
          </a:p>
        </p:txBody>
      </p:sp>
      <p:sp>
        <p:nvSpPr>
          <p:cNvPr id="1007" name="Google Shape;1007;p22"/>
          <p:cNvSpPr txBox="1"/>
          <p:nvPr/>
        </p:nvSpPr>
        <p:spPr>
          <a:xfrm>
            <a:off x="493776" y="566928"/>
            <a:ext cx="11155680" cy="54864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2700" b="1">
                <a:solidFill>
                  <a:srgbClr val="0C2340"/>
                </a:solidFill>
                <a:latin typeface="Arial"/>
                <a:ea typeface="Arial"/>
                <a:cs typeface="Arial"/>
                <a:sym typeface="Arial"/>
              </a:rPr>
              <a:t>Path A: Retrieving Context from ChromaDB with LangChain</a:t>
            </a:r>
            <a:endParaRPr/>
          </a:p>
        </p:txBody>
      </p:sp>
      <p:sp>
        <p:nvSpPr>
          <p:cNvPr id="1008" name="Google Shape;1008;p22"/>
          <p:cNvSpPr/>
          <p:nvPr/>
        </p:nvSpPr>
        <p:spPr>
          <a:xfrm>
            <a:off x="493776" y="1234440"/>
            <a:ext cx="11109960" cy="20116"/>
          </a:xfrm>
          <a:prstGeom prst="rect">
            <a:avLst/>
          </a:prstGeom>
          <a:solidFill>
            <a:srgbClr val="DDE6E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9" name="Google Shape;1009;p22"/>
          <p:cNvSpPr txBox="1"/>
          <p:nvPr/>
        </p:nvSpPr>
        <p:spPr>
          <a:xfrm>
            <a:off x="502920" y="6528816"/>
            <a:ext cx="7315200" cy="18288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900" b="0">
                <a:solidFill>
                  <a:srgbClr val="64748B"/>
                </a:solidFill>
                <a:latin typeface="Arial"/>
                <a:ea typeface="Arial"/>
                <a:cs typeface="Arial"/>
                <a:sym typeface="Arial"/>
              </a:rPr>
              <a:t>CSE 4392 / 5320  •  TEAM ASSIGNMENT 2</a:t>
            </a:r>
            <a:endParaRPr/>
          </a:p>
        </p:txBody>
      </p:sp>
      <p:sp>
        <p:nvSpPr>
          <p:cNvPr id="1010" name="Subtitle"/>
          <p:cNvSpPr txBox="1"/>
          <p:nvPr/>
        </p:nvSpPr>
        <p:spPr>
          <a:xfrm>
            <a:off x="502920" y="1371600"/>
            <a:ext cx="11064240" cy="274320"/>
          </a:xfrm>
          <a:prstGeom prst="rect">
            <a:avLst/>
          </a:prstGeom>
          <a:noFill/>
        </p:spPr>
        <p:txBody>
          <a:bodyPr wrap="square" lIns="0" tIns="0" rIns="0" bIns="0" anchor="t">
            <a:spAutoFit/>
          </a:bodyPr>
          <a:lstStyle/>
          <a:p>
            <a:pPr algn="l"/>
            <a:r>
              <a:rPr sz="1300" b="0">
                <a:solidFill>
                  <a:srgbClr val="64748B"/>
                </a:solidFill>
                <a:latin typeface="Arial"/>
              </a:rPr>
              <a:t>Course questions use a LangChain Chroma retriever over our 6,269 indexed catalog chunks</a:t>
            </a:r>
          </a:p>
        </p:txBody>
      </p:sp>
      <p:sp>
        <p:nvSpPr>
          <p:cNvPr id="1011" name="Code panel"/>
          <p:cNvSpPr/>
          <p:nvPr/>
        </p:nvSpPr>
        <p:spPr>
          <a:xfrm>
            <a:off x="548640" y="1810512"/>
            <a:ext cx="6492240" cy="4343400"/>
          </a:xfrm>
          <a:prstGeom prst="roundRect">
            <a:avLst>
              <a:gd name="adj" fmla="val 6000"/>
            </a:avLst>
          </a:prstGeom>
          <a:solidFill>
            <a:srgbClr val="11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Code label"/>
          <p:cNvSpPr txBox="1"/>
          <p:nvPr/>
        </p:nvSpPr>
        <p:spPr>
          <a:xfrm>
            <a:off x="777240" y="1965960"/>
            <a:ext cx="6035040" cy="274320"/>
          </a:xfrm>
          <a:prstGeom prst="rect">
            <a:avLst/>
          </a:prstGeom>
          <a:noFill/>
        </p:spPr>
        <p:txBody>
          <a:bodyPr wrap="square" lIns="0" tIns="0" rIns="0" bIns="0" anchor="t">
            <a:spAutoFit/>
          </a:bodyPr>
          <a:lstStyle/>
          <a:p>
            <a:pPr algn="l"/>
            <a:r>
              <a:rPr sz="1200" b="1">
                <a:solidFill>
                  <a:srgbClr val="76D3E2"/>
                </a:solidFill>
                <a:latin typeface="Arial"/>
              </a:rPr>
              <a:t>ACTUAL CODE  •  app/rag.py  (simplified excerpt)</a:t>
            </a:r>
          </a:p>
        </p:txBody>
      </p:sp>
      <p:sp>
        <p:nvSpPr>
          <p:cNvPr id="1013" name="Code"/>
          <p:cNvSpPr txBox="1"/>
          <p:nvPr/>
        </p:nvSpPr>
        <p:spPr>
          <a:xfrm>
            <a:off x="777240" y="2377440"/>
            <a:ext cx="6172200" cy="3231654"/>
          </a:xfrm>
          <a:prstGeom prst="rect">
            <a:avLst/>
          </a:prstGeom>
          <a:noFill/>
        </p:spPr>
        <p:txBody>
          <a:bodyPr wrap="square" lIns="0" tIns="0" rIns="0" bIns="0" anchor="t">
            <a:spAutoFit/>
          </a:bodyPr>
          <a:lstStyle/>
          <a:p>
            <a:pPr algn="l"/>
            <a:r>
              <a:rPr sz="1000" b="0" dirty="0">
                <a:solidFill>
                  <a:srgbClr val="76D3E2"/>
                </a:solidFill>
                <a:latin typeface="Consolas"/>
              </a:rPr>
              <a:t># Same Titan V2 settings as the ingestion Lambda</a:t>
            </a:r>
          </a:p>
          <a:p>
            <a:pPr algn="l"/>
            <a:r>
              <a:rPr sz="1000" b="0" dirty="0">
                <a:solidFill>
                  <a:srgbClr val="E7EFF9"/>
                </a:solidFill>
                <a:latin typeface="Consolas"/>
              </a:rPr>
              <a:t>embeddings = </a:t>
            </a:r>
            <a:r>
              <a:rPr sz="1000" b="0" dirty="0" err="1">
                <a:solidFill>
                  <a:srgbClr val="E7EFF9"/>
                </a:solidFill>
                <a:latin typeface="Consolas"/>
              </a:rPr>
              <a:t>BedrockEmbeddings</a:t>
            </a:r>
            <a:r>
              <a:rPr sz="1000" b="0" dirty="0">
                <a:solidFill>
                  <a:srgbClr val="E7EFF9"/>
                </a:solidFill>
                <a:latin typeface="Consolas"/>
              </a:rPr>
              <a:t>(</a:t>
            </a:r>
          </a:p>
          <a:p>
            <a:pPr algn="l"/>
            <a:r>
              <a:rPr sz="1000" b="0" dirty="0">
                <a:solidFill>
                  <a:srgbClr val="E7EFF9"/>
                </a:solidFill>
                <a:latin typeface="Consolas"/>
              </a:rPr>
              <a:t>    </a:t>
            </a:r>
            <a:r>
              <a:rPr sz="1000" b="0" dirty="0" err="1">
                <a:solidFill>
                  <a:srgbClr val="E7EFF9"/>
                </a:solidFill>
                <a:latin typeface="Consolas"/>
              </a:rPr>
              <a:t>model_id</a:t>
            </a:r>
            <a:r>
              <a:rPr sz="1000" b="0" dirty="0">
                <a:solidFill>
                  <a:srgbClr val="E7EFF9"/>
                </a:solidFill>
                <a:latin typeface="Consolas"/>
              </a:rPr>
              <a:t>="amazon.titan-embed-text-v2:0",</a:t>
            </a:r>
          </a:p>
          <a:p>
            <a:pPr algn="l"/>
            <a:r>
              <a:rPr sz="1000" b="0" dirty="0">
                <a:solidFill>
                  <a:srgbClr val="E7EFF9"/>
                </a:solidFill>
                <a:latin typeface="Consolas"/>
              </a:rPr>
              <a:t>    </a:t>
            </a:r>
            <a:r>
              <a:rPr sz="1000" b="0" dirty="0" err="1">
                <a:solidFill>
                  <a:srgbClr val="E7EFF9"/>
                </a:solidFill>
                <a:latin typeface="Consolas"/>
              </a:rPr>
              <a:t>model_kwargs</a:t>
            </a:r>
            <a:r>
              <a:rPr sz="1000" b="0" dirty="0">
                <a:solidFill>
                  <a:srgbClr val="E7EFF9"/>
                </a:solidFill>
                <a:latin typeface="Consolas"/>
              </a:rPr>
              <a:t>={"dimensions": 1024, "normalize": True})</a:t>
            </a:r>
          </a:p>
          <a:p>
            <a:pPr algn="l"/>
            <a:r>
              <a:rPr sz="1000" b="0" dirty="0">
                <a:solidFill>
                  <a:srgbClr val="E7EFF9"/>
                </a:solidFill>
                <a:latin typeface="Consolas"/>
              </a:rPr>
              <a:t> </a:t>
            </a:r>
          </a:p>
          <a:p>
            <a:pPr algn="l"/>
            <a:r>
              <a:rPr sz="1000" b="0" dirty="0">
                <a:solidFill>
                  <a:srgbClr val="76D3E2"/>
                </a:solidFill>
                <a:latin typeface="Consolas"/>
              </a:rPr>
              <a:t># LangChain vector store over the existing </a:t>
            </a:r>
            <a:r>
              <a:rPr sz="1000" b="0" dirty="0" err="1">
                <a:solidFill>
                  <a:srgbClr val="76D3E2"/>
                </a:solidFill>
                <a:latin typeface="Consolas"/>
              </a:rPr>
              <a:t>ChromaDB</a:t>
            </a:r>
            <a:r>
              <a:rPr sz="1000" b="0" dirty="0">
                <a:solidFill>
                  <a:srgbClr val="76D3E2"/>
                </a:solidFill>
                <a:latin typeface="Consolas"/>
              </a:rPr>
              <a:t> collection</a:t>
            </a:r>
          </a:p>
          <a:p>
            <a:pPr algn="l"/>
            <a:r>
              <a:rPr sz="1000" b="0" dirty="0" err="1">
                <a:solidFill>
                  <a:srgbClr val="E7EFF9"/>
                </a:solidFill>
                <a:latin typeface="Consolas"/>
              </a:rPr>
              <a:t>vector_store</a:t>
            </a:r>
            <a:r>
              <a:rPr sz="1000" b="0" dirty="0">
                <a:solidFill>
                  <a:srgbClr val="E7EFF9"/>
                </a:solidFill>
                <a:latin typeface="Consolas"/>
              </a:rPr>
              <a:t> = Chroma(</a:t>
            </a:r>
          </a:p>
          <a:p>
            <a:pPr algn="l"/>
            <a:r>
              <a:rPr sz="1000" b="0" dirty="0">
                <a:solidFill>
                  <a:srgbClr val="E7EFF9"/>
                </a:solidFill>
                <a:latin typeface="Consolas"/>
              </a:rPr>
              <a:t>    client=</a:t>
            </a:r>
            <a:r>
              <a:rPr sz="1000" b="0" dirty="0" err="1">
                <a:solidFill>
                  <a:srgbClr val="E7EFF9"/>
                </a:solidFill>
                <a:latin typeface="Consolas"/>
              </a:rPr>
              <a:t>chromadb.HttpClient</a:t>
            </a:r>
            <a:r>
              <a:rPr sz="1000" b="0" dirty="0">
                <a:solidFill>
                  <a:srgbClr val="E7EFF9"/>
                </a:solidFill>
                <a:latin typeface="Consolas"/>
              </a:rPr>
              <a:t>(host=</a:t>
            </a:r>
            <a:r>
              <a:rPr sz="1000" b="0" dirty="0" err="1">
                <a:solidFill>
                  <a:srgbClr val="E7EFF9"/>
                </a:solidFill>
                <a:latin typeface="Consolas"/>
              </a:rPr>
              <a:t>chroma_host</a:t>
            </a:r>
            <a:r>
              <a:rPr sz="1000" b="0" dirty="0">
                <a:solidFill>
                  <a:srgbClr val="E7EFF9"/>
                </a:solidFill>
                <a:latin typeface="Consolas"/>
              </a:rPr>
              <a:t>, port=</a:t>
            </a:r>
            <a:r>
              <a:rPr sz="1000" b="0" dirty="0" err="1">
                <a:solidFill>
                  <a:srgbClr val="E7EFF9"/>
                </a:solidFill>
                <a:latin typeface="Consolas"/>
              </a:rPr>
              <a:t>chroma_port</a:t>
            </a:r>
            <a:r>
              <a:rPr sz="1000" b="0" dirty="0">
                <a:solidFill>
                  <a:srgbClr val="E7EFF9"/>
                </a:solidFill>
                <a:latin typeface="Consolas"/>
              </a:rPr>
              <a:t>),</a:t>
            </a:r>
          </a:p>
          <a:p>
            <a:pPr algn="l"/>
            <a:r>
              <a:rPr sz="1000" b="0" dirty="0">
                <a:solidFill>
                  <a:srgbClr val="E7EFF9"/>
                </a:solidFill>
                <a:latin typeface="Consolas"/>
              </a:rPr>
              <a:t>    </a:t>
            </a:r>
            <a:r>
              <a:rPr sz="1000" b="0" dirty="0" err="1">
                <a:solidFill>
                  <a:srgbClr val="E7EFF9"/>
                </a:solidFill>
                <a:latin typeface="Consolas"/>
              </a:rPr>
              <a:t>collection_name</a:t>
            </a:r>
            <a:r>
              <a:rPr sz="1000" b="0" dirty="0">
                <a:solidFill>
                  <a:srgbClr val="E7EFF9"/>
                </a:solidFill>
                <a:latin typeface="Consolas"/>
              </a:rPr>
              <a:t>="</a:t>
            </a:r>
            <a:r>
              <a:rPr sz="1000" b="0" dirty="0" err="1">
                <a:solidFill>
                  <a:srgbClr val="E7EFF9"/>
                </a:solidFill>
                <a:latin typeface="Consolas"/>
              </a:rPr>
              <a:t>uta_ai_advisor</a:t>
            </a:r>
            <a:r>
              <a:rPr sz="1000" b="0" dirty="0">
                <a:solidFill>
                  <a:srgbClr val="E7EFF9"/>
                </a:solidFill>
                <a:latin typeface="Consolas"/>
              </a:rPr>
              <a:t>",</a:t>
            </a:r>
          </a:p>
          <a:p>
            <a:pPr algn="l"/>
            <a:r>
              <a:rPr sz="1000" b="0" dirty="0">
                <a:solidFill>
                  <a:srgbClr val="E7EFF9"/>
                </a:solidFill>
                <a:latin typeface="Consolas"/>
              </a:rPr>
              <a:t>    </a:t>
            </a:r>
            <a:r>
              <a:rPr sz="1000" b="0" dirty="0" err="1">
                <a:solidFill>
                  <a:srgbClr val="E7EFF9"/>
                </a:solidFill>
                <a:latin typeface="Consolas"/>
              </a:rPr>
              <a:t>embedding_function</a:t>
            </a:r>
            <a:r>
              <a:rPr sz="1000" b="0" dirty="0">
                <a:solidFill>
                  <a:srgbClr val="E7EFF9"/>
                </a:solidFill>
                <a:latin typeface="Consolas"/>
              </a:rPr>
              <a:t>=embeddings)</a:t>
            </a:r>
          </a:p>
          <a:p>
            <a:pPr algn="l"/>
            <a:r>
              <a:rPr sz="1000" b="0" dirty="0">
                <a:solidFill>
                  <a:srgbClr val="E7EFF9"/>
                </a:solidFill>
                <a:latin typeface="Consolas"/>
              </a:rPr>
              <a:t>retriever = </a:t>
            </a:r>
            <a:r>
              <a:rPr sz="1000" b="0" dirty="0" err="1">
                <a:solidFill>
                  <a:srgbClr val="E7EFF9"/>
                </a:solidFill>
                <a:latin typeface="Consolas"/>
              </a:rPr>
              <a:t>vector_store.as_retriever</a:t>
            </a:r>
            <a:r>
              <a:rPr sz="1000" b="0" dirty="0">
                <a:solidFill>
                  <a:srgbClr val="E7EFF9"/>
                </a:solidFill>
                <a:latin typeface="Consolas"/>
              </a:rPr>
              <a:t>(</a:t>
            </a:r>
            <a:r>
              <a:rPr sz="1000" b="0" dirty="0" err="1">
                <a:solidFill>
                  <a:srgbClr val="E7EFF9"/>
                </a:solidFill>
                <a:latin typeface="Consolas"/>
              </a:rPr>
              <a:t>search_kwargs</a:t>
            </a:r>
            <a:r>
              <a:rPr sz="1000" b="0" dirty="0">
                <a:solidFill>
                  <a:srgbClr val="E7EFF9"/>
                </a:solidFill>
                <a:latin typeface="Consolas"/>
              </a:rPr>
              <a:t>={"k": 4})</a:t>
            </a:r>
          </a:p>
          <a:p>
            <a:pPr algn="l"/>
            <a:r>
              <a:rPr sz="1000" b="0" dirty="0">
                <a:solidFill>
                  <a:srgbClr val="E7EFF9"/>
                </a:solidFill>
                <a:latin typeface="Consolas"/>
              </a:rPr>
              <a:t> </a:t>
            </a:r>
          </a:p>
          <a:p>
            <a:pPr algn="l"/>
            <a:r>
              <a:rPr sz="1000" b="0" dirty="0">
                <a:solidFill>
                  <a:srgbClr val="E7EFF9"/>
                </a:solidFill>
                <a:latin typeface="Consolas"/>
              </a:rPr>
              <a:t>def </a:t>
            </a:r>
            <a:r>
              <a:rPr sz="1000" b="0" dirty="0" err="1">
                <a:solidFill>
                  <a:srgbClr val="E7EFF9"/>
                </a:solidFill>
                <a:latin typeface="Consolas"/>
              </a:rPr>
              <a:t>answer_course_question</a:t>
            </a:r>
            <a:r>
              <a:rPr sz="1000" b="0" dirty="0">
                <a:solidFill>
                  <a:srgbClr val="E7EFF9"/>
                </a:solidFill>
                <a:latin typeface="Consolas"/>
              </a:rPr>
              <a:t>(question):</a:t>
            </a:r>
          </a:p>
          <a:p>
            <a:pPr algn="l"/>
            <a:r>
              <a:rPr sz="1000" b="0" dirty="0">
                <a:solidFill>
                  <a:srgbClr val="E7EFF9"/>
                </a:solidFill>
                <a:latin typeface="Consolas"/>
              </a:rPr>
              <a:t>    </a:t>
            </a:r>
            <a:r>
              <a:rPr sz="1000" b="1" dirty="0">
                <a:solidFill>
                  <a:srgbClr val="E7EFF9"/>
                </a:solidFill>
                <a:latin typeface="Consolas"/>
              </a:rPr>
              <a:t>docs = </a:t>
            </a:r>
            <a:r>
              <a:rPr sz="1000" b="1" dirty="0" err="1">
                <a:solidFill>
                  <a:srgbClr val="E7EFF9"/>
                </a:solidFill>
                <a:latin typeface="Consolas"/>
              </a:rPr>
              <a:t>retriever.invoke</a:t>
            </a:r>
            <a:r>
              <a:rPr sz="1000" b="1" dirty="0">
                <a:solidFill>
                  <a:srgbClr val="E7EFF9"/>
                </a:solidFill>
                <a:latin typeface="Consolas"/>
              </a:rPr>
              <a:t>(question)       </a:t>
            </a:r>
            <a:r>
              <a:rPr sz="1000" b="0" dirty="0">
                <a:solidFill>
                  <a:srgbClr val="E7EFF9"/>
                </a:solidFill>
                <a:latin typeface="Consolas"/>
              </a:rPr>
              <a:t># 4 nearest chunks</a:t>
            </a:r>
          </a:p>
          <a:p>
            <a:pPr algn="l"/>
            <a:r>
              <a:rPr sz="1000" b="0" dirty="0">
                <a:solidFill>
                  <a:srgbClr val="E7EFF9"/>
                </a:solidFill>
                <a:latin typeface="Consolas"/>
              </a:rPr>
              <a:t>    exact = </a:t>
            </a:r>
            <a:r>
              <a:rPr sz="1000" b="0" dirty="0" err="1">
                <a:solidFill>
                  <a:srgbClr val="E7EFF9"/>
                </a:solidFill>
                <a:latin typeface="Consolas"/>
              </a:rPr>
              <a:t>exact_course_records</a:t>
            </a:r>
            <a:r>
              <a:rPr sz="1000" b="0" dirty="0">
                <a:solidFill>
                  <a:srgbClr val="E7EFF9"/>
                </a:solidFill>
                <a:latin typeface="Consolas"/>
              </a:rPr>
              <a:t>(question)  # exact course lookup</a:t>
            </a:r>
          </a:p>
          <a:p>
            <a:pPr algn="l"/>
            <a:r>
              <a:rPr sz="1000" b="0" dirty="0">
                <a:solidFill>
                  <a:srgbClr val="E7EFF9"/>
                </a:solidFill>
                <a:latin typeface="Consolas"/>
              </a:rPr>
              <a:t>    context = "\n\n---\n\</a:t>
            </a:r>
            <a:r>
              <a:rPr sz="1000" b="0" dirty="0" err="1">
                <a:solidFill>
                  <a:srgbClr val="E7EFF9"/>
                </a:solidFill>
                <a:latin typeface="Consolas"/>
              </a:rPr>
              <a:t>n".join</a:t>
            </a:r>
            <a:r>
              <a:rPr sz="1000" b="0" dirty="0">
                <a:solidFill>
                  <a:srgbClr val="E7EFF9"/>
                </a:solidFill>
                <a:latin typeface="Consolas"/>
              </a:rPr>
              <a:t>(</a:t>
            </a:r>
          </a:p>
          <a:p>
            <a:pPr algn="l"/>
            <a:r>
              <a:rPr sz="1000" b="0" dirty="0">
                <a:solidFill>
                  <a:srgbClr val="E7EFF9"/>
                </a:solidFill>
                <a:latin typeface="Consolas"/>
              </a:rPr>
              <a:t>        [</a:t>
            </a:r>
            <a:r>
              <a:rPr sz="1000" b="0" dirty="0" err="1">
                <a:solidFill>
                  <a:srgbClr val="E7EFF9"/>
                </a:solidFill>
                <a:latin typeface="Consolas"/>
              </a:rPr>
              <a:t>describe_course</a:t>
            </a:r>
            <a:r>
              <a:rPr sz="1000" b="0" dirty="0">
                <a:solidFill>
                  <a:srgbClr val="E7EFF9"/>
                </a:solidFill>
                <a:latin typeface="Consolas"/>
              </a:rPr>
              <a:t>(c) for c in exact] +</a:t>
            </a:r>
          </a:p>
          <a:p>
            <a:pPr algn="l"/>
            <a:r>
              <a:rPr sz="1000" b="0" dirty="0">
                <a:solidFill>
                  <a:srgbClr val="E7EFF9"/>
                </a:solidFill>
                <a:latin typeface="Consolas"/>
              </a:rPr>
              <a:t>        [</a:t>
            </a:r>
            <a:r>
              <a:rPr sz="1000" b="0" dirty="0" err="1">
                <a:solidFill>
                  <a:srgbClr val="E7EFF9"/>
                </a:solidFill>
                <a:latin typeface="Consolas"/>
              </a:rPr>
              <a:t>f"Source</a:t>
            </a:r>
            <a:r>
              <a:rPr sz="1000" b="0" dirty="0">
                <a:solidFill>
                  <a:srgbClr val="E7EFF9"/>
                </a:solidFill>
                <a:latin typeface="Consolas"/>
              </a:rPr>
              <a:t>: {</a:t>
            </a:r>
            <a:r>
              <a:rPr sz="1000" b="0" dirty="0" err="1">
                <a:solidFill>
                  <a:srgbClr val="E7EFF9"/>
                </a:solidFill>
                <a:latin typeface="Consolas"/>
              </a:rPr>
              <a:t>d.metadata</a:t>
            </a:r>
            <a:r>
              <a:rPr sz="1000" b="0" dirty="0">
                <a:solidFill>
                  <a:srgbClr val="E7EFF9"/>
                </a:solidFill>
                <a:latin typeface="Consolas"/>
              </a:rPr>
              <a:t>['source']}\n{</a:t>
            </a:r>
            <a:r>
              <a:rPr sz="1000" b="0" dirty="0" err="1">
                <a:solidFill>
                  <a:srgbClr val="E7EFF9"/>
                </a:solidFill>
                <a:latin typeface="Consolas"/>
              </a:rPr>
              <a:t>d.page_content</a:t>
            </a:r>
            <a:r>
              <a:rPr sz="1000" b="0" dirty="0">
                <a:solidFill>
                  <a:srgbClr val="E7EFF9"/>
                </a:solidFill>
                <a:latin typeface="Consolas"/>
              </a:rPr>
              <a:t>}"</a:t>
            </a:r>
          </a:p>
          <a:p>
            <a:pPr algn="l"/>
            <a:r>
              <a:rPr sz="1000" b="0" dirty="0">
                <a:solidFill>
                  <a:srgbClr val="E7EFF9"/>
                </a:solidFill>
                <a:latin typeface="Consolas"/>
              </a:rPr>
              <a:t>         for d in docs])</a:t>
            </a:r>
          </a:p>
          <a:p>
            <a:pPr algn="l"/>
            <a:r>
              <a:rPr sz="1000" b="0" dirty="0">
                <a:solidFill>
                  <a:srgbClr val="E7EFF9"/>
                </a:solidFill>
                <a:latin typeface="Consolas"/>
              </a:rPr>
              <a:t>    return </a:t>
            </a:r>
            <a:r>
              <a:rPr sz="1000" b="0" dirty="0" err="1">
                <a:solidFill>
                  <a:srgbClr val="E7EFF9"/>
                </a:solidFill>
                <a:latin typeface="Consolas"/>
              </a:rPr>
              <a:t>answer_chain.invoke</a:t>
            </a:r>
            <a:r>
              <a:rPr sz="1000" b="0" dirty="0">
                <a:solidFill>
                  <a:srgbClr val="E7EFF9"/>
                </a:solidFill>
                <a:latin typeface="Consolas"/>
              </a:rPr>
              <a:t>({"question": question,</a:t>
            </a:r>
          </a:p>
          <a:p>
            <a:pPr algn="l"/>
            <a:r>
              <a:rPr sz="1000" b="0" dirty="0">
                <a:solidFill>
                  <a:srgbClr val="E7EFF9"/>
                </a:solidFill>
                <a:latin typeface="Consolas"/>
              </a:rPr>
              <a:t>                                "context": context})</a:t>
            </a:r>
          </a:p>
        </p:txBody>
      </p:sp>
      <p:sp>
        <p:nvSpPr>
          <p:cNvPr id="1014" name="Explanation panel"/>
          <p:cNvSpPr/>
          <p:nvPr/>
        </p:nvSpPr>
        <p:spPr>
          <a:xfrm>
            <a:off x="7269480" y="1810512"/>
            <a:ext cx="4352544" cy="4343400"/>
          </a:xfrm>
          <a:prstGeom prst="roundRect">
            <a:avLst>
              <a:gd name="adj" fmla="val 6000"/>
            </a:avLst>
          </a:prstGeom>
          <a:solidFill>
            <a:srgbClr val="EC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5" name="Explanation label"/>
          <p:cNvSpPr txBox="1"/>
          <p:nvPr/>
        </p:nvSpPr>
        <p:spPr>
          <a:xfrm>
            <a:off x="7498079" y="1965960"/>
            <a:ext cx="3931920" cy="274320"/>
          </a:xfrm>
          <a:prstGeom prst="rect">
            <a:avLst/>
          </a:prstGeom>
          <a:noFill/>
        </p:spPr>
        <p:txBody>
          <a:bodyPr wrap="square" lIns="0" tIns="0" rIns="0" bIns="0" anchor="t">
            <a:spAutoFit/>
          </a:bodyPr>
          <a:lstStyle/>
          <a:p>
            <a:pPr algn="l"/>
            <a:r>
              <a:rPr sz="1300" b="1">
                <a:solidFill>
                  <a:srgbClr val="0C2340"/>
                </a:solidFill>
                <a:latin typeface="Arial"/>
              </a:rPr>
              <a:t>HOW RETRIEVAL WORKS</a:t>
            </a:r>
          </a:p>
        </p:txBody>
      </p:sp>
      <p:sp>
        <p:nvSpPr>
          <p:cNvPr id="1016" name="Step 1 circle"/>
          <p:cNvSpPr/>
          <p:nvPr/>
        </p:nvSpPr>
        <p:spPr>
          <a:xfrm>
            <a:off x="7498079" y="2414016"/>
            <a:ext cx="329184" cy="329184"/>
          </a:xfrm>
          <a:prstGeom prst="ellipse">
            <a:avLst/>
          </a:prstGeom>
          <a:solidFill>
            <a:srgbClr val="126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Step 1 number"/>
          <p:cNvSpPr txBox="1"/>
          <p:nvPr/>
        </p:nvSpPr>
        <p:spPr>
          <a:xfrm>
            <a:off x="7498079" y="2414016"/>
            <a:ext cx="329184" cy="329184"/>
          </a:xfrm>
          <a:prstGeom prst="rect">
            <a:avLst/>
          </a:prstGeom>
          <a:noFill/>
        </p:spPr>
        <p:txBody>
          <a:bodyPr wrap="square" lIns="0" tIns="0" rIns="0" bIns="0" anchor="ctr">
            <a:spAutoFit/>
          </a:bodyPr>
          <a:lstStyle/>
          <a:p>
            <a:pPr algn="ctr"/>
            <a:r>
              <a:rPr sz="1200" b="1">
                <a:solidFill>
                  <a:srgbClr val="FFFFFF"/>
                </a:solidFill>
                <a:latin typeface="Arial"/>
              </a:rPr>
              <a:t>1</a:t>
            </a:r>
          </a:p>
        </p:txBody>
      </p:sp>
      <p:sp>
        <p:nvSpPr>
          <p:cNvPr id="1018" name="Step 1 head"/>
          <p:cNvSpPr txBox="1"/>
          <p:nvPr/>
        </p:nvSpPr>
        <p:spPr>
          <a:xfrm>
            <a:off x="7973568" y="2395728"/>
            <a:ext cx="3474720" cy="274320"/>
          </a:xfrm>
          <a:prstGeom prst="rect">
            <a:avLst/>
          </a:prstGeom>
          <a:noFill/>
        </p:spPr>
        <p:txBody>
          <a:bodyPr wrap="square" lIns="0" tIns="0" rIns="0" bIns="0" anchor="t">
            <a:spAutoFit/>
          </a:bodyPr>
          <a:lstStyle/>
          <a:p>
            <a:pPr algn="l"/>
            <a:r>
              <a:rPr sz="1300" b="1">
                <a:solidFill>
                  <a:srgbClr val="1263B4"/>
                </a:solidFill>
                <a:latin typeface="Arial"/>
              </a:rPr>
              <a:t>Embed the question</a:t>
            </a:r>
          </a:p>
        </p:txBody>
      </p:sp>
      <p:sp>
        <p:nvSpPr>
          <p:cNvPr id="1019" name="Step 1 body"/>
          <p:cNvSpPr txBox="1"/>
          <p:nvPr/>
        </p:nvSpPr>
        <p:spPr>
          <a:xfrm>
            <a:off x="7973568" y="2688336"/>
            <a:ext cx="3474720" cy="502920"/>
          </a:xfrm>
          <a:prstGeom prst="rect">
            <a:avLst/>
          </a:prstGeom>
          <a:noFill/>
        </p:spPr>
        <p:txBody>
          <a:bodyPr wrap="square" lIns="0" tIns="0" rIns="0" bIns="0" anchor="t">
            <a:spAutoFit/>
          </a:bodyPr>
          <a:lstStyle/>
          <a:p>
            <a:pPr algn="l"/>
            <a:r>
              <a:rPr sz="1150" b="0">
                <a:solidFill>
                  <a:srgbClr val="64748B"/>
                </a:solidFill>
                <a:latin typeface="Arial"/>
              </a:rPr>
              <a:t>BedrockEmbeddings turns it into a 1,024-number Titan V2 vector.</a:t>
            </a:r>
          </a:p>
        </p:txBody>
      </p:sp>
      <p:sp>
        <p:nvSpPr>
          <p:cNvPr id="1020" name="Step 2 circle"/>
          <p:cNvSpPr/>
          <p:nvPr/>
        </p:nvSpPr>
        <p:spPr>
          <a:xfrm>
            <a:off x="7498079" y="3310128"/>
            <a:ext cx="329184" cy="329184"/>
          </a:xfrm>
          <a:prstGeom prst="ellipse">
            <a:avLst/>
          </a:prstGeom>
          <a:solidFill>
            <a:srgbClr val="126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Step 2 number"/>
          <p:cNvSpPr txBox="1"/>
          <p:nvPr/>
        </p:nvSpPr>
        <p:spPr>
          <a:xfrm>
            <a:off x="7498079" y="3310128"/>
            <a:ext cx="329184" cy="329184"/>
          </a:xfrm>
          <a:prstGeom prst="rect">
            <a:avLst/>
          </a:prstGeom>
          <a:noFill/>
        </p:spPr>
        <p:txBody>
          <a:bodyPr wrap="square" lIns="0" tIns="0" rIns="0" bIns="0" anchor="ctr">
            <a:spAutoFit/>
          </a:bodyPr>
          <a:lstStyle/>
          <a:p>
            <a:pPr algn="ctr"/>
            <a:r>
              <a:rPr sz="1200" b="1">
                <a:solidFill>
                  <a:srgbClr val="FFFFFF"/>
                </a:solidFill>
                <a:latin typeface="Arial"/>
              </a:rPr>
              <a:t>2</a:t>
            </a:r>
          </a:p>
        </p:txBody>
      </p:sp>
      <p:sp>
        <p:nvSpPr>
          <p:cNvPr id="1022" name="Step 2 head"/>
          <p:cNvSpPr txBox="1"/>
          <p:nvPr/>
        </p:nvSpPr>
        <p:spPr>
          <a:xfrm>
            <a:off x="7973568" y="3291840"/>
            <a:ext cx="3474720" cy="274320"/>
          </a:xfrm>
          <a:prstGeom prst="rect">
            <a:avLst/>
          </a:prstGeom>
          <a:noFill/>
        </p:spPr>
        <p:txBody>
          <a:bodyPr wrap="square" lIns="0" tIns="0" rIns="0" bIns="0" anchor="t">
            <a:spAutoFit/>
          </a:bodyPr>
          <a:lstStyle/>
          <a:p>
            <a:pPr algn="l"/>
            <a:r>
              <a:rPr sz="1300" b="1">
                <a:solidFill>
                  <a:srgbClr val="1263B4"/>
                </a:solidFill>
                <a:latin typeface="Arial"/>
              </a:rPr>
              <a:t>Search ChromaDB</a:t>
            </a:r>
          </a:p>
        </p:txBody>
      </p:sp>
      <p:sp>
        <p:nvSpPr>
          <p:cNvPr id="1023" name="Step 2 body"/>
          <p:cNvSpPr txBox="1"/>
          <p:nvPr/>
        </p:nvSpPr>
        <p:spPr>
          <a:xfrm>
            <a:off x="7973568" y="3584448"/>
            <a:ext cx="3474720" cy="502920"/>
          </a:xfrm>
          <a:prstGeom prst="rect">
            <a:avLst/>
          </a:prstGeom>
          <a:noFill/>
        </p:spPr>
        <p:txBody>
          <a:bodyPr wrap="square" lIns="0" tIns="0" rIns="0" bIns="0" anchor="t">
            <a:spAutoFit/>
          </a:bodyPr>
          <a:lstStyle/>
          <a:p>
            <a:pPr algn="l"/>
            <a:r>
              <a:rPr sz="1150" b="0">
                <a:solidFill>
                  <a:srgbClr val="64748B"/>
                </a:solidFill>
                <a:latin typeface="Arial"/>
              </a:rPr>
              <a:t>The retriever returns the 4 closest chunks with their source files.</a:t>
            </a:r>
          </a:p>
        </p:txBody>
      </p:sp>
      <p:sp>
        <p:nvSpPr>
          <p:cNvPr id="1024" name="Step 3 circle"/>
          <p:cNvSpPr/>
          <p:nvPr/>
        </p:nvSpPr>
        <p:spPr>
          <a:xfrm>
            <a:off x="7498079" y="4206240"/>
            <a:ext cx="329184" cy="329184"/>
          </a:xfrm>
          <a:prstGeom prst="ellipse">
            <a:avLst/>
          </a:prstGeom>
          <a:solidFill>
            <a:srgbClr val="126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5" name="Step 3 number"/>
          <p:cNvSpPr txBox="1"/>
          <p:nvPr/>
        </p:nvSpPr>
        <p:spPr>
          <a:xfrm>
            <a:off x="7498079" y="4206240"/>
            <a:ext cx="329184" cy="329184"/>
          </a:xfrm>
          <a:prstGeom prst="rect">
            <a:avLst/>
          </a:prstGeom>
          <a:noFill/>
        </p:spPr>
        <p:txBody>
          <a:bodyPr wrap="square" lIns="0" tIns="0" rIns="0" bIns="0" anchor="ctr">
            <a:spAutoFit/>
          </a:bodyPr>
          <a:lstStyle/>
          <a:p>
            <a:pPr algn="ctr"/>
            <a:r>
              <a:rPr sz="1200" b="1">
                <a:solidFill>
                  <a:srgbClr val="FFFFFF"/>
                </a:solidFill>
                <a:latin typeface="Arial"/>
              </a:rPr>
              <a:t>3</a:t>
            </a:r>
          </a:p>
        </p:txBody>
      </p:sp>
      <p:sp>
        <p:nvSpPr>
          <p:cNvPr id="1026" name="Step 3 head"/>
          <p:cNvSpPr txBox="1"/>
          <p:nvPr/>
        </p:nvSpPr>
        <p:spPr>
          <a:xfrm>
            <a:off x="7973568" y="4187952"/>
            <a:ext cx="3474720" cy="274320"/>
          </a:xfrm>
          <a:prstGeom prst="rect">
            <a:avLst/>
          </a:prstGeom>
          <a:noFill/>
        </p:spPr>
        <p:txBody>
          <a:bodyPr wrap="square" lIns="0" tIns="0" rIns="0" bIns="0" anchor="t">
            <a:spAutoFit/>
          </a:bodyPr>
          <a:lstStyle/>
          <a:p>
            <a:pPr algn="l"/>
            <a:r>
              <a:rPr sz="1300" b="1">
                <a:solidFill>
                  <a:srgbClr val="1263B4"/>
                </a:solidFill>
                <a:latin typeface="Arial"/>
              </a:rPr>
              <a:t>Add exact course records</a:t>
            </a:r>
          </a:p>
        </p:txBody>
      </p:sp>
      <p:sp>
        <p:nvSpPr>
          <p:cNvPr id="1027" name="Step 3 body"/>
          <p:cNvSpPr txBox="1"/>
          <p:nvPr/>
        </p:nvSpPr>
        <p:spPr>
          <a:xfrm>
            <a:off x="7973568" y="4480560"/>
            <a:ext cx="3474720" cy="502920"/>
          </a:xfrm>
          <a:prstGeom prst="rect">
            <a:avLst/>
          </a:prstGeom>
          <a:noFill/>
        </p:spPr>
        <p:txBody>
          <a:bodyPr wrap="square" lIns="0" tIns="0" rIns="0" bIns="0" anchor="t">
            <a:spAutoFit/>
          </a:bodyPr>
          <a:lstStyle/>
          <a:p>
            <a:pPr algn="l"/>
            <a:r>
              <a:rPr sz="1150" b="0">
                <a:solidFill>
                  <a:srgbClr val="64748B"/>
                </a:solidFill>
                <a:latin typeface="Arial"/>
              </a:rPr>
              <a:t>Named codes are fetched exactly, so CSE 3318 is never confused with CSE 3315.</a:t>
            </a:r>
          </a:p>
        </p:txBody>
      </p:sp>
      <p:sp>
        <p:nvSpPr>
          <p:cNvPr id="1028" name="Step 4 circle"/>
          <p:cNvSpPr/>
          <p:nvPr/>
        </p:nvSpPr>
        <p:spPr>
          <a:xfrm>
            <a:off x="7498079" y="5102352"/>
            <a:ext cx="329184" cy="329184"/>
          </a:xfrm>
          <a:prstGeom prst="ellipse">
            <a:avLst/>
          </a:prstGeom>
          <a:solidFill>
            <a:srgbClr val="126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9" name="Step 4 number"/>
          <p:cNvSpPr txBox="1"/>
          <p:nvPr/>
        </p:nvSpPr>
        <p:spPr>
          <a:xfrm>
            <a:off x="7498079" y="5102352"/>
            <a:ext cx="329184" cy="329184"/>
          </a:xfrm>
          <a:prstGeom prst="rect">
            <a:avLst/>
          </a:prstGeom>
          <a:noFill/>
        </p:spPr>
        <p:txBody>
          <a:bodyPr wrap="square" lIns="0" tIns="0" rIns="0" bIns="0" anchor="ctr">
            <a:spAutoFit/>
          </a:bodyPr>
          <a:lstStyle/>
          <a:p>
            <a:pPr algn="ctr"/>
            <a:r>
              <a:rPr sz="1200" b="1">
                <a:solidFill>
                  <a:srgbClr val="FFFFFF"/>
                </a:solidFill>
                <a:latin typeface="Arial"/>
              </a:rPr>
              <a:t>4</a:t>
            </a:r>
          </a:p>
        </p:txBody>
      </p:sp>
      <p:sp>
        <p:nvSpPr>
          <p:cNvPr id="1030" name="Step 4 head"/>
          <p:cNvSpPr txBox="1"/>
          <p:nvPr/>
        </p:nvSpPr>
        <p:spPr>
          <a:xfrm>
            <a:off x="7973568" y="5084064"/>
            <a:ext cx="3474720" cy="274320"/>
          </a:xfrm>
          <a:prstGeom prst="rect">
            <a:avLst/>
          </a:prstGeom>
          <a:noFill/>
        </p:spPr>
        <p:txBody>
          <a:bodyPr wrap="square" lIns="0" tIns="0" rIns="0" bIns="0" anchor="t">
            <a:spAutoFit/>
          </a:bodyPr>
          <a:lstStyle/>
          <a:p>
            <a:pPr algn="l"/>
            <a:r>
              <a:rPr sz="1300" b="1">
                <a:solidFill>
                  <a:srgbClr val="1263B4"/>
                </a:solidFill>
                <a:latin typeface="Arial"/>
              </a:rPr>
              <a:t>Grounded answer</a:t>
            </a:r>
          </a:p>
        </p:txBody>
      </p:sp>
      <p:sp>
        <p:nvSpPr>
          <p:cNvPr id="1031" name="Step 4 body"/>
          <p:cNvSpPr txBox="1"/>
          <p:nvPr/>
        </p:nvSpPr>
        <p:spPr>
          <a:xfrm>
            <a:off x="7973568" y="5376672"/>
            <a:ext cx="3474720" cy="502920"/>
          </a:xfrm>
          <a:prstGeom prst="rect">
            <a:avLst/>
          </a:prstGeom>
          <a:noFill/>
        </p:spPr>
        <p:txBody>
          <a:bodyPr wrap="square" lIns="0" tIns="0" rIns="0" bIns="0" anchor="t">
            <a:spAutoFit/>
          </a:bodyPr>
          <a:lstStyle/>
          <a:p>
            <a:pPr algn="l"/>
            <a:r>
              <a:rPr sz="1150" b="0">
                <a:solidFill>
                  <a:srgbClr val="64748B"/>
                </a:solidFill>
                <a:latin typeface="Arial"/>
              </a:rPr>
              <a:t>prompt | Gemma | parser answers only from this context and returns the sources.</a:t>
            </a:r>
          </a:p>
        </p:txBody>
      </p:sp>
      <p:sp>
        <p:nvSpPr>
          <p:cNvPr id="2" name="Google Shape;529;p10">
            <a:extLst>
              <a:ext uri="{FF2B5EF4-FFF2-40B4-BE49-F238E27FC236}">
                <a16:creationId xmlns:a16="http://schemas.microsoft.com/office/drawing/2014/main" id="{C2120170-7733-F647-9215-AF4821F2043D}"/>
              </a:ext>
            </a:extLst>
          </p:cNvPr>
          <p:cNvSpPr/>
          <p:nvPr/>
        </p:nvSpPr>
        <p:spPr>
          <a:xfrm>
            <a:off x="305" y="0"/>
            <a:ext cx="12191695" cy="82296"/>
          </a:xfrm>
          <a:prstGeom prst="rect">
            <a:avLst/>
          </a:prstGeom>
          <a:solidFill>
            <a:srgbClr val="0C3568"/>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11"/>
          <p:cNvSpPr/>
          <p:nvPr/>
        </p:nvSpPr>
        <p:spPr>
          <a:xfrm>
            <a:off x="0" y="0"/>
            <a:ext cx="12191695" cy="82296"/>
          </a:xfrm>
          <a:prstGeom prst="rect">
            <a:avLst/>
          </a:prstGeom>
          <a:solidFill>
            <a:srgbClr val="0D316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77" name="Google Shape;577;p11"/>
          <p:cNvSpPr txBox="1"/>
          <p:nvPr/>
        </p:nvSpPr>
        <p:spPr>
          <a:xfrm>
            <a:off x="548640" y="292608"/>
            <a:ext cx="5486400" cy="274320"/>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400" b="1" i="0" u="none" strike="noStrike" cap="none">
                <a:solidFill>
                  <a:srgbClr val="0058A6"/>
                </a:solidFill>
                <a:latin typeface="Arial"/>
                <a:ea typeface="Arial"/>
                <a:cs typeface="Arial"/>
                <a:sym typeface="Arial"/>
              </a:rPr>
              <a:t>UTA • TEAM 2 AI ADVISOR</a:t>
            </a:r>
            <a:endParaRPr/>
          </a:p>
        </p:txBody>
      </p:sp>
      <p:sp>
        <p:nvSpPr>
          <p:cNvPr id="578" name="Google Shape;578;p11"/>
          <p:cNvSpPr txBox="1"/>
          <p:nvPr/>
        </p:nvSpPr>
        <p:spPr>
          <a:xfrm>
            <a:off x="548640" y="704088"/>
            <a:ext cx="10972800" cy="548640"/>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3100" b="1" i="0" u="none" strike="noStrike" cap="none">
                <a:solidFill>
                  <a:srgbClr val="0D3162"/>
                </a:solidFill>
                <a:latin typeface="Arial"/>
                <a:ea typeface="Arial"/>
                <a:cs typeface="Arial"/>
                <a:sym typeface="Arial"/>
              </a:rPr>
              <a:t>Path B: Student Academic Record Retrieval</a:t>
            </a:r>
            <a:endParaRPr/>
          </a:p>
        </p:txBody>
      </p:sp>
      <p:sp>
        <p:nvSpPr>
          <p:cNvPr id="579" name="Google Shape;579;p11"/>
          <p:cNvSpPr/>
          <p:nvPr/>
        </p:nvSpPr>
        <p:spPr>
          <a:xfrm>
            <a:off x="502920" y="1289304"/>
            <a:ext cx="11475720" cy="22860"/>
          </a:xfrm>
          <a:prstGeom prst="rect">
            <a:avLst/>
          </a:prstGeom>
          <a:solidFill>
            <a:srgbClr val="C5D2DD"/>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80" name="Google Shape;580;p11"/>
          <p:cNvSpPr txBox="1"/>
          <p:nvPr/>
        </p:nvSpPr>
        <p:spPr>
          <a:xfrm>
            <a:off x="777240" y="1481328"/>
            <a:ext cx="10972800" cy="411480"/>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900" b="0" i="0" u="none" strike="noStrike" cap="none">
                <a:solidFill>
                  <a:srgbClr val="546C89"/>
                </a:solidFill>
                <a:latin typeface="Arial"/>
                <a:ea typeface="Arial"/>
                <a:cs typeface="Arial"/>
                <a:sym typeface="Arial"/>
              </a:rPr>
              <a:t>LangChain routes student-record questions to authenticated academic data retrieval</a:t>
            </a:r>
            <a:endParaRPr/>
          </a:p>
        </p:txBody>
      </p:sp>
      <p:sp>
        <p:nvSpPr>
          <p:cNvPr id="581" name="Google Shape;581;p11"/>
          <p:cNvSpPr/>
          <p:nvPr/>
        </p:nvSpPr>
        <p:spPr>
          <a:xfrm>
            <a:off x="530352" y="2148840"/>
            <a:ext cx="1773936" cy="2414016"/>
          </a:xfrm>
          <a:prstGeom prst="roundRect">
            <a:avLst>
              <a:gd name="adj" fmla="val 16667"/>
            </a:avLst>
          </a:prstGeom>
          <a:solidFill>
            <a:srgbClr val="FFFFFF"/>
          </a:solidFill>
          <a:ln w="9525" cap="flat" cmpd="sng">
            <a:solidFill>
              <a:srgbClr val="D8E4EE"/>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82" name="Google Shape;582;p11"/>
          <p:cNvSpPr/>
          <p:nvPr/>
        </p:nvSpPr>
        <p:spPr>
          <a:xfrm>
            <a:off x="649224" y="2295144"/>
            <a:ext cx="393192" cy="393192"/>
          </a:xfrm>
          <a:prstGeom prst="roundRect">
            <a:avLst>
              <a:gd name="adj" fmla="val 16667"/>
            </a:avLst>
          </a:prstGeom>
          <a:solidFill>
            <a:srgbClr val="0D316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83" name="Google Shape;583;p11"/>
          <p:cNvSpPr txBox="1"/>
          <p:nvPr/>
        </p:nvSpPr>
        <p:spPr>
          <a:xfrm>
            <a:off x="754380" y="2368296"/>
            <a:ext cx="201168" cy="228600"/>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00" b="1" i="0" u="none" strike="noStrike" cap="none">
                <a:solidFill>
                  <a:srgbClr val="FFFFFF"/>
                </a:solidFill>
                <a:latin typeface="Arial"/>
                <a:ea typeface="Arial"/>
                <a:cs typeface="Arial"/>
                <a:sym typeface="Arial"/>
              </a:rPr>
              <a:t>1</a:t>
            </a:r>
            <a:endParaRPr/>
          </a:p>
        </p:txBody>
      </p:sp>
      <p:sp>
        <p:nvSpPr>
          <p:cNvPr id="584" name="Google Shape;584;p11"/>
          <p:cNvSpPr txBox="1"/>
          <p:nvPr/>
        </p:nvSpPr>
        <p:spPr>
          <a:xfrm>
            <a:off x="685800" y="2898648"/>
            <a:ext cx="1508760" cy="530352"/>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700" b="1" i="0" u="none" strike="noStrike" cap="none">
                <a:solidFill>
                  <a:srgbClr val="0D3162"/>
                </a:solidFill>
                <a:latin typeface="Arial"/>
                <a:ea typeface="Arial"/>
                <a:cs typeface="Arial"/>
                <a:sym typeface="Arial"/>
              </a:rPr>
              <a:t>Question</a:t>
            </a:r>
            <a:endParaRPr/>
          </a:p>
        </p:txBody>
      </p:sp>
      <p:sp>
        <p:nvSpPr>
          <p:cNvPr id="585" name="Google Shape;585;p11"/>
          <p:cNvSpPr txBox="1"/>
          <p:nvPr/>
        </p:nvSpPr>
        <p:spPr>
          <a:xfrm>
            <a:off x="685800" y="3438144"/>
            <a:ext cx="1499616" cy="1051560"/>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20" b="0" i="0" u="none" strike="noStrike" cap="none">
                <a:solidFill>
                  <a:srgbClr val="546C89"/>
                </a:solidFill>
                <a:latin typeface="Arial"/>
                <a:ea typeface="Arial"/>
                <a:cs typeface="Arial"/>
                <a:sym typeface="Arial"/>
              </a:rPr>
              <a:t>“What courses have I taken?”</a:t>
            </a:r>
            <a:endParaRPr/>
          </a:p>
        </p:txBody>
      </p:sp>
      <p:sp>
        <p:nvSpPr>
          <p:cNvPr id="586" name="Google Shape;586;p11"/>
          <p:cNvSpPr/>
          <p:nvPr/>
        </p:nvSpPr>
        <p:spPr>
          <a:xfrm>
            <a:off x="2468880" y="2148840"/>
            <a:ext cx="1773936" cy="2414016"/>
          </a:xfrm>
          <a:prstGeom prst="roundRect">
            <a:avLst>
              <a:gd name="adj" fmla="val 16667"/>
            </a:avLst>
          </a:prstGeom>
          <a:solidFill>
            <a:srgbClr val="FFFFFF"/>
          </a:solidFill>
          <a:ln w="9525" cap="flat" cmpd="sng">
            <a:solidFill>
              <a:srgbClr val="D8E4EE"/>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87" name="Google Shape;587;p11"/>
          <p:cNvSpPr/>
          <p:nvPr/>
        </p:nvSpPr>
        <p:spPr>
          <a:xfrm>
            <a:off x="2587752" y="2295144"/>
            <a:ext cx="393192" cy="393192"/>
          </a:xfrm>
          <a:prstGeom prst="roundRect">
            <a:avLst>
              <a:gd name="adj" fmla="val 16667"/>
            </a:avLst>
          </a:prstGeom>
          <a:solidFill>
            <a:srgbClr val="0D316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88" name="Google Shape;588;p11"/>
          <p:cNvSpPr txBox="1"/>
          <p:nvPr/>
        </p:nvSpPr>
        <p:spPr>
          <a:xfrm>
            <a:off x="2692908" y="2368296"/>
            <a:ext cx="201168" cy="228600"/>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00" b="1" i="0" u="none" strike="noStrike" cap="none">
                <a:solidFill>
                  <a:srgbClr val="FFFFFF"/>
                </a:solidFill>
                <a:latin typeface="Arial"/>
                <a:ea typeface="Arial"/>
                <a:cs typeface="Arial"/>
                <a:sym typeface="Arial"/>
              </a:rPr>
              <a:t>2</a:t>
            </a:r>
            <a:endParaRPr/>
          </a:p>
        </p:txBody>
      </p:sp>
      <p:sp>
        <p:nvSpPr>
          <p:cNvPr id="589" name="Google Shape;589;p11"/>
          <p:cNvSpPr txBox="1"/>
          <p:nvPr/>
        </p:nvSpPr>
        <p:spPr>
          <a:xfrm>
            <a:off x="2624328" y="2898648"/>
            <a:ext cx="1508760" cy="530352"/>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700" b="1" i="0" u="none" strike="noStrike" cap="none">
                <a:solidFill>
                  <a:srgbClr val="0D3162"/>
                </a:solidFill>
                <a:latin typeface="Arial"/>
                <a:ea typeface="Arial"/>
                <a:cs typeface="Arial"/>
                <a:sym typeface="Arial"/>
              </a:rPr>
              <a:t>LLM routing</a:t>
            </a:r>
            <a:endParaRPr/>
          </a:p>
        </p:txBody>
      </p:sp>
      <p:sp>
        <p:nvSpPr>
          <p:cNvPr id="590" name="Google Shape;590;p11"/>
          <p:cNvSpPr txBox="1"/>
          <p:nvPr/>
        </p:nvSpPr>
        <p:spPr>
          <a:xfrm>
            <a:off x="2624328" y="3438144"/>
            <a:ext cx="1499616" cy="655564"/>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20" b="0" i="0" u="none" strike="noStrike" cap="none">
                <a:solidFill>
                  <a:srgbClr val="546C89"/>
                </a:solidFill>
                <a:latin typeface="Arial"/>
                <a:ea typeface="Arial"/>
                <a:cs typeface="Arial"/>
                <a:sym typeface="Arial"/>
              </a:rPr>
              <a:t>Bedrock classifies question →</a:t>
            </a:r>
            <a:endParaRPr/>
          </a:p>
          <a:p>
            <a:pPr marL="0" marR="0" lvl="0" indent="0" algn="l" rtl="0">
              <a:spcBef>
                <a:spcPts val="0"/>
              </a:spcBef>
              <a:spcAft>
                <a:spcPts val="0"/>
              </a:spcAft>
              <a:buNone/>
            </a:pPr>
            <a:r>
              <a:rPr lang="en-US" sz="1320" b="0" i="0" u="none" strike="noStrike" cap="none">
                <a:solidFill>
                  <a:srgbClr val="546C89"/>
                </a:solidFill>
                <a:latin typeface="Arial"/>
                <a:ea typeface="Arial"/>
                <a:cs typeface="Arial"/>
                <a:sym typeface="Arial"/>
              </a:rPr>
              <a:t>student_record</a:t>
            </a:r>
            <a:endParaRPr/>
          </a:p>
        </p:txBody>
      </p:sp>
      <p:sp>
        <p:nvSpPr>
          <p:cNvPr id="591" name="Google Shape;591;p11"/>
          <p:cNvSpPr/>
          <p:nvPr/>
        </p:nvSpPr>
        <p:spPr>
          <a:xfrm>
            <a:off x="4407408" y="2148840"/>
            <a:ext cx="1773936" cy="2414016"/>
          </a:xfrm>
          <a:prstGeom prst="roundRect">
            <a:avLst>
              <a:gd name="adj" fmla="val 16667"/>
            </a:avLst>
          </a:prstGeom>
          <a:solidFill>
            <a:srgbClr val="FFFFFF"/>
          </a:solidFill>
          <a:ln w="9525" cap="flat" cmpd="sng">
            <a:solidFill>
              <a:srgbClr val="D8E4EE"/>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92" name="Google Shape;592;p11"/>
          <p:cNvSpPr/>
          <p:nvPr/>
        </p:nvSpPr>
        <p:spPr>
          <a:xfrm>
            <a:off x="4526280" y="2295144"/>
            <a:ext cx="393192" cy="393192"/>
          </a:xfrm>
          <a:prstGeom prst="roundRect">
            <a:avLst>
              <a:gd name="adj" fmla="val 16667"/>
            </a:avLst>
          </a:prstGeom>
          <a:solidFill>
            <a:srgbClr val="0D316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93" name="Google Shape;593;p11"/>
          <p:cNvSpPr txBox="1"/>
          <p:nvPr/>
        </p:nvSpPr>
        <p:spPr>
          <a:xfrm>
            <a:off x="4631436" y="2368296"/>
            <a:ext cx="201168" cy="228600"/>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00" b="1" i="0" u="none" strike="noStrike" cap="none">
                <a:solidFill>
                  <a:srgbClr val="FFFFFF"/>
                </a:solidFill>
                <a:latin typeface="Arial"/>
                <a:ea typeface="Arial"/>
                <a:cs typeface="Arial"/>
                <a:sym typeface="Arial"/>
              </a:rPr>
              <a:t>3</a:t>
            </a:r>
            <a:endParaRPr/>
          </a:p>
        </p:txBody>
      </p:sp>
      <p:sp>
        <p:nvSpPr>
          <p:cNvPr id="594" name="Google Shape;594;p11"/>
          <p:cNvSpPr txBox="1"/>
          <p:nvPr/>
        </p:nvSpPr>
        <p:spPr>
          <a:xfrm>
            <a:off x="4562856" y="2898648"/>
            <a:ext cx="1508760" cy="530352"/>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700" b="1" i="0" u="none" strike="noStrike" cap="none">
                <a:solidFill>
                  <a:srgbClr val="0D3162"/>
                </a:solidFill>
                <a:latin typeface="Arial"/>
                <a:ea typeface="Arial"/>
                <a:cs typeface="Arial"/>
                <a:sym typeface="Arial"/>
              </a:rPr>
              <a:t>Student identity</a:t>
            </a:r>
            <a:endParaRPr/>
          </a:p>
        </p:txBody>
      </p:sp>
      <p:sp>
        <p:nvSpPr>
          <p:cNvPr id="595" name="Google Shape;595;p11"/>
          <p:cNvSpPr txBox="1"/>
          <p:nvPr/>
        </p:nvSpPr>
        <p:spPr>
          <a:xfrm>
            <a:off x="4562856" y="3438144"/>
            <a:ext cx="1499616" cy="1051560"/>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20" b="0" i="0" u="none" strike="noStrike" cap="none">
                <a:solidFill>
                  <a:srgbClr val="546C89"/>
                </a:solidFill>
                <a:latin typeface="Arial"/>
                <a:ea typeface="Arial"/>
                <a:cs typeface="Arial"/>
                <a:sym typeface="Arial"/>
              </a:rPr>
              <a:t>Cognito identifies the authenticated student</a:t>
            </a:r>
            <a:endParaRPr/>
          </a:p>
        </p:txBody>
      </p:sp>
      <p:sp>
        <p:nvSpPr>
          <p:cNvPr id="596" name="Google Shape;596;p11"/>
          <p:cNvSpPr/>
          <p:nvPr/>
        </p:nvSpPr>
        <p:spPr>
          <a:xfrm>
            <a:off x="6345936" y="2148840"/>
            <a:ext cx="1773936" cy="2414016"/>
          </a:xfrm>
          <a:prstGeom prst="roundRect">
            <a:avLst>
              <a:gd name="adj" fmla="val 16667"/>
            </a:avLst>
          </a:prstGeom>
          <a:solidFill>
            <a:srgbClr val="FFFFFF"/>
          </a:solidFill>
          <a:ln w="9525" cap="flat" cmpd="sng">
            <a:solidFill>
              <a:srgbClr val="D8E4EE"/>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97" name="Google Shape;597;p11"/>
          <p:cNvSpPr/>
          <p:nvPr/>
        </p:nvSpPr>
        <p:spPr>
          <a:xfrm>
            <a:off x="6464808" y="2295144"/>
            <a:ext cx="393192" cy="393192"/>
          </a:xfrm>
          <a:prstGeom prst="roundRect">
            <a:avLst>
              <a:gd name="adj" fmla="val 16667"/>
            </a:avLst>
          </a:prstGeom>
          <a:solidFill>
            <a:srgbClr val="0D316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98" name="Google Shape;598;p11"/>
          <p:cNvSpPr txBox="1"/>
          <p:nvPr/>
        </p:nvSpPr>
        <p:spPr>
          <a:xfrm>
            <a:off x="6569964" y="2368296"/>
            <a:ext cx="201168" cy="228600"/>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00" b="1" i="0" u="none" strike="noStrike" cap="none">
                <a:solidFill>
                  <a:srgbClr val="FFFFFF"/>
                </a:solidFill>
                <a:latin typeface="Arial"/>
                <a:ea typeface="Arial"/>
                <a:cs typeface="Arial"/>
                <a:sym typeface="Arial"/>
              </a:rPr>
              <a:t>4</a:t>
            </a:r>
            <a:endParaRPr/>
          </a:p>
        </p:txBody>
      </p:sp>
      <p:sp>
        <p:nvSpPr>
          <p:cNvPr id="599" name="Google Shape;599;p11"/>
          <p:cNvSpPr txBox="1"/>
          <p:nvPr/>
        </p:nvSpPr>
        <p:spPr>
          <a:xfrm>
            <a:off x="6501384" y="2898648"/>
            <a:ext cx="1508760" cy="530352"/>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700" b="1" i="0" u="none" strike="noStrike" cap="none">
                <a:solidFill>
                  <a:srgbClr val="0D3162"/>
                </a:solidFill>
                <a:latin typeface="Arial"/>
                <a:ea typeface="Arial"/>
                <a:cs typeface="Arial"/>
                <a:sym typeface="Arial"/>
              </a:rPr>
              <a:t>Student record</a:t>
            </a:r>
            <a:endParaRPr/>
          </a:p>
        </p:txBody>
      </p:sp>
      <p:sp>
        <p:nvSpPr>
          <p:cNvPr id="600" name="Google Shape;600;p11"/>
          <p:cNvSpPr txBox="1"/>
          <p:nvPr/>
        </p:nvSpPr>
        <p:spPr>
          <a:xfrm>
            <a:off x="6459040" y="3438144"/>
            <a:ext cx="1706552" cy="655564"/>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20" b="0" i="0" u="none" strike="noStrike" cap="none">
                <a:solidFill>
                  <a:srgbClr val="546C89"/>
                </a:solidFill>
                <a:latin typeface="Arial"/>
                <a:ea typeface="Arial"/>
                <a:cs typeface="Arial"/>
                <a:sym typeface="Arial"/>
              </a:rPr>
              <a:t>Query DynamoDB for completed courses, grades &amp; credits</a:t>
            </a:r>
            <a:endParaRPr/>
          </a:p>
        </p:txBody>
      </p:sp>
      <p:sp>
        <p:nvSpPr>
          <p:cNvPr id="601" name="Google Shape;601;p11"/>
          <p:cNvSpPr/>
          <p:nvPr/>
        </p:nvSpPr>
        <p:spPr>
          <a:xfrm>
            <a:off x="8284464" y="2148840"/>
            <a:ext cx="1773936" cy="2414016"/>
          </a:xfrm>
          <a:prstGeom prst="roundRect">
            <a:avLst>
              <a:gd name="adj" fmla="val 16667"/>
            </a:avLst>
          </a:prstGeom>
          <a:solidFill>
            <a:srgbClr val="FFFFFF"/>
          </a:solidFill>
          <a:ln w="9525" cap="flat" cmpd="sng">
            <a:solidFill>
              <a:srgbClr val="D8E4EE"/>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02" name="Google Shape;602;p11"/>
          <p:cNvSpPr/>
          <p:nvPr/>
        </p:nvSpPr>
        <p:spPr>
          <a:xfrm>
            <a:off x="8403336" y="2295144"/>
            <a:ext cx="393192" cy="393192"/>
          </a:xfrm>
          <a:prstGeom prst="roundRect">
            <a:avLst>
              <a:gd name="adj" fmla="val 16667"/>
            </a:avLst>
          </a:prstGeom>
          <a:solidFill>
            <a:srgbClr val="0D316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03" name="Google Shape;603;p11"/>
          <p:cNvSpPr txBox="1"/>
          <p:nvPr/>
        </p:nvSpPr>
        <p:spPr>
          <a:xfrm>
            <a:off x="8508492" y="2368296"/>
            <a:ext cx="201168" cy="228600"/>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00" b="1" i="0" u="none" strike="noStrike" cap="none">
                <a:solidFill>
                  <a:srgbClr val="FFFFFF"/>
                </a:solidFill>
                <a:latin typeface="Arial"/>
                <a:ea typeface="Arial"/>
                <a:cs typeface="Arial"/>
                <a:sym typeface="Arial"/>
              </a:rPr>
              <a:t>5</a:t>
            </a:r>
            <a:endParaRPr/>
          </a:p>
        </p:txBody>
      </p:sp>
      <p:sp>
        <p:nvSpPr>
          <p:cNvPr id="604" name="Google Shape;604;p11"/>
          <p:cNvSpPr txBox="1"/>
          <p:nvPr/>
        </p:nvSpPr>
        <p:spPr>
          <a:xfrm>
            <a:off x="8439912" y="2898648"/>
            <a:ext cx="1508760" cy="530352"/>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700" b="1" i="0" u="none" strike="noStrike" cap="none">
                <a:solidFill>
                  <a:srgbClr val="0D3162"/>
                </a:solidFill>
                <a:latin typeface="Arial"/>
                <a:ea typeface="Arial"/>
                <a:cs typeface="Arial"/>
                <a:sym typeface="Arial"/>
              </a:rPr>
              <a:t>Record summary</a:t>
            </a:r>
            <a:endParaRPr/>
          </a:p>
        </p:txBody>
      </p:sp>
      <p:sp>
        <p:nvSpPr>
          <p:cNvPr id="605" name="Google Shape;605;p11"/>
          <p:cNvSpPr txBox="1"/>
          <p:nvPr/>
        </p:nvSpPr>
        <p:spPr>
          <a:xfrm>
            <a:off x="8439912" y="3438144"/>
            <a:ext cx="1499616" cy="1051560"/>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20" b="0" i="0" u="none" strike="noStrike" cap="none">
                <a:solidFill>
                  <a:srgbClr val="546C89"/>
                </a:solidFill>
                <a:latin typeface="Arial"/>
                <a:ea typeface="Arial"/>
                <a:cs typeface="Arial"/>
                <a:sym typeface="Arial"/>
              </a:rPr>
              <a:t>Python organizes records and calculates totals from available data</a:t>
            </a:r>
            <a:endParaRPr/>
          </a:p>
        </p:txBody>
      </p:sp>
      <p:sp>
        <p:nvSpPr>
          <p:cNvPr id="606" name="Google Shape;606;p11"/>
          <p:cNvSpPr/>
          <p:nvPr/>
        </p:nvSpPr>
        <p:spPr>
          <a:xfrm>
            <a:off x="10222992" y="2148840"/>
            <a:ext cx="1773936" cy="2414016"/>
          </a:xfrm>
          <a:prstGeom prst="roundRect">
            <a:avLst>
              <a:gd name="adj" fmla="val 16667"/>
            </a:avLst>
          </a:prstGeom>
          <a:solidFill>
            <a:srgbClr val="FFFFFF"/>
          </a:solidFill>
          <a:ln w="9525" cap="flat" cmpd="sng">
            <a:solidFill>
              <a:srgbClr val="D8E4EE"/>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07" name="Google Shape;607;p11"/>
          <p:cNvSpPr/>
          <p:nvPr/>
        </p:nvSpPr>
        <p:spPr>
          <a:xfrm>
            <a:off x="10341864" y="2295144"/>
            <a:ext cx="393192" cy="393192"/>
          </a:xfrm>
          <a:prstGeom prst="roundRect">
            <a:avLst>
              <a:gd name="adj" fmla="val 16667"/>
            </a:avLst>
          </a:prstGeom>
          <a:solidFill>
            <a:srgbClr val="0D316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08" name="Google Shape;608;p11"/>
          <p:cNvSpPr txBox="1"/>
          <p:nvPr/>
        </p:nvSpPr>
        <p:spPr>
          <a:xfrm>
            <a:off x="10447020" y="2368296"/>
            <a:ext cx="201168" cy="228600"/>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00" b="1" i="0" u="none" strike="noStrike" cap="none">
                <a:solidFill>
                  <a:srgbClr val="FFFFFF"/>
                </a:solidFill>
                <a:latin typeface="Arial"/>
                <a:ea typeface="Arial"/>
                <a:cs typeface="Arial"/>
                <a:sym typeface="Arial"/>
              </a:rPr>
              <a:t>6</a:t>
            </a:r>
            <a:endParaRPr/>
          </a:p>
        </p:txBody>
      </p:sp>
      <p:sp>
        <p:nvSpPr>
          <p:cNvPr id="609" name="Google Shape;609;p11"/>
          <p:cNvSpPr txBox="1"/>
          <p:nvPr/>
        </p:nvSpPr>
        <p:spPr>
          <a:xfrm>
            <a:off x="10378440" y="2898648"/>
            <a:ext cx="1508760" cy="530352"/>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700" b="1" i="0" u="none" strike="noStrike" cap="none">
                <a:solidFill>
                  <a:srgbClr val="0D3162"/>
                </a:solidFill>
                <a:latin typeface="Arial"/>
                <a:ea typeface="Arial"/>
                <a:cs typeface="Arial"/>
                <a:sym typeface="Arial"/>
              </a:rPr>
              <a:t>LLM response</a:t>
            </a:r>
            <a:endParaRPr/>
          </a:p>
        </p:txBody>
      </p:sp>
      <p:sp>
        <p:nvSpPr>
          <p:cNvPr id="610" name="Google Shape;610;p11"/>
          <p:cNvSpPr txBox="1"/>
          <p:nvPr/>
        </p:nvSpPr>
        <p:spPr>
          <a:xfrm>
            <a:off x="10378440" y="3438144"/>
            <a:ext cx="1499616" cy="1051560"/>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20" b="0" i="0" u="none" strike="noStrike" cap="none">
                <a:solidFill>
                  <a:srgbClr val="546C89"/>
                </a:solidFill>
                <a:latin typeface="Arial"/>
                <a:ea typeface="Arial"/>
                <a:cs typeface="Arial"/>
                <a:sym typeface="Arial"/>
              </a:rPr>
              <a:t>Bedrock explains the student’s courses, grades &amp; credits</a:t>
            </a:r>
            <a:endParaRPr/>
          </a:p>
        </p:txBody>
      </p:sp>
      <p:sp>
        <p:nvSpPr>
          <p:cNvPr id="611" name="Google Shape;611;p11"/>
          <p:cNvSpPr/>
          <p:nvPr/>
        </p:nvSpPr>
        <p:spPr>
          <a:xfrm>
            <a:off x="786384" y="5001768"/>
            <a:ext cx="10634472" cy="804672"/>
          </a:xfrm>
          <a:prstGeom prst="roundRect">
            <a:avLst>
              <a:gd name="adj" fmla="val 16667"/>
            </a:avLst>
          </a:prstGeom>
          <a:solidFill>
            <a:srgbClr val="E9F2F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12" name="Google Shape;612;p11"/>
          <p:cNvSpPr txBox="1"/>
          <p:nvPr/>
        </p:nvSpPr>
        <p:spPr>
          <a:xfrm>
            <a:off x="1024128" y="5248656"/>
            <a:ext cx="10149840" cy="365760"/>
          </a:xfrm>
          <a:prstGeom prst="rect">
            <a:avLst/>
          </a:prstGeom>
          <a:noFill/>
          <a:ln>
            <a:noFill/>
          </a:ln>
        </p:spPr>
        <p:txBody>
          <a:bodyPr spcFirstLastPara="1" wrap="square" lIns="0" tIns="0" rIns="91425" bIns="45700" anchor="t" anchorCtr="0">
            <a:spAutoFit/>
          </a:bodyPr>
          <a:lstStyle/>
          <a:p>
            <a:pPr marL="0" marR="0" lvl="0" indent="0" algn="ctr" rtl="0">
              <a:spcBef>
                <a:spcPts val="0"/>
              </a:spcBef>
              <a:spcAft>
                <a:spcPts val="0"/>
              </a:spcAft>
              <a:buNone/>
            </a:pPr>
            <a:r>
              <a:rPr lang="en-US" sz="1600" b="1" i="0" u="none" strike="noStrike" cap="none">
                <a:solidFill>
                  <a:srgbClr val="0D3162"/>
                </a:solidFill>
                <a:latin typeface="Arial"/>
                <a:ea typeface="Arial"/>
                <a:cs typeface="Arial"/>
                <a:sym typeface="Arial"/>
              </a:rPr>
              <a:t>Routing decision: student_record → verified student identity → DynamoDB → organized academic records → explained result.</a:t>
            </a:r>
            <a:endParaRPr/>
          </a:p>
        </p:txBody>
      </p:sp>
      <p:sp>
        <p:nvSpPr>
          <p:cNvPr id="613" name="Google Shape;613;p11"/>
          <p:cNvSpPr txBox="1"/>
          <p:nvPr/>
        </p:nvSpPr>
        <p:spPr>
          <a:xfrm>
            <a:off x="566928" y="6537960"/>
            <a:ext cx="4572000" cy="182880"/>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900" b="0" i="0" u="none" strike="noStrike" cap="none">
                <a:solidFill>
                  <a:srgbClr val="546C89"/>
                </a:solidFill>
                <a:latin typeface="Arial"/>
                <a:ea typeface="Arial"/>
                <a:cs typeface="Arial"/>
                <a:sym typeface="Arial"/>
              </a:rPr>
              <a:t>CSE 4392 / 5320  •  TEAM ASSIGNMENT 2</a:t>
            </a:r>
            <a:endParaRPr/>
          </a:p>
        </p:txBody>
      </p:sp>
      <p:sp>
        <p:nvSpPr>
          <p:cNvPr id="614" name="Google Shape;614;p11"/>
          <p:cNvSpPr txBox="1"/>
          <p:nvPr/>
        </p:nvSpPr>
        <p:spPr>
          <a:xfrm>
            <a:off x="2290467" y="3136392"/>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i="0" u="none" strike="noStrike" cap="none">
                <a:solidFill>
                  <a:srgbClr val="F57725"/>
                </a:solidFill>
                <a:latin typeface="Arial"/>
                <a:ea typeface="Arial"/>
                <a:cs typeface="Arial"/>
                <a:sym typeface="Arial"/>
              </a:rPr>
              <a:t>→</a:t>
            </a:r>
            <a:endParaRPr/>
          </a:p>
        </p:txBody>
      </p:sp>
      <p:sp>
        <p:nvSpPr>
          <p:cNvPr id="615" name="Google Shape;615;p11"/>
          <p:cNvSpPr txBox="1"/>
          <p:nvPr/>
        </p:nvSpPr>
        <p:spPr>
          <a:xfrm>
            <a:off x="4229147" y="3118670"/>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i="0" u="none" strike="noStrike" cap="none">
                <a:solidFill>
                  <a:srgbClr val="F57725"/>
                </a:solidFill>
                <a:latin typeface="Arial"/>
                <a:ea typeface="Arial"/>
                <a:cs typeface="Arial"/>
                <a:sym typeface="Arial"/>
              </a:rPr>
              <a:t>→</a:t>
            </a:r>
            <a:endParaRPr/>
          </a:p>
        </p:txBody>
      </p:sp>
      <p:sp>
        <p:nvSpPr>
          <p:cNvPr id="616" name="Google Shape;616;p11"/>
          <p:cNvSpPr txBox="1"/>
          <p:nvPr/>
        </p:nvSpPr>
        <p:spPr>
          <a:xfrm>
            <a:off x="6178460" y="3122208"/>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i="0" u="none" strike="noStrike" cap="none">
                <a:solidFill>
                  <a:srgbClr val="F57725"/>
                </a:solidFill>
                <a:latin typeface="Arial"/>
                <a:ea typeface="Arial"/>
                <a:cs typeface="Arial"/>
                <a:sym typeface="Arial"/>
              </a:rPr>
              <a:t>→</a:t>
            </a:r>
            <a:endParaRPr/>
          </a:p>
        </p:txBody>
      </p:sp>
      <p:sp>
        <p:nvSpPr>
          <p:cNvPr id="617" name="Google Shape;617;p11"/>
          <p:cNvSpPr txBox="1"/>
          <p:nvPr/>
        </p:nvSpPr>
        <p:spPr>
          <a:xfrm>
            <a:off x="8117135" y="3125746"/>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i="0" u="none" strike="noStrike" cap="none">
                <a:solidFill>
                  <a:srgbClr val="F57725"/>
                </a:solidFill>
                <a:latin typeface="Arial"/>
                <a:ea typeface="Arial"/>
                <a:cs typeface="Arial"/>
                <a:sym typeface="Arial"/>
              </a:rPr>
              <a:t>→</a:t>
            </a:r>
            <a:endParaRPr/>
          </a:p>
        </p:txBody>
      </p:sp>
      <p:sp>
        <p:nvSpPr>
          <p:cNvPr id="618" name="Google Shape;618;p11"/>
          <p:cNvSpPr txBox="1"/>
          <p:nvPr/>
        </p:nvSpPr>
        <p:spPr>
          <a:xfrm>
            <a:off x="10055810" y="3118652"/>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i="0" u="none" strike="noStrike" cap="none">
                <a:solidFill>
                  <a:srgbClr val="F57725"/>
                </a:solidFill>
                <a:latin typeface="Arial"/>
                <a:ea typeface="Arial"/>
                <a:cs typeface="Arial"/>
                <a:sym typeface="Arial"/>
              </a:rPr>
              <a:t>→</a:t>
            </a:r>
            <a:endParaRPr/>
          </a:p>
        </p:txBody>
      </p:sp>
      <p:sp>
        <p:nvSpPr>
          <p:cNvPr id="619" name="Google Shape;619;p11"/>
          <p:cNvSpPr txBox="1"/>
          <p:nvPr/>
        </p:nvSpPr>
        <p:spPr>
          <a:xfrm>
            <a:off x="5136730" y="2291126"/>
            <a:ext cx="653619" cy="415498"/>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200" b="1" i="0" u="none" strike="noStrike" cap="none">
                <a:solidFill>
                  <a:srgbClr val="0D3669"/>
                </a:solidFill>
                <a:latin typeface="Arial"/>
                <a:ea typeface="Arial"/>
                <a:cs typeface="Arial"/>
                <a:sym typeface="Arial"/>
              </a:rPr>
              <a:t>Advisor </a:t>
            </a:r>
            <a:endParaRPr/>
          </a:p>
          <a:p>
            <a:pPr marL="0" marR="0" lvl="0" indent="0" algn="ctr" rtl="0">
              <a:spcBef>
                <a:spcPts val="0"/>
              </a:spcBef>
              <a:spcAft>
                <a:spcPts val="0"/>
              </a:spcAft>
              <a:buNone/>
            </a:pPr>
            <a:r>
              <a:rPr lang="en-US" sz="1200" b="1" i="0" u="none" strike="noStrike" cap="none">
                <a:solidFill>
                  <a:srgbClr val="0D3669"/>
                </a:solidFill>
                <a:latin typeface="Arial"/>
                <a:ea typeface="Arial"/>
                <a:cs typeface="Arial"/>
                <a:sym typeface="Arial"/>
              </a:rPr>
              <a:t>tool</a:t>
            </a:r>
            <a:endParaRPr sz="1200" b="0" i="0" u="none" strike="noStrike" cap="none">
              <a:solidFill>
                <a:schemeClr val="dk1"/>
              </a:solidFill>
              <a:latin typeface="Calibri"/>
              <a:ea typeface="Calibri"/>
              <a:cs typeface="Calibri"/>
              <a:sym typeface="Calibri"/>
            </a:endParaRPr>
          </a:p>
        </p:txBody>
      </p:sp>
      <p:sp>
        <p:nvSpPr>
          <p:cNvPr id="620" name="Google Shape;620;p11"/>
          <p:cNvSpPr txBox="1"/>
          <p:nvPr/>
        </p:nvSpPr>
        <p:spPr>
          <a:xfrm>
            <a:off x="7075258" y="2274774"/>
            <a:ext cx="653619" cy="415498"/>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200" b="1" i="0" u="none" strike="noStrike" cap="none">
                <a:solidFill>
                  <a:srgbClr val="0D3669"/>
                </a:solidFill>
                <a:latin typeface="Arial"/>
                <a:ea typeface="Arial"/>
                <a:cs typeface="Arial"/>
                <a:sym typeface="Arial"/>
              </a:rPr>
              <a:t>Advisor </a:t>
            </a:r>
            <a:endParaRPr/>
          </a:p>
          <a:p>
            <a:pPr marL="0" marR="0" lvl="0" indent="0" algn="ctr" rtl="0">
              <a:spcBef>
                <a:spcPts val="0"/>
              </a:spcBef>
              <a:spcAft>
                <a:spcPts val="0"/>
              </a:spcAft>
              <a:buNone/>
            </a:pPr>
            <a:r>
              <a:rPr lang="en-US" sz="1200" b="1" i="0" u="none" strike="noStrike" cap="none">
                <a:solidFill>
                  <a:srgbClr val="0D3669"/>
                </a:solidFill>
                <a:latin typeface="Arial"/>
                <a:ea typeface="Arial"/>
                <a:cs typeface="Arial"/>
                <a:sym typeface="Arial"/>
              </a:rPr>
              <a:t>tool</a:t>
            </a:r>
            <a:endParaRPr sz="1200" b="0" i="0" u="none" strike="noStrike" cap="none">
              <a:solidFill>
                <a:schemeClr val="dk1"/>
              </a:solidFill>
              <a:latin typeface="Calibri"/>
              <a:ea typeface="Calibri"/>
              <a:cs typeface="Calibri"/>
              <a:sym typeface="Calibri"/>
            </a:endParaRPr>
          </a:p>
        </p:txBody>
      </p:sp>
      <p:sp>
        <p:nvSpPr>
          <p:cNvPr id="621" name="Google Shape;621;p11"/>
          <p:cNvSpPr txBox="1"/>
          <p:nvPr/>
        </p:nvSpPr>
        <p:spPr>
          <a:xfrm>
            <a:off x="9022823" y="2321121"/>
            <a:ext cx="653619" cy="415498"/>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200" b="1" i="0" u="none" strike="noStrike" cap="none">
                <a:solidFill>
                  <a:srgbClr val="0D3669"/>
                </a:solidFill>
                <a:latin typeface="Arial"/>
                <a:ea typeface="Arial"/>
                <a:cs typeface="Arial"/>
                <a:sym typeface="Arial"/>
              </a:rPr>
              <a:t>Advisor </a:t>
            </a:r>
            <a:endParaRPr/>
          </a:p>
          <a:p>
            <a:pPr marL="0" marR="0" lvl="0" indent="0" algn="ctr" rtl="0">
              <a:spcBef>
                <a:spcPts val="0"/>
              </a:spcBef>
              <a:spcAft>
                <a:spcPts val="0"/>
              </a:spcAft>
              <a:buNone/>
            </a:pPr>
            <a:r>
              <a:rPr lang="en-US" sz="1200" b="1" i="0" u="none" strike="noStrike" cap="none">
                <a:solidFill>
                  <a:srgbClr val="0D3669"/>
                </a:solidFill>
                <a:latin typeface="Arial"/>
                <a:ea typeface="Arial"/>
                <a:cs typeface="Arial"/>
                <a:sym typeface="Arial"/>
              </a:rPr>
              <a:t>tool</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12"/>
          <p:cNvSpPr/>
          <p:nvPr/>
        </p:nvSpPr>
        <p:spPr>
          <a:xfrm>
            <a:off x="0" y="0"/>
            <a:ext cx="12191695" cy="82296"/>
          </a:xfrm>
          <a:prstGeom prst="rect">
            <a:avLst/>
          </a:prstGeom>
          <a:solidFill>
            <a:srgbClr val="0D366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27" name="Google Shape;627;p12"/>
          <p:cNvSpPr txBox="1"/>
          <p:nvPr/>
        </p:nvSpPr>
        <p:spPr>
          <a:xfrm>
            <a:off x="539496" y="274320"/>
            <a:ext cx="6400800" cy="228600"/>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300" b="1" i="0" u="none" strike="noStrike" cap="none">
                <a:solidFill>
                  <a:srgbClr val="00549D"/>
                </a:solidFill>
                <a:latin typeface="Arial"/>
                <a:ea typeface="Arial"/>
                <a:cs typeface="Arial"/>
                <a:sym typeface="Arial"/>
              </a:rPr>
              <a:t>UTA • TEAM 2 AI ADVISOR</a:t>
            </a:r>
            <a:endParaRPr/>
          </a:p>
        </p:txBody>
      </p:sp>
      <p:sp>
        <p:nvSpPr>
          <p:cNvPr id="628" name="Google Shape;628;p12"/>
          <p:cNvSpPr txBox="1"/>
          <p:nvPr/>
        </p:nvSpPr>
        <p:spPr>
          <a:xfrm>
            <a:off x="539496" y="667512"/>
            <a:ext cx="10972800" cy="502920"/>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2900" b="1" i="0" u="none" strike="noStrike" cap="none">
                <a:solidFill>
                  <a:srgbClr val="0D3669"/>
                </a:solidFill>
                <a:latin typeface="Arial"/>
                <a:ea typeface="Arial"/>
                <a:cs typeface="Arial"/>
                <a:sym typeface="Arial"/>
              </a:rPr>
              <a:t>Path B: Student Course Eligibility</a:t>
            </a:r>
            <a:endParaRPr/>
          </a:p>
        </p:txBody>
      </p:sp>
      <p:sp>
        <p:nvSpPr>
          <p:cNvPr id="629" name="Google Shape;629;p12"/>
          <p:cNvSpPr/>
          <p:nvPr/>
        </p:nvSpPr>
        <p:spPr>
          <a:xfrm>
            <a:off x="512064" y="1280160"/>
            <a:ext cx="11384280" cy="22860"/>
          </a:xfrm>
          <a:prstGeom prst="rect">
            <a:avLst/>
          </a:prstGeom>
          <a:solidFill>
            <a:srgbClr val="C7D3DD"/>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30" name="Google Shape;630;p12"/>
          <p:cNvSpPr txBox="1"/>
          <p:nvPr/>
        </p:nvSpPr>
        <p:spPr>
          <a:xfrm>
            <a:off x="768096" y="1481328"/>
            <a:ext cx="10972800" cy="384048"/>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800" b="0" i="0" u="none" strike="noStrike" cap="none">
                <a:solidFill>
                  <a:srgbClr val="536B87"/>
                </a:solidFill>
                <a:latin typeface="Arial"/>
                <a:ea typeface="Arial"/>
                <a:cs typeface="Arial"/>
                <a:sym typeface="Arial"/>
              </a:rPr>
              <a:t>LangChain routes student-specific questions to structured academic rule checks</a:t>
            </a:r>
            <a:endParaRPr/>
          </a:p>
        </p:txBody>
      </p:sp>
      <p:sp>
        <p:nvSpPr>
          <p:cNvPr id="631" name="Google Shape;631;p12"/>
          <p:cNvSpPr/>
          <p:nvPr/>
        </p:nvSpPr>
        <p:spPr>
          <a:xfrm>
            <a:off x="544068" y="2180844"/>
            <a:ext cx="1735836" cy="2395728"/>
          </a:xfrm>
          <a:prstGeom prst="roundRect">
            <a:avLst>
              <a:gd name="adj" fmla="val 16667"/>
            </a:avLst>
          </a:prstGeom>
          <a:solidFill>
            <a:srgbClr val="E3E8ED"/>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32" name="Google Shape;632;p12"/>
          <p:cNvSpPr/>
          <p:nvPr/>
        </p:nvSpPr>
        <p:spPr>
          <a:xfrm>
            <a:off x="521207" y="2139696"/>
            <a:ext cx="1735836" cy="2395728"/>
          </a:xfrm>
          <a:prstGeom prst="roundRect">
            <a:avLst>
              <a:gd name="adj" fmla="val 16667"/>
            </a:avLst>
          </a:prstGeom>
          <a:solidFill>
            <a:srgbClr val="FFFFFF"/>
          </a:solidFill>
          <a:ln w="12700" cap="flat" cmpd="sng">
            <a:solidFill>
              <a:srgbClr val="DCE7F0"/>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33" name="Google Shape;633;p12"/>
          <p:cNvSpPr/>
          <p:nvPr/>
        </p:nvSpPr>
        <p:spPr>
          <a:xfrm>
            <a:off x="649224" y="2295144"/>
            <a:ext cx="393192" cy="393192"/>
          </a:xfrm>
          <a:prstGeom prst="roundRect">
            <a:avLst>
              <a:gd name="adj" fmla="val 16667"/>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34" name="Google Shape;634;p12"/>
          <p:cNvSpPr txBox="1"/>
          <p:nvPr/>
        </p:nvSpPr>
        <p:spPr>
          <a:xfrm>
            <a:off x="649224" y="2340864"/>
            <a:ext cx="393192" cy="237744"/>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300" b="1" i="0" u="none" strike="noStrike" cap="none">
                <a:solidFill>
                  <a:srgbClr val="FFFFFF"/>
                </a:solidFill>
                <a:latin typeface="Arial"/>
                <a:ea typeface="Arial"/>
                <a:cs typeface="Arial"/>
                <a:sym typeface="Arial"/>
              </a:rPr>
              <a:t>1</a:t>
            </a:r>
            <a:endParaRPr/>
          </a:p>
        </p:txBody>
      </p:sp>
      <p:sp>
        <p:nvSpPr>
          <p:cNvPr id="635" name="Google Shape;635;p12"/>
          <p:cNvSpPr txBox="1"/>
          <p:nvPr/>
        </p:nvSpPr>
        <p:spPr>
          <a:xfrm>
            <a:off x="676656" y="2907791"/>
            <a:ext cx="1470660" cy="484632"/>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700" b="1" i="0" u="none" strike="noStrike" cap="none">
                <a:solidFill>
                  <a:srgbClr val="0D3669"/>
                </a:solidFill>
                <a:latin typeface="Arial"/>
                <a:ea typeface="Arial"/>
                <a:cs typeface="Arial"/>
                <a:sym typeface="Arial"/>
              </a:rPr>
              <a:t>Question</a:t>
            </a:r>
            <a:endParaRPr/>
          </a:p>
        </p:txBody>
      </p:sp>
      <p:sp>
        <p:nvSpPr>
          <p:cNvPr id="636" name="Google Shape;636;p12"/>
          <p:cNvSpPr txBox="1"/>
          <p:nvPr/>
        </p:nvSpPr>
        <p:spPr>
          <a:xfrm>
            <a:off x="676656" y="3419856"/>
            <a:ext cx="1479804" cy="987552"/>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250" b="0" i="0" u="none" strike="noStrike" cap="none">
                <a:solidFill>
                  <a:srgbClr val="536B87"/>
                </a:solidFill>
                <a:latin typeface="Arial"/>
                <a:ea typeface="Arial"/>
                <a:cs typeface="Arial"/>
                <a:sym typeface="Arial"/>
              </a:rPr>
              <a:t>“Can I take CSE</a:t>
            </a:r>
            <a:endParaRPr/>
          </a:p>
          <a:p>
            <a:pPr marL="0" marR="0" lvl="0" indent="0" algn="l" rtl="0">
              <a:spcBef>
                <a:spcPts val="0"/>
              </a:spcBef>
              <a:spcAft>
                <a:spcPts val="0"/>
              </a:spcAft>
              <a:buNone/>
            </a:pPr>
            <a:r>
              <a:rPr lang="en-US" sz="1250" b="0" i="0" u="none" strike="noStrike" cap="none">
                <a:solidFill>
                  <a:srgbClr val="536B87"/>
                </a:solidFill>
                <a:latin typeface="Arial"/>
                <a:ea typeface="Arial"/>
                <a:cs typeface="Arial"/>
                <a:sym typeface="Arial"/>
              </a:rPr>
              <a:t>4308?”</a:t>
            </a:r>
            <a:endParaRPr/>
          </a:p>
        </p:txBody>
      </p:sp>
      <p:sp>
        <p:nvSpPr>
          <p:cNvPr id="637" name="Google Shape;637;p12"/>
          <p:cNvSpPr/>
          <p:nvPr/>
        </p:nvSpPr>
        <p:spPr>
          <a:xfrm>
            <a:off x="2435352" y="2180844"/>
            <a:ext cx="1735836" cy="2395728"/>
          </a:xfrm>
          <a:prstGeom prst="roundRect">
            <a:avLst>
              <a:gd name="adj" fmla="val 16667"/>
            </a:avLst>
          </a:prstGeom>
          <a:solidFill>
            <a:srgbClr val="E3E8ED"/>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38" name="Google Shape;638;p12"/>
          <p:cNvSpPr/>
          <p:nvPr/>
        </p:nvSpPr>
        <p:spPr>
          <a:xfrm>
            <a:off x="2412492" y="2139696"/>
            <a:ext cx="1735836" cy="2395728"/>
          </a:xfrm>
          <a:prstGeom prst="roundRect">
            <a:avLst>
              <a:gd name="adj" fmla="val 16667"/>
            </a:avLst>
          </a:prstGeom>
          <a:solidFill>
            <a:srgbClr val="FFFFFF"/>
          </a:solidFill>
          <a:ln w="12700" cap="flat" cmpd="sng">
            <a:solidFill>
              <a:srgbClr val="DCE7F0"/>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39" name="Google Shape;639;p12"/>
          <p:cNvSpPr/>
          <p:nvPr/>
        </p:nvSpPr>
        <p:spPr>
          <a:xfrm>
            <a:off x="2540508" y="2295144"/>
            <a:ext cx="393192" cy="393192"/>
          </a:xfrm>
          <a:prstGeom prst="roundRect">
            <a:avLst>
              <a:gd name="adj" fmla="val 16667"/>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40" name="Google Shape;640;p12"/>
          <p:cNvSpPr txBox="1"/>
          <p:nvPr/>
        </p:nvSpPr>
        <p:spPr>
          <a:xfrm>
            <a:off x="2540508" y="2340864"/>
            <a:ext cx="393192" cy="237744"/>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300" b="1" i="0" u="none" strike="noStrike" cap="none">
                <a:solidFill>
                  <a:srgbClr val="FFFFFF"/>
                </a:solidFill>
                <a:latin typeface="Arial"/>
                <a:ea typeface="Arial"/>
                <a:cs typeface="Arial"/>
                <a:sym typeface="Arial"/>
              </a:rPr>
              <a:t>2</a:t>
            </a:r>
            <a:endParaRPr/>
          </a:p>
        </p:txBody>
      </p:sp>
      <p:sp>
        <p:nvSpPr>
          <p:cNvPr id="641" name="Google Shape;641;p12"/>
          <p:cNvSpPr txBox="1"/>
          <p:nvPr/>
        </p:nvSpPr>
        <p:spPr>
          <a:xfrm>
            <a:off x="2567940" y="2907791"/>
            <a:ext cx="1470660" cy="484632"/>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700" b="1" i="0" u="none" strike="noStrike" cap="none">
                <a:solidFill>
                  <a:srgbClr val="0D3669"/>
                </a:solidFill>
                <a:latin typeface="Arial"/>
                <a:ea typeface="Arial"/>
                <a:cs typeface="Arial"/>
                <a:sym typeface="Arial"/>
              </a:rPr>
              <a:t>LLM routing</a:t>
            </a:r>
            <a:endParaRPr/>
          </a:p>
        </p:txBody>
      </p:sp>
      <p:sp>
        <p:nvSpPr>
          <p:cNvPr id="642" name="Google Shape;642;p12"/>
          <p:cNvSpPr txBox="1"/>
          <p:nvPr/>
        </p:nvSpPr>
        <p:spPr>
          <a:xfrm>
            <a:off x="2567940" y="3419856"/>
            <a:ext cx="1479804" cy="623248"/>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250" b="0" i="0" u="none" strike="noStrike" cap="none">
                <a:solidFill>
                  <a:srgbClr val="536B87"/>
                </a:solidFill>
                <a:latin typeface="Arial"/>
                <a:ea typeface="Arial"/>
                <a:cs typeface="Arial"/>
                <a:sym typeface="Arial"/>
              </a:rPr>
              <a:t>Bedrock classifies</a:t>
            </a:r>
            <a:endParaRPr/>
          </a:p>
          <a:p>
            <a:pPr marL="0" marR="0" lvl="0" indent="0" algn="l" rtl="0">
              <a:spcBef>
                <a:spcPts val="0"/>
              </a:spcBef>
              <a:spcAft>
                <a:spcPts val="0"/>
              </a:spcAft>
              <a:buNone/>
            </a:pPr>
            <a:r>
              <a:rPr lang="en-US" sz="1250" b="0" i="0" u="none" strike="noStrike" cap="none">
                <a:solidFill>
                  <a:srgbClr val="536B87"/>
                </a:solidFill>
                <a:latin typeface="Arial"/>
                <a:ea typeface="Arial"/>
                <a:cs typeface="Arial"/>
                <a:sym typeface="Arial"/>
              </a:rPr>
              <a:t>question →</a:t>
            </a:r>
            <a:endParaRPr/>
          </a:p>
          <a:p>
            <a:pPr marL="0" marR="0" lvl="0" indent="0" algn="l" rtl="0">
              <a:spcBef>
                <a:spcPts val="0"/>
              </a:spcBef>
              <a:spcAft>
                <a:spcPts val="0"/>
              </a:spcAft>
              <a:buNone/>
            </a:pPr>
            <a:r>
              <a:rPr lang="en-US" sz="1250" b="1" i="0" u="none" strike="noStrike" cap="none">
                <a:solidFill>
                  <a:srgbClr val="002060"/>
                </a:solidFill>
                <a:latin typeface="Arial"/>
                <a:ea typeface="Arial"/>
                <a:cs typeface="Arial"/>
                <a:sym typeface="Arial"/>
              </a:rPr>
              <a:t>course_eligibility</a:t>
            </a:r>
            <a:endParaRPr sz="1800" b="1" i="0" u="none" strike="noStrike" cap="none">
              <a:solidFill>
                <a:srgbClr val="002060"/>
              </a:solidFill>
              <a:latin typeface="Calibri"/>
              <a:ea typeface="Calibri"/>
              <a:cs typeface="Calibri"/>
              <a:sym typeface="Calibri"/>
            </a:endParaRPr>
          </a:p>
        </p:txBody>
      </p:sp>
      <p:sp>
        <p:nvSpPr>
          <p:cNvPr id="643" name="Google Shape;643;p12"/>
          <p:cNvSpPr/>
          <p:nvPr/>
        </p:nvSpPr>
        <p:spPr>
          <a:xfrm>
            <a:off x="4326636" y="2180844"/>
            <a:ext cx="1735836" cy="2395728"/>
          </a:xfrm>
          <a:prstGeom prst="roundRect">
            <a:avLst>
              <a:gd name="adj" fmla="val 16667"/>
            </a:avLst>
          </a:prstGeom>
          <a:solidFill>
            <a:srgbClr val="E3E8ED"/>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44" name="Google Shape;644;p12"/>
          <p:cNvSpPr/>
          <p:nvPr/>
        </p:nvSpPr>
        <p:spPr>
          <a:xfrm>
            <a:off x="4303776" y="2139696"/>
            <a:ext cx="1735836" cy="2395728"/>
          </a:xfrm>
          <a:prstGeom prst="roundRect">
            <a:avLst>
              <a:gd name="adj" fmla="val 16667"/>
            </a:avLst>
          </a:prstGeom>
          <a:solidFill>
            <a:srgbClr val="FFFFFF"/>
          </a:solidFill>
          <a:ln w="12700" cap="flat" cmpd="sng">
            <a:solidFill>
              <a:srgbClr val="DCE7F0"/>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45" name="Google Shape;645;p12"/>
          <p:cNvSpPr/>
          <p:nvPr/>
        </p:nvSpPr>
        <p:spPr>
          <a:xfrm>
            <a:off x="4431792" y="2295144"/>
            <a:ext cx="393192" cy="393192"/>
          </a:xfrm>
          <a:prstGeom prst="roundRect">
            <a:avLst>
              <a:gd name="adj" fmla="val 16667"/>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46" name="Google Shape;646;p12"/>
          <p:cNvSpPr txBox="1"/>
          <p:nvPr/>
        </p:nvSpPr>
        <p:spPr>
          <a:xfrm>
            <a:off x="4431792" y="2340864"/>
            <a:ext cx="393192" cy="237744"/>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300" b="1" i="0" u="none" strike="noStrike" cap="none">
                <a:solidFill>
                  <a:srgbClr val="FFFFFF"/>
                </a:solidFill>
                <a:latin typeface="Arial"/>
                <a:ea typeface="Arial"/>
                <a:cs typeface="Arial"/>
                <a:sym typeface="Arial"/>
              </a:rPr>
              <a:t>3</a:t>
            </a:r>
            <a:endParaRPr/>
          </a:p>
        </p:txBody>
      </p:sp>
      <p:sp>
        <p:nvSpPr>
          <p:cNvPr id="647" name="Google Shape;647;p12"/>
          <p:cNvSpPr txBox="1"/>
          <p:nvPr/>
        </p:nvSpPr>
        <p:spPr>
          <a:xfrm>
            <a:off x="4459224" y="2907791"/>
            <a:ext cx="1470660" cy="484632"/>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700" b="1" i="0" u="none" strike="noStrike" cap="none">
                <a:solidFill>
                  <a:srgbClr val="0D3669"/>
                </a:solidFill>
                <a:latin typeface="Arial"/>
                <a:ea typeface="Arial"/>
                <a:cs typeface="Arial"/>
                <a:sym typeface="Arial"/>
              </a:rPr>
              <a:t>Student record</a:t>
            </a:r>
            <a:endParaRPr/>
          </a:p>
        </p:txBody>
      </p:sp>
      <p:sp>
        <p:nvSpPr>
          <p:cNvPr id="648" name="Google Shape;648;p12"/>
          <p:cNvSpPr txBox="1"/>
          <p:nvPr/>
        </p:nvSpPr>
        <p:spPr>
          <a:xfrm>
            <a:off x="4459224" y="3419856"/>
            <a:ext cx="1479804" cy="623248"/>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250" b="0" i="0" u="none" strike="noStrike" cap="none">
                <a:solidFill>
                  <a:srgbClr val="536B87"/>
                </a:solidFill>
                <a:latin typeface="Arial"/>
                <a:ea typeface="Arial"/>
                <a:cs typeface="Arial"/>
                <a:sym typeface="Arial"/>
              </a:rPr>
              <a:t>Query DynamoDB for</a:t>
            </a: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r>
              <a:rPr lang="en-US" sz="1250" b="0" i="0" u="none" strike="noStrike" cap="none">
                <a:solidFill>
                  <a:srgbClr val="536B87"/>
                </a:solidFill>
                <a:latin typeface="Arial"/>
                <a:ea typeface="Arial"/>
                <a:cs typeface="Arial"/>
                <a:sym typeface="Arial"/>
              </a:rPr>
              <a:t>completed courses,</a:t>
            </a:r>
            <a:endParaRPr/>
          </a:p>
          <a:p>
            <a:pPr marL="0" marR="0" lvl="0" indent="0" algn="l" rtl="0">
              <a:spcBef>
                <a:spcPts val="0"/>
              </a:spcBef>
              <a:spcAft>
                <a:spcPts val="0"/>
              </a:spcAft>
              <a:buNone/>
            </a:pPr>
            <a:r>
              <a:rPr lang="en-US" sz="1250" b="0" i="0" u="none" strike="noStrike" cap="none">
                <a:solidFill>
                  <a:srgbClr val="536B87"/>
                </a:solidFill>
                <a:latin typeface="Arial"/>
                <a:ea typeface="Arial"/>
                <a:cs typeface="Arial"/>
                <a:sym typeface="Arial"/>
              </a:rPr>
              <a:t>grades &amp; credits</a:t>
            </a:r>
            <a:endParaRPr/>
          </a:p>
        </p:txBody>
      </p:sp>
      <p:sp>
        <p:nvSpPr>
          <p:cNvPr id="649" name="Google Shape;649;p12"/>
          <p:cNvSpPr/>
          <p:nvPr/>
        </p:nvSpPr>
        <p:spPr>
          <a:xfrm>
            <a:off x="6217920" y="2180844"/>
            <a:ext cx="1735836" cy="2395728"/>
          </a:xfrm>
          <a:prstGeom prst="roundRect">
            <a:avLst>
              <a:gd name="adj" fmla="val 16667"/>
            </a:avLst>
          </a:prstGeom>
          <a:solidFill>
            <a:srgbClr val="E3E8ED"/>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50" name="Google Shape;650;p12"/>
          <p:cNvSpPr/>
          <p:nvPr/>
        </p:nvSpPr>
        <p:spPr>
          <a:xfrm>
            <a:off x="6195060" y="2139696"/>
            <a:ext cx="1735836" cy="2395728"/>
          </a:xfrm>
          <a:prstGeom prst="roundRect">
            <a:avLst>
              <a:gd name="adj" fmla="val 16667"/>
            </a:avLst>
          </a:prstGeom>
          <a:solidFill>
            <a:srgbClr val="FFFFFF"/>
          </a:solidFill>
          <a:ln w="12700" cap="flat" cmpd="sng">
            <a:solidFill>
              <a:srgbClr val="DCE7F0"/>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51" name="Google Shape;651;p12"/>
          <p:cNvSpPr/>
          <p:nvPr/>
        </p:nvSpPr>
        <p:spPr>
          <a:xfrm>
            <a:off x="6323076" y="2295144"/>
            <a:ext cx="393192" cy="393192"/>
          </a:xfrm>
          <a:prstGeom prst="roundRect">
            <a:avLst>
              <a:gd name="adj" fmla="val 16667"/>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52" name="Google Shape;652;p12"/>
          <p:cNvSpPr txBox="1"/>
          <p:nvPr/>
        </p:nvSpPr>
        <p:spPr>
          <a:xfrm>
            <a:off x="6323076" y="2340864"/>
            <a:ext cx="393192" cy="237744"/>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300" b="1" i="0" u="none" strike="noStrike" cap="none">
                <a:solidFill>
                  <a:srgbClr val="FFFFFF"/>
                </a:solidFill>
                <a:latin typeface="Arial"/>
                <a:ea typeface="Arial"/>
                <a:cs typeface="Arial"/>
                <a:sym typeface="Arial"/>
              </a:rPr>
              <a:t>4</a:t>
            </a:r>
            <a:endParaRPr/>
          </a:p>
        </p:txBody>
      </p:sp>
      <p:sp>
        <p:nvSpPr>
          <p:cNvPr id="653" name="Google Shape;653;p12"/>
          <p:cNvSpPr txBox="1"/>
          <p:nvPr/>
        </p:nvSpPr>
        <p:spPr>
          <a:xfrm>
            <a:off x="6350508" y="2907791"/>
            <a:ext cx="1470660" cy="307777"/>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700" b="1" i="0" u="none" strike="noStrike" cap="none">
                <a:solidFill>
                  <a:srgbClr val="0D3669"/>
                </a:solidFill>
                <a:latin typeface="Arial"/>
                <a:ea typeface="Arial"/>
                <a:cs typeface="Arial"/>
                <a:sym typeface="Arial"/>
              </a:rPr>
              <a:t>Prerequisites</a:t>
            </a:r>
            <a:endParaRPr sz="1800" b="0" i="0" u="none" strike="noStrike" cap="none">
              <a:solidFill>
                <a:schemeClr val="dk1"/>
              </a:solidFill>
              <a:latin typeface="Calibri"/>
              <a:ea typeface="Calibri"/>
              <a:cs typeface="Calibri"/>
              <a:sym typeface="Calibri"/>
            </a:endParaRPr>
          </a:p>
        </p:txBody>
      </p:sp>
      <p:sp>
        <p:nvSpPr>
          <p:cNvPr id="654" name="Google Shape;654;p12"/>
          <p:cNvSpPr txBox="1"/>
          <p:nvPr/>
        </p:nvSpPr>
        <p:spPr>
          <a:xfrm>
            <a:off x="6350508" y="3419856"/>
            <a:ext cx="1479804" cy="815608"/>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250" b="0" i="0" u="none" strike="noStrike" cap="none">
                <a:solidFill>
                  <a:srgbClr val="536B87"/>
                </a:solidFill>
                <a:latin typeface="Arial"/>
                <a:ea typeface="Arial"/>
                <a:cs typeface="Arial"/>
                <a:sym typeface="Arial"/>
              </a:rPr>
              <a:t>Query DynamoDB for</a:t>
            </a: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r>
              <a:rPr lang="en-US" sz="1250" b="0" i="0" u="none" strike="noStrike" cap="none">
                <a:solidFill>
                  <a:srgbClr val="536B87"/>
                </a:solidFill>
                <a:latin typeface="Arial"/>
                <a:ea typeface="Arial"/>
                <a:cs typeface="Arial"/>
                <a:sym typeface="Arial"/>
              </a:rPr>
              <a:t>CSE 4308 prerequisites</a:t>
            </a:r>
            <a:endParaRPr/>
          </a:p>
          <a:p>
            <a:pPr marL="0" marR="0" lvl="0" indent="0" algn="l" rtl="0">
              <a:spcBef>
                <a:spcPts val="0"/>
              </a:spcBef>
              <a:spcAft>
                <a:spcPts val="0"/>
              </a:spcAft>
              <a:buNone/>
            </a:pPr>
            <a:r>
              <a:rPr lang="en-US" sz="1250" b="0" i="0" u="none" strike="noStrike" cap="none">
                <a:solidFill>
                  <a:srgbClr val="536B87"/>
                </a:solidFill>
                <a:latin typeface="Arial"/>
                <a:ea typeface="Arial"/>
                <a:cs typeface="Arial"/>
                <a:sym typeface="Arial"/>
              </a:rPr>
              <a:t>and course rules</a:t>
            </a:r>
            <a:endParaRPr/>
          </a:p>
        </p:txBody>
      </p:sp>
      <p:sp>
        <p:nvSpPr>
          <p:cNvPr id="655" name="Google Shape;655;p12"/>
          <p:cNvSpPr/>
          <p:nvPr/>
        </p:nvSpPr>
        <p:spPr>
          <a:xfrm>
            <a:off x="8109204" y="2180844"/>
            <a:ext cx="1735836" cy="2395728"/>
          </a:xfrm>
          <a:prstGeom prst="roundRect">
            <a:avLst>
              <a:gd name="adj" fmla="val 16667"/>
            </a:avLst>
          </a:prstGeom>
          <a:solidFill>
            <a:srgbClr val="E3E8ED"/>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56" name="Google Shape;656;p12"/>
          <p:cNvSpPr/>
          <p:nvPr/>
        </p:nvSpPr>
        <p:spPr>
          <a:xfrm>
            <a:off x="8086344" y="2139696"/>
            <a:ext cx="1735836" cy="2395728"/>
          </a:xfrm>
          <a:prstGeom prst="roundRect">
            <a:avLst>
              <a:gd name="adj" fmla="val 16667"/>
            </a:avLst>
          </a:prstGeom>
          <a:solidFill>
            <a:srgbClr val="FFFFFF"/>
          </a:solidFill>
          <a:ln w="12700" cap="flat" cmpd="sng">
            <a:solidFill>
              <a:srgbClr val="DCE7F0"/>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57" name="Google Shape;657;p12"/>
          <p:cNvSpPr/>
          <p:nvPr/>
        </p:nvSpPr>
        <p:spPr>
          <a:xfrm>
            <a:off x="8214360" y="2295144"/>
            <a:ext cx="393192" cy="393192"/>
          </a:xfrm>
          <a:prstGeom prst="roundRect">
            <a:avLst>
              <a:gd name="adj" fmla="val 16667"/>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58" name="Google Shape;658;p12"/>
          <p:cNvSpPr txBox="1"/>
          <p:nvPr/>
        </p:nvSpPr>
        <p:spPr>
          <a:xfrm>
            <a:off x="8214360" y="2340864"/>
            <a:ext cx="393192" cy="237744"/>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300" b="1" i="0" u="none" strike="noStrike" cap="none">
                <a:solidFill>
                  <a:srgbClr val="FFFFFF"/>
                </a:solidFill>
                <a:latin typeface="Arial"/>
                <a:ea typeface="Arial"/>
                <a:cs typeface="Arial"/>
                <a:sym typeface="Arial"/>
              </a:rPr>
              <a:t>5</a:t>
            </a:r>
            <a:endParaRPr/>
          </a:p>
        </p:txBody>
      </p:sp>
      <p:sp>
        <p:nvSpPr>
          <p:cNvPr id="659" name="Google Shape;659;p12"/>
          <p:cNvSpPr txBox="1"/>
          <p:nvPr/>
        </p:nvSpPr>
        <p:spPr>
          <a:xfrm>
            <a:off x="8241792" y="2907791"/>
            <a:ext cx="1470660" cy="484632"/>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700" b="1" i="0" u="none" strike="noStrike" cap="none">
                <a:solidFill>
                  <a:srgbClr val="0D3669"/>
                </a:solidFill>
                <a:latin typeface="Arial"/>
                <a:ea typeface="Arial"/>
                <a:cs typeface="Arial"/>
                <a:sym typeface="Arial"/>
              </a:rPr>
              <a:t>Eligibility check</a:t>
            </a:r>
            <a:endParaRPr/>
          </a:p>
        </p:txBody>
      </p:sp>
      <p:sp>
        <p:nvSpPr>
          <p:cNvPr id="660" name="Google Shape;660;p12"/>
          <p:cNvSpPr txBox="1"/>
          <p:nvPr/>
        </p:nvSpPr>
        <p:spPr>
          <a:xfrm>
            <a:off x="8194916" y="3419856"/>
            <a:ext cx="1612968" cy="815608"/>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250" b="0" i="0" u="none" strike="noStrike" cap="none">
                <a:solidFill>
                  <a:srgbClr val="536B87"/>
                </a:solidFill>
                <a:latin typeface="Arial"/>
                <a:ea typeface="Arial"/>
                <a:cs typeface="Arial"/>
                <a:sym typeface="Arial"/>
              </a:rPr>
              <a:t>Python validates grades and prerequisites using Dynamodb records</a:t>
            </a:r>
            <a:endParaRPr sz="1800" b="0" i="0" u="none" strike="noStrike" cap="none">
              <a:solidFill>
                <a:schemeClr val="dk1"/>
              </a:solidFill>
              <a:latin typeface="Calibri"/>
              <a:ea typeface="Calibri"/>
              <a:cs typeface="Calibri"/>
              <a:sym typeface="Calibri"/>
            </a:endParaRPr>
          </a:p>
        </p:txBody>
      </p:sp>
      <p:sp>
        <p:nvSpPr>
          <p:cNvPr id="661" name="Google Shape;661;p12"/>
          <p:cNvSpPr/>
          <p:nvPr/>
        </p:nvSpPr>
        <p:spPr>
          <a:xfrm>
            <a:off x="10000488" y="2180844"/>
            <a:ext cx="1735836" cy="2395728"/>
          </a:xfrm>
          <a:prstGeom prst="roundRect">
            <a:avLst>
              <a:gd name="adj" fmla="val 16667"/>
            </a:avLst>
          </a:prstGeom>
          <a:solidFill>
            <a:srgbClr val="E3E8ED"/>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62" name="Google Shape;662;p12"/>
          <p:cNvSpPr/>
          <p:nvPr/>
        </p:nvSpPr>
        <p:spPr>
          <a:xfrm>
            <a:off x="9977628" y="2139696"/>
            <a:ext cx="1735836" cy="2395728"/>
          </a:xfrm>
          <a:prstGeom prst="roundRect">
            <a:avLst>
              <a:gd name="adj" fmla="val 16667"/>
            </a:avLst>
          </a:prstGeom>
          <a:solidFill>
            <a:srgbClr val="FFFFFF"/>
          </a:solidFill>
          <a:ln w="12700" cap="flat" cmpd="sng">
            <a:solidFill>
              <a:srgbClr val="DCE7F0"/>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63" name="Google Shape;663;p12"/>
          <p:cNvSpPr/>
          <p:nvPr/>
        </p:nvSpPr>
        <p:spPr>
          <a:xfrm>
            <a:off x="10105644" y="2295144"/>
            <a:ext cx="393192" cy="393192"/>
          </a:xfrm>
          <a:prstGeom prst="roundRect">
            <a:avLst>
              <a:gd name="adj" fmla="val 16667"/>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64" name="Google Shape;664;p12"/>
          <p:cNvSpPr txBox="1"/>
          <p:nvPr/>
        </p:nvSpPr>
        <p:spPr>
          <a:xfrm>
            <a:off x="10105644" y="2340864"/>
            <a:ext cx="393192" cy="237744"/>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300" b="1" i="0" u="none" strike="noStrike" cap="none">
                <a:solidFill>
                  <a:srgbClr val="FFFFFF"/>
                </a:solidFill>
                <a:latin typeface="Arial"/>
                <a:ea typeface="Arial"/>
                <a:cs typeface="Arial"/>
                <a:sym typeface="Arial"/>
              </a:rPr>
              <a:t>6</a:t>
            </a:r>
            <a:endParaRPr/>
          </a:p>
        </p:txBody>
      </p:sp>
      <p:sp>
        <p:nvSpPr>
          <p:cNvPr id="665" name="Google Shape;665;p12"/>
          <p:cNvSpPr txBox="1"/>
          <p:nvPr/>
        </p:nvSpPr>
        <p:spPr>
          <a:xfrm>
            <a:off x="10133076" y="2907791"/>
            <a:ext cx="1470660" cy="484632"/>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700" b="1" i="0" u="none" strike="noStrike" cap="none">
                <a:solidFill>
                  <a:srgbClr val="0D3669"/>
                </a:solidFill>
                <a:latin typeface="Arial"/>
                <a:ea typeface="Arial"/>
                <a:cs typeface="Arial"/>
                <a:sym typeface="Arial"/>
              </a:rPr>
              <a:t>LLM response</a:t>
            </a:r>
            <a:endParaRPr/>
          </a:p>
        </p:txBody>
      </p:sp>
      <p:sp>
        <p:nvSpPr>
          <p:cNvPr id="666" name="Google Shape;666;p12"/>
          <p:cNvSpPr txBox="1"/>
          <p:nvPr/>
        </p:nvSpPr>
        <p:spPr>
          <a:xfrm>
            <a:off x="10133076" y="3419856"/>
            <a:ext cx="1479804" cy="987552"/>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250" b="0" i="0" u="none" strike="noStrike" cap="none">
                <a:solidFill>
                  <a:srgbClr val="536B87"/>
                </a:solidFill>
                <a:latin typeface="Arial"/>
                <a:ea typeface="Arial"/>
                <a:cs typeface="Arial"/>
                <a:sym typeface="Arial"/>
              </a:rPr>
              <a:t>Bedrock explains</a:t>
            </a:r>
            <a:endParaRPr/>
          </a:p>
          <a:p>
            <a:pPr marL="0" marR="0" lvl="0" indent="0" algn="l" rtl="0">
              <a:spcBef>
                <a:spcPts val="0"/>
              </a:spcBef>
              <a:spcAft>
                <a:spcPts val="0"/>
              </a:spcAft>
              <a:buNone/>
            </a:pPr>
            <a:r>
              <a:rPr lang="en-US" sz="1250" b="0" i="0" u="none" strike="noStrike" cap="none">
                <a:solidFill>
                  <a:srgbClr val="536B87"/>
                </a:solidFill>
                <a:latin typeface="Arial"/>
                <a:ea typeface="Arial"/>
                <a:cs typeface="Arial"/>
                <a:sym typeface="Arial"/>
              </a:rPr>
              <a:t>Eligible / Not eligible</a:t>
            </a:r>
            <a:endParaRPr/>
          </a:p>
          <a:p>
            <a:pPr marL="0" marR="0" lvl="0" indent="0" algn="l" rtl="0">
              <a:spcBef>
                <a:spcPts val="0"/>
              </a:spcBef>
              <a:spcAft>
                <a:spcPts val="0"/>
              </a:spcAft>
              <a:buNone/>
            </a:pPr>
            <a:r>
              <a:rPr lang="en-US" sz="1250" b="0" i="0" u="none" strike="noStrike" cap="none">
                <a:solidFill>
                  <a:srgbClr val="536B87"/>
                </a:solidFill>
                <a:latin typeface="Arial"/>
                <a:ea typeface="Arial"/>
                <a:cs typeface="Arial"/>
                <a:sym typeface="Arial"/>
              </a:rPr>
              <a:t>and the reason</a:t>
            </a:r>
            <a:endParaRPr/>
          </a:p>
        </p:txBody>
      </p:sp>
      <p:sp>
        <p:nvSpPr>
          <p:cNvPr id="667" name="Google Shape;667;p12"/>
          <p:cNvSpPr/>
          <p:nvPr/>
        </p:nvSpPr>
        <p:spPr>
          <a:xfrm>
            <a:off x="804672" y="4974336"/>
            <a:ext cx="10762488" cy="813816"/>
          </a:xfrm>
          <a:prstGeom prst="roundRect">
            <a:avLst>
              <a:gd name="adj" fmla="val 16667"/>
            </a:avLst>
          </a:prstGeom>
          <a:solidFill>
            <a:srgbClr val="E9F2F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68" name="Google Shape;668;p12"/>
          <p:cNvSpPr txBox="1"/>
          <p:nvPr/>
        </p:nvSpPr>
        <p:spPr>
          <a:xfrm>
            <a:off x="1051560" y="5230368"/>
            <a:ext cx="10287000" cy="338328"/>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500" b="1" i="0" u="none" strike="noStrike" cap="none">
                <a:solidFill>
                  <a:srgbClr val="0D3669"/>
                </a:solidFill>
                <a:latin typeface="Arial"/>
                <a:ea typeface="Arial"/>
                <a:cs typeface="Arial"/>
                <a:sym typeface="Arial"/>
              </a:rPr>
              <a:t>Routing decision: course_eligibility → structured student data + Python rule validation → explained result.</a:t>
            </a:r>
            <a:endParaRPr/>
          </a:p>
        </p:txBody>
      </p:sp>
      <p:sp>
        <p:nvSpPr>
          <p:cNvPr id="669" name="Google Shape;669;p12"/>
          <p:cNvSpPr txBox="1"/>
          <p:nvPr/>
        </p:nvSpPr>
        <p:spPr>
          <a:xfrm>
            <a:off x="539496" y="6537960"/>
            <a:ext cx="6400800" cy="164592"/>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900" b="0" i="0" u="none" strike="noStrike" cap="none">
                <a:solidFill>
                  <a:srgbClr val="536B87"/>
                </a:solidFill>
                <a:latin typeface="Arial"/>
                <a:ea typeface="Arial"/>
                <a:cs typeface="Arial"/>
                <a:sym typeface="Arial"/>
              </a:rPr>
              <a:t>CSE 4392 / 5320  •  TEAM ASSIGNMENT 2</a:t>
            </a:r>
            <a:endParaRPr/>
          </a:p>
        </p:txBody>
      </p:sp>
      <p:sp>
        <p:nvSpPr>
          <p:cNvPr id="670" name="Google Shape;670;p12"/>
          <p:cNvSpPr txBox="1"/>
          <p:nvPr/>
        </p:nvSpPr>
        <p:spPr>
          <a:xfrm>
            <a:off x="2258568" y="3136392"/>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i="0" u="none" strike="noStrike" cap="none">
                <a:solidFill>
                  <a:srgbClr val="F57725"/>
                </a:solidFill>
                <a:latin typeface="Arial"/>
                <a:ea typeface="Arial"/>
                <a:cs typeface="Arial"/>
                <a:sym typeface="Arial"/>
              </a:rPr>
              <a:t>→</a:t>
            </a:r>
            <a:endParaRPr/>
          </a:p>
        </p:txBody>
      </p:sp>
      <p:sp>
        <p:nvSpPr>
          <p:cNvPr id="671" name="Google Shape;671;p12"/>
          <p:cNvSpPr txBox="1"/>
          <p:nvPr/>
        </p:nvSpPr>
        <p:spPr>
          <a:xfrm>
            <a:off x="4154716" y="3118670"/>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i="0" u="none" strike="noStrike" cap="none">
                <a:solidFill>
                  <a:srgbClr val="F57725"/>
                </a:solidFill>
                <a:latin typeface="Arial"/>
                <a:ea typeface="Arial"/>
                <a:cs typeface="Arial"/>
                <a:sym typeface="Arial"/>
              </a:rPr>
              <a:t>→</a:t>
            </a:r>
            <a:endParaRPr/>
          </a:p>
        </p:txBody>
      </p:sp>
      <p:sp>
        <p:nvSpPr>
          <p:cNvPr id="672" name="Google Shape;672;p12"/>
          <p:cNvSpPr txBox="1"/>
          <p:nvPr/>
        </p:nvSpPr>
        <p:spPr>
          <a:xfrm>
            <a:off x="6040231" y="3122208"/>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i="0" u="none" strike="noStrike" cap="none">
                <a:solidFill>
                  <a:srgbClr val="F57725"/>
                </a:solidFill>
                <a:latin typeface="Arial"/>
                <a:ea typeface="Arial"/>
                <a:cs typeface="Arial"/>
                <a:sym typeface="Arial"/>
              </a:rPr>
              <a:t>→</a:t>
            </a:r>
            <a:endParaRPr/>
          </a:p>
        </p:txBody>
      </p:sp>
      <p:sp>
        <p:nvSpPr>
          <p:cNvPr id="673" name="Google Shape;673;p12"/>
          <p:cNvSpPr txBox="1"/>
          <p:nvPr/>
        </p:nvSpPr>
        <p:spPr>
          <a:xfrm>
            <a:off x="7925746" y="3125746"/>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i="0" u="none" strike="noStrike" cap="none">
                <a:solidFill>
                  <a:srgbClr val="F57725"/>
                </a:solidFill>
                <a:latin typeface="Arial"/>
                <a:ea typeface="Arial"/>
                <a:cs typeface="Arial"/>
                <a:sym typeface="Arial"/>
              </a:rPr>
              <a:t>→</a:t>
            </a:r>
            <a:endParaRPr/>
          </a:p>
        </p:txBody>
      </p:sp>
      <p:sp>
        <p:nvSpPr>
          <p:cNvPr id="674" name="Google Shape;674;p12"/>
          <p:cNvSpPr txBox="1"/>
          <p:nvPr/>
        </p:nvSpPr>
        <p:spPr>
          <a:xfrm>
            <a:off x="9821890" y="3118652"/>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i="0" u="none" strike="noStrike" cap="none">
                <a:solidFill>
                  <a:srgbClr val="F57725"/>
                </a:solidFill>
                <a:latin typeface="Arial"/>
                <a:ea typeface="Arial"/>
                <a:cs typeface="Arial"/>
                <a:sym typeface="Arial"/>
              </a:rPr>
              <a:t>→</a:t>
            </a:r>
            <a:endParaRPr/>
          </a:p>
        </p:txBody>
      </p:sp>
      <p:sp>
        <p:nvSpPr>
          <p:cNvPr id="675" name="Google Shape;675;p12"/>
          <p:cNvSpPr txBox="1"/>
          <p:nvPr/>
        </p:nvSpPr>
        <p:spPr>
          <a:xfrm>
            <a:off x="4957572" y="2287812"/>
            <a:ext cx="653619" cy="415498"/>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200" b="1" i="0" u="none" strike="noStrike" cap="none">
                <a:solidFill>
                  <a:srgbClr val="0D3669"/>
                </a:solidFill>
                <a:latin typeface="Arial"/>
                <a:ea typeface="Arial"/>
                <a:cs typeface="Arial"/>
                <a:sym typeface="Arial"/>
              </a:rPr>
              <a:t>Advisor </a:t>
            </a:r>
            <a:endParaRPr/>
          </a:p>
          <a:p>
            <a:pPr marL="0" marR="0" lvl="0" indent="0" algn="ctr" rtl="0">
              <a:spcBef>
                <a:spcPts val="0"/>
              </a:spcBef>
              <a:spcAft>
                <a:spcPts val="0"/>
              </a:spcAft>
              <a:buNone/>
            </a:pPr>
            <a:r>
              <a:rPr lang="en-US" sz="1200" b="1" i="0" u="none" strike="noStrike" cap="none">
                <a:solidFill>
                  <a:srgbClr val="0D3669"/>
                </a:solidFill>
                <a:latin typeface="Arial"/>
                <a:ea typeface="Arial"/>
                <a:cs typeface="Arial"/>
                <a:sym typeface="Arial"/>
              </a:rPr>
              <a:t>tool</a:t>
            </a:r>
            <a:endParaRPr sz="1200" b="0" i="0" u="none" strike="noStrike" cap="none">
              <a:solidFill>
                <a:schemeClr val="dk1"/>
              </a:solidFill>
              <a:latin typeface="Calibri"/>
              <a:ea typeface="Calibri"/>
              <a:cs typeface="Calibri"/>
              <a:sym typeface="Calibri"/>
            </a:endParaRPr>
          </a:p>
        </p:txBody>
      </p:sp>
      <p:sp>
        <p:nvSpPr>
          <p:cNvPr id="676" name="Google Shape;676;p12"/>
          <p:cNvSpPr txBox="1"/>
          <p:nvPr/>
        </p:nvSpPr>
        <p:spPr>
          <a:xfrm>
            <a:off x="6894576" y="2280493"/>
            <a:ext cx="653619" cy="415498"/>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200" b="1" i="0" u="none" strike="noStrike" cap="none">
                <a:solidFill>
                  <a:srgbClr val="0D3669"/>
                </a:solidFill>
                <a:latin typeface="Arial"/>
                <a:ea typeface="Arial"/>
                <a:cs typeface="Arial"/>
                <a:sym typeface="Arial"/>
              </a:rPr>
              <a:t>Advisor </a:t>
            </a:r>
            <a:endParaRPr/>
          </a:p>
          <a:p>
            <a:pPr marL="0" marR="0" lvl="0" indent="0" algn="ctr" rtl="0">
              <a:spcBef>
                <a:spcPts val="0"/>
              </a:spcBef>
              <a:spcAft>
                <a:spcPts val="0"/>
              </a:spcAft>
              <a:buNone/>
            </a:pPr>
            <a:r>
              <a:rPr lang="en-US" sz="1200" b="1" i="0" u="none" strike="noStrike" cap="none">
                <a:solidFill>
                  <a:srgbClr val="0D3669"/>
                </a:solidFill>
                <a:latin typeface="Arial"/>
                <a:ea typeface="Arial"/>
                <a:cs typeface="Arial"/>
                <a:sym typeface="Arial"/>
              </a:rPr>
              <a:t>tool</a:t>
            </a:r>
            <a:endParaRPr sz="1200" b="0" i="0" u="none" strike="noStrike" cap="none">
              <a:solidFill>
                <a:schemeClr val="dk1"/>
              </a:solidFill>
              <a:latin typeface="Calibri"/>
              <a:ea typeface="Calibri"/>
              <a:cs typeface="Calibri"/>
              <a:sym typeface="Calibri"/>
            </a:endParaRPr>
          </a:p>
        </p:txBody>
      </p:sp>
      <p:sp>
        <p:nvSpPr>
          <p:cNvPr id="677" name="Google Shape;677;p12"/>
          <p:cNvSpPr txBox="1"/>
          <p:nvPr/>
        </p:nvSpPr>
        <p:spPr>
          <a:xfrm>
            <a:off x="8740140" y="2268372"/>
            <a:ext cx="653619" cy="415498"/>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200" b="1" i="0" u="none" strike="noStrike" cap="none">
                <a:solidFill>
                  <a:srgbClr val="0D3669"/>
                </a:solidFill>
                <a:latin typeface="Arial"/>
                <a:ea typeface="Arial"/>
                <a:cs typeface="Arial"/>
                <a:sym typeface="Arial"/>
              </a:rPr>
              <a:t>Advisor </a:t>
            </a:r>
            <a:endParaRPr/>
          </a:p>
          <a:p>
            <a:pPr marL="0" marR="0" lvl="0" indent="0" algn="ctr" rtl="0">
              <a:spcBef>
                <a:spcPts val="0"/>
              </a:spcBef>
              <a:spcAft>
                <a:spcPts val="0"/>
              </a:spcAft>
              <a:buNone/>
            </a:pPr>
            <a:r>
              <a:rPr lang="en-US" sz="1200" b="1" i="0" u="none" strike="noStrike" cap="none">
                <a:solidFill>
                  <a:srgbClr val="0D3669"/>
                </a:solidFill>
                <a:latin typeface="Arial"/>
                <a:ea typeface="Arial"/>
                <a:cs typeface="Arial"/>
                <a:sym typeface="Arial"/>
              </a:rPr>
              <a:t>tool</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3"/>
          <p:cNvSpPr/>
          <p:nvPr/>
        </p:nvSpPr>
        <p:spPr>
          <a:xfrm>
            <a:off x="0" y="0"/>
            <a:ext cx="12191695" cy="82296"/>
          </a:xfrm>
          <a:prstGeom prst="rect">
            <a:avLst/>
          </a:prstGeom>
          <a:solidFill>
            <a:srgbClr val="0D366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83" name="Google Shape;683;p13"/>
          <p:cNvSpPr txBox="1"/>
          <p:nvPr/>
        </p:nvSpPr>
        <p:spPr>
          <a:xfrm>
            <a:off x="539496" y="274320"/>
            <a:ext cx="6400800" cy="228600"/>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300" b="1" i="0" u="none" strike="noStrike" cap="none">
                <a:solidFill>
                  <a:srgbClr val="00549D"/>
                </a:solidFill>
                <a:latin typeface="Arial"/>
                <a:ea typeface="Arial"/>
                <a:cs typeface="Arial"/>
                <a:sym typeface="Arial"/>
              </a:rPr>
              <a:t>UTA • TEAM 2 AI ADVISOR</a:t>
            </a:r>
            <a:endParaRPr/>
          </a:p>
        </p:txBody>
      </p:sp>
      <p:sp>
        <p:nvSpPr>
          <p:cNvPr id="684" name="Google Shape;684;p13"/>
          <p:cNvSpPr txBox="1"/>
          <p:nvPr/>
        </p:nvSpPr>
        <p:spPr>
          <a:xfrm>
            <a:off x="539496" y="667512"/>
            <a:ext cx="10972800" cy="502920"/>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2900" b="1" i="0" u="none" strike="noStrike" cap="none">
                <a:solidFill>
                  <a:srgbClr val="0D3669"/>
                </a:solidFill>
                <a:latin typeface="Arial"/>
                <a:ea typeface="Arial"/>
                <a:cs typeface="Arial"/>
                <a:sym typeface="Arial"/>
              </a:rPr>
              <a:t>Path B: Personalized Degree Plan Generation</a:t>
            </a:r>
            <a:endParaRPr/>
          </a:p>
        </p:txBody>
      </p:sp>
      <p:sp>
        <p:nvSpPr>
          <p:cNvPr id="685" name="Google Shape;685;p13"/>
          <p:cNvSpPr/>
          <p:nvPr/>
        </p:nvSpPr>
        <p:spPr>
          <a:xfrm>
            <a:off x="512064" y="1280160"/>
            <a:ext cx="11384280" cy="22860"/>
          </a:xfrm>
          <a:prstGeom prst="rect">
            <a:avLst/>
          </a:prstGeom>
          <a:solidFill>
            <a:srgbClr val="C7D3DD"/>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86" name="Google Shape;686;p13"/>
          <p:cNvSpPr txBox="1"/>
          <p:nvPr/>
        </p:nvSpPr>
        <p:spPr>
          <a:xfrm>
            <a:off x="768096" y="1481328"/>
            <a:ext cx="10972800" cy="384048"/>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800" b="0" i="0" u="none" strike="noStrike" cap="none">
                <a:solidFill>
                  <a:srgbClr val="536B87"/>
                </a:solidFill>
                <a:latin typeface="Arial"/>
                <a:ea typeface="Arial"/>
                <a:cs typeface="Arial"/>
                <a:sym typeface="Arial"/>
              </a:rPr>
              <a:t>LangChain routes degree-plan requests to student records and degree requirement analysis</a:t>
            </a:r>
            <a:endParaRPr/>
          </a:p>
        </p:txBody>
      </p:sp>
      <p:sp>
        <p:nvSpPr>
          <p:cNvPr id="687" name="Google Shape;687;p13"/>
          <p:cNvSpPr/>
          <p:nvPr/>
        </p:nvSpPr>
        <p:spPr>
          <a:xfrm>
            <a:off x="544068" y="2180844"/>
            <a:ext cx="1735836" cy="2395728"/>
          </a:xfrm>
          <a:prstGeom prst="roundRect">
            <a:avLst>
              <a:gd name="adj" fmla="val 16667"/>
            </a:avLst>
          </a:prstGeom>
          <a:solidFill>
            <a:srgbClr val="E3E8ED"/>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88" name="Google Shape;688;p13"/>
          <p:cNvSpPr/>
          <p:nvPr/>
        </p:nvSpPr>
        <p:spPr>
          <a:xfrm>
            <a:off x="521207" y="2139696"/>
            <a:ext cx="1735836" cy="2395728"/>
          </a:xfrm>
          <a:prstGeom prst="roundRect">
            <a:avLst>
              <a:gd name="adj" fmla="val 16667"/>
            </a:avLst>
          </a:prstGeom>
          <a:solidFill>
            <a:srgbClr val="FFFFFF"/>
          </a:solidFill>
          <a:ln w="12700" cap="flat" cmpd="sng">
            <a:solidFill>
              <a:srgbClr val="DCE7F0"/>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89" name="Google Shape;689;p13"/>
          <p:cNvSpPr/>
          <p:nvPr/>
        </p:nvSpPr>
        <p:spPr>
          <a:xfrm>
            <a:off x="649224" y="2295144"/>
            <a:ext cx="393192" cy="393192"/>
          </a:xfrm>
          <a:prstGeom prst="roundRect">
            <a:avLst>
              <a:gd name="adj" fmla="val 16667"/>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90" name="Google Shape;690;p13"/>
          <p:cNvSpPr txBox="1"/>
          <p:nvPr/>
        </p:nvSpPr>
        <p:spPr>
          <a:xfrm>
            <a:off x="649224" y="2340864"/>
            <a:ext cx="393192" cy="237744"/>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300" b="1" i="0" u="none" strike="noStrike" cap="none">
                <a:solidFill>
                  <a:srgbClr val="FFFFFF"/>
                </a:solidFill>
                <a:latin typeface="Arial"/>
                <a:ea typeface="Arial"/>
                <a:cs typeface="Arial"/>
                <a:sym typeface="Arial"/>
              </a:rPr>
              <a:t>1</a:t>
            </a:r>
            <a:endParaRPr/>
          </a:p>
        </p:txBody>
      </p:sp>
      <p:sp>
        <p:nvSpPr>
          <p:cNvPr id="691" name="Google Shape;691;p13"/>
          <p:cNvSpPr txBox="1"/>
          <p:nvPr/>
        </p:nvSpPr>
        <p:spPr>
          <a:xfrm>
            <a:off x="676656" y="2907791"/>
            <a:ext cx="1470660" cy="484632"/>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700" b="1" i="0" u="none" strike="noStrike" cap="none">
                <a:solidFill>
                  <a:srgbClr val="0D3669"/>
                </a:solidFill>
                <a:latin typeface="Arial"/>
                <a:ea typeface="Arial"/>
                <a:cs typeface="Arial"/>
                <a:sym typeface="Arial"/>
              </a:rPr>
              <a:t>Question</a:t>
            </a:r>
            <a:endParaRPr/>
          </a:p>
        </p:txBody>
      </p:sp>
      <p:sp>
        <p:nvSpPr>
          <p:cNvPr id="692" name="Google Shape;692;p13"/>
          <p:cNvSpPr txBox="1"/>
          <p:nvPr/>
        </p:nvSpPr>
        <p:spPr>
          <a:xfrm>
            <a:off x="676656" y="3419856"/>
            <a:ext cx="1479804" cy="987552"/>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250" b="0" i="0" u="none" strike="noStrike" cap="none">
                <a:solidFill>
                  <a:srgbClr val="536B87"/>
                </a:solidFill>
                <a:latin typeface="Arial"/>
                <a:ea typeface="Arial"/>
                <a:cs typeface="Arial"/>
                <a:sym typeface="Arial"/>
              </a:rPr>
              <a:t>“Generate my</a:t>
            </a:r>
            <a:br>
              <a:rPr lang="en-US" sz="1250" b="0" i="0" u="none" strike="noStrike" cap="none">
                <a:solidFill>
                  <a:srgbClr val="536B87"/>
                </a:solidFill>
                <a:latin typeface="Arial"/>
                <a:ea typeface="Arial"/>
                <a:cs typeface="Arial"/>
                <a:sym typeface="Arial"/>
              </a:rPr>
            </a:br>
            <a:r>
              <a:rPr lang="en-US" sz="1250" b="0" i="0" u="none" strike="noStrike" cap="none">
                <a:solidFill>
                  <a:srgbClr val="536B87"/>
                </a:solidFill>
                <a:latin typeface="Arial"/>
                <a:ea typeface="Arial"/>
                <a:cs typeface="Arial"/>
                <a:sym typeface="Arial"/>
              </a:rPr>
              <a:t>degree plan.”</a:t>
            </a:r>
            <a:endParaRPr/>
          </a:p>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93" name="Google Shape;693;p13"/>
          <p:cNvSpPr/>
          <p:nvPr/>
        </p:nvSpPr>
        <p:spPr>
          <a:xfrm>
            <a:off x="2435352" y="2180844"/>
            <a:ext cx="1735836" cy="2395728"/>
          </a:xfrm>
          <a:prstGeom prst="roundRect">
            <a:avLst>
              <a:gd name="adj" fmla="val 16667"/>
            </a:avLst>
          </a:prstGeom>
          <a:solidFill>
            <a:srgbClr val="E3E8ED"/>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94" name="Google Shape;694;p13"/>
          <p:cNvSpPr/>
          <p:nvPr/>
        </p:nvSpPr>
        <p:spPr>
          <a:xfrm>
            <a:off x="2412492" y="2139696"/>
            <a:ext cx="1735836" cy="2395728"/>
          </a:xfrm>
          <a:prstGeom prst="roundRect">
            <a:avLst>
              <a:gd name="adj" fmla="val 16667"/>
            </a:avLst>
          </a:prstGeom>
          <a:solidFill>
            <a:srgbClr val="FFFFFF"/>
          </a:solidFill>
          <a:ln w="12700" cap="flat" cmpd="sng">
            <a:solidFill>
              <a:srgbClr val="DCE7F0"/>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95" name="Google Shape;695;p13"/>
          <p:cNvSpPr/>
          <p:nvPr/>
        </p:nvSpPr>
        <p:spPr>
          <a:xfrm>
            <a:off x="2540508" y="2295144"/>
            <a:ext cx="393192" cy="393192"/>
          </a:xfrm>
          <a:prstGeom prst="roundRect">
            <a:avLst>
              <a:gd name="adj" fmla="val 16667"/>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96" name="Google Shape;696;p13"/>
          <p:cNvSpPr txBox="1"/>
          <p:nvPr/>
        </p:nvSpPr>
        <p:spPr>
          <a:xfrm>
            <a:off x="2540508" y="2340864"/>
            <a:ext cx="393192" cy="237744"/>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300" b="1" i="0" u="none" strike="noStrike" cap="none">
                <a:solidFill>
                  <a:srgbClr val="FFFFFF"/>
                </a:solidFill>
                <a:latin typeface="Arial"/>
                <a:ea typeface="Arial"/>
                <a:cs typeface="Arial"/>
                <a:sym typeface="Arial"/>
              </a:rPr>
              <a:t>2</a:t>
            </a:r>
            <a:endParaRPr/>
          </a:p>
        </p:txBody>
      </p:sp>
      <p:sp>
        <p:nvSpPr>
          <p:cNvPr id="697" name="Google Shape;697;p13"/>
          <p:cNvSpPr txBox="1"/>
          <p:nvPr/>
        </p:nvSpPr>
        <p:spPr>
          <a:xfrm>
            <a:off x="2567940" y="2907791"/>
            <a:ext cx="1470660" cy="484632"/>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700" b="1" i="0" u="none" strike="noStrike" cap="none">
                <a:solidFill>
                  <a:srgbClr val="0D3669"/>
                </a:solidFill>
                <a:latin typeface="Arial"/>
                <a:ea typeface="Arial"/>
                <a:cs typeface="Arial"/>
                <a:sym typeface="Arial"/>
              </a:rPr>
              <a:t>LLM routing</a:t>
            </a:r>
            <a:endParaRPr/>
          </a:p>
        </p:txBody>
      </p:sp>
      <p:sp>
        <p:nvSpPr>
          <p:cNvPr id="698" name="Google Shape;698;p13"/>
          <p:cNvSpPr txBox="1"/>
          <p:nvPr/>
        </p:nvSpPr>
        <p:spPr>
          <a:xfrm>
            <a:off x="2567940" y="3419856"/>
            <a:ext cx="1479804" cy="1007968"/>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250" b="0" i="0" u="none" strike="noStrike" cap="none">
                <a:solidFill>
                  <a:srgbClr val="536B87"/>
                </a:solidFill>
                <a:latin typeface="Arial"/>
                <a:ea typeface="Arial"/>
                <a:cs typeface="Arial"/>
                <a:sym typeface="Arial"/>
              </a:rPr>
              <a:t>Bedrock classifies</a:t>
            </a:r>
            <a:br>
              <a:rPr lang="en-US" sz="1250" b="0" i="0" u="none" strike="noStrike" cap="none">
                <a:solidFill>
                  <a:srgbClr val="536B87"/>
                </a:solidFill>
                <a:latin typeface="Arial"/>
                <a:ea typeface="Arial"/>
                <a:cs typeface="Arial"/>
                <a:sym typeface="Arial"/>
              </a:rPr>
            </a:br>
            <a:r>
              <a:rPr lang="en-US" sz="1250" b="0" i="0" u="none" strike="noStrike" cap="none">
                <a:solidFill>
                  <a:srgbClr val="536B87"/>
                </a:solidFill>
                <a:latin typeface="Arial"/>
                <a:ea typeface="Arial"/>
                <a:cs typeface="Arial"/>
                <a:sym typeface="Arial"/>
              </a:rPr>
              <a:t> question →</a:t>
            </a:r>
            <a:br>
              <a:rPr lang="en-US" sz="1250" b="0" i="0" u="none" strike="noStrike" cap="none">
                <a:solidFill>
                  <a:srgbClr val="536B87"/>
                </a:solidFill>
                <a:latin typeface="Arial"/>
                <a:ea typeface="Arial"/>
                <a:cs typeface="Arial"/>
                <a:sym typeface="Arial"/>
              </a:rPr>
            </a:br>
            <a:r>
              <a:rPr lang="en-US" sz="1250" b="0" i="0" u="none" strike="noStrike" cap="none">
                <a:solidFill>
                  <a:srgbClr val="536B87"/>
                </a:solidFill>
                <a:latin typeface="Arial"/>
                <a:ea typeface="Arial"/>
                <a:cs typeface="Arial"/>
                <a:sym typeface="Arial"/>
              </a:rPr>
              <a:t>degree_plan</a:t>
            </a:r>
            <a:endParaRPr/>
          </a:p>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99" name="Google Shape;699;p13"/>
          <p:cNvSpPr/>
          <p:nvPr/>
        </p:nvSpPr>
        <p:spPr>
          <a:xfrm>
            <a:off x="4326636" y="2180844"/>
            <a:ext cx="1735836" cy="2395728"/>
          </a:xfrm>
          <a:prstGeom prst="roundRect">
            <a:avLst>
              <a:gd name="adj" fmla="val 16667"/>
            </a:avLst>
          </a:prstGeom>
          <a:solidFill>
            <a:srgbClr val="E3E8ED"/>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00" name="Google Shape;700;p13"/>
          <p:cNvSpPr/>
          <p:nvPr/>
        </p:nvSpPr>
        <p:spPr>
          <a:xfrm>
            <a:off x="4303776" y="2139696"/>
            <a:ext cx="1735836" cy="2395728"/>
          </a:xfrm>
          <a:prstGeom prst="roundRect">
            <a:avLst>
              <a:gd name="adj" fmla="val 16667"/>
            </a:avLst>
          </a:prstGeom>
          <a:solidFill>
            <a:srgbClr val="FFFFFF"/>
          </a:solidFill>
          <a:ln w="12700" cap="flat" cmpd="sng">
            <a:solidFill>
              <a:srgbClr val="DCE7F0"/>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01" name="Google Shape;701;p13"/>
          <p:cNvSpPr/>
          <p:nvPr/>
        </p:nvSpPr>
        <p:spPr>
          <a:xfrm>
            <a:off x="4431792" y="2295144"/>
            <a:ext cx="393192" cy="393192"/>
          </a:xfrm>
          <a:prstGeom prst="roundRect">
            <a:avLst>
              <a:gd name="adj" fmla="val 16667"/>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02" name="Google Shape;702;p13"/>
          <p:cNvSpPr txBox="1"/>
          <p:nvPr/>
        </p:nvSpPr>
        <p:spPr>
          <a:xfrm>
            <a:off x="4431792" y="2340864"/>
            <a:ext cx="393192" cy="237744"/>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300" b="1" i="0" u="none" strike="noStrike" cap="none">
                <a:solidFill>
                  <a:srgbClr val="FFFFFF"/>
                </a:solidFill>
                <a:latin typeface="Arial"/>
                <a:ea typeface="Arial"/>
                <a:cs typeface="Arial"/>
                <a:sym typeface="Arial"/>
              </a:rPr>
              <a:t>3</a:t>
            </a:r>
            <a:endParaRPr/>
          </a:p>
        </p:txBody>
      </p:sp>
      <p:sp>
        <p:nvSpPr>
          <p:cNvPr id="703" name="Google Shape;703;p13"/>
          <p:cNvSpPr txBox="1"/>
          <p:nvPr/>
        </p:nvSpPr>
        <p:spPr>
          <a:xfrm>
            <a:off x="4459224" y="2907791"/>
            <a:ext cx="1470660" cy="484632"/>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700" b="1" i="0" u="none" strike="noStrike" cap="none">
                <a:solidFill>
                  <a:srgbClr val="0D3669"/>
                </a:solidFill>
                <a:latin typeface="Arial"/>
                <a:ea typeface="Arial"/>
                <a:cs typeface="Arial"/>
                <a:sym typeface="Arial"/>
              </a:rPr>
              <a:t>Student record</a:t>
            </a:r>
            <a:endParaRPr/>
          </a:p>
        </p:txBody>
      </p:sp>
      <p:sp>
        <p:nvSpPr>
          <p:cNvPr id="704" name="Google Shape;704;p13"/>
          <p:cNvSpPr txBox="1"/>
          <p:nvPr/>
        </p:nvSpPr>
        <p:spPr>
          <a:xfrm>
            <a:off x="4459224" y="3419856"/>
            <a:ext cx="1479804" cy="1007968"/>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250" b="0" i="0" u="none" strike="noStrike" cap="none">
                <a:solidFill>
                  <a:srgbClr val="536B87"/>
                </a:solidFill>
                <a:latin typeface="Arial"/>
                <a:ea typeface="Arial"/>
                <a:cs typeface="Arial"/>
                <a:sym typeface="Arial"/>
              </a:rPr>
              <a:t>Query DynamoDB for</a:t>
            </a:r>
            <a:br>
              <a:rPr lang="en-US" sz="1250" b="0" i="0" u="none" strike="noStrike" cap="none">
                <a:solidFill>
                  <a:srgbClr val="536B87"/>
                </a:solidFill>
                <a:latin typeface="Arial"/>
                <a:ea typeface="Arial"/>
                <a:cs typeface="Arial"/>
                <a:sym typeface="Arial"/>
              </a:rPr>
            </a:br>
            <a:r>
              <a:rPr lang="en-US" sz="1250" b="0" i="0" u="none" strike="noStrike" cap="none">
                <a:solidFill>
                  <a:srgbClr val="536B87"/>
                </a:solidFill>
                <a:latin typeface="Arial"/>
                <a:ea typeface="Arial"/>
                <a:cs typeface="Arial"/>
                <a:sym typeface="Arial"/>
              </a:rPr>
              <a:t>completed courses,</a:t>
            </a:r>
            <a:br>
              <a:rPr lang="en-US" sz="1250" b="0" i="0" u="none" strike="noStrike" cap="none">
                <a:solidFill>
                  <a:srgbClr val="536B87"/>
                </a:solidFill>
                <a:latin typeface="Arial"/>
                <a:ea typeface="Arial"/>
                <a:cs typeface="Arial"/>
                <a:sym typeface="Arial"/>
              </a:rPr>
            </a:br>
            <a:r>
              <a:rPr lang="en-US" sz="1250" b="0" i="0" u="none" strike="noStrike" cap="none">
                <a:solidFill>
                  <a:srgbClr val="536B87"/>
                </a:solidFill>
                <a:latin typeface="Arial"/>
                <a:ea typeface="Arial"/>
                <a:cs typeface="Arial"/>
                <a:sym typeface="Arial"/>
              </a:rPr>
              <a:t>grades &amp; program</a:t>
            </a:r>
            <a:endParaRPr/>
          </a:p>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05" name="Google Shape;705;p13"/>
          <p:cNvSpPr/>
          <p:nvPr/>
        </p:nvSpPr>
        <p:spPr>
          <a:xfrm>
            <a:off x="6217920" y="2180844"/>
            <a:ext cx="1735836" cy="2395728"/>
          </a:xfrm>
          <a:prstGeom prst="roundRect">
            <a:avLst>
              <a:gd name="adj" fmla="val 16667"/>
            </a:avLst>
          </a:prstGeom>
          <a:solidFill>
            <a:srgbClr val="E3E8ED"/>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06" name="Google Shape;706;p13"/>
          <p:cNvSpPr/>
          <p:nvPr/>
        </p:nvSpPr>
        <p:spPr>
          <a:xfrm>
            <a:off x="6195060" y="2139696"/>
            <a:ext cx="1735836" cy="2395728"/>
          </a:xfrm>
          <a:prstGeom prst="roundRect">
            <a:avLst>
              <a:gd name="adj" fmla="val 16667"/>
            </a:avLst>
          </a:prstGeom>
          <a:solidFill>
            <a:srgbClr val="FFFFFF"/>
          </a:solidFill>
          <a:ln w="12700" cap="flat" cmpd="sng">
            <a:solidFill>
              <a:srgbClr val="DCE7F0"/>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07" name="Google Shape;707;p13"/>
          <p:cNvSpPr/>
          <p:nvPr/>
        </p:nvSpPr>
        <p:spPr>
          <a:xfrm>
            <a:off x="6323076" y="2295144"/>
            <a:ext cx="393192" cy="393192"/>
          </a:xfrm>
          <a:prstGeom prst="roundRect">
            <a:avLst>
              <a:gd name="adj" fmla="val 16667"/>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08" name="Google Shape;708;p13"/>
          <p:cNvSpPr txBox="1"/>
          <p:nvPr/>
        </p:nvSpPr>
        <p:spPr>
          <a:xfrm>
            <a:off x="6323076" y="2340864"/>
            <a:ext cx="393192" cy="237744"/>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300" b="1" i="0" u="none" strike="noStrike" cap="none">
                <a:solidFill>
                  <a:srgbClr val="FFFFFF"/>
                </a:solidFill>
                <a:latin typeface="Arial"/>
                <a:ea typeface="Arial"/>
                <a:cs typeface="Arial"/>
                <a:sym typeface="Arial"/>
              </a:rPr>
              <a:t>4</a:t>
            </a:r>
            <a:endParaRPr/>
          </a:p>
        </p:txBody>
      </p:sp>
      <p:sp>
        <p:nvSpPr>
          <p:cNvPr id="709" name="Google Shape;709;p13"/>
          <p:cNvSpPr txBox="1"/>
          <p:nvPr/>
        </p:nvSpPr>
        <p:spPr>
          <a:xfrm>
            <a:off x="6336792" y="2790969"/>
            <a:ext cx="1470660" cy="600164"/>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Arial"/>
                <a:ea typeface="Arial"/>
                <a:cs typeface="Arial"/>
                <a:sym typeface="Arial"/>
              </a:rPr>
              <a:t>Degree requirements</a:t>
            </a:r>
            <a:endParaRPr/>
          </a:p>
        </p:txBody>
      </p:sp>
      <p:sp>
        <p:nvSpPr>
          <p:cNvPr id="710" name="Google Shape;710;p13"/>
          <p:cNvSpPr/>
          <p:nvPr/>
        </p:nvSpPr>
        <p:spPr>
          <a:xfrm>
            <a:off x="8109204" y="2180844"/>
            <a:ext cx="1735836" cy="2395728"/>
          </a:xfrm>
          <a:prstGeom prst="roundRect">
            <a:avLst>
              <a:gd name="adj" fmla="val 16667"/>
            </a:avLst>
          </a:prstGeom>
          <a:solidFill>
            <a:srgbClr val="E3E8ED"/>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1" name="Google Shape;711;p13"/>
          <p:cNvSpPr/>
          <p:nvPr/>
        </p:nvSpPr>
        <p:spPr>
          <a:xfrm>
            <a:off x="8086344" y="2139696"/>
            <a:ext cx="1735836" cy="2395728"/>
          </a:xfrm>
          <a:prstGeom prst="roundRect">
            <a:avLst>
              <a:gd name="adj" fmla="val 16667"/>
            </a:avLst>
          </a:prstGeom>
          <a:solidFill>
            <a:srgbClr val="FFFFFF"/>
          </a:solidFill>
          <a:ln w="12700" cap="flat" cmpd="sng">
            <a:solidFill>
              <a:srgbClr val="DCE7F0"/>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2" name="Google Shape;712;p13"/>
          <p:cNvSpPr/>
          <p:nvPr/>
        </p:nvSpPr>
        <p:spPr>
          <a:xfrm>
            <a:off x="8214360" y="2295144"/>
            <a:ext cx="393192" cy="393192"/>
          </a:xfrm>
          <a:prstGeom prst="roundRect">
            <a:avLst>
              <a:gd name="adj" fmla="val 16667"/>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3" name="Google Shape;713;p13"/>
          <p:cNvSpPr txBox="1"/>
          <p:nvPr/>
        </p:nvSpPr>
        <p:spPr>
          <a:xfrm>
            <a:off x="8214360" y="2340864"/>
            <a:ext cx="393192" cy="237744"/>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300" b="1">
                <a:solidFill>
                  <a:srgbClr val="FFFFFF"/>
                </a:solidFill>
                <a:latin typeface="Arial"/>
                <a:ea typeface="Arial"/>
                <a:cs typeface="Arial"/>
                <a:sym typeface="Arial"/>
              </a:rPr>
              <a:t>5</a:t>
            </a:r>
            <a:endParaRPr/>
          </a:p>
        </p:txBody>
      </p:sp>
      <p:sp>
        <p:nvSpPr>
          <p:cNvPr id="714" name="Google Shape;714;p13"/>
          <p:cNvSpPr txBox="1"/>
          <p:nvPr/>
        </p:nvSpPr>
        <p:spPr>
          <a:xfrm>
            <a:off x="8241792" y="2907791"/>
            <a:ext cx="1470660" cy="484632"/>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700" b="1">
                <a:solidFill>
                  <a:srgbClr val="0D3669"/>
                </a:solidFill>
                <a:latin typeface="Arial"/>
                <a:ea typeface="Arial"/>
                <a:cs typeface="Arial"/>
                <a:sym typeface="Arial"/>
              </a:rPr>
              <a:t>Requirement analysis</a:t>
            </a:r>
            <a:endParaRPr/>
          </a:p>
        </p:txBody>
      </p:sp>
      <p:sp>
        <p:nvSpPr>
          <p:cNvPr id="715" name="Google Shape;715;p13"/>
          <p:cNvSpPr txBox="1"/>
          <p:nvPr/>
        </p:nvSpPr>
        <p:spPr>
          <a:xfrm>
            <a:off x="8241792" y="3419856"/>
            <a:ext cx="1479804" cy="1007968"/>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250" b="0">
                <a:solidFill>
                  <a:srgbClr val="536B87"/>
                </a:solidFill>
                <a:latin typeface="Arial"/>
                <a:ea typeface="Arial"/>
                <a:cs typeface="Arial"/>
                <a:sym typeface="Arial"/>
              </a:rPr>
              <a:t>Compare completed</a:t>
            </a:r>
            <a:br>
              <a:rPr lang="en-US" sz="1250" b="0">
                <a:solidFill>
                  <a:srgbClr val="536B87"/>
                </a:solidFill>
                <a:latin typeface="Arial"/>
                <a:ea typeface="Arial"/>
                <a:cs typeface="Arial"/>
                <a:sym typeface="Arial"/>
              </a:rPr>
            </a:br>
            <a:r>
              <a:rPr lang="en-US" sz="1250" b="0">
                <a:solidFill>
                  <a:srgbClr val="536B87"/>
                </a:solidFill>
                <a:latin typeface="Arial"/>
                <a:ea typeface="Arial"/>
                <a:cs typeface="Arial"/>
                <a:sym typeface="Arial"/>
              </a:rPr>
              <a:t>courses against</a:t>
            </a:r>
            <a:br>
              <a:rPr lang="en-US" sz="1250" b="0">
                <a:solidFill>
                  <a:srgbClr val="536B87"/>
                </a:solidFill>
                <a:latin typeface="Arial"/>
                <a:ea typeface="Arial"/>
                <a:cs typeface="Arial"/>
                <a:sym typeface="Arial"/>
              </a:rPr>
            </a:br>
            <a:r>
              <a:rPr lang="en-US" sz="1250" b="0">
                <a:solidFill>
                  <a:srgbClr val="536B87"/>
                </a:solidFill>
                <a:latin typeface="Arial"/>
                <a:ea typeface="Arial"/>
                <a:cs typeface="Arial"/>
                <a:sym typeface="Arial"/>
              </a:rPr>
              <a:t>degree requirements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6" name="Google Shape;716;p13"/>
          <p:cNvSpPr/>
          <p:nvPr/>
        </p:nvSpPr>
        <p:spPr>
          <a:xfrm>
            <a:off x="10000488" y="2180844"/>
            <a:ext cx="1735836" cy="2395728"/>
          </a:xfrm>
          <a:prstGeom prst="roundRect">
            <a:avLst>
              <a:gd name="adj" fmla="val 16667"/>
            </a:avLst>
          </a:prstGeom>
          <a:solidFill>
            <a:srgbClr val="E3E8ED"/>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7" name="Google Shape;717;p13"/>
          <p:cNvSpPr/>
          <p:nvPr/>
        </p:nvSpPr>
        <p:spPr>
          <a:xfrm>
            <a:off x="9977628" y="2139696"/>
            <a:ext cx="1735836" cy="2395728"/>
          </a:xfrm>
          <a:prstGeom prst="roundRect">
            <a:avLst>
              <a:gd name="adj" fmla="val 16667"/>
            </a:avLst>
          </a:prstGeom>
          <a:solidFill>
            <a:srgbClr val="FFFFFF"/>
          </a:solidFill>
          <a:ln w="12700" cap="flat" cmpd="sng">
            <a:solidFill>
              <a:srgbClr val="DCE7F0"/>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8" name="Google Shape;718;p13"/>
          <p:cNvSpPr/>
          <p:nvPr/>
        </p:nvSpPr>
        <p:spPr>
          <a:xfrm>
            <a:off x="10105644" y="2295144"/>
            <a:ext cx="393192" cy="393192"/>
          </a:xfrm>
          <a:prstGeom prst="roundRect">
            <a:avLst>
              <a:gd name="adj" fmla="val 16667"/>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9" name="Google Shape;719;p13"/>
          <p:cNvSpPr txBox="1"/>
          <p:nvPr/>
        </p:nvSpPr>
        <p:spPr>
          <a:xfrm>
            <a:off x="10105644" y="2340864"/>
            <a:ext cx="393192" cy="237744"/>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300" b="1">
                <a:solidFill>
                  <a:srgbClr val="FFFFFF"/>
                </a:solidFill>
                <a:latin typeface="Arial"/>
                <a:ea typeface="Arial"/>
                <a:cs typeface="Arial"/>
                <a:sym typeface="Arial"/>
              </a:rPr>
              <a:t>6</a:t>
            </a:r>
            <a:endParaRPr/>
          </a:p>
        </p:txBody>
      </p:sp>
      <p:sp>
        <p:nvSpPr>
          <p:cNvPr id="720" name="Google Shape;720;p13"/>
          <p:cNvSpPr txBox="1"/>
          <p:nvPr/>
        </p:nvSpPr>
        <p:spPr>
          <a:xfrm>
            <a:off x="10133076" y="2907791"/>
            <a:ext cx="1470660" cy="484632"/>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700" b="1">
                <a:solidFill>
                  <a:srgbClr val="0D3669"/>
                </a:solidFill>
                <a:latin typeface="Arial"/>
                <a:ea typeface="Arial"/>
                <a:cs typeface="Arial"/>
                <a:sym typeface="Arial"/>
              </a:rPr>
              <a:t>LLM response</a:t>
            </a:r>
            <a:endParaRPr/>
          </a:p>
        </p:txBody>
      </p:sp>
      <p:sp>
        <p:nvSpPr>
          <p:cNvPr id="721" name="Google Shape;721;p13"/>
          <p:cNvSpPr txBox="1"/>
          <p:nvPr/>
        </p:nvSpPr>
        <p:spPr>
          <a:xfrm>
            <a:off x="10133076" y="3419856"/>
            <a:ext cx="1479804" cy="987552"/>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250" b="0">
                <a:solidFill>
                  <a:srgbClr val="536B87"/>
                </a:solidFill>
                <a:latin typeface="Arial"/>
                <a:ea typeface="Arial"/>
                <a:cs typeface="Arial"/>
                <a:sym typeface="Arial"/>
              </a:rPr>
              <a:t>Bedrock explains</a:t>
            </a:r>
            <a:br>
              <a:rPr lang="en-US" sz="1250" b="0">
                <a:solidFill>
                  <a:srgbClr val="536B87"/>
                </a:solidFill>
                <a:latin typeface="Arial"/>
                <a:ea typeface="Arial"/>
                <a:cs typeface="Arial"/>
                <a:sym typeface="Arial"/>
              </a:rPr>
            </a:br>
            <a:r>
              <a:rPr lang="en-US" sz="1250" b="0">
                <a:solidFill>
                  <a:srgbClr val="536B87"/>
                </a:solidFill>
                <a:latin typeface="Arial"/>
                <a:ea typeface="Arial"/>
                <a:cs typeface="Arial"/>
                <a:sym typeface="Arial"/>
              </a:rPr>
              <a:t>remaining courses &amp;</a:t>
            </a:r>
            <a:br>
              <a:rPr lang="en-US" sz="1250" b="0">
                <a:solidFill>
                  <a:srgbClr val="536B87"/>
                </a:solidFill>
                <a:latin typeface="Arial"/>
                <a:ea typeface="Arial"/>
                <a:cs typeface="Arial"/>
                <a:sym typeface="Arial"/>
              </a:rPr>
            </a:br>
            <a:r>
              <a:rPr lang="en-US" sz="1250" b="0">
                <a:solidFill>
                  <a:srgbClr val="536B87"/>
                </a:solidFill>
                <a:latin typeface="Arial"/>
                <a:ea typeface="Arial"/>
                <a:cs typeface="Arial"/>
                <a:sym typeface="Arial"/>
              </a:rPr>
              <a:t>degree requirements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2" name="Google Shape;722;p13"/>
          <p:cNvSpPr/>
          <p:nvPr/>
        </p:nvSpPr>
        <p:spPr>
          <a:xfrm>
            <a:off x="804672" y="4974336"/>
            <a:ext cx="10762488" cy="813816"/>
          </a:xfrm>
          <a:prstGeom prst="roundRect">
            <a:avLst>
              <a:gd name="adj" fmla="val 16667"/>
            </a:avLst>
          </a:prstGeom>
          <a:solidFill>
            <a:srgbClr val="E9F2F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3" name="Google Shape;723;p13"/>
          <p:cNvSpPr txBox="1"/>
          <p:nvPr/>
        </p:nvSpPr>
        <p:spPr>
          <a:xfrm>
            <a:off x="1051560" y="5230368"/>
            <a:ext cx="10287000" cy="338328"/>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500" b="1">
                <a:solidFill>
                  <a:srgbClr val="0D3669"/>
                </a:solidFill>
                <a:latin typeface="Arial"/>
                <a:ea typeface="Arial"/>
                <a:cs typeface="Arial"/>
                <a:sym typeface="Arial"/>
              </a:rPr>
              <a:t>Routing decision: degree_plan → student data + degree rules → remaining requirements → explained result.</a:t>
            </a:r>
            <a:endParaRPr/>
          </a:p>
        </p:txBody>
      </p:sp>
      <p:sp>
        <p:nvSpPr>
          <p:cNvPr id="724" name="Google Shape;724;p13"/>
          <p:cNvSpPr txBox="1"/>
          <p:nvPr/>
        </p:nvSpPr>
        <p:spPr>
          <a:xfrm>
            <a:off x="539496" y="6537960"/>
            <a:ext cx="6400800" cy="164592"/>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900" b="0">
                <a:solidFill>
                  <a:srgbClr val="536B87"/>
                </a:solidFill>
                <a:latin typeface="Arial"/>
                <a:ea typeface="Arial"/>
                <a:cs typeface="Arial"/>
                <a:sym typeface="Arial"/>
              </a:rPr>
              <a:t>CSE 4392 / 5320  •  TEAM ASSIGNMENT 2</a:t>
            </a:r>
            <a:endParaRPr/>
          </a:p>
        </p:txBody>
      </p:sp>
      <p:sp>
        <p:nvSpPr>
          <p:cNvPr id="725" name="Google Shape;725;p13"/>
          <p:cNvSpPr txBox="1"/>
          <p:nvPr/>
        </p:nvSpPr>
        <p:spPr>
          <a:xfrm>
            <a:off x="6302203" y="3412761"/>
            <a:ext cx="1479804" cy="1200329"/>
          </a:xfrm>
          <a:prstGeom prst="rect">
            <a:avLst/>
          </a:prstGeom>
          <a:noFill/>
          <a:ln>
            <a:noFill/>
          </a:ln>
        </p:spPr>
        <p:txBody>
          <a:bodyPr spcFirstLastPara="1" wrap="square" lIns="0" tIns="0" rIns="0" bIns="45700" anchor="t" anchorCtr="0">
            <a:spAutoFit/>
          </a:bodyPr>
          <a:lstStyle/>
          <a:p>
            <a:pPr marL="0" marR="0" lvl="0" indent="0" algn="l" rtl="0">
              <a:spcBef>
                <a:spcPts val="0"/>
              </a:spcBef>
              <a:spcAft>
                <a:spcPts val="0"/>
              </a:spcAft>
              <a:buNone/>
            </a:pPr>
            <a:r>
              <a:rPr lang="en-US" sz="1250" b="0">
                <a:solidFill>
                  <a:srgbClr val="536B87"/>
                </a:solidFill>
                <a:latin typeface="Arial"/>
                <a:ea typeface="Arial"/>
                <a:cs typeface="Arial"/>
                <a:sym typeface="Arial"/>
              </a:rPr>
              <a:t>Query DynamoDB for</a:t>
            </a:r>
            <a:br>
              <a:rPr lang="en-US" sz="1250" b="0">
                <a:solidFill>
                  <a:srgbClr val="536B87"/>
                </a:solidFill>
                <a:latin typeface="Arial"/>
                <a:ea typeface="Arial"/>
                <a:cs typeface="Arial"/>
                <a:sym typeface="Arial"/>
              </a:rPr>
            </a:br>
            <a:r>
              <a:rPr lang="en-US" sz="1250" b="0">
                <a:solidFill>
                  <a:srgbClr val="536B87"/>
                </a:solidFill>
                <a:latin typeface="Arial"/>
                <a:ea typeface="Arial"/>
                <a:cs typeface="Arial"/>
                <a:sym typeface="Arial"/>
              </a:rPr>
              <a:t>required courses,</a:t>
            </a:r>
            <a:br>
              <a:rPr lang="en-US" sz="1250" b="0">
                <a:solidFill>
                  <a:srgbClr val="536B87"/>
                </a:solidFill>
                <a:latin typeface="Arial"/>
                <a:ea typeface="Arial"/>
                <a:cs typeface="Arial"/>
                <a:sym typeface="Arial"/>
              </a:rPr>
            </a:br>
            <a:r>
              <a:rPr lang="en-US" sz="1250" b="0">
                <a:solidFill>
                  <a:srgbClr val="536B87"/>
                </a:solidFill>
                <a:latin typeface="Arial"/>
                <a:ea typeface="Arial"/>
                <a:cs typeface="Arial"/>
                <a:sym typeface="Arial"/>
              </a:rPr>
              <a:t>credits &amp; prerequisites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6" name="Google Shape;726;p13"/>
          <p:cNvSpPr txBox="1"/>
          <p:nvPr/>
        </p:nvSpPr>
        <p:spPr>
          <a:xfrm>
            <a:off x="2258568" y="3136392"/>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a:solidFill>
                  <a:srgbClr val="F57725"/>
                </a:solidFill>
                <a:latin typeface="Arial"/>
                <a:ea typeface="Arial"/>
                <a:cs typeface="Arial"/>
                <a:sym typeface="Arial"/>
              </a:rPr>
              <a:t>→</a:t>
            </a:r>
            <a:endParaRPr/>
          </a:p>
        </p:txBody>
      </p:sp>
      <p:sp>
        <p:nvSpPr>
          <p:cNvPr id="727" name="Google Shape;727;p13"/>
          <p:cNvSpPr txBox="1"/>
          <p:nvPr/>
        </p:nvSpPr>
        <p:spPr>
          <a:xfrm>
            <a:off x="4154716" y="3139932"/>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a:solidFill>
                  <a:srgbClr val="F57725"/>
                </a:solidFill>
                <a:latin typeface="Arial"/>
                <a:ea typeface="Arial"/>
                <a:cs typeface="Arial"/>
                <a:sym typeface="Arial"/>
              </a:rPr>
              <a:t>→</a:t>
            </a:r>
            <a:endParaRPr/>
          </a:p>
        </p:txBody>
      </p:sp>
      <p:sp>
        <p:nvSpPr>
          <p:cNvPr id="728" name="Google Shape;728;p13"/>
          <p:cNvSpPr txBox="1"/>
          <p:nvPr/>
        </p:nvSpPr>
        <p:spPr>
          <a:xfrm>
            <a:off x="6040227" y="3143471"/>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a:solidFill>
                  <a:srgbClr val="F57725"/>
                </a:solidFill>
                <a:latin typeface="Arial"/>
                <a:ea typeface="Arial"/>
                <a:cs typeface="Arial"/>
                <a:sym typeface="Arial"/>
              </a:rPr>
              <a:t>→</a:t>
            </a:r>
            <a:endParaRPr/>
          </a:p>
        </p:txBody>
      </p:sp>
      <p:sp>
        <p:nvSpPr>
          <p:cNvPr id="729" name="Google Shape;729;p13"/>
          <p:cNvSpPr txBox="1"/>
          <p:nvPr/>
        </p:nvSpPr>
        <p:spPr>
          <a:xfrm>
            <a:off x="7925738" y="3147012"/>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a:solidFill>
                  <a:srgbClr val="F57725"/>
                </a:solidFill>
                <a:latin typeface="Arial"/>
                <a:ea typeface="Arial"/>
                <a:cs typeface="Arial"/>
                <a:sym typeface="Arial"/>
              </a:rPr>
              <a:t>→</a:t>
            </a:r>
            <a:endParaRPr/>
          </a:p>
        </p:txBody>
      </p:sp>
      <p:sp>
        <p:nvSpPr>
          <p:cNvPr id="730" name="Google Shape;730;p13"/>
          <p:cNvSpPr txBox="1"/>
          <p:nvPr/>
        </p:nvSpPr>
        <p:spPr>
          <a:xfrm>
            <a:off x="9832511" y="3139917"/>
            <a:ext cx="164592" cy="310896"/>
          </a:xfrm>
          <a:prstGeom prst="rect">
            <a:avLst/>
          </a:prstGeom>
          <a:noFill/>
          <a:ln>
            <a:noFill/>
          </a:ln>
        </p:spPr>
        <p:txBody>
          <a:bodyPr spcFirstLastPara="1" wrap="square" lIns="27425" tIns="18275" rIns="91425" bIns="45700" anchor="t" anchorCtr="0">
            <a:spAutoFit/>
          </a:bodyPr>
          <a:lstStyle/>
          <a:p>
            <a:pPr marL="0" marR="0" lvl="0" indent="0" algn="l" rtl="0">
              <a:spcBef>
                <a:spcPts val="0"/>
              </a:spcBef>
              <a:spcAft>
                <a:spcPts val="0"/>
              </a:spcAft>
              <a:buNone/>
            </a:pPr>
            <a:r>
              <a:rPr lang="en-US" sz="1700" b="1">
                <a:solidFill>
                  <a:srgbClr val="F57725"/>
                </a:solidFill>
                <a:latin typeface="Arial"/>
                <a:ea typeface="Arial"/>
                <a:cs typeface="Arial"/>
                <a:sym typeface="Arial"/>
              </a:rPr>
              <a:t>→</a:t>
            </a:r>
            <a:endParaRPr/>
          </a:p>
        </p:txBody>
      </p:sp>
      <p:sp>
        <p:nvSpPr>
          <p:cNvPr id="731" name="Google Shape;731;p13"/>
          <p:cNvSpPr txBox="1"/>
          <p:nvPr/>
        </p:nvSpPr>
        <p:spPr>
          <a:xfrm>
            <a:off x="8846917" y="2293135"/>
            <a:ext cx="653619" cy="415498"/>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200" b="1">
                <a:solidFill>
                  <a:srgbClr val="0D3669"/>
                </a:solidFill>
                <a:latin typeface="Arial"/>
                <a:ea typeface="Arial"/>
                <a:cs typeface="Arial"/>
                <a:sym typeface="Arial"/>
              </a:rPr>
              <a:t>Advisor </a:t>
            </a:r>
            <a:endParaRPr/>
          </a:p>
          <a:p>
            <a:pPr marL="0" marR="0" lvl="0" indent="0" algn="ctr" rtl="0">
              <a:spcBef>
                <a:spcPts val="0"/>
              </a:spcBef>
              <a:spcAft>
                <a:spcPts val="0"/>
              </a:spcAft>
              <a:buNone/>
            </a:pPr>
            <a:r>
              <a:rPr lang="en-US" sz="1200" b="1">
                <a:solidFill>
                  <a:srgbClr val="0D3669"/>
                </a:solidFill>
                <a:latin typeface="Arial"/>
                <a:ea typeface="Arial"/>
                <a:cs typeface="Arial"/>
                <a:sym typeface="Arial"/>
              </a:rPr>
              <a:t>tool</a:t>
            </a:r>
            <a:endParaRPr sz="1200">
              <a:solidFill>
                <a:schemeClr val="dk1"/>
              </a:solidFill>
              <a:latin typeface="Calibri"/>
              <a:ea typeface="Calibri"/>
              <a:cs typeface="Calibri"/>
              <a:sym typeface="Calibri"/>
            </a:endParaRPr>
          </a:p>
        </p:txBody>
      </p:sp>
      <p:sp>
        <p:nvSpPr>
          <p:cNvPr id="732" name="Google Shape;732;p13"/>
          <p:cNvSpPr txBox="1"/>
          <p:nvPr/>
        </p:nvSpPr>
        <p:spPr>
          <a:xfrm>
            <a:off x="6940296" y="2286118"/>
            <a:ext cx="653619" cy="415498"/>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200" b="1">
                <a:solidFill>
                  <a:srgbClr val="0D3669"/>
                </a:solidFill>
                <a:latin typeface="Arial"/>
                <a:ea typeface="Arial"/>
                <a:cs typeface="Arial"/>
                <a:sym typeface="Arial"/>
              </a:rPr>
              <a:t>Advisor </a:t>
            </a:r>
            <a:endParaRPr/>
          </a:p>
          <a:p>
            <a:pPr marL="0" marR="0" lvl="0" indent="0" algn="ctr" rtl="0">
              <a:spcBef>
                <a:spcPts val="0"/>
              </a:spcBef>
              <a:spcAft>
                <a:spcPts val="0"/>
              </a:spcAft>
              <a:buNone/>
            </a:pPr>
            <a:r>
              <a:rPr lang="en-US" sz="1200" b="1">
                <a:solidFill>
                  <a:srgbClr val="0D3669"/>
                </a:solidFill>
                <a:latin typeface="Arial"/>
                <a:ea typeface="Arial"/>
                <a:cs typeface="Arial"/>
                <a:sym typeface="Arial"/>
              </a:rPr>
              <a:t>tool</a:t>
            </a:r>
            <a:endParaRPr sz="1200">
              <a:solidFill>
                <a:schemeClr val="dk1"/>
              </a:solidFill>
              <a:latin typeface="Calibri"/>
              <a:ea typeface="Calibri"/>
              <a:cs typeface="Calibri"/>
              <a:sym typeface="Calibri"/>
            </a:endParaRPr>
          </a:p>
        </p:txBody>
      </p:sp>
      <p:sp>
        <p:nvSpPr>
          <p:cNvPr id="733" name="Google Shape;733;p13"/>
          <p:cNvSpPr txBox="1"/>
          <p:nvPr/>
        </p:nvSpPr>
        <p:spPr>
          <a:xfrm>
            <a:off x="4973791" y="2299825"/>
            <a:ext cx="653619" cy="415498"/>
          </a:xfrm>
          <a:prstGeom prst="rect">
            <a:avLst/>
          </a:prstGeom>
          <a:noFill/>
          <a:ln>
            <a:noFill/>
          </a:ln>
        </p:spPr>
        <p:txBody>
          <a:bodyPr spcFirstLastPara="1" wrap="square" lIns="0" tIns="0" rIns="0" bIns="45700" anchor="t" anchorCtr="0">
            <a:spAutoFit/>
          </a:bodyPr>
          <a:lstStyle/>
          <a:p>
            <a:pPr marL="0" marR="0" lvl="0" indent="0" algn="ctr" rtl="0">
              <a:spcBef>
                <a:spcPts val="0"/>
              </a:spcBef>
              <a:spcAft>
                <a:spcPts val="0"/>
              </a:spcAft>
              <a:buNone/>
            </a:pPr>
            <a:r>
              <a:rPr lang="en-US" sz="1200" b="1">
                <a:solidFill>
                  <a:srgbClr val="0D3669"/>
                </a:solidFill>
                <a:latin typeface="Arial"/>
                <a:ea typeface="Arial"/>
                <a:cs typeface="Arial"/>
                <a:sym typeface="Arial"/>
              </a:rPr>
              <a:t>Advisor </a:t>
            </a:r>
            <a:endParaRPr/>
          </a:p>
          <a:p>
            <a:pPr marL="0" marR="0" lvl="0" indent="0" algn="ctr" rtl="0">
              <a:spcBef>
                <a:spcPts val="0"/>
              </a:spcBef>
              <a:spcAft>
                <a:spcPts val="0"/>
              </a:spcAft>
              <a:buNone/>
            </a:pPr>
            <a:r>
              <a:rPr lang="en-US" sz="1200" b="1">
                <a:solidFill>
                  <a:srgbClr val="0D3669"/>
                </a:solidFill>
                <a:latin typeface="Arial"/>
                <a:ea typeface="Arial"/>
                <a:cs typeface="Arial"/>
                <a:sym typeface="Arial"/>
              </a:rPr>
              <a:t>tool</a:t>
            </a:r>
            <a:endParaRPr sz="1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15"/>
          <p:cNvSpPr/>
          <p:nvPr/>
        </p:nvSpPr>
        <p:spPr>
          <a:xfrm>
            <a:off x="0" y="0"/>
            <a:ext cx="12192000" cy="73152"/>
          </a:xfrm>
          <a:prstGeom prst="rect">
            <a:avLst/>
          </a:prstGeom>
          <a:solidFill>
            <a:srgbClr val="0D2648"/>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1" name="Google Shape;781;p15"/>
          <p:cNvSpPr txBox="1"/>
          <p:nvPr/>
        </p:nvSpPr>
        <p:spPr>
          <a:xfrm>
            <a:off x="548640" y="210312"/>
            <a:ext cx="6400800" cy="320040"/>
          </a:xfrm>
          <a:prstGeom prst="rect">
            <a:avLst/>
          </a:prstGeom>
          <a:noFill/>
          <a:ln>
            <a:noFill/>
          </a:ln>
        </p:spPr>
        <p:txBody>
          <a:bodyPr spcFirstLastPara="1" wrap="square" lIns="45700" tIns="27425" rIns="91425" bIns="45700" anchor="t" anchorCtr="0">
            <a:spAutoFit/>
          </a:bodyPr>
          <a:lstStyle/>
          <a:p>
            <a:pPr marL="0" marR="0" lvl="0" indent="0" algn="l" rtl="0">
              <a:spcBef>
                <a:spcPts val="0"/>
              </a:spcBef>
              <a:spcAft>
                <a:spcPts val="0"/>
              </a:spcAft>
              <a:buNone/>
            </a:pPr>
            <a:r>
              <a:rPr lang="en-US" sz="1500" b="1">
                <a:solidFill>
                  <a:srgbClr val="1D5B9C"/>
                </a:solidFill>
                <a:latin typeface="Arial"/>
                <a:ea typeface="Arial"/>
                <a:cs typeface="Arial"/>
                <a:sym typeface="Arial"/>
              </a:rPr>
              <a:t>UTA • TEAM 2 AI ADVISOR</a:t>
            </a:r>
            <a:endParaRPr/>
          </a:p>
        </p:txBody>
      </p:sp>
      <p:sp>
        <p:nvSpPr>
          <p:cNvPr id="782" name="Google Shape;782;p15"/>
          <p:cNvSpPr txBox="1"/>
          <p:nvPr/>
        </p:nvSpPr>
        <p:spPr>
          <a:xfrm>
            <a:off x="548640" y="640080"/>
            <a:ext cx="10972800" cy="594360"/>
          </a:xfrm>
          <a:prstGeom prst="rect">
            <a:avLst/>
          </a:prstGeom>
          <a:noFill/>
          <a:ln>
            <a:noFill/>
          </a:ln>
        </p:spPr>
        <p:txBody>
          <a:bodyPr spcFirstLastPara="1" wrap="square" lIns="45700" tIns="27425" rIns="91425" bIns="45700" anchor="t" anchorCtr="0">
            <a:spAutoFit/>
          </a:bodyPr>
          <a:lstStyle/>
          <a:p>
            <a:pPr marL="0" marR="0" lvl="0" indent="0" algn="l" rtl="0">
              <a:spcBef>
                <a:spcPts val="0"/>
              </a:spcBef>
              <a:spcAft>
                <a:spcPts val="0"/>
              </a:spcAft>
              <a:buNone/>
            </a:pPr>
            <a:r>
              <a:rPr lang="en-US" sz="2800" b="1">
                <a:solidFill>
                  <a:srgbClr val="0D2648"/>
                </a:solidFill>
                <a:latin typeface="Arial"/>
                <a:ea typeface="Arial"/>
                <a:cs typeface="Arial"/>
                <a:sym typeface="Arial"/>
              </a:rPr>
              <a:t>LangChain: Natural Language Response Generation</a:t>
            </a:r>
            <a:endParaRPr/>
          </a:p>
        </p:txBody>
      </p:sp>
      <p:sp>
        <p:nvSpPr>
          <p:cNvPr id="783" name="Google Shape;783;p15"/>
          <p:cNvSpPr txBox="1"/>
          <p:nvPr/>
        </p:nvSpPr>
        <p:spPr>
          <a:xfrm>
            <a:off x="685800" y="1325880"/>
            <a:ext cx="10789920" cy="384048"/>
          </a:xfrm>
          <a:prstGeom prst="rect">
            <a:avLst/>
          </a:prstGeom>
          <a:noFill/>
          <a:ln>
            <a:noFill/>
          </a:ln>
        </p:spPr>
        <p:txBody>
          <a:bodyPr spcFirstLastPara="1" wrap="square" lIns="45700" tIns="27425" rIns="91425" bIns="45700" anchor="t" anchorCtr="0">
            <a:spAutoFit/>
          </a:bodyPr>
          <a:lstStyle/>
          <a:p>
            <a:pPr marL="0" marR="0" lvl="0" indent="0" algn="l" rtl="0">
              <a:spcBef>
                <a:spcPts val="0"/>
              </a:spcBef>
              <a:spcAft>
                <a:spcPts val="0"/>
              </a:spcAft>
              <a:buNone/>
            </a:pPr>
            <a:r>
              <a:rPr lang="en-US" sz="1500" b="0">
                <a:solidFill>
                  <a:srgbClr val="5B718B"/>
                </a:solidFill>
                <a:latin typeface="Arial"/>
                <a:ea typeface="Arial"/>
                <a:cs typeface="Arial"/>
                <a:sym typeface="Arial"/>
              </a:rPr>
              <a:t>The response prompt guides Bedrock to explain verified advising results in student-friendly language.</a:t>
            </a:r>
            <a:endParaRPr/>
          </a:p>
        </p:txBody>
      </p:sp>
      <p:sp>
        <p:nvSpPr>
          <p:cNvPr id="784" name="Google Shape;784;p15"/>
          <p:cNvSpPr/>
          <p:nvPr/>
        </p:nvSpPr>
        <p:spPr>
          <a:xfrm>
            <a:off x="566928" y="1938528"/>
            <a:ext cx="3794760" cy="832104"/>
          </a:xfrm>
          <a:prstGeom prst="roundRect">
            <a:avLst>
              <a:gd name="adj" fmla="val 16667"/>
            </a:avLst>
          </a:prstGeom>
          <a:solidFill>
            <a:srgbClr val="ECF3F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5" name="Google Shape;785;p15"/>
          <p:cNvSpPr/>
          <p:nvPr/>
        </p:nvSpPr>
        <p:spPr>
          <a:xfrm>
            <a:off x="566928" y="1938528"/>
            <a:ext cx="68580" cy="832104"/>
          </a:xfrm>
          <a:prstGeom prst="rect">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6" name="Google Shape;786;p15"/>
          <p:cNvSpPr txBox="1"/>
          <p:nvPr/>
        </p:nvSpPr>
        <p:spPr>
          <a:xfrm>
            <a:off x="758952" y="2011680"/>
            <a:ext cx="3383280" cy="237744"/>
          </a:xfrm>
          <a:prstGeom prst="rect">
            <a:avLst/>
          </a:prstGeom>
          <a:noFill/>
          <a:ln>
            <a:noFill/>
          </a:ln>
        </p:spPr>
        <p:txBody>
          <a:bodyPr spcFirstLastPara="1" wrap="square" lIns="45700" tIns="27425" rIns="91425" bIns="45700" anchor="t" anchorCtr="0">
            <a:spAutoFit/>
          </a:bodyPr>
          <a:lstStyle/>
          <a:p>
            <a:pPr marL="0" marR="0" lvl="0" indent="0" algn="l" rtl="0">
              <a:spcBef>
                <a:spcPts val="0"/>
              </a:spcBef>
              <a:spcAft>
                <a:spcPts val="0"/>
              </a:spcAft>
              <a:buNone/>
            </a:pPr>
            <a:r>
              <a:rPr lang="en-US" sz="1300" b="1">
                <a:solidFill>
                  <a:srgbClr val="0D2648"/>
                </a:solidFill>
                <a:latin typeface="Arial"/>
                <a:ea typeface="Arial"/>
                <a:cs typeface="Arial"/>
                <a:sym typeface="Arial"/>
              </a:rPr>
              <a:t>SYSTEM INSTRUCTIONS</a:t>
            </a:r>
            <a:endParaRPr/>
          </a:p>
        </p:txBody>
      </p:sp>
      <p:sp>
        <p:nvSpPr>
          <p:cNvPr id="787" name="Google Shape;787;p15"/>
          <p:cNvSpPr txBox="1"/>
          <p:nvPr/>
        </p:nvSpPr>
        <p:spPr>
          <a:xfrm>
            <a:off x="758952" y="2286000"/>
            <a:ext cx="3383280" cy="438912"/>
          </a:xfrm>
          <a:prstGeom prst="rect">
            <a:avLst/>
          </a:prstGeom>
          <a:noFill/>
          <a:ln>
            <a:noFill/>
          </a:ln>
        </p:spPr>
        <p:txBody>
          <a:bodyPr spcFirstLastPara="1" wrap="square" lIns="45700" tIns="27425" rIns="91425" bIns="45700" anchor="t" anchorCtr="0">
            <a:spAutoFit/>
          </a:bodyPr>
          <a:lstStyle/>
          <a:p>
            <a:pPr marL="0" marR="0" lvl="0" indent="0" algn="l" rtl="0">
              <a:spcBef>
                <a:spcPts val="0"/>
              </a:spcBef>
              <a:spcAft>
                <a:spcPts val="0"/>
              </a:spcAft>
              <a:buNone/>
            </a:pPr>
            <a:r>
              <a:rPr lang="en-US" sz="1100" b="0">
                <a:solidFill>
                  <a:srgbClr val="5B718B"/>
                </a:solidFill>
                <a:latin typeface="Arial"/>
                <a:ea typeface="Arial"/>
                <a:cs typeface="Arial"/>
                <a:sym typeface="Arial"/>
              </a:rPr>
              <a:t>Explain clearly • Use supplied evidence • Do not invent requirements</a:t>
            </a:r>
            <a:endParaRPr/>
          </a:p>
        </p:txBody>
      </p:sp>
      <p:sp>
        <p:nvSpPr>
          <p:cNvPr id="788" name="Google Shape;788;p15"/>
          <p:cNvSpPr/>
          <p:nvPr/>
        </p:nvSpPr>
        <p:spPr>
          <a:xfrm>
            <a:off x="566928" y="2962656"/>
            <a:ext cx="3794760" cy="832104"/>
          </a:xfrm>
          <a:prstGeom prst="roundRect">
            <a:avLst>
              <a:gd name="adj" fmla="val 16667"/>
            </a:avLst>
          </a:prstGeom>
          <a:solidFill>
            <a:srgbClr val="ECF3F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9" name="Google Shape;789;p15"/>
          <p:cNvSpPr/>
          <p:nvPr/>
        </p:nvSpPr>
        <p:spPr>
          <a:xfrm>
            <a:off x="566928" y="2962656"/>
            <a:ext cx="68580" cy="832104"/>
          </a:xfrm>
          <a:prstGeom prst="rect">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0" name="Google Shape;790;p15"/>
          <p:cNvSpPr txBox="1"/>
          <p:nvPr/>
        </p:nvSpPr>
        <p:spPr>
          <a:xfrm>
            <a:off x="758952" y="3035808"/>
            <a:ext cx="3383280" cy="237744"/>
          </a:xfrm>
          <a:prstGeom prst="rect">
            <a:avLst/>
          </a:prstGeom>
          <a:noFill/>
          <a:ln>
            <a:noFill/>
          </a:ln>
        </p:spPr>
        <p:txBody>
          <a:bodyPr spcFirstLastPara="1" wrap="square" lIns="45700" tIns="27425" rIns="91425" bIns="45700" anchor="t" anchorCtr="0">
            <a:spAutoFit/>
          </a:bodyPr>
          <a:lstStyle/>
          <a:p>
            <a:pPr marL="0" marR="0" lvl="0" indent="0" algn="l" rtl="0">
              <a:spcBef>
                <a:spcPts val="0"/>
              </a:spcBef>
              <a:spcAft>
                <a:spcPts val="0"/>
              </a:spcAft>
              <a:buNone/>
            </a:pPr>
            <a:r>
              <a:rPr lang="en-US" sz="1300" b="1">
                <a:solidFill>
                  <a:srgbClr val="0D2648"/>
                </a:solidFill>
                <a:latin typeface="Arial"/>
                <a:ea typeface="Arial"/>
                <a:cs typeface="Arial"/>
                <a:sym typeface="Arial"/>
              </a:rPr>
              <a:t>ACADEMIC CONTEXT</a:t>
            </a:r>
            <a:endParaRPr/>
          </a:p>
        </p:txBody>
      </p:sp>
      <p:sp>
        <p:nvSpPr>
          <p:cNvPr id="791" name="Google Shape;791;p15"/>
          <p:cNvSpPr txBox="1"/>
          <p:nvPr/>
        </p:nvSpPr>
        <p:spPr>
          <a:xfrm>
            <a:off x="758952" y="3310128"/>
            <a:ext cx="3383280" cy="438912"/>
          </a:xfrm>
          <a:prstGeom prst="rect">
            <a:avLst/>
          </a:prstGeom>
          <a:noFill/>
          <a:ln>
            <a:noFill/>
          </a:ln>
        </p:spPr>
        <p:txBody>
          <a:bodyPr spcFirstLastPara="1" wrap="square" lIns="45700" tIns="27425" rIns="91425" bIns="45700" anchor="t" anchorCtr="0">
            <a:spAutoFit/>
          </a:bodyPr>
          <a:lstStyle/>
          <a:p>
            <a:pPr marL="0" marR="0" lvl="0" indent="0" algn="l" rtl="0">
              <a:spcBef>
                <a:spcPts val="0"/>
              </a:spcBef>
              <a:spcAft>
                <a:spcPts val="0"/>
              </a:spcAft>
              <a:buNone/>
            </a:pPr>
            <a:r>
              <a:rPr lang="en-US" sz="1100" b="0">
                <a:solidFill>
                  <a:srgbClr val="5B718B"/>
                </a:solidFill>
                <a:latin typeface="Arial"/>
                <a:ea typeface="Arial"/>
                <a:cs typeface="Arial"/>
                <a:sym typeface="Arial"/>
              </a:rPr>
              <a:t>Retrieved catalog passages or validated advising-tool results</a:t>
            </a:r>
            <a:endParaRPr/>
          </a:p>
        </p:txBody>
      </p:sp>
      <p:sp>
        <p:nvSpPr>
          <p:cNvPr id="792" name="Google Shape;792;p15"/>
          <p:cNvSpPr/>
          <p:nvPr/>
        </p:nvSpPr>
        <p:spPr>
          <a:xfrm>
            <a:off x="566928" y="3986784"/>
            <a:ext cx="3794760" cy="832104"/>
          </a:xfrm>
          <a:prstGeom prst="roundRect">
            <a:avLst>
              <a:gd name="adj" fmla="val 16667"/>
            </a:avLst>
          </a:prstGeom>
          <a:solidFill>
            <a:srgbClr val="ECF3F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3" name="Google Shape;793;p15"/>
          <p:cNvSpPr/>
          <p:nvPr/>
        </p:nvSpPr>
        <p:spPr>
          <a:xfrm>
            <a:off x="566928" y="3986784"/>
            <a:ext cx="68580" cy="832104"/>
          </a:xfrm>
          <a:prstGeom prst="rect">
            <a:avLst/>
          </a:prstGeom>
          <a:solidFill>
            <a:srgbClr val="00206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4" name="Google Shape;794;p15"/>
          <p:cNvSpPr txBox="1"/>
          <p:nvPr/>
        </p:nvSpPr>
        <p:spPr>
          <a:xfrm>
            <a:off x="758952" y="4059936"/>
            <a:ext cx="3383280" cy="237744"/>
          </a:xfrm>
          <a:prstGeom prst="rect">
            <a:avLst/>
          </a:prstGeom>
          <a:noFill/>
          <a:ln>
            <a:noFill/>
          </a:ln>
        </p:spPr>
        <p:txBody>
          <a:bodyPr spcFirstLastPara="1" wrap="square" lIns="45700" tIns="27425" rIns="91425" bIns="45700" anchor="t" anchorCtr="0">
            <a:spAutoFit/>
          </a:bodyPr>
          <a:lstStyle/>
          <a:p>
            <a:pPr marL="0" marR="0" lvl="0" indent="0" algn="l" rtl="0">
              <a:spcBef>
                <a:spcPts val="0"/>
              </a:spcBef>
              <a:spcAft>
                <a:spcPts val="0"/>
              </a:spcAft>
              <a:buNone/>
            </a:pPr>
            <a:r>
              <a:rPr lang="en-US" sz="1300" b="1">
                <a:solidFill>
                  <a:srgbClr val="0D2648"/>
                </a:solidFill>
                <a:latin typeface="Arial"/>
                <a:ea typeface="Arial"/>
                <a:cs typeface="Arial"/>
                <a:sym typeface="Arial"/>
              </a:rPr>
              <a:t>STUDENT QUESTION</a:t>
            </a:r>
            <a:endParaRPr/>
          </a:p>
        </p:txBody>
      </p:sp>
      <p:sp>
        <p:nvSpPr>
          <p:cNvPr id="795" name="Google Shape;795;p15"/>
          <p:cNvSpPr txBox="1"/>
          <p:nvPr/>
        </p:nvSpPr>
        <p:spPr>
          <a:xfrm>
            <a:off x="758952" y="4334256"/>
            <a:ext cx="3383280" cy="438912"/>
          </a:xfrm>
          <a:prstGeom prst="rect">
            <a:avLst/>
          </a:prstGeom>
          <a:noFill/>
          <a:ln>
            <a:noFill/>
          </a:ln>
        </p:spPr>
        <p:txBody>
          <a:bodyPr spcFirstLastPara="1" wrap="square" lIns="45700" tIns="27425" rIns="91425" bIns="45700" anchor="t" anchorCtr="0">
            <a:spAutoFit/>
          </a:bodyPr>
          <a:lstStyle/>
          <a:p>
            <a:pPr marL="0" marR="0" lvl="0" indent="0" algn="l" rtl="0">
              <a:spcBef>
                <a:spcPts val="0"/>
              </a:spcBef>
              <a:spcAft>
                <a:spcPts val="0"/>
              </a:spcAft>
              <a:buNone/>
            </a:pPr>
            <a:r>
              <a:rPr lang="en-US" sz="1100" b="0">
                <a:solidFill>
                  <a:srgbClr val="5B718B"/>
                </a:solidFill>
                <a:latin typeface="Arial"/>
                <a:ea typeface="Arial"/>
                <a:cs typeface="Arial"/>
                <a:sym typeface="Arial"/>
              </a:rPr>
              <a:t>“Can I take CSE 4308?”</a:t>
            </a:r>
            <a:endParaRPr/>
          </a:p>
        </p:txBody>
      </p:sp>
      <p:sp>
        <p:nvSpPr>
          <p:cNvPr id="796" name="Google Shape;796;p15"/>
          <p:cNvSpPr txBox="1"/>
          <p:nvPr/>
        </p:nvSpPr>
        <p:spPr>
          <a:xfrm>
            <a:off x="4462272" y="2788920"/>
            <a:ext cx="502920" cy="489365"/>
          </a:xfrm>
          <a:prstGeom prst="rect">
            <a:avLst/>
          </a:prstGeom>
          <a:noFill/>
          <a:ln>
            <a:noFill/>
          </a:ln>
        </p:spPr>
        <p:txBody>
          <a:bodyPr spcFirstLastPara="1" wrap="square" lIns="45700" tIns="27425" rIns="91425" bIns="45700" anchor="t" anchorCtr="0">
            <a:spAutoFit/>
          </a:bodyPr>
          <a:lstStyle/>
          <a:p>
            <a:pPr marL="0" marR="0" lvl="0" indent="0" algn="ctr" rtl="0">
              <a:spcBef>
                <a:spcPts val="0"/>
              </a:spcBef>
              <a:spcAft>
                <a:spcPts val="0"/>
              </a:spcAft>
              <a:buNone/>
            </a:pPr>
            <a:r>
              <a:rPr lang="en-US" sz="2700" b="1">
                <a:solidFill>
                  <a:srgbClr val="F58A27"/>
                </a:solidFill>
                <a:latin typeface="Arial"/>
                <a:ea typeface="Arial"/>
                <a:cs typeface="Arial"/>
                <a:sym typeface="Arial"/>
              </a:rPr>
              <a:t>→</a:t>
            </a:r>
            <a:endParaRPr/>
          </a:p>
        </p:txBody>
      </p:sp>
      <p:sp>
        <p:nvSpPr>
          <p:cNvPr id="797" name="Google Shape;797;p15"/>
          <p:cNvSpPr/>
          <p:nvPr/>
        </p:nvSpPr>
        <p:spPr>
          <a:xfrm>
            <a:off x="4983480" y="2231136"/>
            <a:ext cx="2907792" cy="2286000"/>
          </a:xfrm>
          <a:prstGeom prst="roundRect">
            <a:avLst>
              <a:gd name="adj" fmla="val 16667"/>
            </a:avLst>
          </a:prstGeom>
          <a:solidFill>
            <a:srgbClr val="E0EBF7"/>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8" name="Google Shape;798;p15"/>
          <p:cNvSpPr txBox="1"/>
          <p:nvPr/>
        </p:nvSpPr>
        <p:spPr>
          <a:xfrm>
            <a:off x="5193792" y="2450592"/>
            <a:ext cx="2514600" cy="329184"/>
          </a:xfrm>
          <a:prstGeom prst="rect">
            <a:avLst/>
          </a:prstGeom>
          <a:noFill/>
          <a:ln>
            <a:noFill/>
          </a:ln>
        </p:spPr>
        <p:txBody>
          <a:bodyPr spcFirstLastPara="1" wrap="square" lIns="45700" tIns="27425" rIns="91425" bIns="45700" anchor="t" anchorCtr="0">
            <a:spAutoFit/>
          </a:bodyPr>
          <a:lstStyle/>
          <a:p>
            <a:pPr marL="0" marR="0" lvl="0" indent="0" algn="ctr" rtl="0">
              <a:spcBef>
                <a:spcPts val="0"/>
              </a:spcBef>
              <a:spcAft>
                <a:spcPts val="0"/>
              </a:spcAft>
              <a:buNone/>
            </a:pPr>
            <a:r>
              <a:rPr lang="en-US" sz="1800" b="1">
                <a:solidFill>
                  <a:srgbClr val="0D2648"/>
                </a:solidFill>
                <a:latin typeface="Arial"/>
                <a:ea typeface="Arial"/>
                <a:cs typeface="Arial"/>
                <a:sym typeface="Arial"/>
              </a:rPr>
              <a:t>ChatPromptTemplate</a:t>
            </a:r>
            <a:endParaRPr/>
          </a:p>
        </p:txBody>
      </p:sp>
      <p:sp>
        <p:nvSpPr>
          <p:cNvPr id="799" name="Google Shape;799;p15"/>
          <p:cNvSpPr txBox="1"/>
          <p:nvPr/>
        </p:nvSpPr>
        <p:spPr>
          <a:xfrm>
            <a:off x="5230368" y="2990088"/>
            <a:ext cx="2432304" cy="868680"/>
          </a:xfrm>
          <a:prstGeom prst="rect">
            <a:avLst/>
          </a:prstGeom>
          <a:noFill/>
          <a:ln>
            <a:noFill/>
          </a:ln>
        </p:spPr>
        <p:txBody>
          <a:bodyPr spcFirstLastPara="1" wrap="square" lIns="45700" tIns="27425" rIns="91425" bIns="45700" anchor="t" anchorCtr="0">
            <a:spAutoFit/>
          </a:bodyPr>
          <a:lstStyle/>
          <a:p>
            <a:pPr marL="0" marR="0" lvl="0" indent="0" algn="ctr" rtl="0">
              <a:spcBef>
                <a:spcPts val="0"/>
              </a:spcBef>
              <a:spcAft>
                <a:spcPts val="0"/>
              </a:spcAft>
              <a:buNone/>
            </a:pPr>
            <a:r>
              <a:rPr lang="en-US" sz="1500" b="0">
                <a:solidFill>
                  <a:srgbClr val="5B718B"/>
                </a:solidFill>
                <a:latin typeface="Arial"/>
                <a:ea typeface="Arial"/>
                <a:cs typeface="Arial"/>
                <a:sym typeface="Arial"/>
              </a:rPr>
              <a:t>Combines instructions, context, and the student question</a:t>
            </a:r>
            <a:endParaRPr/>
          </a:p>
        </p:txBody>
      </p:sp>
      <p:sp>
        <p:nvSpPr>
          <p:cNvPr id="800" name="Google Shape;800;p15"/>
          <p:cNvSpPr txBox="1"/>
          <p:nvPr/>
        </p:nvSpPr>
        <p:spPr>
          <a:xfrm>
            <a:off x="7936992" y="2788920"/>
            <a:ext cx="475488" cy="489365"/>
          </a:xfrm>
          <a:prstGeom prst="rect">
            <a:avLst/>
          </a:prstGeom>
          <a:noFill/>
          <a:ln>
            <a:noFill/>
          </a:ln>
        </p:spPr>
        <p:txBody>
          <a:bodyPr spcFirstLastPara="1" wrap="square" lIns="45700" tIns="27425" rIns="91425" bIns="45700" anchor="t" anchorCtr="0">
            <a:spAutoFit/>
          </a:bodyPr>
          <a:lstStyle/>
          <a:p>
            <a:pPr marL="0" marR="0" lvl="0" indent="0" algn="ctr" rtl="0">
              <a:spcBef>
                <a:spcPts val="0"/>
              </a:spcBef>
              <a:spcAft>
                <a:spcPts val="0"/>
              </a:spcAft>
              <a:buNone/>
            </a:pPr>
            <a:r>
              <a:rPr lang="en-US" sz="2700" b="1">
                <a:solidFill>
                  <a:srgbClr val="F58A27"/>
                </a:solidFill>
                <a:latin typeface="Arial"/>
                <a:ea typeface="Arial"/>
                <a:cs typeface="Arial"/>
                <a:sym typeface="Arial"/>
              </a:rPr>
              <a:t>→</a:t>
            </a:r>
            <a:endParaRPr/>
          </a:p>
        </p:txBody>
      </p:sp>
      <p:sp>
        <p:nvSpPr>
          <p:cNvPr id="801" name="Google Shape;801;p15"/>
          <p:cNvSpPr/>
          <p:nvPr/>
        </p:nvSpPr>
        <p:spPr>
          <a:xfrm>
            <a:off x="8476488" y="2231136"/>
            <a:ext cx="3063240" cy="2286000"/>
          </a:xfrm>
          <a:prstGeom prst="roundRect">
            <a:avLst>
              <a:gd name="adj" fmla="val 16667"/>
            </a:avLst>
          </a:prstGeom>
          <a:solidFill>
            <a:srgbClr val="0D2648"/>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2" name="Google Shape;802;p15"/>
          <p:cNvSpPr txBox="1"/>
          <p:nvPr/>
        </p:nvSpPr>
        <p:spPr>
          <a:xfrm>
            <a:off x="8668512" y="2450592"/>
            <a:ext cx="2697480" cy="347472"/>
          </a:xfrm>
          <a:prstGeom prst="rect">
            <a:avLst/>
          </a:prstGeom>
          <a:noFill/>
          <a:ln>
            <a:noFill/>
          </a:ln>
        </p:spPr>
        <p:txBody>
          <a:bodyPr spcFirstLastPara="1" wrap="square" lIns="45700" tIns="27425" rIns="91425" bIns="45700" anchor="t" anchorCtr="0">
            <a:spAutoFit/>
          </a:bodyPr>
          <a:lstStyle/>
          <a:p>
            <a:pPr marL="0" marR="0" lvl="0" indent="0" algn="ctr" rtl="0">
              <a:spcBef>
                <a:spcPts val="0"/>
              </a:spcBef>
              <a:spcAft>
                <a:spcPts val="0"/>
              </a:spcAft>
              <a:buNone/>
            </a:pPr>
            <a:r>
              <a:rPr lang="en-US" sz="1800" b="1">
                <a:solidFill>
                  <a:srgbClr val="FFFFFF"/>
                </a:solidFill>
                <a:latin typeface="Arial"/>
                <a:ea typeface="Arial"/>
                <a:cs typeface="Arial"/>
                <a:sym typeface="Arial"/>
              </a:rPr>
              <a:t>Amazon Bedrock</a:t>
            </a:r>
            <a:endParaRPr/>
          </a:p>
        </p:txBody>
      </p:sp>
      <p:sp>
        <p:nvSpPr>
          <p:cNvPr id="803" name="Google Shape;803;p15"/>
          <p:cNvSpPr txBox="1"/>
          <p:nvPr/>
        </p:nvSpPr>
        <p:spPr>
          <a:xfrm>
            <a:off x="8732520" y="2990088"/>
            <a:ext cx="2560320" cy="777240"/>
          </a:xfrm>
          <a:prstGeom prst="rect">
            <a:avLst/>
          </a:prstGeom>
          <a:noFill/>
          <a:ln>
            <a:noFill/>
          </a:ln>
        </p:spPr>
        <p:txBody>
          <a:bodyPr spcFirstLastPara="1" wrap="square" lIns="45700" tIns="27425" rIns="91425" bIns="45700" anchor="t" anchorCtr="0">
            <a:spAutoFit/>
          </a:bodyPr>
          <a:lstStyle/>
          <a:p>
            <a:pPr marL="0" marR="0" lvl="0" indent="0" algn="ctr" rtl="0">
              <a:spcBef>
                <a:spcPts val="0"/>
              </a:spcBef>
              <a:spcAft>
                <a:spcPts val="0"/>
              </a:spcAft>
              <a:buNone/>
            </a:pPr>
            <a:r>
              <a:rPr lang="en-US" sz="1500" b="0">
                <a:solidFill>
                  <a:srgbClr val="E5EEF7"/>
                </a:solidFill>
                <a:latin typeface="Arial"/>
                <a:ea typeface="Arial"/>
                <a:cs typeface="Arial"/>
                <a:sym typeface="Arial"/>
              </a:rPr>
              <a:t>Gemma generates a clear, grounded explanation</a:t>
            </a:r>
            <a:endParaRPr/>
          </a:p>
        </p:txBody>
      </p:sp>
      <p:sp>
        <p:nvSpPr>
          <p:cNvPr id="804" name="Google Shape;804;p15"/>
          <p:cNvSpPr/>
          <p:nvPr/>
        </p:nvSpPr>
        <p:spPr>
          <a:xfrm>
            <a:off x="576072" y="4951476"/>
            <a:ext cx="10972800" cy="1234440"/>
          </a:xfrm>
          <a:prstGeom prst="roundRect">
            <a:avLst>
              <a:gd name="adj" fmla="val 16667"/>
            </a:avLst>
          </a:prstGeom>
          <a:solidFill>
            <a:srgbClr val="ECF3F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5" name="Google Shape;805;p15"/>
          <p:cNvSpPr txBox="1"/>
          <p:nvPr/>
        </p:nvSpPr>
        <p:spPr>
          <a:xfrm>
            <a:off x="795528" y="5060300"/>
            <a:ext cx="10515600" cy="256032"/>
          </a:xfrm>
          <a:prstGeom prst="rect">
            <a:avLst/>
          </a:prstGeom>
          <a:noFill/>
          <a:ln>
            <a:noFill/>
          </a:ln>
        </p:spPr>
        <p:txBody>
          <a:bodyPr spcFirstLastPara="1" wrap="square" lIns="45700" tIns="27425" rIns="91425" bIns="45700" anchor="t" anchorCtr="0">
            <a:spAutoFit/>
          </a:bodyPr>
          <a:lstStyle/>
          <a:p>
            <a:pPr marL="0" marR="0" lvl="0" indent="0" algn="l" rtl="0">
              <a:spcBef>
                <a:spcPts val="0"/>
              </a:spcBef>
              <a:spcAft>
                <a:spcPts val="0"/>
              </a:spcAft>
              <a:buNone/>
            </a:pPr>
            <a:r>
              <a:rPr lang="en-US" sz="1300" b="1">
                <a:solidFill>
                  <a:srgbClr val="1D5B9C"/>
                </a:solidFill>
                <a:latin typeface="Arial"/>
                <a:ea typeface="Arial"/>
                <a:cs typeface="Arial"/>
                <a:sym typeface="Arial"/>
              </a:rPr>
              <a:t>EXAMPLE STUDENT-FACING RESPONSE</a:t>
            </a:r>
            <a:endParaRPr/>
          </a:p>
        </p:txBody>
      </p:sp>
      <p:sp>
        <p:nvSpPr>
          <p:cNvPr id="806" name="Google Shape;806;p15"/>
          <p:cNvSpPr txBox="1"/>
          <p:nvPr/>
        </p:nvSpPr>
        <p:spPr>
          <a:xfrm>
            <a:off x="800100" y="5394960"/>
            <a:ext cx="10469880" cy="612648"/>
          </a:xfrm>
          <a:prstGeom prst="rect">
            <a:avLst/>
          </a:prstGeom>
          <a:noFill/>
          <a:ln>
            <a:noFill/>
          </a:ln>
        </p:spPr>
        <p:txBody>
          <a:bodyPr spcFirstLastPara="1" wrap="square" lIns="45700" tIns="27425" rIns="91425" bIns="45700" anchor="t" anchorCtr="0">
            <a:spAutoFit/>
          </a:bodyPr>
          <a:lstStyle/>
          <a:p>
            <a:pPr marL="0" marR="0" lvl="0" indent="0" algn="l" rtl="0">
              <a:spcBef>
                <a:spcPts val="0"/>
              </a:spcBef>
              <a:spcAft>
                <a:spcPts val="0"/>
              </a:spcAft>
              <a:buNone/>
            </a:pPr>
            <a:r>
              <a:rPr lang="en-US" sz="1500" b="0">
                <a:solidFill>
                  <a:srgbClr val="0D2648"/>
                </a:solidFill>
                <a:latin typeface="Arial"/>
                <a:ea typeface="Arial"/>
                <a:cs typeface="Arial"/>
                <a:sym typeface="Arial"/>
              </a:rPr>
              <a:t>“Based on your academic record, you have not yet met all prerequisites for CSE 4308. Here is the requirement you still need to complete…”</a:t>
            </a:r>
            <a:endParaRPr/>
          </a:p>
        </p:txBody>
      </p:sp>
      <p:sp>
        <p:nvSpPr>
          <p:cNvPr id="807" name="Google Shape;807;p15"/>
          <p:cNvSpPr txBox="1"/>
          <p:nvPr/>
        </p:nvSpPr>
        <p:spPr>
          <a:xfrm>
            <a:off x="566928" y="6528816"/>
            <a:ext cx="5486400" cy="182880"/>
          </a:xfrm>
          <a:prstGeom prst="rect">
            <a:avLst/>
          </a:prstGeom>
          <a:noFill/>
          <a:ln>
            <a:noFill/>
          </a:ln>
        </p:spPr>
        <p:txBody>
          <a:bodyPr spcFirstLastPara="1" wrap="square" lIns="45700" tIns="27425" rIns="91425" bIns="45700" anchor="t" anchorCtr="0">
            <a:spAutoFit/>
          </a:bodyPr>
          <a:lstStyle/>
          <a:p>
            <a:pPr marL="0" marR="0" lvl="0" indent="0" algn="l" rtl="0">
              <a:spcBef>
                <a:spcPts val="0"/>
              </a:spcBef>
              <a:spcAft>
                <a:spcPts val="0"/>
              </a:spcAft>
              <a:buNone/>
            </a:pPr>
            <a:r>
              <a:rPr lang="en-US" sz="900" b="0">
                <a:solidFill>
                  <a:srgbClr val="5B718B"/>
                </a:solidFill>
                <a:latin typeface="Arial"/>
                <a:ea typeface="Arial"/>
                <a:cs typeface="Arial"/>
                <a:sym typeface="Arial"/>
              </a:rPr>
              <a:t>CSE 4392 / 5320  •  TEAM ASSIGNMENT 2</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16"/>
          <p:cNvSpPr/>
          <p:nvPr/>
        </p:nvSpPr>
        <p:spPr>
          <a:xfrm>
            <a:off x="0" y="0"/>
            <a:ext cx="12191695" cy="82296"/>
          </a:xfrm>
          <a:prstGeom prst="rect">
            <a:avLst/>
          </a:prstGeom>
          <a:solidFill>
            <a:srgbClr val="0D2A5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3" name="Google Shape;813;p16"/>
          <p:cNvSpPr txBox="1"/>
          <p:nvPr/>
        </p:nvSpPr>
        <p:spPr>
          <a:xfrm>
            <a:off x="521207" y="219456"/>
            <a:ext cx="7315200" cy="274320"/>
          </a:xfrm>
          <a:prstGeom prst="rect">
            <a:avLst/>
          </a:prstGeom>
          <a:noFill/>
          <a:ln>
            <a:noFill/>
          </a:ln>
        </p:spPr>
        <p:txBody>
          <a:bodyPr spcFirstLastPara="1" wrap="square" lIns="45700" tIns="18275" rIns="91425" bIns="45700" anchor="t" anchorCtr="0">
            <a:spAutoFit/>
          </a:bodyPr>
          <a:lstStyle/>
          <a:p>
            <a:pPr marL="0" marR="0" lvl="0" indent="0" algn="l" rtl="0">
              <a:spcBef>
                <a:spcPts val="0"/>
              </a:spcBef>
              <a:spcAft>
                <a:spcPts val="0"/>
              </a:spcAft>
              <a:buNone/>
            </a:pPr>
            <a:r>
              <a:rPr lang="en-US" sz="1300" b="1">
                <a:solidFill>
                  <a:srgbClr val="1E5D9D"/>
                </a:solidFill>
                <a:latin typeface="Arial"/>
                <a:ea typeface="Arial"/>
                <a:cs typeface="Arial"/>
                <a:sym typeface="Arial"/>
              </a:rPr>
              <a:t>UTA • TEAM 2 AI ADVISOR</a:t>
            </a:r>
            <a:endParaRPr/>
          </a:p>
        </p:txBody>
      </p:sp>
      <p:sp>
        <p:nvSpPr>
          <p:cNvPr id="814" name="Google Shape;814;p16"/>
          <p:cNvSpPr txBox="1"/>
          <p:nvPr/>
        </p:nvSpPr>
        <p:spPr>
          <a:xfrm>
            <a:off x="521207" y="603504"/>
            <a:ext cx="10972800" cy="548640"/>
          </a:xfrm>
          <a:prstGeom prst="rect">
            <a:avLst/>
          </a:prstGeom>
          <a:noFill/>
          <a:ln>
            <a:noFill/>
          </a:ln>
        </p:spPr>
        <p:txBody>
          <a:bodyPr spcFirstLastPara="1" wrap="square" lIns="45700" tIns="18275" rIns="91425" bIns="45700" anchor="t" anchorCtr="0">
            <a:spAutoFit/>
          </a:bodyPr>
          <a:lstStyle/>
          <a:p>
            <a:pPr marL="0" marR="0" lvl="0" indent="0" algn="l" rtl="0">
              <a:spcBef>
                <a:spcPts val="0"/>
              </a:spcBef>
              <a:spcAft>
                <a:spcPts val="0"/>
              </a:spcAft>
              <a:buNone/>
            </a:pPr>
            <a:r>
              <a:rPr lang="en-US" sz="2700" b="1">
                <a:solidFill>
                  <a:srgbClr val="0D2A50"/>
                </a:solidFill>
                <a:latin typeface="Arial"/>
                <a:ea typeface="Arial"/>
                <a:cs typeface="Arial"/>
                <a:sym typeface="Arial"/>
              </a:rPr>
              <a:t>LangChain: Prompt Instructions for Student Responses</a:t>
            </a:r>
            <a:endParaRPr/>
          </a:p>
        </p:txBody>
      </p:sp>
      <p:sp>
        <p:nvSpPr>
          <p:cNvPr id="815" name="Google Shape;815;p16"/>
          <p:cNvSpPr txBox="1"/>
          <p:nvPr/>
        </p:nvSpPr>
        <p:spPr>
          <a:xfrm>
            <a:off x="566928" y="1207008"/>
            <a:ext cx="10972800" cy="329184"/>
          </a:xfrm>
          <a:prstGeom prst="rect">
            <a:avLst/>
          </a:prstGeom>
          <a:noFill/>
          <a:ln>
            <a:noFill/>
          </a:ln>
        </p:spPr>
        <p:txBody>
          <a:bodyPr spcFirstLastPara="1" wrap="square" lIns="45700" tIns="18275" rIns="91425" bIns="45700" anchor="t" anchorCtr="0">
            <a:spAutoFit/>
          </a:bodyPr>
          <a:lstStyle/>
          <a:p>
            <a:pPr marL="0" marR="0" lvl="0" indent="0" algn="l" rtl="0">
              <a:spcBef>
                <a:spcPts val="0"/>
              </a:spcBef>
              <a:spcAft>
                <a:spcPts val="0"/>
              </a:spcAft>
              <a:buNone/>
            </a:pPr>
            <a:r>
              <a:rPr lang="en-US" sz="1500" b="0">
                <a:solidFill>
                  <a:srgbClr val="536C8B"/>
                </a:solidFill>
                <a:latin typeface="Arial"/>
                <a:ea typeface="Arial"/>
                <a:cs typeface="Arial"/>
                <a:sym typeface="Arial"/>
              </a:rPr>
              <a:t>The response prompt controls how Bedrock explains validated results in natural language.</a:t>
            </a:r>
            <a:endParaRPr/>
          </a:p>
        </p:txBody>
      </p:sp>
      <p:sp>
        <p:nvSpPr>
          <p:cNvPr id="816" name="Google Shape;816;p16"/>
          <p:cNvSpPr/>
          <p:nvPr/>
        </p:nvSpPr>
        <p:spPr>
          <a:xfrm>
            <a:off x="548640" y="1764792"/>
            <a:ext cx="6492240" cy="4233672"/>
          </a:xfrm>
          <a:prstGeom prst="roundRect">
            <a:avLst>
              <a:gd name="adj" fmla="val 16667"/>
            </a:avLst>
          </a:prstGeom>
          <a:solidFill>
            <a:srgbClr val="11233D"/>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7" name="Google Shape;817;p16"/>
          <p:cNvSpPr txBox="1"/>
          <p:nvPr/>
        </p:nvSpPr>
        <p:spPr>
          <a:xfrm>
            <a:off x="786384" y="1938528"/>
            <a:ext cx="6126480" cy="274320"/>
          </a:xfrm>
          <a:prstGeom prst="rect">
            <a:avLst/>
          </a:prstGeom>
          <a:noFill/>
          <a:ln>
            <a:noFill/>
          </a:ln>
        </p:spPr>
        <p:txBody>
          <a:bodyPr spcFirstLastPara="1" wrap="square" lIns="45700" tIns="18275" rIns="91425" bIns="45700" anchor="t" anchorCtr="0">
            <a:spAutoFit/>
          </a:bodyPr>
          <a:lstStyle/>
          <a:p>
            <a:pPr marL="0" marR="0" lvl="0" indent="0" algn="l" rtl="0">
              <a:spcBef>
                <a:spcPts val="0"/>
              </a:spcBef>
              <a:spcAft>
                <a:spcPts val="0"/>
              </a:spcAft>
              <a:buNone/>
            </a:pPr>
            <a:r>
              <a:rPr lang="en-US" sz="1200" b="1">
                <a:solidFill>
                  <a:srgbClr val="76D3E2"/>
                </a:solidFill>
                <a:latin typeface="Arial"/>
                <a:ea typeface="Arial"/>
                <a:cs typeface="Arial"/>
                <a:sym typeface="Arial"/>
              </a:rPr>
              <a:t>ACTUAL CODE  •  SELECTED EXCERPTS</a:t>
            </a:r>
            <a:endParaRPr/>
          </a:p>
        </p:txBody>
      </p:sp>
      <p:sp>
        <p:nvSpPr>
          <p:cNvPr id="818" name="Google Shape;818;p16"/>
          <p:cNvSpPr txBox="1"/>
          <p:nvPr/>
        </p:nvSpPr>
        <p:spPr>
          <a:xfrm>
            <a:off x="768096" y="2295144"/>
            <a:ext cx="6080760" cy="3602736"/>
          </a:xfrm>
          <a:prstGeom prst="rect">
            <a:avLst/>
          </a:prstGeom>
          <a:noFill/>
          <a:ln>
            <a:noFill/>
          </a:ln>
        </p:spPr>
        <p:txBody>
          <a:bodyPr spcFirstLastPara="1" wrap="square" lIns="45700" tIns="18275" rIns="91425" bIns="45700" anchor="t" anchorCtr="0">
            <a:spAutoFit/>
          </a:bodyPr>
          <a:lstStyle/>
          <a:p>
            <a:pPr marL="0" marR="0" lvl="0" indent="0" algn="l" rtl="0">
              <a:spcBef>
                <a:spcPts val="0"/>
              </a:spcBef>
              <a:spcAft>
                <a:spcPts val="0"/>
              </a:spcAft>
              <a:buNone/>
            </a:pPr>
            <a:r>
              <a:rPr lang="en-US" sz="1300" b="0">
                <a:solidFill>
                  <a:srgbClr val="E7EFF9"/>
                </a:solidFill>
                <a:latin typeface="Consolas"/>
                <a:ea typeface="Consolas"/>
                <a:cs typeface="Consolas"/>
                <a:sym typeface="Consolas"/>
              </a:rPr>
              <a:t>phrase_prompt = ChatPromptTemplate.from_messages([</a:t>
            </a:r>
            <a:br>
              <a:rPr lang="en-US" sz="1300" b="0">
                <a:solidFill>
                  <a:srgbClr val="E7EFF9"/>
                </a:solidFill>
                <a:latin typeface="Consolas"/>
                <a:ea typeface="Consolas"/>
                <a:cs typeface="Consolas"/>
                <a:sym typeface="Consolas"/>
              </a:rPr>
            </a:br>
            <a:r>
              <a:rPr lang="en-US" sz="1300" b="0">
                <a:solidFill>
                  <a:srgbClr val="E7EFF9"/>
                </a:solidFill>
                <a:latin typeface="Consolas"/>
                <a:ea typeface="Consolas"/>
                <a:cs typeface="Consolas"/>
                <a:sym typeface="Consolas"/>
              </a:rPr>
              <a:t>  ("system", """You are the UTA AI Advisor</a:t>
            </a:r>
            <a:br>
              <a:rPr lang="en-US" sz="1300" b="0">
                <a:solidFill>
                  <a:srgbClr val="E7EFF9"/>
                </a:solidFill>
                <a:latin typeface="Consolas"/>
                <a:ea typeface="Consolas"/>
                <a:cs typeface="Consolas"/>
                <a:sym typeface="Consolas"/>
              </a:rPr>
            </a:br>
            <a:r>
              <a:rPr lang="en-US" sz="1300" b="0">
                <a:solidFill>
                  <a:srgbClr val="E7EFF9"/>
                </a:solidFill>
                <a:latin typeface="Consolas"/>
                <a:ea typeface="Consolas"/>
                <a:cs typeface="Consolas"/>
                <a:sym typeface="Consolas"/>
              </a:rPr>
              <a:t>  talking with {student_name}.</a:t>
            </a:r>
            <a:br>
              <a:rPr lang="en-US" sz="1300" b="0">
                <a:solidFill>
                  <a:srgbClr val="E7EFF9"/>
                </a:solidFill>
                <a:latin typeface="Consolas"/>
                <a:ea typeface="Consolas"/>
                <a:cs typeface="Consolas"/>
                <a:sym typeface="Consolas"/>
              </a:rPr>
            </a:br>
            <a:br>
              <a:rPr lang="en-US" sz="1300" b="0">
                <a:solidFill>
                  <a:srgbClr val="E7EFF9"/>
                </a:solidFill>
                <a:latin typeface="Consolas"/>
                <a:ea typeface="Consolas"/>
                <a:cs typeface="Consolas"/>
                <a:sym typeface="Consolas"/>
              </a:rPr>
            </a:br>
            <a:r>
              <a:rPr lang="en-US" sz="1300" b="0">
                <a:solidFill>
                  <a:srgbClr val="E7EFF9"/>
                </a:solidFill>
                <a:latin typeface="Consolas"/>
                <a:ea typeface="Consolas"/>
                <a:cs typeface="Consolas"/>
                <a:sym typeface="Consolas"/>
              </a:rPr>
              <a:t>  Explain RESULT in response to the student's</a:t>
            </a:r>
            <a:br>
              <a:rPr lang="en-US" sz="1300" b="0">
                <a:solidFill>
                  <a:srgbClr val="E7EFF9"/>
                </a:solidFill>
                <a:latin typeface="Consolas"/>
                <a:ea typeface="Consolas"/>
                <a:cs typeface="Consolas"/>
                <a:sym typeface="Consolas"/>
              </a:rPr>
            </a:br>
            <a:r>
              <a:rPr lang="en-US" sz="1300" b="0">
                <a:solidFill>
                  <a:srgbClr val="E7EFF9"/>
                </a:solidFill>
                <a:latin typeface="Consolas"/>
                <a:ea typeface="Consolas"/>
                <a:cs typeface="Consolas"/>
                <a:sym typeface="Consolas"/>
              </a:rPr>
              <a:t>  question. Use ONLY information in RESULT.</a:t>
            </a:r>
            <a:br>
              <a:rPr lang="en-US" sz="1300" b="0">
                <a:solidFill>
                  <a:srgbClr val="E7EFF9"/>
                </a:solidFill>
                <a:latin typeface="Consolas"/>
                <a:ea typeface="Consolas"/>
                <a:cs typeface="Consolas"/>
                <a:sym typeface="Consolas"/>
              </a:rPr>
            </a:br>
            <a:br>
              <a:rPr lang="en-US" sz="1300" b="0">
                <a:solidFill>
                  <a:srgbClr val="E7EFF9"/>
                </a:solidFill>
                <a:latin typeface="Consolas"/>
                <a:ea typeface="Consolas"/>
                <a:cs typeface="Consolas"/>
                <a:sym typeface="Consolas"/>
              </a:rPr>
            </a:br>
            <a:r>
              <a:rPr lang="en-US" sz="1300" b="0">
                <a:solidFill>
                  <a:srgbClr val="E7EFF9"/>
                </a:solidFill>
                <a:latin typeface="Consolas"/>
                <a:ea typeface="Consolas"/>
                <a:cs typeface="Consolas"/>
                <a:sym typeface="Consolas"/>
              </a:rPr>
              <a:t>  GENERAL RULES:</a:t>
            </a:r>
            <a:br>
              <a:rPr lang="en-US" sz="1300" b="0">
                <a:solidFill>
                  <a:srgbClr val="E7EFF9"/>
                </a:solidFill>
                <a:latin typeface="Consolas"/>
                <a:ea typeface="Consolas"/>
                <a:cs typeface="Consolas"/>
                <a:sym typeface="Consolas"/>
              </a:rPr>
            </a:br>
            <a:r>
              <a:rPr lang="en-US" sz="1300" b="0">
                <a:solidFill>
                  <a:srgbClr val="E7EFF9"/>
                </a:solidFill>
                <a:latin typeface="Consolas"/>
                <a:ea typeface="Consolas"/>
                <a:cs typeface="Consolas"/>
                <a:sym typeface="Consolas"/>
              </a:rPr>
              <a:t>  - Speak directly to the student.</a:t>
            </a:r>
            <a:br>
              <a:rPr lang="en-US" sz="1300" b="0">
                <a:solidFill>
                  <a:srgbClr val="E7EFF9"/>
                </a:solidFill>
                <a:latin typeface="Consolas"/>
                <a:ea typeface="Consolas"/>
                <a:cs typeface="Consolas"/>
                <a:sym typeface="Consolas"/>
              </a:rPr>
            </a:br>
            <a:r>
              <a:rPr lang="en-US" sz="1300" b="0">
                <a:solidFill>
                  <a:srgbClr val="E7EFF9"/>
                </a:solidFill>
                <a:latin typeface="Consolas"/>
                <a:ea typeface="Consolas"/>
                <a:cs typeface="Consolas"/>
                <a:sym typeface="Consolas"/>
              </a:rPr>
              <a:t>  - Keep answers short, clear, professional.</a:t>
            </a:r>
            <a:br>
              <a:rPr lang="en-US" sz="1300" b="0">
                <a:solidFill>
                  <a:srgbClr val="E7EFF9"/>
                </a:solidFill>
                <a:latin typeface="Consolas"/>
                <a:ea typeface="Consolas"/>
                <a:cs typeface="Consolas"/>
                <a:sym typeface="Consolas"/>
              </a:rPr>
            </a:br>
            <a:r>
              <a:rPr lang="en-US" sz="1300" b="0">
                <a:solidFill>
                  <a:srgbClr val="E7EFF9"/>
                </a:solidFill>
                <a:latin typeface="Consolas"/>
                <a:ea typeface="Consolas"/>
                <a:cs typeface="Consolas"/>
                <a:sym typeface="Consolas"/>
              </a:rPr>
              <a:t>  - Never invent courses, grades, or credits.</a:t>
            </a:r>
            <a:br>
              <a:rPr lang="en-US" sz="1300" b="0">
                <a:solidFill>
                  <a:srgbClr val="E7EFF9"/>
                </a:solidFill>
                <a:latin typeface="Consolas"/>
                <a:ea typeface="Consolas"/>
                <a:cs typeface="Consolas"/>
                <a:sym typeface="Consolas"/>
              </a:rPr>
            </a:br>
            <a:br>
              <a:rPr lang="en-US" sz="1300" b="0">
                <a:solidFill>
                  <a:srgbClr val="E7EFF9"/>
                </a:solidFill>
                <a:latin typeface="Consolas"/>
                <a:ea typeface="Consolas"/>
                <a:cs typeface="Consolas"/>
                <a:sym typeface="Consolas"/>
              </a:rPr>
            </a:br>
            <a:r>
              <a:rPr lang="en-US" sz="1300" b="0">
                <a:solidFill>
                  <a:srgbClr val="E7EFF9"/>
                </a:solidFill>
                <a:latin typeface="Consolas"/>
                <a:ea typeface="Consolas"/>
                <a:cs typeface="Consolas"/>
                <a:sym typeface="Consolas"/>
              </a:rPr>
              <a:t>  COURSE ELIGIBILITY:</a:t>
            </a:r>
            <a:br>
              <a:rPr lang="en-US" sz="1300" b="0">
                <a:solidFill>
                  <a:srgbClr val="E7EFF9"/>
                </a:solidFill>
                <a:latin typeface="Consolas"/>
                <a:ea typeface="Consolas"/>
                <a:cs typeface="Consolas"/>
                <a:sym typeface="Consolas"/>
              </a:rPr>
            </a:br>
            <a:r>
              <a:rPr lang="en-US" sz="1300" b="0">
                <a:solidFill>
                  <a:srgbClr val="E7EFF9"/>
                </a:solidFill>
                <a:latin typeface="Consolas"/>
                <a:ea typeface="Consolas"/>
                <a:cs typeface="Consolas"/>
                <a:sym typeface="Consolas"/>
              </a:rPr>
              <a:t>  - Python eligibility calculations are authoritative.</a:t>
            </a:r>
            <a:br>
              <a:rPr lang="en-US" sz="1300" b="0">
                <a:solidFill>
                  <a:srgbClr val="E7EFF9"/>
                </a:solidFill>
                <a:latin typeface="Consolas"/>
                <a:ea typeface="Consolas"/>
                <a:cs typeface="Consolas"/>
                <a:sym typeface="Consolas"/>
              </a:rPr>
            </a:br>
            <a:r>
              <a:rPr lang="en-US" sz="1300" b="0">
                <a:solidFill>
                  <a:srgbClr val="E7EFF9"/>
                </a:solidFill>
                <a:latin typeface="Consolas"/>
                <a:ea typeface="Consolas"/>
                <a:cs typeface="Consolas"/>
                <a:sym typeface="Consolas"/>
              </a:rPr>
              <a:t>  - Never recalculate or override results.</a:t>
            </a:r>
            <a:br>
              <a:rPr lang="en-US" sz="1300" b="0">
                <a:solidFill>
                  <a:srgbClr val="E7EFF9"/>
                </a:solidFill>
                <a:latin typeface="Consolas"/>
                <a:ea typeface="Consolas"/>
                <a:cs typeface="Consolas"/>
                <a:sym typeface="Consolas"/>
              </a:rPr>
            </a:br>
            <a:br>
              <a:rPr lang="en-US" sz="1300" b="0">
                <a:solidFill>
                  <a:srgbClr val="E7EFF9"/>
                </a:solidFill>
                <a:latin typeface="Consolas"/>
                <a:ea typeface="Consolas"/>
                <a:cs typeface="Consolas"/>
                <a:sym typeface="Consolas"/>
              </a:rPr>
            </a:br>
            <a:r>
              <a:rPr lang="en-US" sz="1300" b="0">
                <a:solidFill>
                  <a:srgbClr val="E7EFF9"/>
                </a:solidFill>
                <a:latin typeface="Consolas"/>
                <a:ea typeface="Consolas"/>
                <a:cs typeface="Consolas"/>
                <a:sym typeface="Consolas"/>
              </a:rPr>
              <a:t>  DEGREE PLANNING:</a:t>
            </a:r>
            <a:br>
              <a:rPr lang="en-US" sz="1300" b="0">
                <a:solidFill>
                  <a:srgbClr val="E7EFF9"/>
                </a:solidFill>
                <a:latin typeface="Consolas"/>
                <a:ea typeface="Consolas"/>
                <a:cs typeface="Consolas"/>
                <a:sym typeface="Consolas"/>
              </a:rPr>
            </a:br>
            <a:r>
              <a:rPr lang="en-US" sz="1300" b="0">
                <a:solidFill>
                  <a:srgbClr val="E7EFF9"/>
                </a:solidFill>
                <a:latin typeface="Consolas"/>
                <a:ea typeface="Consolas"/>
                <a:cs typeface="Consolas"/>
                <a:sym typeface="Consolas"/>
              </a:rPr>
              <a:t>  - If complete is false, state plan is incomplete.</a:t>
            </a:r>
            <a:br>
              <a:rPr lang="en-US" sz="1300" b="0">
                <a:solidFill>
                  <a:srgbClr val="E7EFF9"/>
                </a:solidFill>
                <a:latin typeface="Consolas"/>
                <a:ea typeface="Consolas"/>
                <a:cs typeface="Consolas"/>
                <a:sym typeface="Consolas"/>
              </a:rPr>
            </a:br>
            <a:br>
              <a:rPr lang="en-US" sz="1300" b="0">
                <a:solidFill>
                  <a:srgbClr val="E7EFF9"/>
                </a:solidFill>
                <a:latin typeface="Consolas"/>
                <a:ea typeface="Consolas"/>
                <a:cs typeface="Consolas"/>
                <a:sym typeface="Consolas"/>
              </a:rPr>
            </a:br>
            <a:r>
              <a:rPr lang="en-US" sz="1300" b="0">
                <a:solidFill>
                  <a:srgbClr val="E7EFF9"/>
                </a:solidFill>
                <a:latin typeface="Consolas"/>
                <a:ea typeface="Consolas"/>
                <a:cs typeface="Consolas"/>
                <a:sym typeface="Consolas"/>
              </a:rPr>
              <a:t>  RESULT: {result}"""),</a:t>
            </a:r>
            <a:br>
              <a:rPr lang="en-US" sz="1300" b="0">
                <a:solidFill>
                  <a:srgbClr val="E7EFF9"/>
                </a:solidFill>
                <a:latin typeface="Consolas"/>
                <a:ea typeface="Consolas"/>
                <a:cs typeface="Consolas"/>
                <a:sym typeface="Consolas"/>
              </a:rPr>
            </a:br>
            <a:r>
              <a:rPr lang="en-US" sz="1300" b="0">
                <a:solidFill>
                  <a:srgbClr val="E7EFF9"/>
                </a:solidFill>
                <a:latin typeface="Consolas"/>
                <a:ea typeface="Consolas"/>
                <a:cs typeface="Consolas"/>
                <a:sym typeface="Consolas"/>
              </a:rPr>
              <a:t>  ("human", "{question}"),</a:t>
            </a:r>
            <a:br>
              <a:rPr lang="en-US" sz="1300" b="0">
                <a:solidFill>
                  <a:srgbClr val="E7EFF9"/>
                </a:solidFill>
                <a:latin typeface="Consolas"/>
                <a:ea typeface="Consolas"/>
                <a:cs typeface="Consolas"/>
                <a:sym typeface="Consolas"/>
              </a:rPr>
            </a:br>
            <a:r>
              <a:rPr lang="en-US" sz="1300" b="0">
                <a:solidFill>
                  <a:srgbClr val="E7EFF9"/>
                </a:solidFill>
                <a:latin typeface="Consolas"/>
                <a:ea typeface="Consolas"/>
                <a:cs typeface="Consolas"/>
                <a:sym typeface="Consolas"/>
              </a:rPr>
              <a:t>])</a:t>
            </a:r>
            <a:endParaRPr/>
          </a:p>
        </p:txBody>
      </p:sp>
      <p:sp>
        <p:nvSpPr>
          <p:cNvPr id="819" name="Google Shape;819;p16"/>
          <p:cNvSpPr/>
          <p:nvPr/>
        </p:nvSpPr>
        <p:spPr>
          <a:xfrm>
            <a:off x="7269480" y="1764792"/>
            <a:ext cx="4352544" cy="4233672"/>
          </a:xfrm>
          <a:prstGeom prst="roundRect">
            <a:avLst>
              <a:gd name="adj" fmla="val 16667"/>
            </a:avLst>
          </a:prstGeom>
          <a:solidFill>
            <a:srgbClr val="ECF3F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0" name="Google Shape;820;p16"/>
          <p:cNvSpPr txBox="1"/>
          <p:nvPr/>
        </p:nvSpPr>
        <p:spPr>
          <a:xfrm>
            <a:off x="7516368" y="1947672"/>
            <a:ext cx="3840480" cy="320040"/>
          </a:xfrm>
          <a:prstGeom prst="rect">
            <a:avLst/>
          </a:prstGeom>
          <a:noFill/>
          <a:ln>
            <a:noFill/>
          </a:ln>
        </p:spPr>
        <p:txBody>
          <a:bodyPr spcFirstLastPara="1" wrap="square" lIns="45700" tIns="18275" rIns="91425" bIns="45700" anchor="t" anchorCtr="0">
            <a:spAutoFit/>
          </a:bodyPr>
          <a:lstStyle/>
          <a:p>
            <a:pPr marL="0" marR="0" lvl="0" indent="0" algn="l" rtl="0">
              <a:spcBef>
                <a:spcPts val="0"/>
              </a:spcBef>
              <a:spcAft>
                <a:spcPts val="0"/>
              </a:spcAft>
              <a:buNone/>
            </a:pPr>
            <a:r>
              <a:rPr lang="en-US" sz="1400" b="1">
                <a:solidFill>
                  <a:srgbClr val="0D2A50"/>
                </a:solidFill>
                <a:latin typeface="Arial"/>
                <a:ea typeface="Arial"/>
                <a:cs typeface="Arial"/>
                <a:sym typeface="Arial"/>
              </a:rPr>
              <a:t>HOW THE PROMPT IS STRUCTURED</a:t>
            </a:r>
            <a:endParaRPr/>
          </a:p>
        </p:txBody>
      </p:sp>
      <p:sp>
        <p:nvSpPr>
          <p:cNvPr id="821" name="Google Shape;821;p16"/>
          <p:cNvSpPr txBox="1"/>
          <p:nvPr/>
        </p:nvSpPr>
        <p:spPr>
          <a:xfrm>
            <a:off x="7534656" y="2432304"/>
            <a:ext cx="3749039" cy="256032"/>
          </a:xfrm>
          <a:prstGeom prst="rect">
            <a:avLst/>
          </a:prstGeom>
          <a:noFill/>
          <a:ln>
            <a:noFill/>
          </a:ln>
        </p:spPr>
        <p:txBody>
          <a:bodyPr spcFirstLastPara="1" wrap="square" lIns="45700" tIns="18275" rIns="91425" bIns="45700" anchor="t" anchorCtr="0">
            <a:spAutoFit/>
          </a:bodyPr>
          <a:lstStyle/>
          <a:p>
            <a:pPr marL="0" marR="0" lvl="0" indent="0" algn="l" rtl="0">
              <a:spcBef>
                <a:spcPts val="0"/>
              </a:spcBef>
              <a:spcAft>
                <a:spcPts val="0"/>
              </a:spcAft>
              <a:buNone/>
            </a:pPr>
            <a:r>
              <a:rPr lang="en-US" sz="1300" b="1">
                <a:solidFill>
                  <a:srgbClr val="1E5D9D"/>
                </a:solidFill>
                <a:latin typeface="Arial"/>
                <a:ea typeface="Arial"/>
                <a:cs typeface="Arial"/>
                <a:sym typeface="Arial"/>
              </a:rPr>
              <a:t>1  Role &amp; personalization</a:t>
            </a:r>
            <a:endParaRPr/>
          </a:p>
        </p:txBody>
      </p:sp>
      <p:sp>
        <p:nvSpPr>
          <p:cNvPr id="822" name="Google Shape;822;p16"/>
          <p:cNvSpPr txBox="1"/>
          <p:nvPr/>
        </p:nvSpPr>
        <p:spPr>
          <a:xfrm>
            <a:off x="7534656" y="2688336"/>
            <a:ext cx="3749039" cy="292608"/>
          </a:xfrm>
          <a:prstGeom prst="rect">
            <a:avLst/>
          </a:prstGeom>
          <a:noFill/>
          <a:ln>
            <a:noFill/>
          </a:ln>
        </p:spPr>
        <p:txBody>
          <a:bodyPr spcFirstLastPara="1" wrap="square" lIns="45700" tIns="18275" rIns="91425" bIns="45700" anchor="t" anchorCtr="0">
            <a:spAutoFit/>
          </a:bodyPr>
          <a:lstStyle/>
          <a:p>
            <a:pPr marL="0" marR="0" lvl="0" indent="0" algn="l" rtl="0">
              <a:spcBef>
                <a:spcPts val="0"/>
              </a:spcBef>
              <a:spcAft>
                <a:spcPts val="0"/>
              </a:spcAft>
              <a:buNone/>
            </a:pPr>
            <a:r>
              <a:rPr lang="en-US" sz="1100" b="0">
                <a:solidFill>
                  <a:srgbClr val="536C8B"/>
                </a:solidFill>
                <a:latin typeface="Arial"/>
                <a:ea typeface="Arial"/>
                <a:cs typeface="Arial"/>
                <a:sym typeface="Arial"/>
              </a:rPr>
              <a:t>UTA AI Advisor → {student_name}</a:t>
            </a:r>
            <a:endParaRPr/>
          </a:p>
        </p:txBody>
      </p:sp>
      <p:sp>
        <p:nvSpPr>
          <p:cNvPr id="823" name="Google Shape;823;p16"/>
          <p:cNvSpPr txBox="1"/>
          <p:nvPr/>
        </p:nvSpPr>
        <p:spPr>
          <a:xfrm>
            <a:off x="7534656" y="2990088"/>
            <a:ext cx="3749039" cy="256032"/>
          </a:xfrm>
          <a:prstGeom prst="rect">
            <a:avLst/>
          </a:prstGeom>
          <a:noFill/>
          <a:ln>
            <a:noFill/>
          </a:ln>
        </p:spPr>
        <p:txBody>
          <a:bodyPr spcFirstLastPara="1" wrap="square" lIns="45700" tIns="18275" rIns="91425" bIns="45700" anchor="t" anchorCtr="0">
            <a:spAutoFit/>
          </a:bodyPr>
          <a:lstStyle/>
          <a:p>
            <a:pPr marL="0" marR="0" lvl="0" indent="0" algn="l" rtl="0">
              <a:spcBef>
                <a:spcPts val="0"/>
              </a:spcBef>
              <a:spcAft>
                <a:spcPts val="0"/>
              </a:spcAft>
              <a:buNone/>
            </a:pPr>
            <a:r>
              <a:rPr lang="en-US" sz="1300" b="1">
                <a:solidFill>
                  <a:srgbClr val="1E5D9D"/>
                </a:solidFill>
                <a:latin typeface="Arial"/>
                <a:ea typeface="Arial"/>
                <a:cs typeface="Arial"/>
                <a:sym typeface="Arial"/>
              </a:rPr>
              <a:t>2  Grounding</a:t>
            </a:r>
            <a:endParaRPr/>
          </a:p>
        </p:txBody>
      </p:sp>
      <p:sp>
        <p:nvSpPr>
          <p:cNvPr id="824" name="Google Shape;824;p16"/>
          <p:cNvSpPr txBox="1"/>
          <p:nvPr/>
        </p:nvSpPr>
        <p:spPr>
          <a:xfrm>
            <a:off x="7534656" y="3246120"/>
            <a:ext cx="3749039" cy="292608"/>
          </a:xfrm>
          <a:prstGeom prst="rect">
            <a:avLst/>
          </a:prstGeom>
          <a:noFill/>
          <a:ln>
            <a:noFill/>
          </a:ln>
        </p:spPr>
        <p:txBody>
          <a:bodyPr spcFirstLastPara="1" wrap="square" lIns="45700" tIns="18275" rIns="91425" bIns="45700" anchor="t" anchorCtr="0">
            <a:spAutoFit/>
          </a:bodyPr>
          <a:lstStyle/>
          <a:p>
            <a:pPr marL="0" marR="0" lvl="0" indent="0" algn="l" rtl="0">
              <a:spcBef>
                <a:spcPts val="0"/>
              </a:spcBef>
              <a:spcAft>
                <a:spcPts val="0"/>
              </a:spcAft>
              <a:buNone/>
            </a:pPr>
            <a:r>
              <a:rPr lang="en-US" sz="1100" b="0">
                <a:solidFill>
                  <a:srgbClr val="536C8B"/>
                </a:solidFill>
                <a:latin typeface="Arial"/>
                <a:ea typeface="Arial"/>
                <a:cs typeface="Arial"/>
                <a:sym typeface="Arial"/>
              </a:rPr>
              <a:t>Use ONLY the supplied {result}</a:t>
            </a:r>
            <a:endParaRPr/>
          </a:p>
        </p:txBody>
      </p:sp>
      <p:sp>
        <p:nvSpPr>
          <p:cNvPr id="825" name="Google Shape;825;p16"/>
          <p:cNvSpPr txBox="1"/>
          <p:nvPr/>
        </p:nvSpPr>
        <p:spPr>
          <a:xfrm>
            <a:off x="7534656" y="3547872"/>
            <a:ext cx="3749039" cy="256032"/>
          </a:xfrm>
          <a:prstGeom prst="rect">
            <a:avLst/>
          </a:prstGeom>
          <a:noFill/>
          <a:ln>
            <a:noFill/>
          </a:ln>
        </p:spPr>
        <p:txBody>
          <a:bodyPr spcFirstLastPara="1" wrap="square" lIns="45700" tIns="18275" rIns="91425" bIns="45700" anchor="t" anchorCtr="0">
            <a:spAutoFit/>
          </a:bodyPr>
          <a:lstStyle/>
          <a:p>
            <a:pPr marL="0" marR="0" lvl="0" indent="0" algn="l" rtl="0">
              <a:spcBef>
                <a:spcPts val="0"/>
              </a:spcBef>
              <a:spcAft>
                <a:spcPts val="0"/>
              </a:spcAft>
              <a:buNone/>
            </a:pPr>
            <a:r>
              <a:rPr lang="en-US" sz="1300" b="1">
                <a:solidFill>
                  <a:srgbClr val="1E5D9D"/>
                </a:solidFill>
                <a:latin typeface="Arial"/>
                <a:ea typeface="Arial"/>
                <a:cs typeface="Arial"/>
                <a:sym typeface="Arial"/>
              </a:rPr>
              <a:t>3  Communication rules</a:t>
            </a:r>
            <a:endParaRPr/>
          </a:p>
        </p:txBody>
      </p:sp>
      <p:sp>
        <p:nvSpPr>
          <p:cNvPr id="826" name="Google Shape;826;p16"/>
          <p:cNvSpPr txBox="1"/>
          <p:nvPr/>
        </p:nvSpPr>
        <p:spPr>
          <a:xfrm>
            <a:off x="7534656" y="3803904"/>
            <a:ext cx="3749039" cy="292608"/>
          </a:xfrm>
          <a:prstGeom prst="rect">
            <a:avLst/>
          </a:prstGeom>
          <a:noFill/>
          <a:ln>
            <a:noFill/>
          </a:ln>
        </p:spPr>
        <p:txBody>
          <a:bodyPr spcFirstLastPara="1" wrap="square" lIns="45700" tIns="18275" rIns="91425" bIns="45700" anchor="t" anchorCtr="0">
            <a:spAutoFit/>
          </a:bodyPr>
          <a:lstStyle/>
          <a:p>
            <a:pPr marL="0" marR="0" lvl="0" indent="0" algn="l" rtl="0">
              <a:spcBef>
                <a:spcPts val="0"/>
              </a:spcBef>
              <a:spcAft>
                <a:spcPts val="0"/>
              </a:spcAft>
              <a:buNone/>
            </a:pPr>
            <a:r>
              <a:rPr lang="en-US" sz="1100" b="0">
                <a:solidFill>
                  <a:srgbClr val="536C8B"/>
                </a:solidFill>
                <a:latin typeface="Arial"/>
                <a:ea typeface="Arial"/>
                <a:cs typeface="Arial"/>
                <a:sym typeface="Arial"/>
              </a:rPr>
              <a:t>Short, professional, direct answers</a:t>
            </a:r>
            <a:endParaRPr/>
          </a:p>
        </p:txBody>
      </p:sp>
      <p:sp>
        <p:nvSpPr>
          <p:cNvPr id="827" name="Google Shape;827;p16"/>
          <p:cNvSpPr txBox="1"/>
          <p:nvPr/>
        </p:nvSpPr>
        <p:spPr>
          <a:xfrm>
            <a:off x="7534656" y="4105656"/>
            <a:ext cx="3749039" cy="256032"/>
          </a:xfrm>
          <a:prstGeom prst="rect">
            <a:avLst/>
          </a:prstGeom>
          <a:noFill/>
          <a:ln>
            <a:noFill/>
          </a:ln>
        </p:spPr>
        <p:txBody>
          <a:bodyPr spcFirstLastPara="1" wrap="square" lIns="45700" tIns="18275" rIns="91425" bIns="45700" anchor="t" anchorCtr="0">
            <a:spAutoFit/>
          </a:bodyPr>
          <a:lstStyle/>
          <a:p>
            <a:pPr marL="0" marR="0" lvl="0" indent="0" algn="l" rtl="0">
              <a:spcBef>
                <a:spcPts val="0"/>
              </a:spcBef>
              <a:spcAft>
                <a:spcPts val="0"/>
              </a:spcAft>
              <a:buNone/>
            </a:pPr>
            <a:r>
              <a:rPr lang="en-US" sz="1300" b="1">
                <a:solidFill>
                  <a:srgbClr val="1E5D9D"/>
                </a:solidFill>
                <a:latin typeface="Arial"/>
                <a:ea typeface="Arial"/>
                <a:cs typeface="Arial"/>
                <a:sym typeface="Arial"/>
              </a:rPr>
              <a:t>4  Domain safeguards</a:t>
            </a:r>
            <a:endParaRPr/>
          </a:p>
        </p:txBody>
      </p:sp>
      <p:sp>
        <p:nvSpPr>
          <p:cNvPr id="828" name="Google Shape;828;p16"/>
          <p:cNvSpPr txBox="1"/>
          <p:nvPr/>
        </p:nvSpPr>
        <p:spPr>
          <a:xfrm>
            <a:off x="7534656" y="4361688"/>
            <a:ext cx="3749039" cy="292608"/>
          </a:xfrm>
          <a:prstGeom prst="rect">
            <a:avLst/>
          </a:prstGeom>
          <a:noFill/>
          <a:ln>
            <a:noFill/>
          </a:ln>
        </p:spPr>
        <p:txBody>
          <a:bodyPr spcFirstLastPara="1" wrap="square" lIns="45700" tIns="18275" rIns="91425" bIns="45700" anchor="t" anchorCtr="0">
            <a:spAutoFit/>
          </a:bodyPr>
          <a:lstStyle/>
          <a:p>
            <a:pPr marL="0" marR="0" lvl="0" indent="0" algn="l" rtl="0">
              <a:spcBef>
                <a:spcPts val="0"/>
              </a:spcBef>
              <a:spcAft>
                <a:spcPts val="0"/>
              </a:spcAft>
              <a:buNone/>
            </a:pPr>
            <a:r>
              <a:rPr lang="en-US" sz="1100" b="0">
                <a:solidFill>
                  <a:srgbClr val="536C8B"/>
                </a:solidFill>
                <a:latin typeface="Arial"/>
                <a:ea typeface="Arial"/>
                <a:cs typeface="Arial"/>
                <a:sym typeface="Arial"/>
              </a:rPr>
              <a:t>Respect Python eligibility; preserve AND/OR</a:t>
            </a:r>
            <a:endParaRPr/>
          </a:p>
        </p:txBody>
      </p:sp>
      <p:sp>
        <p:nvSpPr>
          <p:cNvPr id="829" name="Google Shape;829;p16"/>
          <p:cNvSpPr txBox="1"/>
          <p:nvPr/>
        </p:nvSpPr>
        <p:spPr>
          <a:xfrm>
            <a:off x="7534656" y="4663440"/>
            <a:ext cx="3749039" cy="256032"/>
          </a:xfrm>
          <a:prstGeom prst="rect">
            <a:avLst/>
          </a:prstGeom>
          <a:noFill/>
          <a:ln>
            <a:noFill/>
          </a:ln>
        </p:spPr>
        <p:txBody>
          <a:bodyPr spcFirstLastPara="1" wrap="square" lIns="45700" tIns="18275" rIns="91425" bIns="45700" anchor="t" anchorCtr="0">
            <a:spAutoFit/>
          </a:bodyPr>
          <a:lstStyle/>
          <a:p>
            <a:pPr marL="0" marR="0" lvl="0" indent="0" algn="l" rtl="0">
              <a:spcBef>
                <a:spcPts val="0"/>
              </a:spcBef>
              <a:spcAft>
                <a:spcPts val="0"/>
              </a:spcAft>
              <a:buNone/>
            </a:pPr>
            <a:r>
              <a:rPr lang="en-US" sz="1300" b="1">
                <a:solidFill>
                  <a:srgbClr val="1E5D9D"/>
                </a:solidFill>
                <a:latin typeface="Arial"/>
                <a:ea typeface="Arial"/>
                <a:cs typeface="Arial"/>
                <a:sym typeface="Arial"/>
              </a:rPr>
              <a:t>5  Answer formatting</a:t>
            </a:r>
            <a:endParaRPr/>
          </a:p>
        </p:txBody>
      </p:sp>
      <p:sp>
        <p:nvSpPr>
          <p:cNvPr id="830" name="Google Shape;830;p16"/>
          <p:cNvSpPr txBox="1"/>
          <p:nvPr/>
        </p:nvSpPr>
        <p:spPr>
          <a:xfrm>
            <a:off x="7534656" y="4919472"/>
            <a:ext cx="3749039" cy="292608"/>
          </a:xfrm>
          <a:prstGeom prst="rect">
            <a:avLst/>
          </a:prstGeom>
          <a:noFill/>
          <a:ln>
            <a:noFill/>
          </a:ln>
        </p:spPr>
        <p:txBody>
          <a:bodyPr spcFirstLastPara="1" wrap="square" lIns="45700" tIns="18275" rIns="91425" bIns="45700" anchor="t" anchorCtr="0">
            <a:spAutoFit/>
          </a:bodyPr>
          <a:lstStyle/>
          <a:p>
            <a:pPr marL="0" marR="0" lvl="0" indent="0" algn="l" rtl="0">
              <a:spcBef>
                <a:spcPts val="0"/>
              </a:spcBef>
              <a:spcAft>
                <a:spcPts val="0"/>
              </a:spcAft>
              <a:buNone/>
            </a:pPr>
            <a:r>
              <a:rPr lang="en-US" sz="1100" b="0">
                <a:solidFill>
                  <a:srgbClr val="536C8B"/>
                </a:solidFill>
                <a:latin typeface="Arial"/>
                <a:ea typeface="Arial"/>
                <a:cs typeface="Arial"/>
                <a:sym typeface="Arial"/>
              </a:rPr>
              <a:t>Explain degree-plan gaps; no invented facts</a:t>
            </a:r>
            <a:endParaRPr/>
          </a:p>
        </p:txBody>
      </p:sp>
      <p:sp>
        <p:nvSpPr>
          <p:cNvPr id="831" name="Google Shape;831;p16"/>
          <p:cNvSpPr txBox="1"/>
          <p:nvPr/>
        </p:nvSpPr>
        <p:spPr>
          <a:xfrm>
            <a:off x="7534656" y="5221224"/>
            <a:ext cx="3749039" cy="256032"/>
          </a:xfrm>
          <a:prstGeom prst="rect">
            <a:avLst/>
          </a:prstGeom>
          <a:noFill/>
          <a:ln>
            <a:noFill/>
          </a:ln>
        </p:spPr>
        <p:txBody>
          <a:bodyPr spcFirstLastPara="1" wrap="square" lIns="45700" tIns="18275" rIns="91425" bIns="45700" anchor="t" anchorCtr="0">
            <a:spAutoFit/>
          </a:bodyPr>
          <a:lstStyle/>
          <a:p>
            <a:pPr marL="0" marR="0" lvl="0" indent="0" algn="l" rtl="0">
              <a:spcBef>
                <a:spcPts val="0"/>
              </a:spcBef>
              <a:spcAft>
                <a:spcPts val="0"/>
              </a:spcAft>
              <a:buNone/>
            </a:pPr>
            <a:r>
              <a:rPr lang="en-US" sz="1300" b="1">
                <a:solidFill>
                  <a:srgbClr val="1E5D9D"/>
                </a:solidFill>
                <a:latin typeface="Arial"/>
                <a:ea typeface="Arial"/>
                <a:cs typeface="Arial"/>
                <a:sym typeface="Arial"/>
              </a:rPr>
              <a:t>6  Student request</a:t>
            </a:r>
            <a:endParaRPr/>
          </a:p>
        </p:txBody>
      </p:sp>
      <p:sp>
        <p:nvSpPr>
          <p:cNvPr id="832" name="Google Shape;832;p16"/>
          <p:cNvSpPr txBox="1"/>
          <p:nvPr/>
        </p:nvSpPr>
        <p:spPr>
          <a:xfrm>
            <a:off x="7534656" y="5477256"/>
            <a:ext cx="3749039" cy="292608"/>
          </a:xfrm>
          <a:prstGeom prst="rect">
            <a:avLst/>
          </a:prstGeom>
          <a:noFill/>
          <a:ln>
            <a:noFill/>
          </a:ln>
        </p:spPr>
        <p:txBody>
          <a:bodyPr spcFirstLastPara="1" wrap="square" lIns="45700" tIns="18275" rIns="91425" bIns="45700" anchor="t" anchorCtr="0">
            <a:spAutoFit/>
          </a:bodyPr>
          <a:lstStyle/>
          <a:p>
            <a:pPr marL="0" marR="0" lvl="0" indent="0" algn="l" rtl="0">
              <a:spcBef>
                <a:spcPts val="0"/>
              </a:spcBef>
              <a:spcAft>
                <a:spcPts val="0"/>
              </a:spcAft>
              <a:buNone/>
            </a:pPr>
            <a:r>
              <a:rPr lang="en-US" sz="1100" b="0">
                <a:solidFill>
                  <a:srgbClr val="536C8B"/>
                </a:solidFill>
                <a:latin typeface="Arial"/>
                <a:ea typeface="Arial"/>
                <a:cs typeface="Arial"/>
                <a:sym typeface="Arial"/>
              </a:rPr>
              <a:t>Human message → {question}</a:t>
            </a:r>
            <a:endParaRPr/>
          </a:p>
        </p:txBody>
      </p:sp>
      <p:sp>
        <p:nvSpPr>
          <p:cNvPr id="833" name="Google Shape;833;p16"/>
          <p:cNvSpPr/>
          <p:nvPr/>
        </p:nvSpPr>
        <p:spPr>
          <a:xfrm>
            <a:off x="548640" y="6144768"/>
            <a:ext cx="11073384" cy="411480"/>
          </a:xfrm>
          <a:prstGeom prst="roundRect">
            <a:avLst>
              <a:gd name="adj" fmla="val 16667"/>
            </a:avLst>
          </a:prstGeom>
          <a:solidFill>
            <a:srgbClr val="0D2A5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4" name="Google Shape;834;p16"/>
          <p:cNvSpPr txBox="1"/>
          <p:nvPr/>
        </p:nvSpPr>
        <p:spPr>
          <a:xfrm>
            <a:off x="786384" y="6217920"/>
            <a:ext cx="10607040" cy="228600"/>
          </a:xfrm>
          <a:prstGeom prst="rect">
            <a:avLst/>
          </a:prstGeom>
          <a:noFill/>
          <a:ln>
            <a:noFill/>
          </a:ln>
        </p:spPr>
        <p:txBody>
          <a:bodyPr spcFirstLastPara="1" wrap="square" lIns="45700" tIns="18275" rIns="91425" bIns="45700" anchor="t" anchorCtr="0">
            <a:spAutoFit/>
          </a:bodyPr>
          <a:lstStyle/>
          <a:p>
            <a:pPr marL="0" marR="0" lvl="0" indent="0" algn="ctr" rtl="0">
              <a:spcBef>
                <a:spcPts val="0"/>
              </a:spcBef>
              <a:spcAft>
                <a:spcPts val="0"/>
              </a:spcAft>
              <a:buNone/>
            </a:pPr>
            <a:r>
              <a:rPr lang="en-US" sz="1200" b="1">
                <a:solidFill>
                  <a:srgbClr val="FFFFFF"/>
                </a:solidFill>
                <a:latin typeface="Arial"/>
                <a:ea typeface="Arial"/>
                <a:cs typeface="Arial"/>
                <a:sym typeface="Arial"/>
              </a:rPr>
              <a:t>KEY POINT  •  The LLM explains the tool result; it does not override academic validation.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p22"/>
          <p:cNvSpPr/>
          <p:nvPr/>
        </p:nvSpPr>
        <p:spPr>
          <a:xfrm>
            <a:off x="-17983" y="14035"/>
            <a:ext cx="12191695" cy="6858000"/>
          </a:xfrm>
          <a:prstGeom prst="rect">
            <a:avLst/>
          </a:prstGeom>
          <a:solidFill>
            <a:srgbClr val="F5F8F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5" name="Google Shape;1005;p22"/>
          <p:cNvSpPr/>
          <p:nvPr/>
        </p:nvSpPr>
        <p:spPr>
          <a:xfrm>
            <a:off x="0" y="0"/>
            <a:ext cx="128016" cy="6858000"/>
          </a:xfrm>
          <a:prstGeom prst="rect">
            <a:avLst/>
          </a:prstGeom>
          <a:solidFill>
            <a:srgbClr val="0C234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6" name="Google Shape;1006;p22"/>
          <p:cNvSpPr txBox="1"/>
          <p:nvPr/>
        </p:nvSpPr>
        <p:spPr>
          <a:xfrm>
            <a:off x="493776" y="228600"/>
            <a:ext cx="7315200" cy="22860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900" b="1">
                <a:solidFill>
                  <a:srgbClr val="1263B4"/>
                </a:solidFill>
                <a:latin typeface="Arial"/>
                <a:ea typeface="Arial"/>
                <a:cs typeface="Arial"/>
                <a:sym typeface="Arial"/>
              </a:rPr>
              <a:t>UTA • TEAM 2 AI ADVISOR</a:t>
            </a:r>
            <a:endParaRPr/>
          </a:p>
        </p:txBody>
      </p:sp>
      <p:sp>
        <p:nvSpPr>
          <p:cNvPr id="1007" name="Google Shape;1007;p22"/>
          <p:cNvSpPr txBox="1"/>
          <p:nvPr/>
        </p:nvSpPr>
        <p:spPr>
          <a:xfrm>
            <a:off x="493776" y="566928"/>
            <a:ext cx="11155680" cy="54864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2700" b="1">
                <a:solidFill>
                  <a:srgbClr val="0C2340"/>
                </a:solidFill>
                <a:latin typeface="Arial"/>
                <a:ea typeface="Arial"/>
                <a:cs typeface="Arial"/>
                <a:sym typeface="Arial"/>
              </a:rPr>
              <a:t>LangChain: Summarizing Chat History with the LLM</a:t>
            </a:r>
            <a:endParaRPr/>
          </a:p>
        </p:txBody>
      </p:sp>
      <p:sp>
        <p:nvSpPr>
          <p:cNvPr id="1008" name="Google Shape;1008;p22"/>
          <p:cNvSpPr/>
          <p:nvPr/>
        </p:nvSpPr>
        <p:spPr>
          <a:xfrm>
            <a:off x="493776" y="1234440"/>
            <a:ext cx="11109960" cy="20116"/>
          </a:xfrm>
          <a:prstGeom prst="rect">
            <a:avLst/>
          </a:prstGeom>
          <a:solidFill>
            <a:srgbClr val="DDE6E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9" name="Google Shape;1009;p22"/>
          <p:cNvSpPr txBox="1"/>
          <p:nvPr/>
        </p:nvSpPr>
        <p:spPr>
          <a:xfrm>
            <a:off x="502920" y="6528816"/>
            <a:ext cx="7315200" cy="18288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900" b="0">
                <a:solidFill>
                  <a:srgbClr val="64748B"/>
                </a:solidFill>
                <a:latin typeface="Arial"/>
                <a:ea typeface="Arial"/>
                <a:cs typeface="Arial"/>
                <a:sym typeface="Arial"/>
              </a:rPr>
              <a:t>CSE 4392 / 5320  •  TEAM ASSIGNMENT 2</a:t>
            </a:r>
            <a:endParaRPr/>
          </a:p>
        </p:txBody>
      </p:sp>
      <p:sp>
        <p:nvSpPr>
          <p:cNvPr id="1010" name="Subtitle"/>
          <p:cNvSpPr txBox="1"/>
          <p:nvPr/>
        </p:nvSpPr>
        <p:spPr>
          <a:xfrm>
            <a:off x="502920" y="1371600"/>
            <a:ext cx="11064240" cy="274320"/>
          </a:xfrm>
          <a:prstGeom prst="rect">
            <a:avLst/>
          </a:prstGeom>
          <a:noFill/>
        </p:spPr>
        <p:txBody>
          <a:bodyPr wrap="square" lIns="0" tIns="0" rIns="0" bIns="0" anchor="t">
            <a:spAutoFit/>
          </a:bodyPr>
          <a:lstStyle/>
          <a:p>
            <a:pPr algn="l"/>
            <a:r>
              <a:rPr sz="1300" b="0">
                <a:solidFill>
                  <a:srgbClr val="64748B"/>
                </a:solidFill>
                <a:latin typeface="Arial"/>
              </a:rPr>
              <a:t>A LangChain chain condenses older turns so the router gets a short summary plus the newest messages</a:t>
            </a:r>
          </a:p>
        </p:txBody>
      </p:sp>
      <p:sp>
        <p:nvSpPr>
          <p:cNvPr id="1011" name="Code panel"/>
          <p:cNvSpPr/>
          <p:nvPr/>
        </p:nvSpPr>
        <p:spPr>
          <a:xfrm>
            <a:off x="548640" y="1810512"/>
            <a:ext cx="6492240" cy="4343400"/>
          </a:xfrm>
          <a:prstGeom prst="roundRect">
            <a:avLst>
              <a:gd name="adj" fmla="val 6000"/>
            </a:avLst>
          </a:prstGeom>
          <a:solidFill>
            <a:srgbClr val="11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Code label"/>
          <p:cNvSpPr txBox="1"/>
          <p:nvPr/>
        </p:nvSpPr>
        <p:spPr>
          <a:xfrm>
            <a:off x="777240" y="1965960"/>
            <a:ext cx="6035040" cy="274320"/>
          </a:xfrm>
          <a:prstGeom prst="rect">
            <a:avLst/>
          </a:prstGeom>
          <a:noFill/>
        </p:spPr>
        <p:txBody>
          <a:bodyPr wrap="square" lIns="0" tIns="0" rIns="0" bIns="0" anchor="t">
            <a:spAutoFit/>
          </a:bodyPr>
          <a:lstStyle/>
          <a:p>
            <a:pPr algn="l"/>
            <a:r>
              <a:rPr sz="1200" b="1">
                <a:solidFill>
                  <a:srgbClr val="76D3E2"/>
                </a:solidFill>
                <a:latin typeface="Arial"/>
              </a:rPr>
              <a:t>ACTUAL CODE  •  app/memory.py  (simplified excerpt)</a:t>
            </a:r>
          </a:p>
        </p:txBody>
      </p:sp>
      <p:sp>
        <p:nvSpPr>
          <p:cNvPr id="1013" name="Code"/>
          <p:cNvSpPr txBox="1"/>
          <p:nvPr/>
        </p:nvSpPr>
        <p:spPr>
          <a:xfrm>
            <a:off x="777240" y="2377440"/>
            <a:ext cx="6172200" cy="3657600"/>
          </a:xfrm>
          <a:prstGeom prst="rect">
            <a:avLst/>
          </a:prstGeom>
          <a:noFill/>
        </p:spPr>
        <p:txBody>
          <a:bodyPr wrap="square" lIns="0" tIns="0" rIns="0" bIns="0" anchor="t">
            <a:spAutoFit/>
          </a:bodyPr>
          <a:lstStyle/>
          <a:p>
            <a:pPr algn="l"/>
            <a:r>
              <a:rPr sz="1050" b="0">
                <a:solidFill>
                  <a:srgbClr val="E7EFF9"/>
                </a:solidFill>
                <a:latin typeface="Consolas"/>
              </a:rPr>
              <a:t>summary_prompt = ChatPromptTemplate.from_messages([</a:t>
            </a:r>
          </a:p>
          <a:p>
            <a:pPr algn="l"/>
            <a:r>
              <a:rPr sz="1050" b="0">
                <a:solidFill>
                  <a:srgbClr val="E7EFF9"/>
                </a:solidFill>
                <a:latin typeface="Consolas"/>
              </a:rPr>
              <a:t>  ("system", """You compress a conversation between a</a:t>
            </a:r>
          </a:p>
          <a:p>
            <a:pPr algn="l"/>
            <a:r>
              <a:rPr sz="1050" b="0">
                <a:solidFill>
                  <a:srgbClr val="E7EFF9"/>
                </a:solidFill>
                <a:latin typeface="Consolas"/>
              </a:rPr>
              <a:t>   UTA student and the UTA AI Advisor. Keep course codes,</a:t>
            </a:r>
          </a:p>
          <a:p>
            <a:pPr algn="l"/>
            <a:r>
              <a:rPr sz="1050" b="0">
                <a:solidFill>
                  <a:srgbClr val="E7EFF9"/>
                </a:solidFill>
                <a:latin typeface="Consolas"/>
              </a:rPr>
              <a:t>   eligibility results and the student's preferences.</a:t>
            </a:r>
          </a:p>
          <a:p>
            <a:pPr algn="l"/>
            <a:r>
              <a:rPr sz="1050" b="0">
                <a:solidFill>
                  <a:srgbClr val="E7EFF9"/>
                </a:solidFill>
                <a:latin typeface="Consolas"/>
              </a:rPr>
              <a:t>   Do not add any fact that is not in the conversation."""),</a:t>
            </a:r>
          </a:p>
          <a:p>
            <a:pPr algn="l"/>
            <a:r>
              <a:rPr sz="1050" b="0">
                <a:solidFill>
                  <a:srgbClr val="E7EFF9"/>
                </a:solidFill>
                <a:latin typeface="Consolas"/>
              </a:rPr>
              <a:t>  ("human", "Conversation to summarize:\n{transcript}")</a:t>
            </a:r>
          </a:p>
          <a:p>
            <a:pPr algn="l"/>
            <a:r>
              <a:rPr sz="1050" b="0">
                <a:solidFill>
                  <a:srgbClr val="E7EFF9"/>
                </a:solidFill>
                <a:latin typeface="Consolas"/>
              </a:rPr>
              <a:t>])</a:t>
            </a:r>
          </a:p>
          <a:p>
            <a:pPr algn="l"/>
            <a:r>
              <a:rPr sz="1050" b="0">
                <a:solidFill>
                  <a:srgbClr val="E7EFF9"/>
                </a:solidFill>
                <a:latin typeface="Consolas"/>
              </a:rPr>
              <a:t> </a:t>
            </a:r>
          </a:p>
          <a:p>
            <a:pPr algn="l"/>
            <a:r>
              <a:rPr sz="1050" b="0">
                <a:solidFill>
                  <a:srgbClr val="76D3E2"/>
                </a:solidFill>
                <a:latin typeface="Consolas"/>
              </a:rPr>
              <a:t># Gemma 3 27B on Amazon Bedrock, temperature=0</a:t>
            </a:r>
          </a:p>
          <a:p>
            <a:pPr algn="l"/>
            <a:r>
              <a:rPr sz="1050" b="0">
                <a:solidFill>
                  <a:srgbClr val="E7EFF9"/>
                </a:solidFill>
                <a:latin typeface="Consolas"/>
              </a:rPr>
              <a:t>summary_chain = summary_prompt | summary_llm | StrOutputParser()</a:t>
            </a:r>
          </a:p>
          <a:p>
            <a:pPr algn="l"/>
            <a:r>
              <a:rPr sz="1050" b="0">
                <a:solidFill>
                  <a:srgbClr val="E7EFF9"/>
                </a:solidFill>
                <a:latin typeface="Consolas"/>
              </a:rPr>
              <a:t> </a:t>
            </a:r>
          </a:p>
          <a:p>
            <a:pPr algn="l"/>
            <a:r>
              <a:rPr sz="1050" b="0">
                <a:solidFill>
                  <a:srgbClr val="E7EFF9"/>
                </a:solidFill>
                <a:latin typeface="Consolas"/>
              </a:rPr>
              <a:t>def compact_history(history):</a:t>
            </a:r>
          </a:p>
          <a:p>
            <a:pPr algn="l"/>
            <a:r>
              <a:rPr sz="1050" b="0">
                <a:solidFill>
                  <a:srgbClr val="E7EFF9"/>
                </a:solidFill>
                <a:latin typeface="Consolas"/>
              </a:rPr>
              <a:t>    older_count = ((len(history) - KEEP_RECENT) // BLOCK) * BLOCK</a:t>
            </a:r>
          </a:p>
          <a:p>
            <a:pPr algn="l"/>
            <a:r>
              <a:rPr sz="1050" b="0">
                <a:solidFill>
                  <a:srgbClr val="E7EFF9"/>
                </a:solidFill>
                <a:latin typeface="Consolas"/>
              </a:rPr>
              <a:t>    if older_count &lt;= 0:</a:t>
            </a:r>
          </a:p>
          <a:p>
            <a:pPr algn="l"/>
            <a:r>
              <a:rPr sz="1050" b="0">
                <a:solidFill>
                  <a:srgbClr val="E7EFF9"/>
                </a:solidFill>
                <a:latin typeface="Consolas"/>
              </a:rPr>
              <a:t>        return history              # short chat: unchanged</a:t>
            </a:r>
          </a:p>
          <a:p>
            <a:pPr algn="l"/>
            <a:r>
              <a:rPr sz="1050" b="0">
                <a:solidFill>
                  <a:srgbClr val="E7EFF9"/>
                </a:solidFill>
                <a:latin typeface="Consolas"/>
              </a:rPr>
              <a:t>    older, recent = history[:older_count], history[older_count:]</a:t>
            </a:r>
          </a:p>
          <a:p>
            <a:pPr algn="l"/>
            <a:r>
              <a:rPr sz="1050" b="0">
                <a:solidFill>
                  <a:srgbClr val="E7EFF9"/>
                </a:solidFill>
                <a:latin typeface="Consolas"/>
              </a:rPr>
              <a:t>    summary = summary_chain.invoke({"transcript": _format(older)})</a:t>
            </a:r>
          </a:p>
          <a:p>
            <a:pPr algn="l"/>
            <a:r>
              <a:rPr sz="1050" b="0">
                <a:solidFill>
                  <a:srgbClr val="E7EFF9"/>
                </a:solidFill>
                <a:latin typeface="Consolas"/>
              </a:rPr>
              <a:t>    return [{"role": "summary", "content": summary}] + recent</a:t>
            </a:r>
          </a:p>
        </p:txBody>
      </p:sp>
      <p:sp>
        <p:nvSpPr>
          <p:cNvPr id="1014" name="Explanation panel"/>
          <p:cNvSpPr/>
          <p:nvPr/>
        </p:nvSpPr>
        <p:spPr>
          <a:xfrm>
            <a:off x="7269480" y="1810512"/>
            <a:ext cx="4352544" cy="4343400"/>
          </a:xfrm>
          <a:prstGeom prst="roundRect">
            <a:avLst>
              <a:gd name="adj" fmla="val 6000"/>
            </a:avLst>
          </a:prstGeom>
          <a:solidFill>
            <a:srgbClr val="EC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5" name="Explanation label"/>
          <p:cNvSpPr txBox="1"/>
          <p:nvPr/>
        </p:nvSpPr>
        <p:spPr>
          <a:xfrm>
            <a:off x="7498079" y="1965960"/>
            <a:ext cx="3931920" cy="274320"/>
          </a:xfrm>
          <a:prstGeom prst="rect">
            <a:avLst/>
          </a:prstGeom>
          <a:noFill/>
        </p:spPr>
        <p:txBody>
          <a:bodyPr wrap="square" lIns="0" tIns="0" rIns="0" bIns="0" anchor="t">
            <a:spAutoFit/>
          </a:bodyPr>
          <a:lstStyle/>
          <a:p>
            <a:pPr algn="l"/>
            <a:r>
              <a:rPr sz="1300" b="1">
                <a:solidFill>
                  <a:srgbClr val="0C2340"/>
                </a:solidFill>
                <a:latin typeface="Arial"/>
              </a:rPr>
              <a:t>HOW IT WORKS</a:t>
            </a:r>
          </a:p>
        </p:txBody>
      </p:sp>
      <p:sp>
        <p:nvSpPr>
          <p:cNvPr id="1016" name="Step 1 circle"/>
          <p:cNvSpPr/>
          <p:nvPr/>
        </p:nvSpPr>
        <p:spPr>
          <a:xfrm>
            <a:off x="7498079" y="2414016"/>
            <a:ext cx="329184" cy="329184"/>
          </a:xfrm>
          <a:prstGeom prst="ellipse">
            <a:avLst/>
          </a:prstGeom>
          <a:solidFill>
            <a:srgbClr val="126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Step 1 number"/>
          <p:cNvSpPr txBox="1"/>
          <p:nvPr/>
        </p:nvSpPr>
        <p:spPr>
          <a:xfrm>
            <a:off x="7498079" y="2414016"/>
            <a:ext cx="329184" cy="329184"/>
          </a:xfrm>
          <a:prstGeom prst="rect">
            <a:avLst/>
          </a:prstGeom>
          <a:noFill/>
        </p:spPr>
        <p:txBody>
          <a:bodyPr wrap="square" lIns="0" tIns="0" rIns="0" bIns="0" anchor="ctr">
            <a:spAutoFit/>
          </a:bodyPr>
          <a:lstStyle/>
          <a:p>
            <a:pPr algn="ctr"/>
            <a:r>
              <a:rPr sz="1200" b="1">
                <a:solidFill>
                  <a:srgbClr val="FFFFFF"/>
                </a:solidFill>
                <a:latin typeface="Arial"/>
              </a:rPr>
              <a:t>1</a:t>
            </a:r>
          </a:p>
        </p:txBody>
      </p:sp>
      <p:sp>
        <p:nvSpPr>
          <p:cNvPr id="1018" name="Step 1 head"/>
          <p:cNvSpPr txBox="1"/>
          <p:nvPr/>
        </p:nvSpPr>
        <p:spPr>
          <a:xfrm>
            <a:off x="7973568" y="2395728"/>
            <a:ext cx="3474720" cy="274320"/>
          </a:xfrm>
          <a:prstGeom prst="rect">
            <a:avLst/>
          </a:prstGeom>
          <a:noFill/>
        </p:spPr>
        <p:txBody>
          <a:bodyPr wrap="square" lIns="0" tIns="0" rIns="0" bIns="0" anchor="t">
            <a:spAutoFit/>
          </a:bodyPr>
          <a:lstStyle/>
          <a:p>
            <a:pPr algn="l"/>
            <a:r>
              <a:rPr sz="1300" b="1">
                <a:solidFill>
                  <a:srgbClr val="1263B4"/>
                </a:solidFill>
                <a:latin typeface="Arial"/>
              </a:rPr>
              <a:t>Short chat</a:t>
            </a:r>
          </a:p>
        </p:txBody>
      </p:sp>
      <p:sp>
        <p:nvSpPr>
          <p:cNvPr id="1019" name="Step 1 body"/>
          <p:cNvSpPr txBox="1"/>
          <p:nvPr/>
        </p:nvSpPr>
        <p:spPr>
          <a:xfrm>
            <a:off x="7973568" y="2688336"/>
            <a:ext cx="3474720" cy="502920"/>
          </a:xfrm>
          <a:prstGeom prst="rect">
            <a:avLst/>
          </a:prstGeom>
          <a:noFill/>
        </p:spPr>
        <p:txBody>
          <a:bodyPr wrap="square" lIns="0" tIns="0" rIns="0" bIns="0" anchor="t">
            <a:spAutoFit/>
          </a:bodyPr>
          <a:lstStyle/>
          <a:p>
            <a:pPr algn="l"/>
            <a:r>
              <a:rPr sz="1150" b="0">
                <a:solidFill>
                  <a:srgbClr val="64748B"/>
                </a:solidFill>
                <a:latin typeface="Arial"/>
              </a:rPr>
              <a:t>Under 8 messages, the history goes to the router unchanged.</a:t>
            </a:r>
          </a:p>
        </p:txBody>
      </p:sp>
      <p:sp>
        <p:nvSpPr>
          <p:cNvPr id="1020" name="Step 2 circle"/>
          <p:cNvSpPr/>
          <p:nvPr/>
        </p:nvSpPr>
        <p:spPr>
          <a:xfrm>
            <a:off x="7498079" y="3310128"/>
            <a:ext cx="329184" cy="329184"/>
          </a:xfrm>
          <a:prstGeom prst="ellipse">
            <a:avLst/>
          </a:prstGeom>
          <a:solidFill>
            <a:srgbClr val="126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Step 2 number"/>
          <p:cNvSpPr txBox="1"/>
          <p:nvPr/>
        </p:nvSpPr>
        <p:spPr>
          <a:xfrm>
            <a:off x="7498079" y="3310128"/>
            <a:ext cx="329184" cy="329184"/>
          </a:xfrm>
          <a:prstGeom prst="rect">
            <a:avLst/>
          </a:prstGeom>
          <a:noFill/>
        </p:spPr>
        <p:txBody>
          <a:bodyPr wrap="square" lIns="0" tIns="0" rIns="0" bIns="0" anchor="ctr">
            <a:spAutoFit/>
          </a:bodyPr>
          <a:lstStyle/>
          <a:p>
            <a:pPr algn="ctr"/>
            <a:r>
              <a:rPr sz="1200" b="1">
                <a:solidFill>
                  <a:srgbClr val="FFFFFF"/>
                </a:solidFill>
                <a:latin typeface="Arial"/>
              </a:rPr>
              <a:t>2</a:t>
            </a:r>
          </a:p>
        </p:txBody>
      </p:sp>
      <p:sp>
        <p:nvSpPr>
          <p:cNvPr id="1022" name="Step 2 head"/>
          <p:cNvSpPr txBox="1"/>
          <p:nvPr/>
        </p:nvSpPr>
        <p:spPr>
          <a:xfrm>
            <a:off x="7973568" y="3291840"/>
            <a:ext cx="3474720" cy="274320"/>
          </a:xfrm>
          <a:prstGeom prst="rect">
            <a:avLst/>
          </a:prstGeom>
          <a:noFill/>
        </p:spPr>
        <p:txBody>
          <a:bodyPr wrap="square" lIns="0" tIns="0" rIns="0" bIns="0" anchor="t">
            <a:spAutoFit/>
          </a:bodyPr>
          <a:lstStyle/>
          <a:p>
            <a:pPr algn="l"/>
            <a:r>
              <a:rPr sz="1300" b="1">
                <a:solidFill>
                  <a:srgbClr val="1263B4"/>
                </a:solidFill>
                <a:latin typeface="Arial"/>
              </a:rPr>
              <a:t>Older turns → LLM summary</a:t>
            </a:r>
          </a:p>
        </p:txBody>
      </p:sp>
      <p:sp>
        <p:nvSpPr>
          <p:cNvPr id="1023" name="Step 2 body"/>
          <p:cNvSpPr txBox="1"/>
          <p:nvPr/>
        </p:nvSpPr>
        <p:spPr>
          <a:xfrm>
            <a:off x="7973568" y="3584448"/>
            <a:ext cx="3474720" cy="502920"/>
          </a:xfrm>
          <a:prstGeom prst="rect">
            <a:avLst/>
          </a:prstGeom>
          <a:noFill/>
        </p:spPr>
        <p:txBody>
          <a:bodyPr wrap="square" lIns="0" tIns="0" rIns="0" bIns="0" anchor="t">
            <a:spAutoFit/>
          </a:bodyPr>
          <a:lstStyle/>
          <a:p>
            <a:pPr algn="l"/>
            <a:r>
              <a:rPr sz="1150" b="0">
                <a:solidFill>
                  <a:srgbClr val="64748B"/>
                </a:solidFill>
                <a:latin typeface="Arial"/>
              </a:rPr>
              <a:t>prompt | Gemma | parser condenses them into at most 6 bullets.</a:t>
            </a:r>
          </a:p>
        </p:txBody>
      </p:sp>
      <p:sp>
        <p:nvSpPr>
          <p:cNvPr id="1024" name="Step 3 circle"/>
          <p:cNvSpPr/>
          <p:nvPr/>
        </p:nvSpPr>
        <p:spPr>
          <a:xfrm>
            <a:off x="7498079" y="4206240"/>
            <a:ext cx="329184" cy="329184"/>
          </a:xfrm>
          <a:prstGeom prst="ellipse">
            <a:avLst/>
          </a:prstGeom>
          <a:solidFill>
            <a:srgbClr val="126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5" name="Step 3 number"/>
          <p:cNvSpPr txBox="1"/>
          <p:nvPr/>
        </p:nvSpPr>
        <p:spPr>
          <a:xfrm>
            <a:off x="7498079" y="4206240"/>
            <a:ext cx="329184" cy="329184"/>
          </a:xfrm>
          <a:prstGeom prst="rect">
            <a:avLst/>
          </a:prstGeom>
          <a:noFill/>
        </p:spPr>
        <p:txBody>
          <a:bodyPr wrap="square" lIns="0" tIns="0" rIns="0" bIns="0" anchor="ctr">
            <a:spAutoFit/>
          </a:bodyPr>
          <a:lstStyle/>
          <a:p>
            <a:pPr algn="ctr"/>
            <a:r>
              <a:rPr sz="1200" b="1">
                <a:solidFill>
                  <a:srgbClr val="FFFFFF"/>
                </a:solidFill>
                <a:latin typeface="Arial"/>
              </a:rPr>
              <a:t>3</a:t>
            </a:r>
          </a:p>
        </p:txBody>
      </p:sp>
      <p:sp>
        <p:nvSpPr>
          <p:cNvPr id="1026" name="Step 3 head"/>
          <p:cNvSpPr txBox="1"/>
          <p:nvPr/>
        </p:nvSpPr>
        <p:spPr>
          <a:xfrm>
            <a:off x="7973568" y="4187952"/>
            <a:ext cx="3474720" cy="274320"/>
          </a:xfrm>
          <a:prstGeom prst="rect">
            <a:avLst/>
          </a:prstGeom>
          <a:noFill/>
        </p:spPr>
        <p:txBody>
          <a:bodyPr wrap="square" lIns="0" tIns="0" rIns="0" bIns="0" anchor="t">
            <a:spAutoFit/>
          </a:bodyPr>
          <a:lstStyle/>
          <a:p>
            <a:pPr algn="l"/>
            <a:r>
              <a:rPr sz="1300" b="1">
                <a:solidFill>
                  <a:srgbClr val="1263B4"/>
                </a:solidFill>
                <a:latin typeface="Arial"/>
              </a:rPr>
              <a:t>Newest turns kept word for word</a:t>
            </a:r>
          </a:p>
        </p:txBody>
      </p:sp>
      <p:sp>
        <p:nvSpPr>
          <p:cNvPr id="1027" name="Step 3 body"/>
          <p:cNvSpPr txBox="1"/>
          <p:nvPr/>
        </p:nvSpPr>
        <p:spPr>
          <a:xfrm>
            <a:off x="7973568" y="4480560"/>
            <a:ext cx="3474720" cy="502920"/>
          </a:xfrm>
          <a:prstGeom prst="rect">
            <a:avLst/>
          </a:prstGeom>
          <a:noFill/>
        </p:spPr>
        <p:txBody>
          <a:bodyPr wrap="square" lIns="0" tIns="0" rIns="0" bIns="0" anchor="t">
            <a:spAutoFit/>
          </a:bodyPr>
          <a:lstStyle/>
          <a:p>
            <a:pPr algn="l"/>
            <a:r>
              <a:rPr sz="1150" b="0">
                <a:solidFill>
                  <a:srgbClr val="64748B"/>
                </a:solidFill>
                <a:latin typeface="Arial"/>
              </a:rPr>
              <a:t>The last 4–7 messages keep full detail for follow-ups.</a:t>
            </a:r>
          </a:p>
        </p:txBody>
      </p:sp>
      <p:sp>
        <p:nvSpPr>
          <p:cNvPr id="1028" name="Step 4 circle"/>
          <p:cNvSpPr/>
          <p:nvPr/>
        </p:nvSpPr>
        <p:spPr>
          <a:xfrm>
            <a:off x="7498079" y="5102352"/>
            <a:ext cx="329184" cy="329184"/>
          </a:xfrm>
          <a:prstGeom prst="ellipse">
            <a:avLst/>
          </a:prstGeom>
          <a:solidFill>
            <a:srgbClr val="126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9" name="Step 4 number"/>
          <p:cNvSpPr txBox="1"/>
          <p:nvPr/>
        </p:nvSpPr>
        <p:spPr>
          <a:xfrm>
            <a:off x="7498079" y="5102352"/>
            <a:ext cx="329184" cy="329184"/>
          </a:xfrm>
          <a:prstGeom prst="rect">
            <a:avLst/>
          </a:prstGeom>
          <a:noFill/>
        </p:spPr>
        <p:txBody>
          <a:bodyPr wrap="square" lIns="0" tIns="0" rIns="0" bIns="0" anchor="ctr">
            <a:spAutoFit/>
          </a:bodyPr>
          <a:lstStyle/>
          <a:p>
            <a:pPr algn="ctr"/>
            <a:r>
              <a:rPr sz="1200" b="1">
                <a:solidFill>
                  <a:srgbClr val="FFFFFF"/>
                </a:solidFill>
                <a:latin typeface="Arial"/>
              </a:rPr>
              <a:t>4</a:t>
            </a:r>
          </a:p>
        </p:txBody>
      </p:sp>
      <p:sp>
        <p:nvSpPr>
          <p:cNvPr id="1030" name="Step 4 head"/>
          <p:cNvSpPr txBox="1"/>
          <p:nvPr/>
        </p:nvSpPr>
        <p:spPr>
          <a:xfrm>
            <a:off x="7973568" y="5084064"/>
            <a:ext cx="3474720" cy="274320"/>
          </a:xfrm>
          <a:prstGeom prst="rect">
            <a:avLst/>
          </a:prstGeom>
          <a:noFill/>
        </p:spPr>
        <p:txBody>
          <a:bodyPr wrap="square" lIns="0" tIns="0" rIns="0" bIns="0" anchor="t">
            <a:spAutoFit/>
          </a:bodyPr>
          <a:lstStyle/>
          <a:p>
            <a:pPr algn="l"/>
            <a:r>
              <a:rPr sz="1300" b="1">
                <a:solidFill>
                  <a:srgbClr val="1263B4"/>
                </a:solidFill>
                <a:latin typeface="Arial"/>
              </a:rPr>
              <a:t>Smaller router prompt</a:t>
            </a:r>
          </a:p>
        </p:txBody>
      </p:sp>
      <p:sp>
        <p:nvSpPr>
          <p:cNvPr id="1031" name="Step 4 body"/>
          <p:cNvSpPr txBox="1"/>
          <p:nvPr/>
        </p:nvSpPr>
        <p:spPr>
          <a:xfrm>
            <a:off x="7973568" y="5376672"/>
            <a:ext cx="3474720" cy="502920"/>
          </a:xfrm>
          <a:prstGeom prst="rect">
            <a:avLst/>
          </a:prstGeom>
          <a:noFill/>
        </p:spPr>
        <p:txBody>
          <a:bodyPr wrap="square" lIns="0" tIns="0" rIns="0" bIns="0" anchor="t">
            <a:spAutoFit/>
          </a:bodyPr>
          <a:lstStyle/>
          <a:p>
            <a:pPr algn="l"/>
            <a:r>
              <a:rPr sz="1150" b="0">
                <a:solidFill>
                  <a:srgbClr val="64748B"/>
                </a:solidFill>
                <a:latin typeface="Arial"/>
              </a:rPr>
              <a:t>Cached summary, about one LLM call every 2 turns; on error, recent turns are used.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p17"/>
          <p:cNvSpPr txBox="1"/>
          <p:nvPr/>
        </p:nvSpPr>
        <p:spPr>
          <a:xfrm>
            <a:off x="548640" y="219456"/>
            <a:ext cx="8229600" cy="320040"/>
          </a:xfrm>
          <a:prstGeom prst="rect">
            <a:avLst/>
          </a:prstGeom>
          <a:noFill/>
          <a:ln>
            <a:noFill/>
          </a:ln>
        </p:spPr>
        <p:txBody>
          <a:bodyPr spcFirstLastPara="1" wrap="square" lIns="27425" tIns="27425" rIns="91425" bIns="45700" anchor="t" anchorCtr="0">
            <a:spAutoFit/>
          </a:bodyPr>
          <a:lstStyle/>
          <a:p>
            <a:pPr marL="0" marR="0" lvl="0" indent="0" algn="l" rtl="0">
              <a:spcBef>
                <a:spcPts val="0"/>
              </a:spcBef>
              <a:spcAft>
                <a:spcPts val="0"/>
              </a:spcAft>
              <a:buNone/>
            </a:pPr>
            <a:r>
              <a:rPr lang="en-US" sz="1300" b="1">
                <a:solidFill>
                  <a:srgbClr val="1C5DA0"/>
                </a:solidFill>
                <a:latin typeface="Arial"/>
                <a:ea typeface="Arial"/>
                <a:cs typeface="Arial"/>
                <a:sym typeface="Arial"/>
              </a:rPr>
              <a:t>UTA • TEAM 2 AI ADVISOR</a:t>
            </a:r>
            <a:endParaRPr/>
          </a:p>
        </p:txBody>
      </p:sp>
      <p:sp>
        <p:nvSpPr>
          <p:cNvPr id="840" name="Google Shape;840;p17"/>
          <p:cNvSpPr txBox="1"/>
          <p:nvPr/>
        </p:nvSpPr>
        <p:spPr>
          <a:xfrm>
            <a:off x="548640" y="630936"/>
            <a:ext cx="10972800" cy="594360"/>
          </a:xfrm>
          <a:prstGeom prst="rect">
            <a:avLst/>
          </a:prstGeom>
          <a:noFill/>
          <a:ln>
            <a:noFill/>
          </a:ln>
        </p:spPr>
        <p:txBody>
          <a:bodyPr spcFirstLastPara="1" wrap="square" lIns="27425" tIns="27425" rIns="91425" bIns="45700" anchor="t" anchorCtr="0">
            <a:spAutoFit/>
          </a:bodyPr>
          <a:lstStyle/>
          <a:p>
            <a:pPr marL="0" marR="0" lvl="0" indent="0" algn="l" rtl="0">
              <a:spcBef>
                <a:spcPts val="0"/>
              </a:spcBef>
              <a:spcAft>
                <a:spcPts val="0"/>
              </a:spcAft>
              <a:buNone/>
            </a:pPr>
            <a:r>
              <a:rPr lang="en-US" sz="3000" b="1">
                <a:solidFill>
                  <a:srgbClr val="103463"/>
                </a:solidFill>
                <a:latin typeface="Arial"/>
                <a:ea typeface="Arial"/>
                <a:cs typeface="Arial"/>
                <a:sym typeface="Arial"/>
              </a:rPr>
              <a:t>DynamoDB: Student &amp; Academic Data Structure</a:t>
            </a:r>
            <a:endParaRPr/>
          </a:p>
        </p:txBody>
      </p:sp>
      <p:sp>
        <p:nvSpPr>
          <p:cNvPr id="841" name="Google Shape;841;p17"/>
          <p:cNvSpPr/>
          <p:nvPr/>
        </p:nvSpPr>
        <p:spPr>
          <a:xfrm>
            <a:off x="548640" y="1344168"/>
            <a:ext cx="11064240" cy="32004"/>
          </a:xfrm>
          <a:prstGeom prst="roundRect">
            <a:avLst>
              <a:gd name="adj" fmla="val 16667"/>
            </a:avLst>
          </a:prstGeom>
          <a:solidFill>
            <a:srgbClr val="F58A27"/>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2" name="Google Shape;842;p17"/>
          <p:cNvSpPr txBox="1"/>
          <p:nvPr/>
        </p:nvSpPr>
        <p:spPr>
          <a:xfrm>
            <a:off x="758952" y="1508760"/>
            <a:ext cx="10789920" cy="438912"/>
          </a:xfrm>
          <a:prstGeom prst="rect">
            <a:avLst/>
          </a:prstGeom>
          <a:noFill/>
          <a:ln>
            <a:noFill/>
          </a:ln>
        </p:spPr>
        <p:txBody>
          <a:bodyPr spcFirstLastPara="1" wrap="square" lIns="27425" tIns="27425" rIns="91425" bIns="45700" anchor="t" anchorCtr="0">
            <a:spAutoFit/>
          </a:bodyPr>
          <a:lstStyle/>
          <a:p>
            <a:pPr marL="0" marR="0" lvl="0" indent="0" algn="l" rtl="0">
              <a:spcBef>
                <a:spcPts val="0"/>
              </a:spcBef>
              <a:spcAft>
                <a:spcPts val="0"/>
              </a:spcAft>
              <a:buNone/>
            </a:pPr>
            <a:r>
              <a:rPr lang="en-US" sz="1600" b="0">
                <a:solidFill>
                  <a:srgbClr val="536C8A"/>
                </a:solidFill>
                <a:latin typeface="Arial"/>
                <a:ea typeface="Arial"/>
                <a:cs typeface="Arial"/>
                <a:sym typeface="Arial"/>
              </a:rPr>
              <a:t>Structured records used by Python Advisor Tools for personalized advising</a:t>
            </a:r>
            <a:endParaRPr/>
          </a:p>
        </p:txBody>
      </p:sp>
      <p:sp>
        <p:nvSpPr>
          <p:cNvPr id="843" name="Google Shape;843;p17"/>
          <p:cNvSpPr/>
          <p:nvPr/>
        </p:nvSpPr>
        <p:spPr>
          <a:xfrm>
            <a:off x="576072" y="2176272"/>
            <a:ext cx="2761488" cy="2487168"/>
          </a:xfrm>
          <a:prstGeom prst="roundRect">
            <a:avLst>
              <a:gd name="adj" fmla="val 16667"/>
            </a:avLst>
          </a:prstGeom>
          <a:solidFill>
            <a:srgbClr val="EDF4F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4" name="Google Shape;844;p17"/>
          <p:cNvSpPr/>
          <p:nvPr/>
        </p:nvSpPr>
        <p:spPr>
          <a:xfrm>
            <a:off x="576072" y="2176272"/>
            <a:ext cx="2761488" cy="512064"/>
          </a:xfrm>
          <a:prstGeom prst="roundRect">
            <a:avLst>
              <a:gd name="adj" fmla="val 16667"/>
            </a:avLst>
          </a:prstGeom>
          <a:solidFill>
            <a:srgbClr val="1262B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5" name="Google Shape;845;p17"/>
          <p:cNvSpPr txBox="1"/>
          <p:nvPr/>
        </p:nvSpPr>
        <p:spPr>
          <a:xfrm>
            <a:off x="731520" y="2276856"/>
            <a:ext cx="2468880" cy="301752"/>
          </a:xfrm>
          <a:prstGeom prst="rect">
            <a:avLst/>
          </a:prstGeom>
          <a:noFill/>
          <a:ln>
            <a:noFill/>
          </a:ln>
        </p:spPr>
        <p:txBody>
          <a:bodyPr spcFirstLastPara="1" wrap="square" lIns="27425" tIns="27425" rIns="91425" bIns="45700" anchor="t" anchorCtr="0">
            <a:spAutoFit/>
          </a:bodyPr>
          <a:lstStyle/>
          <a:p>
            <a:pPr marL="0" marR="0" lvl="0" indent="0" algn="l" rtl="0">
              <a:spcBef>
                <a:spcPts val="0"/>
              </a:spcBef>
              <a:spcAft>
                <a:spcPts val="0"/>
              </a:spcAft>
              <a:buNone/>
            </a:pPr>
            <a:r>
              <a:rPr lang="en-US" sz="1300" b="1">
                <a:solidFill>
                  <a:srgbClr val="FFFFFF"/>
                </a:solidFill>
                <a:latin typeface="Arial"/>
                <a:ea typeface="Arial"/>
                <a:cs typeface="Arial"/>
                <a:sym typeface="Arial"/>
              </a:rPr>
              <a:t>STUDENT PROFILE</a:t>
            </a:r>
            <a:endParaRPr/>
          </a:p>
        </p:txBody>
      </p:sp>
      <p:sp>
        <p:nvSpPr>
          <p:cNvPr id="846" name="Google Shape;846;p17"/>
          <p:cNvSpPr txBox="1"/>
          <p:nvPr/>
        </p:nvSpPr>
        <p:spPr>
          <a:xfrm>
            <a:off x="731520" y="2834640"/>
            <a:ext cx="2487168" cy="841248"/>
          </a:xfrm>
          <a:prstGeom prst="rect">
            <a:avLst/>
          </a:prstGeom>
          <a:noFill/>
          <a:ln>
            <a:noFill/>
          </a:ln>
        </p:spPr>
        <p:txBody>
          <a:bodyPr spcFirstLastPara="1" wrap="square" lIns="27425" tIns="27425" rIns="91425" bIns="45700" anchor="t" anchorCtr="0">
            <a:spAutoFit/>
          </a:bodyPr>
          <a:lstStyle/>
          <a:p>
            <a:pPr marL="0" marR="0" lvl="0" indent="0" algn="l" rtl="0">
              <a:spcBef>
                <a:spcPts val="0"/>
              </a:spcBef>
              <a:spcAft>
                <a:spcPts val="0"/>
              </a:spcAft>
              <a:buNone/>
            </a:pPr>
            <a:r>
              <a:rPr lang="en-US" sz="1400" b="0">
                <a:solidFill>
                  <a:srgbClr val="103463"/>
                </a:solidFill>
                <a:latin typeface="Arial"/>
                <a:ea typeface="Arial"/>
                <a:cs typeface="Arial"/>
                <a:sym typeface="Arial"/>
              </a:rPr>
              <a:t>student_id  •  program / major</a:t>
            </a:r>
            <a:endParaRPr/>
          </a:p>
          <a:p>
            <a:pPr marL="0" marR="0" lvl="0" indent="0" algn="l" rtl="0">
              <a:spcBef>
                <a:spcPts val="700"/>
              </a:spcBef>
              <a:spcAft>
                <a:spcPts val="0"/>
              </a:spcAft>
              <a:buNone/>
            </a:pPr>
            <a:r>
              <a:rPr lang="en-US" sz="1400" b="0">
                <a:solidFill>
                  <a:srgbClr val="103463"/>
                </a:solidFill>
                <a:latin typeface="Arial"/>
                <a:ea typeface="Arial"/>
                <a:cs typeface="Arial"/>
                <a:sym typeface="Arial"/>
              </a:rPr>
              <a:t>student_name  •  catalog year</a:t>
            </a:r>
            <a:endParaRPr/>
          </a:p>
        </p:txBody>
      </p:sp>
      <p:sp>
        <p:nvSpPr>
          <p:cNvPr id="847" name="Google Shape;847;p17"/>
          <p:cNvSpPr txBox="1"/>
          <p:nvPr/>
        </p:nvSpPr>
        <p:spPr>
          <a:xfrm>
            <a:off x="731520" y="3968496"/>
            <a:ext cx="2468880" cy="502920"/>
          </a:xfrm>
          <a:prstGeom prst="rect">
            <a:avLst/>
          </a:prstGeom>
          <a:noFill/>
          <a:ln>
            <a:noFill/>
          </a:ln>
        </p:spPr>
        <p:txBody>
          <a:bodyPr spcFirstLastPara="1" wrap="square" lIns="27425" tIns="27425" rIns="91425" bIns="45700" anchor="t" anchorCtr="0">
            <a:spAutoFit/>
          </a:bodyPr>
          <a:lstStyle/>
          <a:p>
            <a:pPr marL="0" marR="0" lvl="0" indent="0" algn="l" rtl="0">
              <a:spcBef>
                <a:spcPts val="0"/>
              </a:spcBef>
              <a:spcAft>
                <a:spcPts val="0"/>
              </a:spcAft>
              <a:buNone/>
            </a:pPr>
            <a:r>
              <a:rPr lang="en-US" sz="1200" b="0">
                <a:solidFill>
                  <a:srgbClr val="536C8A"/>
                </a:solidFill>
                <a:latin typeface="Arial"/>
                <a:ea typeface="Arial"/>
                <a:cs typeface="Arial"/>
                <a:sym typeface="Arial"/>
              </a:rPr>
              <a:t>Authenticated student context</a:t>
            </a:r>
            <a:endParaRPr/>
          </a:p>
        </p:txBody>
      </p:sp>
      <p:sp>
        <p:nvSpPr>
          <p:cNvPr id="848" name="Google Shape;848;p17"/>
          <p:cNvSpPr/>
          <p:nvPr/>
        </p:nvSpPr>
        <p:spPr>
          <a:xfrm>
            <a:off x="3483864" y="2176272"/>
            <a:ext cx="2761488" cy="2487168"/>
          </a:xfrm>
          <a:prstGeom prst="roundRect">
            <a:avLst>
              <a:gd name="adj" fmla="val 16667"/>
            </a:avLst>
          </a:prstGeom>
          <a:solidFill>
            <a:srgbClr val="EDF4F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9" name="Google Shape;849;p17"/>
          <p:cNvSpPr/>
          <p:nvPr/>
        </p:nvSpPr>
        <p:spPr>
          <a:xfrm>
            <a:off x="3483864" y="2176272"/>
            <a:ext cx="2761488" cy="512064"/>
          </a:xfrm>
          <a:prstGeom prst="roundRect">
            <a:avLst>
              <a:gd name="adj" fmla="val 16667"/>
            </a:avLst>
          </a:prstGeom>
          <a:solidFill>
            <a:srgbClr val="1262B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0" name="Google Shape;850;p17"/>
          <p:cNvSpPr txBox="1"/>
          <p:nvPr/>
        </p:nvSpPr>
        <p:spPr>
          <a:xfrm>
            <a:off x="3639312" y="2276856"/>
            <a:ext cx="2468880" cy="301752"/>
          </a:xfrm>
          <a:prstGeom prst="rect">
            <a:avLst/>
          </a:prstGeom>
          <a:noFill/>
          <a:ln>
            <a:noFill/>
          </a:ln>
        </p:spPr>
        <p:txBody>
          <a:bodyPr spcFirstLastPara="1" wrap="square" lIns="27425" tIns="27425" rIns="91425" bIns="45700" anchor="t" anchorCtr="0">
            <a:spAutoFit/>
          </a:bodyPr>
          <a:lstStyle/>
          <a:p>
            <a:pPr marL="0" marR="0" lvl="0" indent="0" algn="l" rtl="0">
              <a:spcBef>
                <a:spcPts val="0"/>
              </a:spcBef>
              <a:spcAft>
                <a:spcPts val="0"/>
              </a:spcAft>
              <a:buNone/>
            </a:pPr>
            <a:r>
              <a:rPr lang="en-US" sz="1300" b="1">
                <a:solidFill>
                  <a:srgbClr val="FFFFFF"/>
                </a:solidFill>
                <a:latin typeface="Arial"/>
                <a:ea typeface="Arial"/>
                <a:cs typeface="Arial"/>
                <a:sym typeface="Arial"/>
              </a:rPr>
              <a:t>ACADEMIC RECORD</a:t>
            </a:r>
            <a:endParaRPr/>
          </a:p>
        </p:txBody>
      </p:sp>
      <p:sp>
        <p:nvSpPr>
          <p:cNvPr id="851" name="Google Shape;851;p17"/>
          <p:cNvSpPr txBox="1"/>
          <p:nvPr/>
        </p:nvSpPr>
        <p:spPr>
          <a:xfrm>
            <a:off x="3639312" y="2834640"/>
            <a:ext cx="2487168" cy="841248"/>
          </a:xfrm>
          <a:prstGeom prst="rect">
            <a:avLst/>
          </a:prstGeom>
          <a:noFill/>
          <a:ln>
            <a:noFill/>
          </a:ln>
        </p:spPr>
        <p:txBody>
          <a:bodyPr spcFirstLastPara="1" wrap="square" lIns="27425" tIns="27425" rIns="91425" bIns="45700" anchor="t" anchorCtr="0">
            <a:spAutoFit/>
          </a:bodyPr>
          <a:lstStyle/>
          <a:p>
            <a:pPr marL="0" marR="0" lvl="0" indent="0" algn="l" rtl="0">
              <a:spcBef>
                <a:spcPts val="0"/>
              </a:spcBef>
              <a:spcAft>
                <a:spcPts val="0"/>
              </a:spcAft>
              <a:buNone/>
            </a:pPr>
            <a:r>
              <a:rPr lang="en-US" sz="1400" b="0">
                <a:solidFill>
                  <a:srgbClr val="103463"/>
                </a:solidFill>
                <a:latin typeface="Arial"/>
                <a:ea typeface="Arial"/>
                <a:cs typeface="Arial"/>
                <a:sym typeface="Arial"/>
              </a:rPr>
              <a:t>student_id  •  course_code</a:t>
            </a:r>
            <a:endParaRPr/>
          </a:p>
          <a:p>
            <a:pPr marL="0" marR="0" lvl="0" indent="0" algn="l" rtl="0">
              <a:spcBef>
                <a:spcPts val="700"/>
              </a:spcBef>
              <a:spcAft>
                <a:spcPts val="0"/>
              </a:spcAft>
              <a:buNone/>
            </a:pPr>
            <a:r>
              <a:rPr lang="en-US" sz="1400" b="0">
                <a:solidFill>
                  <a:srgbClr val="103463"/>
                </a:solidFill>
                <a:latin typeface="Arial"/>
                <a:ea typeface="Arial"/>
                <a:cs typeface="Arial"/>
                <a:sym typeface="Arial"/>
              </a:rPr>
              <a:t>grade  •  credits  •  term</a:t>
            </a:r>
            <a:endParaRPr/>
          </a:p>
        </p:txBody>
      </p:sp>
      <p:sp>
        <p:nvSpPr>
          <p:cNvPr id="852" name="Google Shape;852;p17"/>
          <p:cNvSpPr txBox="1"/>
          <p:nvPr/>
        </p:nvSpPr>
        <p:spPr>
          <a:xfrm>
            <a:off x="3639312" y="3968496"/>
            <a:ext cx="2468880" cy="502920"/>
          </a:xfrm>
          <a:prstGeom prst="rect">
            <a:avLst/>
          </a:prstGeom>
          <a:noFill/>
          <a:ln>
            <a:noFill/>
          </a:ln>
        </p:spPr>
        <p:txBody>
          <a:bodyPr spcFirstLastPara="1" wrap="square" lIns="27425" tIns="27425" rIns="91425" bIns="45700" anchor="t" anchorCtr="0">
            <a:spAutoFit/>
          </a:bodyPr>
          <a:lstStyle/>
          <a:p>
            <a:pPr marL="0" marR="0" lvl="0" indent="0" algn="l" rtl="0">
              <a:spcBef>
                <a:spcPts val="0"/>
              </a:spcBef>
              <a:spcAft>
                <a:spcPts val="0"/>
              </a:spcAft>
              <a:buNone/>
            </a:pPr>
            <a:r>
              <a:rPr lang="en-US" sz="1200" b="0">
                <a:solidFill>
                  <a:srgbClr val="536C8A"/>
                </a:solidFill>
                <a:latin typeface="Arial"/>
                <a:ea typeface="Arial"/>
                <a:cs typeface="Arial"/>
                <a:sym typeface="Arial"/>
              </a:rPr>
              <a:t>Completed courses and transcript</a:t>
            </a:r>
            <a:endParaRPr/>
          </a:p>
        </p:txBody>
      </p:sp>
      <p:sp>
        <p:nvSpPr>
          <p:cNvPr id="853" name="Google Shape;853;p17"/>
          <p:cNvSpPr/>
          <p:nvPr/>
        </p:nvSpPr>
        <p:spPr>
          <a:xfrm>
            <a:off x="6391656" y="2176272"/>
            <a:ext cx="2761488" cy="2487168"/>
          </a:xfrm>
          <a:prstGeom prst="roundRect">
            <a:avLst>
              <a:gd name="adj" fmla="val 16667"/>
            </a:avLst>
          </a:prstGeom>
          <a:solidFill>
            <a:srgbClr val="EDF4F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4" name="Google Shape;854;p17"/>
          <p:cNvSpPr/>
          <p:nvPr/>
        </p:nvSpPr>
        <p:spPr>
          <a:xfrm>
            <a:off x="6391656" y="2176272"/>
            <a:ext cx="2761488" cy="512064"/>
          </a:xfrm>
          <a:prstGeom prst="roundRect">
            <a:avLst>
              <a:gd name="adj" fmla="val 16667"/>
            </a:avLst>
          </a:prstGeom>
          <a:solidFill>
            <a:srgbClr val="1262B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5" name="Google Shape;855;p17"/>
          <p:cNvSpPr txBox="1"/>
          <p:nvPr/>
        </p:nvSpPr>
        <p:spPr>
          <a:xfrm>
            <a:off x="6547104" y="2276856"/>
            <a:ext cx="2468880" cy="301752"/>
          </a:xfrm>
          <a:prstGeom prst="rect">
            <a:avLst/>
          </a:prstGeom>
          <a:noFill/>
          <a:ln>
            <a:noFill/>
          </a:ln>
        </p:spPr>
        <p:txBody>
          <a:bodyPr spcFirstLastPara="1" wrap="square" lIns="27425" tIns="27425" rIns="91425" bIns="45700" anchor="t" anchorCtr="0">
            <a:spAutoFit/>
          </a:bodyPr>
          <a:lstStyle/>
          <a:p>
            <a:pPr marL="0" marR="0" lvl="0" indent="0" algn="l" rtl="0">
              <a:spcBef>
                <a:spcPts val="0"/>
              </a:spcBef>
              <a:spcAft>
                <a:spcPts val="0"/>
              </a:spcAft>
              <a:buNone/>
            </a:pPr>
            <a:r>
              <a:rPr lang="en-US" sz="1300" b="1">
                <a:solidFill>
                  <a:srgbClr val="FFFFFF"/>
                </a:solidFill>
                <a:latin typeface="Arial"/>
                <a:ea typeface="Arial"/>
                <a:cs typeface="Arial"/>
                <a:sym typeface="Arial"/>
              </a:rPr>
              <a:t>COURSE REQUIREMENTS</a:t>
            </a:r>
            <a:endParaRPr/>
          </a:p>
        </p:txBody>
      </p:sp>
      <p:sp>
        <p:nvSpPr>
          <p:cNvPr id="856" name="Google Shape;856;p17"/>
          <p:cNvSpPr txBox="1"/>
          <p:nvPr/>
        </p:nvSpPr>
        <p:spPr>
          <a:xfrm>
            <a:off x="6547104" y="2834640"/>
            <a:ext cx="2487168" cy="841248"/>
          </a:xfrm>
          <a:prstGeom prst="rect">
            <a:avLst/>
          </a:prstGeom>
          <a:noFill/>
          <a:ln>
            <a:noFill/>
          </a:ln>
        </p:spPr>
        <p:txBody>
          <a:bodyPr spcFirstLastPara="1" wrap="square" lIns="27425" tIns="27425" rIns="91425" bIns="45700" anchor="t" anchorCtr="0">
            <a:spAutoFit/>
          </a:bodyPr>
          <a:lstStyle/>
          <a:p>
            <a:pPr marL="0" marR="0" lvl="0" indent="0" algn="l" rtl="0">
              <a:spcBef>
                <a:spcPts val="0"/>
              </a:spcBef>
              <a:spcAft>
                <a:spcPts val="0"/>
              </a:spcAft>
              <a:buNone/>
            </a:pPr>
            <a:r>
              <a:rPr lang="en-US" sz="1400" b="0">
                <a:solidFill>
                  <a:srgbClr val="103463"/>
                </a:solidFill>
                <a:latin typeface="Arial"/>
                <a:ea typeface="Arial"/>
                <a:cs typeface="Arial"/>
                <a:sym typeface="Arial"/>
              </a:rPr>
              <a:t>course_code  •  credit_hours</a:t>
            </a:r>
            <a:endParaRPr/>
          </a:p>
          <a:p>
            <a:pPr marL="0" marR="0" lvl="0" indent="0" algn="l" rtl="0">
              <a:spcBef>
                <a:spcPts val="700"/>
              </a:spcBef>
              <a:spcAft>
                <a:spcPts val="0"/>
              </a:spcAft>
              <a:buNone/>
            </a:pPr>
            <a:r>
              <a:rPr lang="en-US" sz="1400" b="0">
                <a:solidFill>
                  <a:srgbClr val="103463"/>
                </a:solidFill>
                <a:latin typeface="Arial"/>
                <a:ea typeface="Arial"/>
                <a:cs typeface="Arial"/>
                <a:sym typeface="Arial"/>
              </a:rPr>
              <a:t>prerequisite groups  •  min_grade</a:t>
            </a:r>
            <a:endParaRPr/>
          </a:p>
        </p:txBody>
      </p:sp>
      <p:sp>
        <p:nvSpPr>
          <p:cNvPr id="857" name="Google Shape;857;p17"/>
          <p:cNvSpPr txBox="1"/>
          <p:nvPr/>
        </p:nvSpPr>
        <p:spPr>
          <a:xfrm>
            <a:off x="6547104" y="3968496"/>
            <a:ext cx="2468880" cy="502920"/>
          </a:xfrm>
          <a:prstGeom prst="rect">
            <a:avLst/>
          </a:prstGeom>
          <a:noFill/>
          <a:ln>
            <a:noFill/>
          </a:ln>
        </p:spPr>
        <p:txBody>
          <a:bodyPr spcFirstLastPara="1" wrap="square" lIns="27425" tIns="27425" rIns="91425" bIns="45700" anchor="t" anchorCtr="0">
            <a:spAutoFit/>
          </a:bodyPr>
          <a:lstStyle/>
          <a:p>
            <a:pPr marL="0" marR="0" lvl="0" indent="0" algn="l" rtl="0">
              <a:spcBef>
                <a:spcPts val="0"/>
              </a:spcBef>
              <a:spcAft>
                <a:spcPts val="0"/>
              </a:spcAft>
              <a:buNone/>
            </a:pPr>
            <a:r>
              <a:rPr lang="en-US" sz="1200" b="0">
                <a:solidFill>
                  <a:srgbClr val="536C8A"/>
                </a:solidFill>
                <a:latin typeface="Arial"/>
                <a:ea typeface="Arial"/>
                <a:cs typeface="Arial"/>
                <a:sym typeface="Arial"/>
              </a:rPr>
              <a:t>Eligibility rules and course metadata</a:t>
            </a:r>
            <a:endParaRPr/>
          </a:p>
        </p:txBody>
      </p:sp>
      <p:sp>
        <p:nvSpPr>
          <p:cNvPr id="858" name="Google Shape;858;p17"/>
          <p:cNvSpPr/>
          <p:nvPr/>
        </p:nvSpPr>
        <p:spPr>
          <a:xfrm>
            <a:off x="9299448" y="2176272"/>
            <a:ext cx="2761488" cy="2487168"/>
          </a:xfrm>
          <a:prstGeom prst="roundRect">
            <a:avLst>
              <a:gd name="adj" fmla="val 16667"/>
            </a:avLst>
          </a:prstGeom>
          <a:solidFill>
            <a:srgbClr val="EDF4F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9" name="Google Shape;859;p17"/>
          <p:cNvSpPr/>
          <p:nvPr/>
        </p:nvSpPr>
        <p:spPr>
          <a:xfrm>
            <a:off x="9299448" y="2176272"/>
            <a:ext cx="2761488" cy="512064"/>
          </a:xfrm>
          <a:prstGeom prst="roundRect">
            <a:avLst>
              <a:gd name="adj" fmla="val 16667"/>
            </a:avLst>
          </a:prstGeom>
          <a:solidFill>
            <a:srgbClr val="1262B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0" name="Google Shape;860;p17"/>
          <p:cNvSpPr txBox="1"/>
          <p:nvPr/>
        </p:nvSpPr>
        <p:spPr>
          <a:xfrm>
            <a:off x="9454896" y="2276856"/>
            <a:ext cx="2468880" cy="301752"/>
          </a:xfrm>
          <a:prstGeom prst="rect">
            <a:avLst/>
          </a:prstGeom>
          <a:noFill/>
          <a:ln>
            <a:noFill/>
          </a:ln>
        </p:spPr>
        <p:txBody>
          <a:bodyPr spcFirstLastPara="1" wrap="square" lIns="27425" tIns="27425" rIns="91425" bIns="45700" anchor="t" anchorCtr="0">
            <a:spAutoFit/>
          </a:bodyPr>
          <a:lstStyle/>
          <a:p>
            <a:pPr marL="0" marR="0" lvl="0" indent="0" algn="l" rtl="0">
              <a:spcBef>
                <a:spcPts val="0"/>
              </a:spcBef>
              <a:spcAft>
                <a:spcPts val="0"/>
              </a:spcAft>
              <a:buNone/>
            </a:pPr>
            <a:r>
              <a:rPr lang="en-US" sz="1300" b="1">
                <a:solidFill>
                  <a:srgbClr val="FFFFFF"/>
                </a:solidFill>
                <a:latin typeface="Arial"/>
                <a:ea typeface="Arial"/>
                <a:cs typeface="Arial"/>
                <a:sym typeface="Arial"/>
              </a:rPr>
              <a:t>DEGREE REQUIREMENTS</a:t>
            </a:r>
            <a:endParaRPr/>
          </a:p>
        </p:txBody>
      </p:sp>
      <p:sp>
        <p:nvSpPr>
          <p:cNvPr id="861" name="Google Shape;861;p17"/>
          <p:cNvSpPr txBox="1"/>
          <p:nvPr/>
        </p:nvSpPr>
        <p:spPr>
          <a:xfrm>
            <a:off x="9454896" y="2834640"/>
            <a:ext cx="2487168" cy="841248"/>
          </a:xfrm>
          <a:prstGeom prst="rect">
            <a:avLst/>
          </a:prstGeom>
          <a:noFill/>
          <a:ln>
            <a:noFill/>
          </a:ln>
        </p:spPr>
        <p:txBody>
          <a:bodyPr spcFirstLastPara="1" wrap="square" lIns="27425" tIns="27425" rIns="91425" bIns="45700" anchor="t" anchorCtr="0">
            <a:spAutoFit/>
          </a:bodyPr>
          <a:lstStyle/>
          <a:p>
            <a:pPr marL="0" marR="0" lvl="0" indent="0" algn="l" rtl="0">
              <a:spcBef>
                <a:spcPts val="0"/>
              </a:spcBef>
              <a:spcAft>
                <a:spcPts val="0"/>
              </a:spcAft>
              <a:buNone/>
            </a:pPr>
            <a:r>
              <a:rPr lang="en-US" sz="1400" b="0">
                <a:solidFill>
                  <a:srgbClr val="103463"/>
                </a:solidFill>
                <a:latin typeface="Arial"/>
                <a:ea typeface="Arial"/>
                <a:cs typeface="Arial"/>
                <a:sym typeface="Arial"/>
              </a:rPr>
              <a:t>program  •  required_courses</a:t>
            </a:r>
            <a:endParaRPr/>
          </a:p>
          <a:p>
            <a:pPr marL="0" marR="0" lvl="0" indent="0" algn="l" rtl="0">
              <a:spcBef>
                <a:spcPts val="700"/>
              </a:spcBef>
              <a:spcAft>
                <a:spcPts val="0"/>
              </a:spcAft>
              <a:buNone/>
            </a:pPr>
            <a:r>
              <a:rPr lang="en-US" sz="1400" b="0">
                <a:solidFill>
                  <a:srgbClr val="103463"/>
                </a:solidFill>
                <a:latin typeface="Arial"/>
                <a:ea typeface="Arial"/>
                <a:cs typeface="Arial"/>
                <a:sym typeface="Arial"/>
              </a:rPr>
              <a:t>credit requirements  •  electives</a:t>
            </a:r>
            <a:endParaRPr/>
          </a:p>
        </p:txBody>
      </p:sp>
      <p:sp>
        <p:nvSpPr>
          <p:cNvPr id="862" name="Google Shape;862;p17"/>
          <p:cNvSpPr txBox="1"/>
          <p:nvPr/>
        </p:nvSpPr>
        <p:spPr>
          <a:xfrm>
            <a:off x="9454896" y="3968496"/>
            <a:ext cx="2468880" cy="502920"/>
          </a:xfrm>
          <a:prstGeom prst="rect">
            <a:avLst/>
          </a:prstGeom>
          <a:noFill/>
          <a:ln>
            <a:noFill/>
          </a:ln>
        </p:spPr>
        <p:txBody>
          <a:bodyPr spcFirstLastPara="1" wrap="square" lIns="27425" tIns="27425" rIns="91425" bIns="45700" anchor="t" anchorCtr="0">
            <a:spAutoFit/>
          </a:bodyPr>
          <a:lstStyle/>
          <a:p>
            <a:pPr marL="0" marR="0" lvl="0" indent="0" algn="l" rtl="0">
              <a:spcBef>
                <a:spcPts val="0"/>
              </a:spcBef>
              <a:spcAft>
                <a:spcPts val="0"/>
              </a:spcAft>
              <a:buNone/>
            </a:pPr>
            <a:r>
              <a:rPr lang="en-US" sz="1200" b="0">
                <a:solidFill>
                  <a:srgbClr val="536C8A"/>
                </a:solidFill>
                <a:latin typeface="Arial"/>
                <a:ea typeface="Arial"/>
                <a:cs typeface="Arial"/>
                <a:sym typeface="Arial"/>
              </a:rPr>
              <a:t>Remaining-degree analysis</a:t>
            </a:r>
            <a:endParaRPr/>
          </a:p>
        </p:txBody>
      </p:sp>
      <p:sp>
        <p:nvSpPr>
          <p:cNvPr id="863" name="Google Shape;863;p17"/>
          <p:cNvSpPr/>
          <p:nvPr/>
        </p:nvSpPr>
        <p:spPr>
          <a:xfrm>
            <a:off x="685800" y="4956048"/>
            <a:ext cx="10826496" cy="713232"/>
          </a:xfrm>
          <a:prstGeom prst="roundRect">
            <a:avLst>
              <a:gd name="adj" fmla="val 16667"/>
            </a:avLst>
          </a:prstGeom>
          <a:solidFill>
            <a:srgbClr val="10346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4" name="Google Shape;864;p17"/>
          <p:cNvSpPr txBox="1"/>
          <p:nvPr/>
        </p:nvSpPr>
        <p:spPr>
          <a:xfrm>
            <a:off x="941832" y="5111496"/>
            <a:ext cx="10332720" cy="365760"/>
          </a:xfrm>
          <a:prstGeom prst="rect">
            <a:avLst/>
          </a:prstGeom>
          <a:noFill/>
          <a:ln>
            <a:noFill/>
          </a:ln>
        </p:spPr>
        <p:txBody>
          <a:bodyPr spcFirstLastPara="1" wrap="square" lIns="27425" tIns="27425" rIns="91425" bIns="45700" anchor="t" anchorCtr="0">
            <a:spAutoFit/>
          </a:bodyPr>
          <a:lstStyle/>
          <a:p>
            <a:pPr marL="0" marR="0" lvl="0" indent="0" algn="l" rtl="0">
              <a:spcBef>
                <a:spcPts val="0"/>
              </a:spcBef>
              <a:spcAft>
                <a:spcPts val="0"/>
              </a:spcAft>
              <a:buNone/>
            </a:pPr>
            <a:r>
              <a:rPr lang="en-US" sz="1700" b="1">
                <a:solidFill>
                  <a:srgbClr val="FFFFFF"/>
                </a:solidFill>
                <a:latin typeface="Arial"/>
                <a:ea typeface="Arial"/>
                <a:cs typeface="Arial"/>
                <a:sym typeface="Arial"/>
              </a:rPr>
              <a:t>LangChain selects route  →  Python Advisor Tools query DynamoDB  →  Bedrock explains results</a:t>
            </a:r>
            <a:endParaRPr/>
          </a:p>
        </p:txBody>
      </p:sp>
      <p:sp>
        <p:nvSpPr>
          <p:cNvPr id="865" name="Google Shape;865;p17"/>
          <p:cNvSpPr txBox="1"/>
          <p:nvPr/>
        </p:nvSpPr>
        <p:spPr>
          <a:xfrm>
            <a:off x="585216" y="6510528"/>
            <a:ext cx="7315200" cy="228600"/>
          </a:xfrm>
          <a:prstGeom prst="rect">
            <a:avLst/>
          </a:prstGeom>
          <a:noFill/>
          <a:ln>
            <a:noFill/>
          </a:ln>
        </p:spPr>
        <p:txBody>
          <a:bodyPr spcFirstLastPara="1" wrap="square" lIns="27425" tIns="27425" rIns="91425" bIns="45700" anchor="t" anchorCtr="0">
            <a:spAutoFit/>
          </a:bodyPr>
          <a:lstStyle/>
          <a:p>
            <a:pPr marL="0" marR="0" lvl="0" indent="0" algn="l" rtl="0">
              <a:spcBef>
                <a:spcPts val="0"/>
              </a:spcBef>
              <a:spcAft>
                <a:spcPts val="0"/>
              </a:spcAft>
              <a:buNone/>
            </a:pPr>
            <a:r>
              <a:rPr lang="en-US" sz="1000" b="0">
                <a:solidFill>
                  <a:srgbClr val="536C8A"/>
                </a:solidFill>
                <a:latin typeface="Arial"/>
                <a:ea typeface="Arial"/>
                <a:cs typeface="Arial"/>
                <a:sym typeface="Arial"/>
              </a:rPr>
              <a:t>CSE 4392 / 5320  •  TEAM ASSIGNMENT 2</a:t>
            </a:r>
            <a:endParaRPr/>
          </a:p>
        </p:txBody>
      </p:sp>
      <p:sp>
        <p:nvSpPr>
          <p:cNvPr id="866" name="Google Shape;866;p17"/>
          <p:cNvSpPr/>
          <p:nvPr/>
        </p:nvSpPr>
        <p:spPr>
          <a:xfrm>
            <a:off x="0" y="0"/>
            <a:ext cx="12192000" cy="73152"/>
          </a:xfrm>
          <a:prstGeom prst="rect">
            <a:avLst/>
          </a:prstGeom>
          <a:solidFill>
            <a:srgbClr val="0D2648"/>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18"/>
          <p:cNvSpPr/>
          <p:nvPr/>
        </p:nvSpPr>
        <p:spPr>
          <a:xfrm>
            <a:off x="0" y="12546"/>
            <a:ext cx="12191695" cy="118872"/>
          </a:xfrm>
          <a:prstGeom prst="rect">
            <a:avLst/>
          </a:prstGeom>
          <a:solidFill>
            <a:srgbClr val="0D2D5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2" name="Google Shape;872;p18"/>
          <p:cNvSpPr/>
          <p:nvPr/>
        </p:nvSpPr>
        <p:spPr>
          <a:xfrm>
            <a:off x="502920" y="420624"/>
            <a:ext cx="73152" cy="393192"/>
          </a:xfrm>
          <a:prstGeom prst="rect">
            <a:avLst/>
          </a:prstGeom>
          <a:solidFill>
            <a:srgbClr val="F48A2B"/>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3" name="Google Shape;873;p18"/>
          <p:cNvSpPr txBox="1"/>
          <p:nvPr/>
        </p:nvSpPr>
        <p:spPr>
          <a:xfrm>
            <a:off x="704088" y="384048"/>
            <a:ext cx="10515600"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1">
                <a:solidFill>
                  <a:srgbClr val="11569F"/>
                </a:solidFill>
                <a:latin typeface="Arial"/>
                <a:ea typeface="Arial"/>
                <a:cs typeface="Arial"/>
                <a:sym typeface="Arial"/>
              </a:rPr>
              <a:t>UTA  •  TEAM 2 AI ADVISOR</a:t>
            </a:r>
            <a:endParaRPr/>
          </a:p>
        </p:txBody>
      </p:sp>
      <p:sp>
        <p:nvSpPr>
          <p:cNvPr id="874" name="Google Shape;874;p18"/>
          <p:cNvSpPr txBox="1"/>
          <p:nvPr/>
        </p:nvSpPr>
        <p:spPr>
          <a:xfrm>
            <a:off x="704088" y="777240"/>
            <a:ext cx="10789920" cy="4937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2800" b="1">
                <a:solidFill>
                  <a:srgbClr val="0D2D54"/>
                </a:solidFill>
                <a:latin typeface="Arial"/>
                <a:ea typeface="Arial"/>
                <a:cs typeface="Arial"/>
                <a:sym typeface="Arial"/>
              </a:rPr>
              <a:t>Eight Fictional Student Test Profiles</a:t>
            </a:r>
            <a:endParaRPr/>
          </a:p>
        </p:txBody>
      </p:sp>
      <p:sp>
        <p:nvSpPr>
          <p:cNvPr id="875" name="Google Shape;875;p18"/>
          <p:cNvSpPr txBox="1"/>
          <p:nvPr/>
        </p:nvSpPr>
        <p:spPr>
          <a:xfrm>
            <a:off x="713232" y="1353312"/>
            <a:ext cx="10789920" cy="329184"/>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300" b="0">
                <a:solidFill>
                  <a:srgbClr val="5E7086"/>
                </a:solidFill>
                <a:latin typeface="Arial"/>
                <a:ea typeface="Arial"/>
                <a:cs typeface="Arial"/>
                <a:sym typeface="Arial"/>
              </a:rPr>
              <a:t>Transcript-based test cases for eligibility checks and personalized degree planning</a:t>
            </a:r>
            <a:endParaRPr/>
          </a:p>
        </p:txBody>
      </p:sp>
      <p:sp>
        <p:nvSpPr>
          <p:cNvPr id="876" name="Google Shape;876;p18"/>
          <p:cNvSpPr/>
          <p:nvPr/>
        </p:nvSpPr>
        <p:spPr>
          <a:xfrm>
            <a:off x="594360" y="1856231"/>
            <a:ext cx="11000232" cy="438912"/>
          </a:xfrm>
          <a:prstGeom prst="roundRect">
            <a:avLst>
              <a:gd name="adj" fmla="val 16667"/>
            </a:avLst>
          </a:prstGeom>
          <a:solidFill>
            <a:srgbClr val="0D2D5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7" name="Google Shape;877;p18"/>
          <p:cNvSpPr txBox="1"/>
          <p:nvPr/>
        </p:nvSpPr>
        <p:spPr>
          <a:xfrm>
            <a:off x="667512" y="1956816"/>
            <a:ext cx="1371600" cy="228600"/>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000" b="1">
                <a:solidFill>
                  <a:srgbClr val="FFFFFF"/>
                </a:solidFill>
                <a:latin typeface="Arial"/>
                <a:ea typeface="Arial"/>
                <a:cs typeface="Arial"/>
                <a:sym typeface="Arial"/>
              </a:rPr>
              <a:t>STUDENT ID</a:t>
            </a:r>
            <a:endParaRPr/>
          </a:p>
        </p:txBody>
      </p:sp>
      <p:sp>
        <p:nvSpPr>
          <p:cNvPr id="878" name="Google Shape;878;p18"/>
          <p:cNvSpPr txBox="1"/>
          <p:nvPr/>
        </p:nvSpPr>
        <p:spPr>
          <a:xfrm>
            <a:off x="2130552" y="1956816"/>
            <a:ext cx="2011679" cy="228600"/>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000" b="1">
                <a:solidFill>
                  <a:srgbClr val="FFFFFF"/>
                </a:solidFill>
                <a:latin typeface="Arial"/>
                <a:ea typeface="Arial"/>
                <a:cs typeface="Arial"/>
                <a:sym typeface="Arial"/>
              </a:rPr>
              <a:t>STUDENT</a:t>
            </a:r>
            <a:endParaRPr/>
          </a:p>
        </p:txBody>
      </p:sp>
      <p:sp>
        <p:nvSpPr>
          <p:cNvPr id="879" name="Google Shape;879;p18"/>
          <p:cNvSpPr txBox="1"/>
          <p:nvPr/>
        </p:nvSpPr>
        <p:spPr>
          <a:xfrm>
            <a:off x="4233672" y="1956816"/>
            <a:ext cx="1399031" cy="228600"/>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000" b="1">
                <a:solidFill>
                  <a:srgbClr val="FFFFFF"/>
                </a:solidFill>
                <a:latin typeface="Arial"/>
                <a:ea typeface="Arial"/>
                <a:cs typeface="Arial"/>
                <a:sym typeface="Arial"/>
              </a:rPr>
              <a:t>USERNAME</a:t>
            </a:r>
            <a:endParaRPr/>
          </a:p>
        </p:txBody>
      </p:sp>
      <p:sp>
        <p:nvSpPr>
          <p:cNvPr id="880" name="Google Shape;880;p18"/>
          <p:cNvSpPr txBox="1"/>
          <p:nvPr/>
        </p:nvSpPr>
        <p:spPr>
          <a:xfrm>
            <a:off x="5724144" y="1956816"/>
            <a:ext cx="1005839" cy="228600"/>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000" b="1">
                <a:solidFill>
                  <a:srgbClr val="FFFFFF"/>
                </a:solidFill>
                <a:latin typeface="Arial"/>
                <a:ea typeface="Arial"/>
                <a:cs typeface="Arial"/>
                <a:sym typeface="Arial"/>
              </a:rPr>
              <a:t>PROGRAM</a:t>
            </a:r>
            <a:endParaRPr/>
          </a:p>
        </p:txBody>
      </p:sp>
      <p:sp>
        <p:nvSpPr>
          <p:cNvPr id="881" name="Google Shape;881;p18"/>
          <p:cNvSpPr txBox="1"/>
          <p:nvPr/>
        </p:nvSpPr>
        <p:spPr>
          <a:xfrm>
            <a:off x="6821424" y="1956816"/>
            <a:ext cx="795528" cy="228600"/>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000" b="1">
                <a:solidFill>
                  <a:srgbClr val="FFFFFF"/>
                </a:solidFill>
                <a:latin typeface="Arial"/>
                <a:ea typeface="Arial"/>
                <a:cs typeface="Arial"/>
                <a:sym typeface="Arial"/>
              </a:rPr>
              <a:t>CREDITS</a:t>
            </a:r>
            <a:endParaRPr/>
          </a:p>
        </p:txBody>
      </p:sp>
      <p:sp>
        <p:nvSpPr>
          <p:cNvPr id="882" name="Google Shape;882;p18"/>
          <p:cNvSpPr txBox="1"/>
          <p:nvPr/>
        </p:nvSpPr>
        <p:spPr>
          <a:xfrm>
            <a:off x="7708392" y="1956816"/>
            <a:ext cx="3886200" cy="228600"/>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000" b="1">
                <a:solidFill>
                  <a:srgbClr val="FFFFFF"/>
                </a:solidFill>
                <a:latin typeface="Arial"/>
                <a:ea typeface="Arial"/>
                <a:cs typeface="Arial"/>
                <a:sym typeface="Arial"/>
              </a:rPr>
              <a:t>TEST SCENARIO</a:t>
            </a:r>
            <a:endParaRPr/>
          </a:p>
        </p:txBody>
      </p:sp>
      <p:sp>
        <p:nvSpPr>
          <p:cNvPr id="883" name="Google Shape;883;p18"/>
          <p:cNvSpPr/>
          <p:nvPr/>
        </p:nvSpPr>
        <p:spPr>
          <a:xfrm>
            <a:off x="594360" y="2340864"/>
            <a:ext cx="11000232" cy="406908"/>
          </a:xfrm>
          <a:prstGeom prst="roundRect">
            <a:avLst>
              <a:gd name="adj" fmla="val 16667"/>
            </a:avLst>
          </a:prstGeom>
          <a:solidFill>
            <a:srgbClr val="F1F6FB"/>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4" name="Google Shape;884;p18"/>
          <p:cNvSpPr txBox="1"/>
          <p:nvPr/>
        </p:nvSpPr>
        <p:spPr>
          <a:xfrm>
            <a:off x="667512" y="2436876"/>
            <a:ext cx="1362456"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1002000101</a:t>
            </a:r>
            <a:endParaRPr/>
          </a:p>
        </p:txBody>
      </p:sp>
      <p:sp>
        <p:nvSpPr>
          <p:cNvPr id="885" name="Google Shape;885;p18"/>
          <p:cNvSpPr txBox="1"/>
          <p:nvPr/>
        </p:nvSpPr>
        <p:spPr>
          <a:xfrm>
            <a:off x="2130552" y="2436876"/>
            <a:ext cx="2002536"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1">
                <a:solidFill>
                  <a:srgbClr val="0D2D54"/>
                </a:solidFill>
                <a:latin typeface="Arial"/>
                <a:ea typeface="Arial"/>
                <a:cs typeface="Arial"/>
                <a:sym typeface="Arial"/>
              </a:rPr>
              <a:t>Emily Johnson</a:t>
            </a:r>
            <a:endParaRPr/>
          </a:p>
        </p:txBody>
      </p:sp>
      <p:sp>
        <p:nvSpPr>
          <p:cNvPr id="886" name="Google Shape;886;p18"/>
          <p:cNvSpPr txBox="1"/>
          <p:nvPr/>
        </p:nvSpPr>
        <p:spPr>
          <a:xfrm>
            <a:off x="4233672" y="2436876"/>
            <a:ext cx="1389887"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emily1234</a:t>
            </a:r>
            <a:endParaRPr/>
          </a:p>
        </p:txBody>
      </p:sp>
      <p:sp>
        <p:nvSpPr>
          <p:cNvPr id="887" name="Google Shape;887;p18"/>
          <p:cNvSpPr txBox="1"/>
          <p:nvPr/>
        </p:nvSpPr>
        <p:spPr>
          <a:xfrm>
            <a:off x="5724144" y="2436876"/>
            <a:ext cx="996695"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BS-CS</a:t>
            </a:r>
            <a:endParaRPr/>
          </a:p>
        </p:txBody>
      </p:sp>
      <p:sp>
        <p:nvSpPr>
          <p:cNvPr id="888" name="Google Shape;888;p18"/>
          <p:cNvSpPr txBox="1"/>
          <p:nvPr/>
        </p:nvSpPr>
        <p:spPr>
          <a:xfrm>
            <a:off x="6821424" y="2436876"/>
            <a:ext cx="786384"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1">
                <a:solidFill>
                  <a:srgbClr val="11569F"/>
                </a:solidFill>
                <a:latin typeface="Arial"/>
                <a:ea typeface="Arial"/>
                <a:cs typeface="Arial"/>
                <a:sym typeface="Arial"/>
              </a:rPr>
              <a:t>0</a:t>
            </a:r>
            <a:endParaRPr/>
          </a:p>
        </p:txBody>
      </p:sp>
      <p:sp>
        <p:nvSpPr>
          <p:cNvPr id="889" name="Google Shape;889;p18"/>
          <p:cNvSpPr txBox="1"/>
          <p:nvPr/>
        </p:nvSpPr>
        <p:spPr>
          <a:xfrm>
            <a:off x="7708392" y="2436876"/>
            <a:ext cx="3877055"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060" b="0">
                <a:solidFill>
                  <a:srgbClr val="0D2D54"/>
                </a:solidFill>
                <a:latin typeface="Arial"/>
                <a:ea typeface="Arial"/>
                <a:cs typeface="Arial"/>
                <a:sym typeface="Arial"/>
              </a:rPr>
              <a:t>New freshman; no completed courses</a:t>
            </a:r>
            <a:endParaRPr/>
          </a:p>
        </p:txBody>
      </p:sp>
      <p:sp>
        <p:nvSpPr>
          <p:cNvPr id="890" name="Google Shape;890;p18"/>
          <p:cNvSpPr/>
          <p:nvPr/>
        </p:nvSpPr>
        <p:spPr>
          <a:xfrm>
            <a:off x="594360" y="2770632"/>
            <a:ext cx="11000232" cy="406908"/>
          </a:xfrm>
          <a:prstGeom prst="roundRect">
            <a:avLst>
              <a:gd name="adj" fmla="val 16667"/>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1" name="Google Shape;891;p18"/>
          <p:cNvSpPr txBox="1"/>
          <p:nvPr/>
        </p:nvSpPr>
        <p:spPr>
          <a:xfrm>
            <a:off x="667512" y="2866644"/>
            <a:ext cx="1362456"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1002000102</a:t>
            </a:r>
            <a:endParaRPr/>
          </a:p>
        </p:txBody>
      </p:sp>
      <p:sp>
        <p:nvSpPr>
          <p:cNvPr id="892" name="Google Shape;892;p18"/>
          <p:cNvSpPr txBox="1"/>
          <p:nvPr/>
        </p:nvSpPr>
        <p:spPr>
          <a:xfrm>
            <a:off x="2130552" y="2866644"/>
            <a:ext cx="2002536"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1">
                <a:solidFill>
                  <a:srgbClr val="0D2D54"/>
                </a:solidFill>
                <a:latin typeface="Arial"/>
                <a:ea typeface="Arial"/>
                <a:cs typeface="Arial"/>
                <a:sym typeface="Arial"/>
              </a:rPr>
              <a:t>Michael Smith</a:t>
            </a:r>
            <a:endParaRPr/>
          </a:p>
        </p:txBody>
      </p:sp>
      <p:sp>
        <p:nvSpPr>
          <p:cNvPr id="893" name="Google Shape;893;p18"/>
          <p:cNvSpPr txBox="1"/>
          <p:nvPr/>
        </p:nvSpPr>
        <p:spPr>
          <a:xfrm>
            <a:off x="4233672" y="2866644"/>
            <a:ext cx="1389887"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michael1234</a:t>
            </a:r>
            <a:endParaRPr/>
          </a:p>
        </p:txBody>
      </p:sp>
      <p:sp>
        <p:nvSpPr>
          <p:cNvPr id="894" name="Google Shape;894;p18"/>
          <p:cNvSpPr txBox="1"/>
          <p:nvPr/>
        </p:nvSpPr>
        <p:spPr>
          <a:xfrm>
            <a:off x="5724144" y="2866644"/>
            <a:ext cx="996695"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BS-CS</a:t>
            </a:r>
            <a:endParaRPr/>
          </a:p>
        </p:txBody>
      </p:sp>
      <p:sp>
        <p:nvSpPr>
          <p:cNvPr id="895" name="Google Shape;895;p18"/>
          <p:cNvSpPr txBox="1"/>
          <p:nvPr/>
        </p:nvSpPr>
        <p:spPr>
          <a:xfrm>
            <a:off x="6821424" y="2866644"/>
            <a:ext cx="786384"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1">
                <a:solidFill>
                  <a:srgbClr val="11569F"/>
                </a:solidFill>
                <a:latin typeface="Arial"/>
                <a:ea typeface="Arial"/>
                <a:cs typeface="Arial"/>
                <a:sym typeface="Arial"/>
              </a:rPr>
              <a:t>17</a:t>
            </a:r>
            <a:endParaRPr/>
          </a:p>
        </p:txBody>
      </p:sp>
      <p:sp>
        <p:nvSpPr>
          <p:cNvPr id="896" name="Google Shape;896;p18"/>
          <p:cNvSpPr txBox="1"/>
          <p:nvPr/>
        </p:nvSpPr>
        <p:spPr>
          <a:xfrm>
            <a:off x="7708392" y="2866644"/>
            <a:ext cx="3877055"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060" b="0">
                <a:solidFill>
                  <a:srgbClr val="0D2D54"/>
                </a:solidFill>
                <a:latin typeface="Arial"/>
                <a:ea typeface="Arial"/>
                <a:cs typeface="Arial"/>
                <a:sym typeface="Arial"/>
              </a:rPr>
              <a:t>Sophomore progressing normally</a:t>
            </a:r>
            <a:endParaRPr/>
          </a:p>
        </p:txBody>
      </p:sp>
      <p:sp>
        <p:nvSpPr>
          <p:cNvPr id="897" name="Google Shape;897;p18"/>
          <p:cNvSpPr/>
          <p:nvPr/>
        </p:nvSpPr>
        <p:spPr>
          <a:xfrm>
            <a:off x="594360" y="3200400"/>
            <a:ext cx="11000232" cy="406908"/>
          </a:xfrm>
          <a:prstGeom prst="roundRect">
            <a:avLst>
              <a:gd name="adj" fmla="val 16667"/>
            </a:avLst>
          </a:prstGeom>
          <a:solidFill>
            <a:srgbClr val="F1F6FB"/>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8" name="Google Shape;898;p18"/>
          <p:cNvSpPr txBox="1"/>
          <p:nvPr/>
        </p:nvSpPr>
        <p:spPr>
          <a:xfrm>
            <a:off x="667512" y="3296412"/>
            <a:ext cx="1362456"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1002000103</a:t>
            </a:r>
            <a:endParaRPr/>
          </a:p>
        </p:txBody>
      </p:sp>
      <p:sp>
        <p:nvSpPr>
          <p:cNvPr id="899" name="Google Shape;899;p18"/>
          <p:cNvSpPr txBox="1"/>
          <p:nvPr/>
        </p:nvSpPr>
        <p:spPr>
          <a:xfrm>
            <a:off x="2130552" y="3296412"/>
            <a:ext cx="2002536"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1">
                <a:solidFill>
                  <a:srgbClr val="0D2D54"/>
                </a:solidFill>
                <a:latin typeface="Arial"/>
                <a:ea typeface="Arial"/>
                <a:cs typeface="Arial"/>
                <a:sym typeface="Arial"/>
              </a:rPr>
              <a:t>Sarah Williams</a:t>
            </a:r>
            <a:endParaRPr/>
          </a:p>
        </p:txBody>
      </p:sp>
      <p:sp>
        <p:nvSpPr>
          <p:cNvPr id="900" name="Google Shape;900;p18"/>
          <p:cNvSpPr txBox="1"/>
          <p:nvPr/>
        </p:nvSpPr>
        <p:spPr>
          <a:xfrm>
            <a:off x="4233672" y="3296412"/>
            <a:ext cx="1389887"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sarah1234</a:t>
            </a:r>
            <a:endParaRPr/>
          </a:p>
        </p:txBody>
      </p:sp>
      <p:sp>
        <p:nvSpPr>
          <p:cNvPr id="901" name="Google Shape;901;p18"/>
          <p:cNvSpPr txBox="1"/>
          <p:nvPr/>
        </p:nvSpPr>
        <p:spPr>
          <a:xfrm>
            <a:off x="5724144" y="3296412"/>
            <a:ext cx="996695"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BS-CS</a:t>
            </a:r>
            <a:endParaRPr/>
          </a:p>
        </p:txBody>
      </p:sp>
      <p:sp>
        <p:nvSpPr>
          <p:cNvPr id="902" name="Google Shape;902;p18"/>
          <p:cNvSpPr txBox="1"/>
          <p:nvPr/>
        </p:nvSpPr>
        <p:spPr>
          <a:xfrm>
            <a:off x="6821424" y="3296412"/>
            <a:ext cx="786384"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1">
                <a:solidFill>
                  <a:srgbClr val="11569F"/>
                </a:solidFill>
                <a:latin typeface="Arial"/>
                <a:ea typeface="Arial"/>
                <a:cs typeface="Arial"/>
                <a:sym typeface="Arial"/>
              </a:rPr>
              <a:t>35</a:t>
            </a:r>
            <a:endParaRPr/>
          </a:p>
        </p:txBody>
      </p:sp>
      <p:sp>
        <p:nvSpPr>
          <p:cNvPr id="903" name="Google Shape;903;p18"/>
          <p:cNvSpPr txBox="1"/>
          <p:nvPr/>
        </p:nvSpPr>
        <p:spPr>
          <a:xfrm>
            <a:off x="7708392" y="3296412"/>
            <a:ext cx="3877055"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060" b="0">
                <a:solidFill>
                  <a:srgbClr val="0D2D54"/>
                </a:solidFill>
                <a:latin typeface="Arial"/>
                <a:ea typeface="Arial"/>
                <a:cs typeface="Arial"/>
                <a:sym typeface="Arial"/>
              </a:rPr>
              <a:t>Junior with strong grades</a:t>
            </a:r>
            <a:endParaRPr/>
          </a:p>
        </p:txBody>
      </p:sp>
      <p:sp>
        <p:nvSpPr>
          <p:cNvPr id="904" name="Google Shape;904;p18"/>
          <p:cNvSpPr/>
          <p:nvPr/>
        </p:nvSpPr>
        <p:spPr>
          <a:xfrm>
            <a:off x="594360" y="3630168"/>
            <a:ext cx="11000232" cy="406908"/>
          </a:xfrm>
          <a:prstGeom prst="roundRect">
            <a:avLst>
              <a:gd name="adj" fmla="val 16667"/>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5" name="Google Shape;905;p18"/>
          <p:cNvSpPr txBox="1"/>
          <p:nvPr/>
        </p:nvSpPr>
        <p:spPr>
          <a:xfrm>
            <a:off x="667512" y="3726180"/>
            <a:ext cx="1362456"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1002000104</a:t>
            </a:r>
            <a:endParaRPr/>
          </a:p>
        </p:txBody>
      </p:sp>
      <p:sp>
        <p:nvSpPr>
          <p:cNvPr id="906" name="Google Shape;906;p18"/>
          <p:cNvSpPr txBox="1"/>
          <p:nvPr/>
        </p:nvSpPr>
        <p:spPr>
          <a:xfrm>
            <a:off x="2130552" y="3726180"/>
            <a:ext cx="2002536"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1">
                <a:solidFill>
                  <a:srgbClr val="0D2D54"/>
                </a:solidFill>
                <a:latin typeface="Arial"/>
                <a:ea typeface="Arial"/>
                <a:cs typeface="Arial"/>
                <a:sym typeface="Arial"/>
              </a:rPr>
              <a:t>James Brown</a:t>
            </a:r>
            <a:endParaRPr/>
          </a:p>
        </p:txBody>
      </p:sp>
      <p:sp>
        <p:nvSpPr>
          <p:cNvPr id="907" name="Google Shape;907;p18"/>
          <p:cNvSpPr txBox="1"/>
          <p:nvPr/>
        </p:nvSpPr>
        <p:spPr>
          <a:xfrm>
            <a:off x="4233672" y="3726180"/>
            <a:ext cx="1389887"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james1234</a:t>
            </a:r>
            <a:endParaRPr/>
          </a:p>
        </p:txBody>
      </p:sp>
      <p:sp>
        <p:nvSpPr>
          <p:cNvPr id="908" name="Google Shape;908;p18"/>
          <p:cNvSpPr txBox="1"/>
          <p:nvPr/>
        </p:nvSpPr>
        <p:spPr>
          <a:xfrm>
            <a:off x="5724144" y="3726180"/>
            <a:ext cx="996695"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BS-CS</a:t>
            </a:r>
            <a:endParaRPr/>
          </a:p>
        </p:txBody>
      </p:sp>
      <p:sp>
        <p:nvSpPr>
          <p:cNvPr id="909" name="Google Shape;909;p18"/>
          <p:cNvSpPr txBox="1"/>
          <p:nvPr/>
        </p:nvSpPr>
        <p:spPr>
          <a:xfrm>
            <a:off x="6821424" y="3726180"/>
            <a:ext cx="786384"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1">
                <a:solidFill>
                  <a:srgbClr val="11569F"/>
                </a:solidFill>
                <a:latin typeface="Arial"/>
                <a:ea typeface="Arial"/>
                <a:cs typeface="Arial"/>
                <a:sym typeface="Arial"/>
              </a:rPr>
              <a:t>13*</a:t>
            </a:r>
            <a:endParaRPr/>
          </a:p>
        </p:txBody>
      </p:sp>
      <p:sp>
        <p:nvSpPr>
          <p:cNvPr id="910" name="Google Shape;910;p18"/>
          <p:cNvSpPr txBox="1"/>
          <p:nvPr/>
        </p:nvSpPr>
        <p:spPr>
          <a:xfrm>
            <a:off x="7708392" y="3726180"/>
            <a:ext cx="3877055"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060" b="0">
                <a:solidFill>
                  <a:srgbClr val="0D2D54"/>
                </a:solidFill>
                <a:latin typeface="Arial"/>
                <a:ea typeface="Arial"/>
                <a:cs typeface="Arial"/>
                <a:sym typeface="Arial"/>
              </a:rPr>
              <a:t>Low grade (D) blocks prerequisites</a:t>
            </a:r>
            <a:endParaRPr/>
          </a:p>
        </p:txBody>
      </p:sp>
      <p:sp>
        <p:nvSpPr>
          <p:cNvPr id="911" name="Google Shape;911;p18"/>
          <p:cNvSpPr/>
          <p:nvPr/>
        </p:nvSpPr>
        <p:spPr>
          <a:xfrm>
            <a:off x="594360" y="4059935"/>
            <a:ext cx="11000232" cy="406908"/>
          </a:xfrm>
          <a:prstGeom prst="roundRect">
            <a:avLst>
              <a:gd name="adj" fmla="val 16667"/>
            </a:avLst>
          </a:prstGeom>
          <a:solidFill>
            <a:srgbClr val="F1F6FB"/>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2" name="Google Shape;912;p18"/>
          <p:cNvSpPr txBox="1"/>
          <p:nvPr/>
        </p:nvSpPr>
        <p:spPr>
          <a:xfrm>
            <a:off x="667512" y="4155948"/>
            <a:ext cx="1362456"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1002000105</a:t>
            </a:r>
            <a:endParaRPr/>
          </a:p>
        </p:txBody>
      </p:sp>
      <p:sp>
        <p:nvSpPr>
          <p:cNvPr id="913" name="Google Shape;913;p18"/>
          <p:cNvSpPr txBox="1"/>
          <p:nvPr/>
        </p:nvSpPr>
        <p:spPr>
          <a:xfrm>
            <a:off x="2130552" y="4155948"/>
            <a:ext cx="2002536"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1">
                <a:solidFill>
                  <a:srgbClr val="0D2D54"/>
                </a:solidFill>
                <a:latin typeface="Arial"/>
                <a:ea typeface="Arial"/>
                <a:cs typeface="Arial"/>
                <a:sym typeface="Arial"/>
              </a:rPr>
              <a:t>Jessica Davis</a:t>
            </a:r>
            <a:endParaRPr/>
          </a:p>
        </p:txBody>
      </p:sp>
      <p:sp>
        <p:nvSpPr>
          <p:cNvPr id="914" name="Google Shape;914;p18"/>
          <p:cNvSpPr txBox="1"/>
          <p:nvPr/>
        </p:nvSpPr>
        <p:spPr>
          <a:xfrm>
            <a:off x="4233672" y="4155948"/>
            <a:ext cx="1389887"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jessica1234</a:t>
            </a:r>
            <a:endParaRPr/>
          </a:p>
        </p:txBody>
      </p:sp>
      <p:sp>
        <p:nvSpPr>
          <p:cNvPr id="915" name="Google Shape;915;p18"/>
          <p:cNvSpPr txBox="1"/>
          <p:nvPr/>
        </p:nvSpPr>
        <p:spPr>
          <a:xfrm>
            <a:off x="5724144" y="4155948"/>
            <a:ext cx="996695"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BS-SE</a:t>
            </a:r>
            <a:endParaRPr/>
          </a:p>
        </p:txBody>
      </p:sp>
      <p:sp>
        <p:nvSpPr>
          <p:cNvPr id="916" name="Google Shape;916;p18"/>
          <p:cNvSpPr txBox="1"/>
          <p:nvPr/>
        </p:nvSpPr>
        <p:spPr>
          <a:xfrm>
            <a:off x="6821424" y="4155948"/>
            <a:ext cx="786384"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1">
                <a:solidFill>
                  <a:srgbClr val="11569F"/>
                </a:solidFill>
                <a:latin typeface="Arial"/>
                <a:ea typeface="Arial"/>
                <a:cs typeface="Arial"/>
                <a:sym typeface="Arial"/>
              </a:rPr>
              <a:t>47</a:t>
            </a:r>
            <a:endParaRPr/>
          </a:p>
        </p:txBody>
      </p:sp>
      <p:sp>
        <p:nvSpPr>
          <p:cNvPr id="917" name="Google Shape;917;p18"/>
          <p:cNvSpPr txBox="1"/>
          <p:nvPr/>
        </p:nvSpPr>
        <p:spPr>
          <a:xfrm>
            <a:off x="7708392" y="4155948"/>
            <a:ext cx="3877055"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060" b="0">
                <a:solidFill>
                  <a:srgbClr val="0D2D54"/>
                </a:solidFill>
                <a:latin typeface="Arial"/>
                <a:ea typeface="Arial"/>
                <a:cs typeface="Arial"/>
                <a:sym typeface="Arial"/>
              </a:rPr>
              <a:t>Senior; design II and elective remain</a:t>
            </a:r>
            <a:endParaRPr/>
          </a:p>
        </p:txBody>
      </p:sp>
      <p:sp>
        <p:nvSpPr>
          <p:cNvPr id="918" name="Google Shape;918;p18"/>
          <p:cNvSpPr/>
          <p:nvPr/>
        </p:nvSpPr>
        <p:spPr>
          <a:xfrm>
            <a:off x="594360" y="4489704"/>
            <a:ext cx="11000232" cy="406908"/>
          </a:xfrm>
          <a:prstGeom prst="roundRect">
            <a:avLst>
              <a:gd name="adj" fmla="val 16667"/>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9" name="Google Shape;919;p18"/>
          <p:cNvSpPr txBox="1"/>
          <p:nvPr/>
        </p:nvSpPr>
        <p:spPr>
          <a:xfrm>
            <a:off x="667512" y="4585716"/>
            <a:ext cx="1362456"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1002000106</a:t>
            </a:r>
            <a:endParaRPr/>
          </a:p>
        </p:txBody>
      </p:sp>
      <p:sp>
        <p:nvSpPr>
          <p:cNvPr id="920" name="Google Shape;920;p18"/>
          <p:cNvSpPr txBox="1"/>
          <p:nvPr/>
        </p:nvSpPr>
        <p:spPr>
          <a:xfrm>
            <a:off x="2130552" y="4585716"/>
            <a:ext cx="2002536"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1">
                <a:solidFill>
                  <a:srgbClr val="0D2D54"/>
                </a:solidFill>
                <a:latin typeface="Arial"/>
                <a:ea typeface="Arial"/>
                <a:cs typeface="Arial"/>
                <a:sym typeface="Arial"/>
              </a:rPr>
              <a:t>David Miller</a:t>
            </a:r>
            <a:endParaRPr/>
          </a:p>
        </p:txBody>
      </p:sp>
      <p:sp>
        <p:nvSpPr>
          <p:cNvPr id="921" name="Google Shape;921;p18"/>
          <p:cNvSpPr txBox="1"/>
          <p:nvPr/>
        </p:nvSpPr>
        <p:spPr>
          <a:xfrm>
            <a:off x="4233672" y="4585716"/>
            <a:ext cx="1389887"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david1234</a:t>
            </a:r>
            <a:endParaRPr/>
          </a:p>
        </p:txBody>
      </p:sp>
      <p:sp>
        <p:nvSpPr>
          <p:cNvPr id="922" name="Google Shape;922;p18"/>
          <p:cNvSpPr txBox="1"/>
          <p:nvPr/>
        </p:nvSpPr>
        <p:spPr>
          <a:xfrm>
            <a:off x="5724144" y="4585716"/>
            <a:ext cx="996695"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BS-CS</a:t>
            </a:r>
            <a:endParaRPr/>
          </a:p>
        </p:txBody>
      </p:sp>
      <p:sp>
        <p:nvSpPr>
          <p:cNvPr id="923" name="Google Shape;923;p18"/>
          <p:cNvSpPr txBox="1"/>
          <p:nvPr/>
        </p:nvSpPr>
        <p:spPr>
          <a:xfrm>
            <a:off x="6821424" y="4585716"/>
            <a:ext cx="786384"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1">
                <a:solidFill>
                  <a:srgbClr val="11569F"/>
                </a:solidFill>
                <a:latin typeface="Arial"/>
                <a:ea typeface="Arial"/>
                <a:cs typeface="Arial"/>
                <a:sym typeface="Arial"/>
              </a:rPr>
              <a:t>32</a:t>
            </a:r>
            <a:endParaRPr/>
          </a:p>
        </p:txBody>
      </p:sp>
      <p:sp>
        <p:nvSpPr>
          <p:cNvPr id="924" name="Google Shape;924;p18"/>
          <p:cNvSpPr txBox="1"/>
          <p:nvPr/>
        </p:nvSpPr>
        <p:spPr>
          <a:xfrm>
            <a:off x="7708392" y="4585716"/>
            <a:ext cx="3877055"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060" b="0">
                <a:solidFill>
                  <a:srgbClr val="0D2D54"/>
                </a:solidFill>
                <a:latin typeface="Arial"/>
                <a:ea typeface="Arial"/>
                <a:cs typeface="Arial"/>
                <a:sym typeface="Arial"/>
              </a:rPr>
              <a:t>Failed, retook, and withdrew</a:t>
            </a:r>
            <a:endParaRPr/>
          </a:p>
        </p:txBody>
      </p:sp>
      <p:sp>
        <p:nvSpPr>
          <p:cNvPr id="925" name="Google Shape;925;p18"/>
          <p:cNvSpPr/>
          <p:nvPr/>
        </p:nvSpPr>
        <p:spPr>
          <a:xfrm>
            <a:off x="594360" y="4919472"/>
            <a:ext cx="11000232" cy="406908"/>
          </a:xfrm>
          <a:prstGeom prst="roundRect">
            <a:avLst>
              <a:gd name="adj" fmla="val 16667"/>
            </a:avLst>
          </a:prstGeom>
          <a:solidFill>
            <a:srgbClr val="F1F6FB"/>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6" name="Google Shape;926;p18"/>
          <p:cNvSpPr txBox="1"/>
          <p:nvPr/>
        </p:nvSpPr>
        <p:spPr>
          <a:xfrm>
            <a:off x="667512" y="5015484"/>
            <a:ext cx="1362456"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1002000107</a:t>
            </a:r>
            <a:endParaRPr/>
          </a:p>
        </p:txBody>
      </p:sp>
      <p:sp>
        <p:nvSpPr>
          <p:cNvPr id="927" name="Google Shape;927;p18"/>
          <p:cNvSpPr txBox="1"/>
          <p:nvPr/>
        </p:nvSpPr>
        <p:spPr>
          <a:xfrm>
            <a:off x="2130552" y="5015484"/>
            <a:ext cx="2002536"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1">
                <a:solidFill>
                  <a:srgbClr val="0D2D54"/>
                </a:solidFill>
                <a:latin typeface="Arial"/>
                <a:ea typeface="Arial"/>
                <a:cs typeface="Arial"/>
                <a:sym typeface="Arial"/>
              </a:rPr>
              <a:t>Sofia Martinez</a:t>
            </a:r>
            <a:endParaRPr/>
          </a:p>
        </p:txBody>
      </p:sp>
      <p:sp>
        <p:nvSpPr>
          <p:cNvPr id="928" name="Google Shape;928;p18"/>
          <p:cNvSpPr txBox="1"/>
          <p:nvPr/>
        </p:nvSpPr>
        <p:spPr>
          <a:xfrm>
            <a:off x="4233672" y="5015484"/>
            <a:ext cx="1389887"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sofia1234</a:t>
            </a:r>
            <a:endParaRPr/>
          </a:p>
        </p:txBody>
      </p:sp>
      <p:sp>
        <p:nvSpPr>
          <p:cNvPr id="929" name="Google Shape;929;p18"/>
          <p:cNvSpPr txBox="1"/>
          <p:nvPr/>
        </p:nvSpPr>
        <p:spPr>
          <a:xfrm>
            <a:off x="5724144" y="5015484"/>
            <a:ext cx="996695"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BS-SE</a:t>
            </a:r>
            <a:endParaRPr/>
          </a:p>
        </p:txBody>
      </p:sp>
      <p:sp>
        <p:nvSpPr>
          <p:cNvPr id="930" name="Google Shape;930;p18"/>
          <p:cNvSpPr txBox="1"/>
          <p:nvPr/>
        </p:nvSpPr>
        <p:spPr>
          <a:xfrm>
            <a:off x="6821424" y="5015484"/>
            <a:ext cx="786384"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1">
                <a:solidFill>
                  <a:srgbClr val="11569F"/>
                </a:solidFill>
                <a:latin typeface="Arial"/>
                <a:ea typeface="Arial"/>
                <a:cs typeface="Arial"/>
                <a:sym typeface="Arial"/>
              </a:rPr>
              <a:t>17</a:t>
            </a:r>
            <a:endParaRPr/>
          </a:p>
        </p:txBody>
      </p:sp>
      <p:sp>
        <p:nvSpPr>
          <p:cNvPr id="931" name="Google Shape;931;p18"/>
          <p:cNvSpPr txBox="1"/>
          <p:nvPr/>
        </p:nvSpPr>
        <p:spPr>
          <a:xfrm>
            <a:off x="7708392" y="5015484"/>
            <a:ext cx="3877055"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060" b="0">
                <a:solidFill>
                  <a:srgbClr val="0D2D54"/>
                </a:solidFill>
                <a:latin typeface="Arial"/>
                <a:ea typeface="Arial"/>
                <a:cs typeface="Arial"/>
                <a:sym typeface="Arial"/>
              </a:rPr>
              <a:t>Changed major from CS to SE</a:t>
            </a:r>
            <a:endParaRPr/>
          </a:p>
        </p:txBody>
      </p:sp>
      <p:sp>
        <p:nvSpPr>
          <p:cNvPr id="932" name="Google Shape;932;p18"/>
          <p:cNvSpPr/>
          <p:nvPr/>
        </p:nvSpPr>
        <p:spPr>
          <a:xfrm>
            <a:off x="594360" y="5349240"/>
            <a:ext cx="11000232" cy="406908"/>
          </a:xfrm>
          <a:prstGeom prst="roundRect">
            <a:avLst>
              <a:gd name="adj" fmla="val 16667"/>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3" name="Google Shape;933;p18"/>
          <p:cNvSpPr txBox="1"/>
          <p:nvPr/>
        </p:nvSpPr>
        <p:spPr>
          <a:xfrm>
            <a:off x="667512" y="5445252"/>
            <a:ext cx="1362456"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1002000108</a:t>
            </a:r>
            <a:endParaRPr/>
          </a:p>
        </p:txBody>
      </p:sp>
      <p:sp>
        <p:nvSpPr>
          <p:cNvPr id="934" name="Google Shape;934;p18"/>
          <p:cNvSpPr txBox="1"/>
          <p:nvPr/>
        </p:nvSpPr>
        <p:spPr>
          <a:xfrm>
            <a:off x="2130552" y="5445252"/>
            <a:ext cx="2002536"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1">
                <a:solidFill>
                  <a:srgbClr val="0D2D54"/>
                </a:solidFill>
                <a:latin typeface="Arial"/>
                <a:ea typeface="Arial"/>
                <a:cs typeface="Arial"/>
                <a:sym typeface="Arial"/>
              </a:rPr>
              <a:t>Daniel Taylor</a:t>
            </a:r>
            <a:endParaRPr/>
          </a:p>
        </p:txBody>
      </p:sp>
      <p:sp>
        <p:nvSpPr>
          <p:cNvPr id="935" name="Google Shape;935;p18"/>
          <p:cNvSpPr txBox="1"/>
          <p:nvPr/>
        </p:nvSpPr>
        <p:spPr>
          <a:xfrm>
            <a:off x="4233672" y="5445252"/>
            <a:ext cx="1389887"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daniel1234</a:t>
            </a:r>
            <a:endParaRPr/>
          </a:p>
        </p:txBody>
      </p:sp>
      <p:sp>
        <p:nvSpPr>
          <p:cNvPr id="936" name="Google Shape;936;p18"/>
          <p:cNvSpPr txBox="1"/>
          <p:nvPr/>
        </p:nvSpPr>
        <p:spPr>
          <a:xfrm>
            <a:off x="5724144" y="5445252"/>
            <a:ext cx="996695"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0">
                <a:solidFill>
                  <a:srgbClr val="0D2D54"/>
                </a:solidFill>
                <a:latin typeface="Arial"/>
                <a:ea typeface="Arial"/>
                <a:cs typeface="Arial"/>
                <a:sym typeface="Arial"/>
              </a:rPr>
              <a:t>BS-CS</a:t>
            </a:r>
            <a:endParaRPr/>
          </a:p>
        </p:txBody>
      </p:sp>
      <p:sp>
        <p:nvSpPr>
          <p:cNvPr id="937" name="Google Shape;937;p18"/>
          <p:cNvSpPr txBox="1"/>
          <p:nvPr/>
        </p:nvSpPr>
        <p:spPr>
          <a:xfrm>
            <a:off x="6821424" y="5445252"/>
            <a:ext cx="786384"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100" b="1">
                <a:solidFill>
                  <a:srgbClr val="11569F"/>
                </a:solidFill>
                <a:latin typeface="Arial"/>
                <a:ea typeface="Arial"/>
                <a:cs typeface="Arial"/>
                <a:sym typeface="Arial"/>
              </a:rPr>
              <a:t>16</a:t>
            </a:r>
            <a:endParaRPr/>
          </a:p>
        </p:txBody>
      </p:sp>
      <p:sp>
        <p:nvSpPr>
          <p:cNvPr id="938" name="Google Shape;938;p18"/>
          <p:cNvSpPr txBox="1"/>
          <p:nvPr/>
        </p:nvSpPr>
        <p:spPr>
          <a:xfrm>
            <a:off x="7708392" y="5445252"/>
            <a:ext cx="3877055" cy="265176"/>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060" b="0">
                <a:solidFill>
                  <a:srgbClr val="0D2D54"/>
                </a:solidFill>
                <a:latin typeface="Arial"/>
                <a:ea typeface="Arial"/>
                <a:cs typeface="Arial"/>
                <a:sym typeface="Arial"/>
              </a:rPr>
              <a:t>Part-time, including summer courses</a:t>
            </a:r>
            <a:endParaRPr/>
          </a:p>
        </p:txBody>
      </p:sp>
      <p:sp>
        <p:nvSpPr>
          <p:cNvPr id="939" name="Google Shape;939;p18"/>
          <p:cNvSpPr/>
          <p:nvPr/>
        </p:nvSpPr>
        <p:spPr>
          <a:xfrm>
            <a:off x="612648" y="5952744"/>
            <a:ext cx="59436" cy="484632"/>
          </a:xfrm>
          <a:prstGeom prst="rect">
            <a:avLst/>
          </a:prstGeom>
          <a:solidFill>
            <a:srgbClr val="F48A2B"/>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0" name="Google Shape;940;p18"/>
          <p:cNvSpPr txBox="1"/>
          <p:nvPr/>
        </p:nvSpPr>
        <p:spPr>
          <a:xfrm>
            <a:off x="786384" y="5943600"/>
            <a:ext cx="10698480" cy="475488"/>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1000" b="0">
                <a:solidFill>
                  <a:srgbClr val="5E7086"/>
                </a:solidFill>
                <a:latin typeface="Arial"/>
                <a:ea typeface="Arial"/>
                <a:cs typeface="Arial"/>
                <a:sym typeface="Arial"/>
              </a:rPr>
              <a:t>Credits estimated from transcript courses (3 credits each; MATH 1426 / 2425 = 4). F and W excluded; retakes counted once. *James includes a D (3 credits), which does not satisfy C-minimum prerequisites.</a:t>
            </a:r>
            <a:endParaRPr/>
          </a:p>
        </p:txBody>
      </p:sp>
      <p:sp>
        <p:nvSpPr>
          <p:cNvPr id="941" name="Google Shape;941;p18"/>
          <p:cNvSpPr txBox="1"/>
          <p:nvPr/>
        </p:nvSpPr>
        <p:spPr>
          <a:xfrm>
            <a:off x="612648" y="6574536"/>
            <a:ext cx="10058400" cy="164592"/>
          </a:xfrm>
          <a:prstGeom prst="rect">
            <a:avLst/>
          </a:prstGeom>
          <a:noFill/>
          <a:ln>
            <a:noFill/>
          </a:ln>
        </p:spPr>
        <p:txBody>
          <a:bodyPr spcFirstLastPara="1" wrap="square" lIns="36575" tIns="22850" rIns="91425" bIns="0" anchor="t" anchorCtr="0">
            <a:spAutoFit/>
          </a:bodyPr>
          <a:lstStyle/>
          <a:p>
            <a:pPr marL="0" marR="0" lvl="0" indent="0" algn="l" rtl="0">
              <a:spcBef>
                <a:spcPts val="0"/>
              </a:spcBef>
              <a:spcAft>
                <a:spcPts val="0"/>
              </a:spcAft>
              <a:buNone/>
            </a:pPr>
            <a:r>
              <a:rPr lang="en-US" sz="900" b="0">
                <a:solidFill>
                  <a:srgbClr val="5E7086"/>
                </a:solidFill>
                <a:latin typeface="Arial"/>
                <a:ea typeface="Arial"/>
                <a:cs typeface="Arial"/>
                <a:sym typeface="Arial"/>
              </a:rPr>
              <a:t>CSE 4392 / 5320   •   TEAM ASSIGNMENT 2</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p22"/>
          <p:cNvSpPr/>
          <p:nvPr/>
        </p:nvSpPr>
        <p:spPr>
          <a:xfrm>
            <a:off x="-17983" y="14035"/>
            <a:ext cx="12191695" cy="6858000"/>
          </a:xfrm>
          <a:prstGeom prst="rect">
            <a:avLst/>
          </a:prstGeom>
          <a:solidFill>
            <a:srgbClr val="F5F8F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5" name="Google Shape;1005;p22"/>
          <p:cNvSpPr/>
          <p:nvPr/>
        </p:nvSpPr>
        <p:spPr>
          <a:xfrm>
            <a:off x="0" y="0"/>
            <a:ext cx="128016" cy="6858000"/>
          </a:xfrm>
          <a:prstGeom prst="rect">
            <a:avLst/>
          </a:prstGeom>
          <a:solidFill>
            <a:srgbClr val="0C234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6" name="Google Shape;1006;p22"/>
          <p:cNvSpPr txBox="1"/>
          <p:nvPr/>
        </p:nvSpPr>
        <p:spPr>
          <a:xfrm>
            <a:off x="493776" y="228600"/>
            <a:ext cx="7315200" cy="22860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900" b="1">
                <a:solidFill>
                  <a:srgbClr val="1263B4"/>
                </a:solidFill>
                <a:latin typeface="Arial"/>
                <a:ea typeface="Arial"/>
                <a:cs typeface="Arial"/>
                <a:sym typeface="Arial"/>
              </a:rPr>
              <a:t>UTA • TEAM 2 AI ADVISOR</a:t>
            </a:r>
            <a:endParaRPr/>
          </a:p>
        </p:txBody>
      </p:sp>
      <p:sp>
        <p:nvSpPr>
          <p:cNvPr id="1007" name="Google Shape;1007;p22"/>
          <p:cNvSpPr txBox="1"/>
          <p:nvPr/>
        </p:nvSpPr>
        <p:spPr>
          <a:xfrm>
            <a:off x="493776" y="566928"/>
            <a:ext cx="11155680" cy="429332"/>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2700" b="1" dirty="0">
                <a:solidFill>
                  <a:srgbClr val="0C2340"/>
                </a:solidFill>
                <a:latin typeface="Arial"/>
                <a:ea typeface="Arial"/>
                <a:cs typeface="Arial"/>
                <a:sym typeface="Arial"/>
              </a:rPr>
              <a:t>Application Screenshots</a:t>
            </a:r>
            <a:endParaRPr dirty="0"/>
          </a:p>
        </p:txBody>
      </p:sp>
      <p:sp>
        <p:nvSpPr>
          <p:cNvPr id="1008" name="Google Shape;1008;p22"/>
          <p:cNvSpPr/>
          <p:nvPr/>
        </p:nvSpPr>
        <p:spPr>
          <a:xfrm>
            <a:off x="493776" y="1234440"/>
            <a:ext cx="11109960" cy="20116"/>
          </a:xfrm>
          <a:prstGeom prst="rect">
            <a:avLst/>
          </a:prstGeom>
          <a:solidFill>
            <a:srgbClr val="DDE6E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9" name="Google Shape;1009;p22"/>
          <p:cNvSpPr txBox="1"/>
          <p:nvPr/>
        </p:nvSpPr>
        <p:spPr>
          <a:xfrm>
            <a:off x="502920" y="6528816"/>
            <a:ext cx="7315200" cy="18288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900" b="0">
                <a:solidFill>
                  <a:srgbClr val="64748B"/>
                </a:solidFill>
                <a:latin typeface="Arial"/>
                <a:ea typeface="Arial"/>
                <a:cs typeface="Arial"/>
                <a:sym typeface="Arial"/>
              </a:rPr>
              <a:t>CSE 4392 / 5320  •  TEAM ASSIGNMENT 2</a:t>
            </a:r>
            <a:endParaRPr/>
          </a:p>
        </p:txBody>
      </p:sp>
      <p:pic>
        <p:nvPicPr>
          <p:cNvPr id="1010" name="Google Shape;1010;p22" descr="image.png"/>
          <p:cNvPicPr preferRelativeResize="0"/>
          <p:nvPr/>
        </p:nvPicPr>
        <p:blipFill rotWithShape="1">
          <a:blip r:embed="rId3">
            <a:alphaModFix/>
          </a:blip>
          <a:srcRect/>
          <a:stretch/>
        </p:blipFill>
        <p:spPr>
          <a:xfrm>
            <a:off x="658368" y="1572768"/>
            <a:ext cx="5056632" cy="3355848"/>
          </a:xfrm>
          <a:prstGeom prst="rect">
            <a:avLst/>
          </a:prstGeom>
          <a:noFill/>
          <a:ln>
            <a:noFill/>
          </a:ln>
        </p:spPr>
      </p:pic>
      <p:sp>
        <p:nvSpPr>
          <p:cNvPr id="1012" name="Google Shape;1012;p22"/>
          <p:cNvSpPr txBox="1"/>
          <p:nvPr/>
        </p:nvSpPr>
        <p:spPr>
          <a:xfrm>
            <a:off x="685800" y="5138928"/>
            <a:ext cx="4965192" cy="32004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1500" b="1">
                <a:solidFill>
                  <a:srgbClr val="0C2340"/>
                </a:solidFill>
                <a:latin typeface="Arial"/>
                <a:ea typeface="Arial"/>
                <a:cs typeface="Arial"/>
                <a:sym typeface="Arial"/>
              </a:rPr>
              <a:t>SECURE SIGN-IN</a:t>
            </a:r>
            <a:endParaRPr/>
          </a:p>
        </p:txBody>
      </p:sp>
      <p:sp>
        <p:nvSpPr>
          <p:cNvPr id="1013" name="Google Shape;1013;p22"/>
          <p:cNvSpPr txBox="1"/>
          <p:nvPr/>
        </p:nvSpPr>
        <p:spPr>
          <a:xfrm>
            <a:off x="685800" y="5486400"/>
            <a:ext cx="4937760" cy="329184"/>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1200" b="0">
                <a:solidFill>
                  <a:srgbClr val="64748B"/>
                </a:solidFill>
                <a:latin typeface="Arial"/>
                <a:ea typeface="Arial"/>
                <a:cs typeface="Arial"/>
                <a:sym typeface="Arial"/>
              </a:rPr>
              <a:t>Cognito-backed student login screen</a:t>
            </a:r>
            <a:endParaRPr/>
          </a:p>
        </p:txBody>
      </p:sp>
      <p:sp>
        <p:nvSpPr>
          <p:cNvPr id="1014" name="Google Shape;1014;p22"/>
          <p:cNvSpPr txBox="1"/>
          <p:nvPr/>
        </p:nvSpPr>
        <p:spPr>
          <a:xfrm>
            <a:off x="6016752" y="5138928"/>
            <a:ext cx="5449824" cy="32004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1500" b="1">
                <a:solidFill>
                  <a:srgbClr val="0C2340"/>
                </a:solidFill>
                <a:latin typeface="Arial"/>
                <a:ea typeface="Arial"/>
                <a:cs typeface="Arial"/>
                <a:sym typeface="Arial"/>
              </a:rPr>
              <a:t>STUDENT CHAT EXPERIENCE</a:t>
            </a:r>
            <a:endParaRPr/>
          </a:p>
        </p:txBody>
      </p:sp>
      <p:sp>
        <p:nvSpPr>
          <p:cNvPr id="1015" name="Google Shape;1015;p22"/>
          <p:cNvSpPr txBox="1"/>
          <p:nvPr/>
        </p:nvSpPr>
        <p:spPr>
          <a:xfrm>
            <a:off x="6016752" y="5486400"/>
            <a:ext cx="5394960" cy="393192"/>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1200" b="0">
                <a:solidFill>
                  <a:srgbClr val="64748B"/>
                </a:solidFill>
                <a:latin typeface="Arial"/>
                <a:ea typeface="Arial"/>
                <a:cs typeface="Arial"/>
                <a:sym typeface="Arial"/>
              </a:rPr>
              <a:t>Course, prerequisite and degree-planning requests</a:t>
            </a:r>
            <a:endParaRPr/>
          </a:p>
        </p:txBody>
      </p:sp>
      <p:pic>
        <p:nvPicPr>
          <p:cNvPr id="3" name="Picture 2">
            <a:extLst>
              <a:ext uri="{FF2B5EF4-FFF2-40B4-BE49-F238E27FC236}">
                <a16:creationId xmlns:a16="http://schemas.microsoft.com/office/drawing/2014/main" id="{FE263511-BDFD-AF41-AD9C-774C1434900F}"/>
              </a:ext>
            </a:extLst>
          </p:cNvPr>
          <p:cNvPicPr>
            <a:picLocks noChangeAspect="1"/>
          </p:cNvPicPr>
          <p:nvPr/>
        </p:nvPicPr>
        <p:blipFill>
          <a:blip r:embed="rId4"/>
          <a:stretch>
            <a:fillRect/>
          </a:stretch>
        </p:blipFill>
        <p:spPr>
          <a:xfrm>
            <a:off x="5807396" y="1527048"/>
            <a:ext cx="6044609" cy="335584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p22"/>
          <p:cNvSpPr/>
          <p:nvPr/>
        </p:nvSpPr>
        <p:spPr>
          <a:xfrm>
            <a:off x="-17983" y="14035"/>
            <a:ext cx="12191695" cy="6858000"/>
          </a:xfrm>
          <a:prstGeom prst="rect">
            <a:avLst/>
          </a:prstGeom>
          <a:solidFill>
            <a:srgbClr val="F5F8F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5" name="Google Shape;1005;p22"/>
          <p:cNvSpPr/>
          <p:nvPr/>
        </p:nvSpPr>
        <p:spPr>
          <a:xfrm>
            <a:off x="0" y="0"/>
            <a:ext cx="128016" cy="6858000"/>
          </a:xfrm>
          <a:prstGeom prst="rect">
            <a:avLst/>
          </a:prstGeom>
          <a:solidFill>
            <a:srgbClr val="0C234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6" name="Google Shape;1006;p22"/>
          <p:cNvSpPr txBox="1"/>
          <p:nvPr/>
        </p:nvSpPr>
        <p:spPr>
          <a:xfrm>
            <a:off x="493776" y="228600"/>
            <a:ext cx="7315200" cy="22860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900" b="1">
                <a:solidFill>
                  <a:srgbClr val="1263B4"/>
                </a:solidFill>
                <a:latin typeface="Arial"/>
                <a:ea typeface="Arial"/>
                <a:cs typeface="Arial"/>
                <a:sym typeface="Arial"/>
              </a:rPr>
              <a:t>UTA • TEAM 2 AI ADVISOR</a:t>
            </a:r>
            <a:endParaRPr/>
          </a:p>
        </p:txBody>
      </p:sp>
      <p:sp>
        <p:nvSpPr>
          <p:cNvPr id="1007" name="Google Shape;1007;p22"/>
          <p:cNvSpPr txBox="1"/>
          <p:nvPr/>
        </p:nvSpPr>
        <p:spPr>
          <a:xfrm>
            <a:off x="493776" y="566928"/>
            <a:ext cx="11155680" cy="54864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2700" b="1">
                <a:solidFill>
                  <a:srgbClr val="0C2340"/>
                </a:solidFill>
                <a:latin typeface="Arial"/>
                <a:ea typeface="Arial"/>
                <a:cs typeface="Arial"/>
                <a:sym typeface="Arial"/>
              </a:rPr>
              <a:t>Demo: Course Question and Follow-Up Eligibility</a:t>
            </a:r>
            <a:endParaRPr/>
          </a:p>
        </p:txBody>
      </p:sp>
      <p:sp>
        <p:nvSpPr>
          <p:cNvPr id="1008" name="Google Shape;1008;p22"/>
          <p:cNvSpPr/>
          <p:nvPr/>
        </p:nvSpPr>
        <p:spPr>
          <a:xfrm>
            <a:off x="493776" y="1234440"/>
            <a:ext cx="11109960" cy="20116"/>
          </a:xfrm>
          <a:prstGeom prst="rect">
            <a:avLst/>
          </a:prstGeom>
          <a:solidFill>
            <a:srgbClr val="DDE6E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9" name="Google Shape;1009;p22"/>
          <p:cNvSpPr txBox="1"/>
          <p:nvPr/>
        </p:nvSpPr>
        <p:spPr>
          <a:xfrm>
            <a:off x="502920" y="6528816"/>
            <a:ext cx="7315200" cy="18288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900" b="0">
                <a:solidFill>
                  <a:srgbClr val="64748B"/>
                </a:solidFill>
                <a:latin typeface="Arial"/>
                <a:ea typeface="Arial"/>
                <a:cs typeface="Arial"/>
                <a:sym typeface="Arial"/>
              </a:rPr>
              <a:t>CSE 4392 / 5320  •  TEAM ASSIGNMENT 2</a:t>
            </a:r>
            <a:endParaRPr/>
          </a:p>
        </p:txBody>
      </p:sp>
      <p:sp>
        <p:nvSpPr>
          <p:cNvPr id="1010" name="Screenshot frame"/>
          <p:cNvSpPr/>
          <p:nvPr/>
        </p:nvSpPr>
        <p:spPr>
          <a:xfrm>
            <a:off x="548640" y="1481328"/>
            <a:ext cx="7516367" cy="3914889"/>
          </a:xfrm>
          <a:prstGeom prst="roundRect">
            <a:avLst>
              <a:gd name="adj" fmla="val 2000"/>
            </a:avLst>
          </a:prstGeom>
          <a:solidFill>
            <a:srgbClr val="DDE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11" name="Demo screenshot" descr="shot_eligibility.png"/>
          <p:cNvPicPr>
            <a:picLocks noChangeAspect="1"/>
          </p:cNvPicPr>
          <p:nvPr/>
        </p:nvPicPr>
        <p:blipFill>
          <a:blip r:embed="rId2"/>
          <a:stretch>
            <a:fillRect/>
          </a:stretch>
        </p:blipFill>
        <p:spPr>
          <a:xfrm>
            <a:off x="603504" y="1536192"/>
            <a:ext cx="7406640" cy="3805161"/>
          </a:xfrm>
          <a:prstGeom prst="rect">
            <a:avLst/>
          </a:prstGeom>
        </p:spPr>
      </p:pic>
      <p:sp>
        <p:nvSpPr>
          <p:cNvPr id="1012" name="Screenshot caption"/>
          <p:cNvSpPr txBox="1"/>
          <p:nvPr/>
        </p:nvSpPr>
        <p:spPr>
          <a:xfrm>
            <a:off x="548640" y="5515089"/>
            <a:ext cx="7406640" cy="274320"/>
          </a:xfrm>
          <a:prstGeom prst="rect">
            <a:avLst/>
          </a:prstGeom>
          <a:noFill/>
        </p:spPr>
        <p:txBody>
          <a:bodyPr wrap="square" lIns="0" tIns="0" rIns="0" bIns="0" anchor="t">
            <a:spAutoFit/>
          </a:bodyPr>
          <a:lstStyle/>
          <a:p>
            <a:pPr algn="l"/>
            <a:r>
              <a:rPr sz="1100" b="0" i="0">
                <a:solidFill>
                  <a:srgbClr val="64748B"/>
                </a:solidFill>
                <a:latin typeface="Arial"/>
              </a:rPr>
              <a:t>Logged in as Michael Smith (michael1234): BS-CS sophomore test profile, 17 credits completed</a:t>
            </a:r>
          </a:p>
        </p:txBody>
      </p:sp>
      <p:sp>
        <p:nvSpPr>
          <p:cNvPr id="1013" name="Explanation panel"/>
          <p:cNvSpPr/>
          <p:nvPr/>
        </p:nvSpPr>
        <p:spPr>
          <a:xfrm>
            <a:off x="8275320" y="1481328"/>
            <a:ext cx="3383280" cy="4754880"/>
          </a:xfrm>
          <a:prstGeom prst="roundRect">
            <a:avLst>
              <a:gd name="adj" fmla="val 6000"/>
            </a:avLst>
          </a:prstGeom>
          <a:solidFill>
            <a:srgbClr val="FFFFFF"/>
          </a:solidFill>
          <a:ln w="12700">
            <a:solidFill>
              <a:srgbClr val="DDE6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4" name="INPUT 1 label"/>
          <p:cNvSpPr txBox="1"/>
          <p:nvPr/>
        </p:nvSpPr>
        <p:spPr>
          <a:xfrm>
            <a:off x="8476488" y="1664208"/>
            <a:ext cx="2980944" cy="228600"/>
          </a:xfrm>
          <a:prstGeom prst="rect">
            <a:avLst/>
          </a:prstGeom>
          <a:noFill/>
        </p:spPr>
        <p:txBody>
          <a:bodyPr wrap="square" lIns="0" tIns="0" rIns="0" bIns="0" anchor="t">
            <a:spAutoFit/>
          </a:bodyPr>
          <a:lstStyle/>
          <a:p>
            <a:pPr algn="l"/>
            <a:r>
              <a:rPr sz="1100" b="1" i="0">
                <a:solidFill>
                  <a:srgbClr val="1263B4"/>
                </a:solidFill>
                <a:latin typeface="Arial"/>
              </a:rPr>
              <a:t>INPUT 1</a:t>
            </a:r>
          </a:p>
        </p:txBody>
      </p:sp>
      <p:sp>
        <p:nvSpPr>
          <p:cNvPr id="1015" name="INPUT 1 text"/>
          <p:cNvSpPr txBox="1"/>
          <p:nvPr/>
        </p:nvSpPr>
        <p:spPr>
          <a:xfrm>
            <a:off x="8476488" y="1911095"/>
            <a:ext cx="2980944" cy="1097280"/>
          </a:xfrm>
          <a:prstGeom prst="rect">
            <a:avLst/>
          </a:prstGeom>
          <a:noFill/>
        </p:spPr>
        <p:txBody>
          <a:bodyPr wrap="square" lIns="0" tIns="0" rIns="0" bIns="0" anchor="t">
            <a:spAutoFit/>
          </a:bodyPr>
          <a:lstStyle/>
          <a:p>
            <a:pPr algn="l"/>
            <a:r>
              <a:rPr sz="1200" b="0" i="0">
                <a:solidFill>
                  <a:srgbClr val="0C2340"/>
                </a:solidFill>
                <a:latin typeface="Arial"/>
              </a:rPr>
              <a:t>“what is cse 4308 about?”</a:t>
            </a:r>
          </a:p>
        </p:txBody>
      </p:sp>
      <p:sp>
        <p:nvSpPr>
          <p:cNvPr id="1016" name="OUTPUT 1 label"/>
          <p:cNvSpPr txBox="1"/>
          <p:nvPr/>
        </p:nvSpPr>
        <p:spPr>
          <a:xfrm>
            <a:off x="8476488" y="2258568"/>
            <a:ext cx="2980944" cy="228600"/>
          </a:xfrm>
          <a:prstGeom prst="rect">
            <a:avLst/>
          </a:prstGeom>
          <a:noFill/>
        </p:spPr>
        <p:txBody>
          <a:bodyPr wrap="square" lIns="0" tIns="0" rIns="0" bIns="0" anchor="t">
            <a:spAutoFit/>
          </a:bodyPr>
          <a:lstStyle/>
          <a:p>
            <a:pPr algn="l"/>
            <a:r>
              <a:rPr sz="1100" b="1" i="0">
                <a:solidFill>
                  <a:srgbClr val="1E7B4F"/>
                </a:solidFill>
                <a:latin typeface="Arial"/>
              </a:rPr>
              <a:t>OUTPUT 1</a:t>
            </a:r>
          </a:p>
        </p:txBody>
      </p:sp>
      <p:sp>
        <p:nvSpPr>
          <p:cNvPr id="1017" name="OUTPUT 1 text"/>
          <p:cNvSpPr txBox="1"/>
          <p:nvPr/>
        </p:nvSpPr>
        <p:spPr>
          <a:xfrm>
            <a:off x="8476488" y="2505456"/>
            <a:ext cx="2980944" cy="1097280"/>
          </a:xfrm>
          <a:prstGeom prst="rect">
            <a:avLst/>
          </a:prstGeom>
          <a:noFill/>
        </p:spPr>
        <p:txBody>
          <a:bodyPr wrap="square" lIns="0" tIns="0" rIns="0" bIns="0" anchor="t">
            <a:spAutoFit/>
          </a:bodyPr>
          <a:lstStyle/>
          <a:p>
            <a:pPr algn="l"/>
            <a:r>
              <a:rPr sz="1200" b="0" i="0">
                <a:solidFill>
                  <a:srgbClr val="0C2340"/>
                </a:solidFill>
                <a:latin typeface="Arial"/>
              </a:rPr>
              <a:t>Course description, 3 credit hours and catalog prerequisites, retrieved with RAG.</a:t>
            </a:r>
          </a:p>
        </p:txBody>
      </p:sp>
      <p:sp>
        <p:nvSpPr>
          <p:cNvPr id="1018" name="INPUT 2 label"/>
          <p:cNvSpPr txBox="1"/>
          <p:nvPr/>
        </p:nvSpPr>
        <p:spPr>
          <a:xfrm>
            <a:off x="8476488" y="3218688"/>
            <a:ext cx="2980944" cy="228600"/>
          </a:xfrm>
          <a:prstGeom prst="rect">
            <a:avLst/>
          </a:prstGeom>
          <a:noFill/>
        </p:spPr>
        <p:txBody>
          <a:bodyPr wrap="square" lIns="0" tIns="0" rIns="0" bIns="0" anchor="t">
            <a:spAutoFit/>
          </a:bodyPr>
          <a:lstStyle/>
          <a:p>
            <a:pPr algn="l"/>
            <a:r>
              <a:rPr sz="1100" b="1" i="0">
                <a:solidFill>
                  <a:srgbClr val="1263B4"/>
                </a:solidFill>
                <a:latin typeface="Arial"/>
              </a:rPr>
              <a:t>INPUT 2</a:t>
            </a:r>
          </a:p>
        </p:txBody>
      </p:sp>
      <p:sp>
        <p:nvSpPr>
          <p:cNvPr id="1019" name="INPUT 2 text"/>
          <p:cNvSpPr txBox="1"/>
          <p:nvPr/>
        </p:nvSpPr>
        <p:spPr>
          <a:xfrm>
            <a:off x="8476488" y="3465576"/>
            <a:ext cx="2980944" cy="1097280"/>
          </a:xfrm>
          <a:prstGeom prst="rect">
            <a:avLst/>
          </a:prstGeom>
          <a:noFill/>
        </p:spPr>
        <p:txBody>
          <a:bodyPr wrap="square" lIns="0" tIns="0" rIns="0" bIns="0" anchor="t">
            <a:spAutoFit/>
          </a:bodyPr>
          <a:lstStyle/>
          <a:p>
            <a:pPr algn="l"/>
            <a:r>
              <a:rPr sz="1200" b="0" i="0">
                <a:solidFill>
                  <a:srgbClr val="0C2340"/>
                </a:solidFill>
                <a:latin typeface="Arial"/>
              </a:rPr>
              <a:t>“can i take it?” (no course named)</a:t>
            </a:r>
          </a:p>
        </p:txBody>
      </p:sp>
      <p:sp>
        <p:nvSpPr>
          <p:cNvPr id="1020" name="OUTPUT 2 label"/>
          <p:cNvSpPr txBox="1"/>
          <p:nvPr/>
        </p:nvSpPr>
        <p:spPr>
          <a:xfrm>
            <a:off x="8476488" y="3813048"/>
            <a:ext cx="2980944" cy="228600"/>
          </a:xfrm>
          <a:prstGeom prst="rect">
            <a:avLst/>
          </a:prstGeom>
          <a:noFill/>
        </p:spPr>
        <p:txBody>
          <a:bodyPr wrap="square" lIns="0" tIns="0" rIns="0" bIns="0" anchor="t">
            <a:spAutoFit/>
          </a:bodyPr>
          <a:lstStyle/>
          <a:p>
            <a:pPr algn="l"/>
            <a:r>
              <a:rPr sz="1100" b="1" i="0">
                <a:solidFill>
                  <a:srgbClr val="1E7B4F"/>
                </a:solidFill>
                <a:latin typeface="Arial"/>
              </a:rPr>
              <a:t>OUTPUT 2</a:t>
            </a:r>
          </a:p>
        </p:txBody>
      </p:sp>
      <p:sp>
        <p:nvSpPr>
          <p:cNvPr id="1021" name="OUTPUT 2 text"/>
          <p:cNvSpPr txBox="1"/>
          <p:nvPr/>
        </p:nvSpPr>
        <p:spPr>
          <a:xfrm>
            <a:off x="8476488" y="4059936"/>
            <a:ext cx="2980944" cy="1097280"/>
          </a:xfrm>
          <a:prstGeom prst="rect">
            <a:avLst/>
          </a:prstGeom>
          <a:noFill/>
        </p:spPr>
        <p:txBody>
          <a:bodyPr wrap="square" lIns="0" tIns="0" rIns="0" bIns="0" anchor="t">
            <a:spAutoFit/>
          </a:bodyPr>
          <a:lstStyle/>
          <a:p>
            <a:pPr algn="l"/>
            <a:r>
              <a:rPr sz="1200" b="0" i="0">
                <a:solidFill>
                  <a:srgbClr val="0C2340"/>
                </a:solidFill>
                <a:latin typeface="Arial"/>
              </a:rPr>
              <a:t>“it” resolved to CSE 4308 from history. Python checked the transcript: not eligible, missing CSE 3318 and IE 3301 or MATH 3313 (C or better).</a:t>
            </a:r>
          </a:p>
        </p:txBody>
      </p:sp>
      <p:sp>
        <p:nvSpPr>
          <p:cNvPr id="1022" name="Requirements chip"/>
          <p:cNvSpPr/>
          <p:nvPr/>
        </p:nvSpPr>
        <p:spPr>
          <a:xfrm>
            <a:off x="8476488" y="5532120"/>
            <a:ext cx="2980944" cy="54864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3" name="Requirements text"/>
          <p:cNvSpPr txBox="1"/>
          <p:nvPr/>
        </p:nvSpPr>
        <p:spPr>
          <a:xfrm>
            <a:off x="8595360" y="5532120"/>
            <a:ext cx="2743200" cy="548640"/>
          </a:xfrm>
          <a:prstGeom prst="rect">
            <a:avLst/>
          </a:prstGeom>
          <a:noFill/>
        </p:spPr>
        <p:txBody>
          <a:bodyPr wrap="square" lIns="0" tIns="0" rIns="0" bIns="0" anchor="ctr">
            <a:spAutoFit/>
          </a:bodyPr>
          <a:lstStyle/>
          <a:p>
            <a:pPr algn="l"/>
            <a:r>
              <a:rPr sz="1100" b="1" i="0">
                <a:solidFill>
                  <a:srgbClr val="1263B4"/>
                </a:solidFill>
                <a:latin typeface="Arial"/>
              </a:rPr>
              <a:t>Shows requirements 3, 4(a) and 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p22"/>
          <p:cNvSpPr/>
          <p:nvPr/>
        </p:nvSpPr>
        <p:spPr>
          <a:xfrm>
            <a:off x="-17983" y="14035"/>
            <a:ext cx="12191695" cy="6858000"/>
          </a:xfrm>
          <a:prstGeom prst="rect">
            <a:avLst/>
          </a:prstGeom>
          <a:solidFill>
            <a:srgbClr val="F5F8F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5" name="Google Shape;1005;p22"/>
          <p:cNvSpPr/>
          <p:nvPr/>
        </p:nvSpPr>
        <p:spPr>
          <a:xfrm>
            <a:off x="0" y="0"/>
            <a:ext cx="128016" cy="6858000"/>
          </a:xfrm>
          <a:prstGeom prst="rect">
            <a:avLst/>
          </a:prstGeom>
          <a:solidFill>
            <a:srgbClr val="0C234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6" name="Google Shape;1006;p22"/>
          <p:cNvSpPr txBox="1"/>
          <p:nvPr/>
        </p:nvSpPr>
        <p:spPr>
          <a:xfrm>
            <a:off x="493776" y="228600"/>
            <a:ext cx="7315200" cy="22860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900" b="1">
                <a:solidFill>
                  <a:srgbClr val="1263B4"/>
                </a:solidFill>
                <a:latin typeface="Arial"/>
                <a:ea typeface="Arial"/>
                <a:cs typeface="Arial"/>
                <a:sym typeface="Arial"/>
              </a:rPr>
              <a:t>UTA • TEAM 2 AI ADVISOR</a:t>
            </a:r>
            <a:endParaRPr/>
          </a:p>
        </p:txBody>
      </p:sp>
      <p:sp>
        <p:nvSpPr>
          <p:cNvPr id="1007" name="Google Shape;1007;p22"/>
          <p:cNvSpPr txBox="1"/>
          <p:nvPr/>
        </p:nvSpPr>
        <p:spPr>
          <a:xfrm>
            <a:off x="493776" y="566928"/>
            <a:ext cx="11155680" cy="54864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2700" b="1">
                <a:solidFill>
                  <a:srgbClr val="0C2340"/>
                </a:solidFill>
                <a:latin typeface="Arial"/>
                <a:ea typeface="Arial"/>
                <a:cs typeface="Arial"/>
                <a:sym typeface="Arial"/>
              </a:rPr>
              <a:t>Demo: Degree Plan Generation</a:t>
            </a:r>
            <a:endParaRPr/>
          </a:p>
        </p:txBody>
      </p:sp>
      <p:sp>
        <p:nvSpPr>
          <p:cNvPr id="1008" name="Google Shape;1008;p22"/>
          <p:cNvSpPr/>
          <p:nvPr/>
        </p:nvSpPr>
        <p:spPr>
          <a:xfrm>
            <a:off x="493776" y="1234440"/>
            <a:ext cx="11109960" cy="20116"/>
          </a:xfrm>
          <a:prstGeom prst="rect">
            <a:avLst/>
          </a:prstGeom>
          <a:solidFill>
            <a:srgbClr val="DDE6E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9" name="Google Shape;1009;p22"/>
          <p:cNvSpPr txBox="1"/>
          <p:nvPr/>
        </p:nvSpPr>
        <p:spPr>
          <a:xfrm>
            <a:off x="502920" y="6528816"/>
            <a:ext cx="7315200" cy="18288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900" b="0">
                <a:solidFill>
                  <a:srgbClr val="64748B"/>
                </a:solidFill>
                <a:latin typeface="Arial"/>
                <a:ea typeface="Arial"/>
                <a:cs typeface="Arial"/>
                <a:sym typeface="Arial"/>
              </a:rPr>
              <a:t>CSE 4392 / 5320  •  TEAM ASSIGNMENT 2</a:t>
            </a:r>
            <a:endParaRPr/>
          </a:p>
        </p:txBody>
      </p:sp>
      <p:sp>
        <p:nvSpPr>
          <p:cNvPr id="1010" name="Screenshot frame"/>
          <p:cNvSpPr/>
          <p:nvPr/>
        </p:nvSpPr>
        <p:spPr>
          <a:xfrm>
            <a:off x="548640" y="1481328"/>
            <a:ext cx="7516367" cy="3914889"/>
          </a:xfrm>
          <a:prstGeom prst="roundRect">
            <a:avLst>
              <a:gd name="adj" fmla="val 2000"/>
            </a:avLst>
          </a:prstGeom>
          <a:solidFill>
            <a:srgbClr val="DDE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11" name="Demo screenshot" descr="shot_plan.png"/>
          <p:cNvPicPr>
            <a:picLocks noChangeAspect="1"/>
          </p:cNvPicPr>
          <p:nvPr/>
        </p:nvPicPr>
        <p:blipFill>
          <a:blip r:embed="rId2"/>
          <a:stretch>
            <a:fillRect/>
          </a:stretch>
        </p:blipFill>
        <p:spPr>
          <a:xfrm>
            <a:off x="603504" y="1536192"/>
            <a:ext cx="7406640" cy="3805161"/>
          </a:xfrm>
          <a:prstGeom prst="rect">
            <a:avLst/>
          </a:prstGeom>
        </p:spPr>
      </p:pic>
      <p:sp>
        <p:nvSpPr>
          <p:cNvPr id="1012" name="Screenshot caption"/>
          <p:cNvSpPr txBox="1"/>
          <p:nvPr/>
        </p:nvSpPr>
        <p:spPr>
          <a:xfrm>
            <a:off x="548640" y="5515089"/>
            <a:ext cx="7406640" cy="274320"/>
          </a:xfrm>
          <a:prstGeom prst="rect">
            <a:avLst/>
          </a:prstGeom>
          <a:noFill/>
        </p:spPr>
        <p:txBody>
          <a:bodyPr wrap="square" lIns="0" tIns="0" rIns="0" bIns="0" anchor="t">
            <a:spAutoFit/>
          </a:bodyPr>
          <a:lstStyle/>
          <a:p>
            <a:pPr algn="l"/>
            <a:r>
              <a:rPr sz="1100" b="0" i="0">
                <a:solidFill>
                  <a:srgbClr val="64748B"/>
                </a:solidFill>
                <a:latin typeface="Arial"/>
              </a:rPr>
              <a:t>Logged in as Michael Smith (michael1234): BS-CS sophomore test profile, 17 credits completed</a:t>
            </a:r>
          </a:p>
        </p:txBody>
      </p:sp>
      <p:sp>
        <p:nvSpPr>
          <p:cNvPr id="1013" name="Explanation panel"/>
          <p:cNvSpPr/>
          <p:nvPr/>
        </p:nvSpPr>
        <p:spPr>
          <a:xfrm>
            <a:off x="8275320" y="1481328"/>
            <a:ext cx="3383280" cy="4754880"/>
          </a:xfrm>
          <a:prstGeom prst="roundRect">
            <a:avLst>
              <a:gd name="adj" fmla="val 6000"/>
            </a:avLst>
          </a:prstGeom>
          <a:solidFill>
            <a:srgbClr val="FFFFFF"/>
          </a:solidFill>
          <a:ln w="12700">
            <a:solidFill>
              <a:srgbClr val="DDE6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4" name="INPUT label"/>
          <p:cNvSpPr txBox="1"/>
          <p:nvPr/>
        </p:nvSpPr>
        <p:spPr>
          <a:xfrm>
            <a:off x="8476488" y="1664208"/>
            <a:ext cx="2980944" cy="228600"/>
          </a:xfrm>
          <a:prstGeom prst="rect">
            <a:avLst/>
          </a:prstGeom>
          <a:noFill/>
        </p:spPr>
        <p:txBody>
          <a:bodyPr wrap="square" lIns="0" tIns="0" rIns="0" bIns="0" anchor="t">
            <a:spAutoFit/>
          </a:bodyPr>
          <a:lstStyle/>
          <a:p>
            <a:pPr algn="l"/>
            <a:r>
              <a:rPr sz="1100" b="1" i="0">
                <a:solidFill>
                  <a:srgbClr val="1263B4"/>
                </a:solidFill>
                <a:latin typeface="Arial"/>
              </a:rPr>
              <a:t>INPUT</a:t>
            </a:r>
          </a:p>
        </p:txBody>
      </p:sp>
      <p:sp>
        <p:nvSpPr>
          <p:cNvPr id="1015" name="INPUT text"/>
          <p:cNvSpPr txBox="1"/>
          <p:nvPr/>
        </p:nvSpPr>
        <p:spPr>
          <a:xfrm>
            <a:off x="8476488" y="1911095"/>
            <a:ext cx="2980944" cy="1097280"/>
          </a:xfrm>
          <a:prstGeom prst="rect">
            <a:avLst/>
          </a:prstGeom>
          <a:noFill/>
        </p:spPr>
        <p:txBody>
          <a:bodyPr wrap="square" lIns="0" tIns="0" rIns="0" bIns="0" anchor="t">
            <a:spAutoFit/>
          </a:bodyPr>
          <a:lstStyle/>
          <a:p>
            <a:pPr algn="l"/>
            <a:r>
              <a:rPr sz="1200" b="0" i="0">
                <a:solidFill>
                  <a:srgbClr val="0C2340"/>
                </a:solidFill>
                <a:latin typeface="Arial"/>
              </a:rPr>
              <a:t>“generate my degree plan without summer semesters”</a:t>
            </a:r>
          </a:p>
        </p:txBody>
      </p:sp>
      <p:sp>
        <p:nvSpPr>
          <p:cNvPr id="1016" name="OUTPUT label"/>
          <p:cNvSpPr txBox="1"/>
          <p:nvPr/>
        </p:nvSpPr>
        <p:spPr>
          <a:xfrm>
            <a:off x="8476488" y="2441448"/>
            <a:ext cx="2980944" cy="228600"/>
          </a:xfrm>
          <a:prstGeom prst="rect">
            <a:avLst/>
          </a:prstGeom>
          <a:noFill/>
        </p:spPr>
        <p:txBody>
          <a:bodyPr wrap="square" lIns="0" tIns="0" rIns="0" bIns="0" anchor="t">
            <a:spAutoFit/>
          </a:bodyPr>
          <a:lstStyle/>
          <a:p>
            <a:pPr algn="l"/>
            <a:r>
              <a:rPr sz="1100" b="1" i="0">
                <a:solidFill>
                  <a:srgbClr val="1E7B4F"/>
                </a:solidFill>
                <a:latin typeface="Arial"/>
              </a:rPr>
              <a:t>OUTPUT</a:t>
            </a:r>
          </a:p>
        </p:txBody>
      </p:sp>
      <p:sp>
        <p:nvSpPr>
          <p:cNvPr id="1017" name="OUTPUT text"/>
          <p:cNvSpPr txBox="1"/>
          <p:nvPr/>
        </p:nvSpPr>
        <p:spPr>
          <a:xfrm>
            <a:off x="8476488" y="2688336"/>
            <a:ext cx="2980944" cy="1097280"/>
          </a:xfrm>
          <a:prstGeom prst="rect">
            <a:avLst/>
          </a:prstGeom>
          <a:noFill/>
        </p:spPr>
        <p:txBody>
          <a:bodyPr wrap="square" lIns="0" tIns="0" rIns="0" bIns="0" anchor="t">
            <a:spAutoFit/>
          </a:bodyPr>
          <a:lstStyle/>
          <a:p>
            <a:pPr algn="l"/>
            <a:r>
              <a:rPr sz="1200" b="0" i="0">
                <a:solidFill>
                  <a:srgbClr val="0C2340"/>
                </a:solidFill>
                <a:latin typeface="Arial"/>
              </a:rPr>
              <a:t>A complete plan: 5 semesters, 2027-SP to 2029-SP, 73 credits.</a:t>
            </a:r>
          </a:p>
        </p:txBody>
      </p:sp>
      <p:sp>
        <p:nvSpPr>
          <p:cNvPr id="1018" name="WHAT IT SHOWS label"/>
          <p:cNvSpPr txBox="1"/>
          <p:nvPr/>
        </p:nvSpPr>
        <p:spPr>
          <a:xfrm>
            <a:off x="8476488" y="3218688"/>
            <a:ext cx="2980944" cy="228600"/>
          </a:xfrm>
          <a:prstGeom prst="rect">
            <a:avLst/>
          </a:prstGeom>
          <a:noFill/>
        </p:spPr>
        <p:txBody>
          <a:bodyPr wrap="square" lIns="0" tIns="0" rIns="0" bIns="0" anchor="t">
            <a:spAutoFit/>
          </a:bodyPr>
          <a:lstStyle/>
          <a:p>
            <a:pPr algn="l"/>
            <a:r>
              <a:rPr sz="1100" b="1" i="0">
                <a:solidFill>
                  <a:srgbClr val="0C2340"/>
                </a:solidFill>
                <a:latin typeface="Arial"/>
              </a:rPr>
              <a:t>WHAT IT SHOWS</a:t>
            </a:r>
          </a:p>
        </p:txBody>
      </p:sp>
      <p:sp>
        <p:nvSpPr>
          <p:cNvPr id="1019" name="WHAT IT SHOWS text"/>
          <p:cNvSpPr txBox="1"/>
          <p:nvPr/>
        </p:nvSpPr>
        <p:spPr>
          <a:xfrm>
            <a:off x="8476488" y="3465576"/>
            <a:ext cx="2980944" cy="1097280"/>
          </a:xfrm>
          <a:prstGeom prst="rect">
            <a:avLst/>
          </a:prstGeom>
          <a:noFill/>
        </p:spPr>
        <p:txBody>
          <a:bodyPr wrap="square" lIns="0" tIns="0" rIns="0" bIns="0" anchor="t">
            <a:spAutoFit/>
          </a:bodyPr>
          <a:lstStyle/>
          <a:p>
            <a:pPr algn="l"/>
            <a:r>
              <a:rPr sz="1200" b="0" i="0">
                <a:solidFill>
                  <a:srgbClr val="0C2340"/>
                </a:solidFill>
                <a:latin typeface="Arial"/>
              </a:rPr>
              <a:t>Fall and spring terms only, as the student asked. At most 15 credits per term. Prerequisites come first (CSE 3318 before CSE 4308). Built from Michael’s transcript.</a:t>
            </a:r>
          </a:p>
        </p:txBody>
      </p:sp>
      <p:sp>
        <p:nvSpPr>
          <p:cNvPr id="1020" name="Requirements chip"/>
          <p:cNvSpPr/>
          <p:nvPr/>
        </p:nvSpPr>
        <p:spPr>
          <a:xfrm>
            <a:off x="8476488" y="5532120"/>
            <a:ext cx="2980944" cy="54864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1" name="Requirements text"/>
          <p:cNvSpPr txBox="1"/>
          <p:nvPr/>
        </p:nvSpPr>
        <p:spPr>
          <a:xfrm>
            <a:off x="8595360" y="5532120"/>
            <a:ext cx="2743200" cy="548640"/>
          </a:xfrm>
          <a:prstGeom prst="rect">
            <a:avLst/>
          </a:prstGeom>
          <a:noFill/>
        </p:spPr>
        <p:txBody>
          <a:bodyPr wrap="square" lIns="0" tIns="0" rIns="0" bIns="0" anchor="ctr">
            <a:spAutoFit/>
          </a:bodyPr>
          <a:lstStyle/>
          <a:p>
            <a:pPr algn="l"/>
            <a:r>
              <a:rPr sz="1100" b="1" i="0">
                <a:solidFill>
                  <a:srgbClr val="1263B4"/>
                </a:solidFill>
                <a:latin typeface="Arial"/>
              </a:rPr>
              <a:t>Shows requirements 2 and 4(a)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81C39"/>
        </a:solidFill>
        <a:effectLst/>
      </p:bgPr>
    </p:bg>
    <p:spTree>
      <p:nvGrpSpPr>
        <p:cNvPr id="1" name="Shape 945"/>
        <p:cNvGrpSpPr/>
        <p:nvPr/>
      </p:nvGrpSpPr>
      <p:grpSpPr>
        <a:xfrm>
          <a:off x="0" y="0"/>
          <a:ext cx="0" cy="0"/>
          <a:chOff x="0" y="0"/>
          <a:chExt cx="0" cy="0"/>
        </a:xfrm>
      </p:grpSpPr>
      <p:sp>
        <p:nvSpPr>
          <p:cNvPr id="946" name="Google Shape;946;p19"/>
          <p:cNvSpPr/>
          <p:nvPr/>
        </p:nvSpPr>
        <p:spPr>
          <a:xfrm>
            <a:off x="0" y="0"/>
            <a:ext cx="12191695" cy="82296"/>
          </a:xfrm>
          <a:prstGeom prst="rect">
            <a:avLst/>
          </a:prstGeom>
          <a:solidFill>
            <a:srgbClr val="F58A27"/>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47" name="Google Shape;947;p19"/>
          <p:cNvSpPr txBox="1"/>
          <p:nvPr/>
        </p:nvSpPr>
        <p:spPr>
          <a:xfrm>
            <a:off x="914400" y="594360"/>
            <a:ext cx="10360152" cy="3847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1900"/>
              <a:buFont typeface="Play"/>
              <a:buNone/>
            </a:pPr>
            <a:r>
              <a:rPr lang="en-US" sz="1900" b="1" i="0" u="none" strike="noStrike" cap="none">
                <a:solidFill>
                  <a:schemeClr val="lt1"/>
                </a:solidFill>
                <a:latin typeface="Play"/>
                <a:ea typeface="Play"/>
                <a:cs typeface="Play"/>
                <a:sym typeface="Play"/>
              </a:rPr>
              <a:t>UTA  •  TEAM 2 AI ADVISOR</a:t>
            </a:r>
            <a:endParaRPr/>
          </a:p>
        </p:txBody>
      </p:sp>
      <p:sp>
        <p:nvSpPr>
          <p:cNvPr id="948" name="Google Shape;948;p19"/>
          <p:cNvSpPr txBox="1"/>
          <p:nvPr/>
        </p:nvSpPr>
        <p:spPr>
          <a:xfrm>
            <a:off x="640080" y="2240280"/>
            <a:ext cx="10908792" cy="105156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5400"/>
              <a:buFont typeface="Play"/>
              <a:buNone/>
            </a:pPr>
            <a:r>
              <a:rPr lang="en-US" sz="5400" b="1" i="0" u="none" strike="noStrike" cap="none">
                <a:solidFill>
                  <a:srgbClr val="FFFFFF"/>
                </a:solidFill>
                <a:latin typeface="Play"/>
                <a:ea typeface="Play"/>
                <a:cs typeface="Play"/>
                <a:sym typeface="Play"/>
              </a:rPr>
              <a:t>TEAM 2 AI ADVISOR</a:t>
            </a:r>
            <a:endParaRPr/>
          </a:p>
        </p:txBody>
      </p:sp>
      <p:sp>
        <p:nvSpPr>
          <p:cNvPr id="949" name="Google Shape;949;p19"/>
          <p:cNvSpPr/>
          <p:nvPr/>
        </p:nvSpPr>
        <p:spPr>
          <a:xfrm>
            <a:off x="5239512" y="3584448"/>
            <a:ext cx="1719072" cy="64008"/>
          </a:xfrm>
          <a:prstGeom prst="rect">
            <a:avLst/>
          </a:prstGeom>
          <a:solidFill>
            <a:srgbClr val="F58A27"/>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50" name="Google Shape;950;p19"/>
          <p:cNvSpPr txBox="1"/>
          <p:nvPr/>
        </p:nvSpPr>
        <p:spPr>
          <a:xfrm>
            <a:off x="914400" y="3977639"/>
            <a:ext cx="10360152" cy="63094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500"/>
              <a:buFont typeface="Play"/>
              <a:buNone/>
            </a:pPr>
            <a:r>
              <a:rPr lang="en-US" sz="3500" b="1" i="0" u="none" strike="noStrike" cap="none">
                <a:solidFill>
                  <a:schemeClr val="lt1"/>
                </a:solidFill>
                <a:latin typeface="Play"/>
                <a:ea typeface="Play"/>
                <a:cs typeface="Play"/>
                <a:sym typeface="Play"/>
              </a:rPr>
              <a:t>LIVE DEMO</a:t>
            </a:r>
            <a:endParaRPr/>
          </a:p>
        </p:txBody>
      </p:sp>
      <p:sp>
        <p:nvSpPr>
          <p:cNvPr id="951" name="Google Shape;951;p19"/>
          <p:cNvSpPr txBox="1"/>
          <p:nvPr/>
        </p:nvSpPr>
        <p:spPr>
          <a:xfrm>
            <a:off x="914400" y="6272784"/>
            <a:ext cx="10360152" cy="32004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9AB3CC"/>
              </a:buClr>
              <a:buSzPts val="1200"/>
              <a:buFont typeface="Play"/>
              <a:buNone/>
            </a:pPr>
            <a:r>
              <a:rPr lang="en-US" sz="1200" b="0" i="0" u="none" strike="noStrike" cap="none">
                <a:solidFill>
                  <a:srgbClr val="9AB3CC"/>
                </a:solidFill>
                <a:latin typeface="Play"/>
                <a:ea typeface="Play"/>
                <a:cs typeface="Play"/>
                <a:sym typeface="Play"/>
              </a:rPr>
              <a:t>CSE 4392 / 5320   •   TEAM ASSIGNMENT 2</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6" name="Google Shape;956;p20"/>
          <p:cNvSpPr/>
          <p:nvPr/>
        </p:nvSpPr>
        <p:spPr>
          <a:xfrm>
            <a:off x="0" y="0"/>
            <a:ext cx="12191695" cy="6858000"/>
          </a:xfrm>
          <a:prstGeom prst="rect">
            <a:avLst/>
          </a:prstGeom>
          <a:solidFill>
            <a:srgbClr val="F5F8F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7" name="Google Shape;957;p20"/>
          <p:cNvSpPr txBox="1"/>
          <p:nvPr/>
        </p:nvSpPr>
        <p:spPr>
          <a:xfrm>
            <a:off x="502920" y="246888"/>
            <a:ext cx="4572000" cy="274320"/>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000" b="1">
                <a:solidFill>
                  <a:srgbClr val="005BAE"/>
                </a:solidFill>
                <a:latin typeface="Arial"/>
                <a:ea typeface="Arial"/>
                <a:cs typeface="Arial"/>
                <a:sym typeface="Arial"/>
              </a:rPr>
              <a:t>UTA • TEAM 2 AI ADVISOR</a:t>
            </a:r>
            <a:endParaRPr/>
          </a:p>
        </p:txBody>
      </p:sp>
      <p:sp>
        <p:nvSpPr>
          <p:cNvPr id="958" name="Google Shape;958;p20"/>
          <p:cNvSpPr txBox="1"/>
          <p:nvPr/>
        </p:nvSpPr>
        <p:spPr>
          <a:xfrm>
            <a:off x="502920" y="621792"/>
            <a:ext cx="8229600" cy="502920"/>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2900" b="1">
                <a:solidFill>
                  <a:srgbClr val="0D2646"/>
                </a:solidFill>
                <a:latin typeface="Arial"/>
                <a:ea typeface="Arial"/>
                <a:cs typeface="Arial"/>
                <a:sym typeface="Arial"/>
              </a:rPr>
              <a:t>Lessons Learned</a:t>
            </a:r>
            <a:endParaRPr/>
          </a:p>
        </p:txBody>
      </p:sp>
      <p:sp>
        <p:nvSpPr>
          <p:cNvPr id="959" name="Google Shape;959;p20"/>
          <p:cNvSpPr/>
          <p:nvPr/>
        </p:nvSpPr>
        <p:spPr>
          <a:xfrm>
            <a:off x="502920" y="1261872"/>
            <a:ext cx="11201400" cy="20116"/>
          </a:xfrm>
          <a:prstGeom prst="rect">
            <a:avLst/>
          </a:prstGeom>
          <a:solidFill>
            <a:srgbClr val="C7D0D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0" name="Google Shape;960;p20"/>
          <p:cNvSpPr/>
          <p:nvPr/>
        </p:nvSpPr>
        <p:spPr>
          <a:xfrm>
            <a:off x="667512" y="1655064"/>
            <a:ext cx="5394960" cy="3611880"/>
          </a:xfrm>
          <a:prstGeom prst="roundRect">
            <a:avLst>
              <a:gd name="adj" fmla="val 16667"/>
            </a:avLst>
          </a:prstGeom>
          <a:solidFill>
            <a:srgbClr val="DBE1E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1" name="Google Shape;961;p20"/>
          <p:cNvSpPr/>
          <p:nvPr/>
        </p:nvSpPr>
        <p:spPr>
          <a:xfrm>
            <a:off x="621792" y="1600200"/>
            <a:ext cx="5394960" cy="3611880"/>
          </a:xfrm>
          <a:prstGeom prst="roundRect">
            <a:avLst>
              <a:gd name="adj" fmla="val 16667"/>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2" name="Google Shape;962;p20"/>
          <p:cNvSpPr/>
          <p:nvPr/>
        </p:nvSpPr>
        <p:spPr>
          <a:xfrm>
            <a:off x="585216" y="1600200"/>
            <a:ext cx="68580" cy="3611880"/>
          </a:xfrm>
          <a:prstGeom prst="rect">
            <a:avLst/>
          </a:prstGeom>
          <a:solidFill>
            <a:srgbClr val="FF831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3" name="Google Shape;963;p20"/>
          <p:cNvSpPr txBox="1"/>
          <p:nvPr/>
        </p:nvSpPr>
        <p:spPr>
          <a:xfrm>
            <a:off x="795528" y="1810512"/>
            <a:ext cx="4983480" cy="393192"/>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900" b="1">
                <a:solidFill>
                  <a:srgbClr val="0D2646"/>
                </a:solidFill>
                <a:latin typeface="Arial"/>
                <a:ea typeface="Arial"/>
                <a:cs typeface="Arial"/>
                <a:sym typeface="Arial"/>
              </a:rPr>
              <a:t>What we learned</a:t>
            </a:r>
            <a:endParaRPr/>
          </a:p>
        </p:txBody>
      </p:sp>
      <p:sp>
        <p:nvSpPr>
          <p:cNvPr id="964" name="Google Shape;964;p20"/>
          <p:cNvSpPr txBox="1"/>
          <p:nvPr/>
        </p:nvSpPr>
        <p:spPr>
          <a:xfrm>
            <a:off x="804672" y="2313432"/>
            <a:ext cx="4965192" cy="566928"/>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40" b="0">
                <a:solidFill>
                  <a:srgbClr val="596F8F"/>
                </a:solidFill>
                <a:latin typeface="Arial"/>
                <a:ea typeface="Arial"/>
                <a:cs typeface="Arial"/>
                <a:sym typeface="Arial"/>
              </a:rPr>
              <a:t>• LLMs interpret student questions; Python enforces academic rules.</a:t>
            </a:r>
            <a:endParaRPr/>
          </a:p>
        </p:txBody>
      </p:sp>
      <p:sp>
        <p:nvSpPr>
          <p:cNvPr id="965" name="Google Shape;965;p20"/>
          <p:cNvSpPr txBox="1"/>
          <p:nvPr/>
        </p:nvSpPr>
        <p:spPr>
          <a:xfrm>
            <a:off x="804672" y="2935224"/>
            <a:ext cx="4965192" cy="566928"/>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40" b="0">
                <a:solidFill>
                  <a:srgbClr val="596F8F"/>
                </a:solidFill>
                <a:latin typeface="Arial"/>
                <a:ea typeface="Arial"/>
                <a:cs typeface="Arial"/>
                <a:sym typeface="Arial"/>
              </a:rPr>
              <a:t>• DynamoDB provides catalog-year-specific courses, programs and transcripts.</a:t>
            </a:r>
            <a:endParaRPr/>
          </a:p>
        </p:txBody>
      </p:sp>
      <p:sp>
        <p:nvSpPr>
          <p:cNvPr id="966" name="Google Shape;966;p20"/>
          <p:cNvSpPr txBox="1"/>
          <p:nvPr/>
        </p:nvSpPr>
        <p:spPr>
          <a:xfrm>
            <a:off x="804672" y="3557015"/>
            <a:ext cx="4965192" cy="566928"/>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40" b="0">
                <a:solidFill>
                  <a:srgbClr val="596F8F"/>
                </a:solidFill>
                <a:latin typeface="Arial"/>
                <a:ea typeface="Arial"/>
                <a:cs typeface="Arial"/>
                <a:sym typeface="Arial"/>
              </a:rPr>
              <a:t>• RAG retrieves supporting catalog text instead of relying on model memory.</a:t>
            </a:r>
            <a:endParaRPr/>
          </a:p>
        </p:txBody>
      </p:sp>
      <p:sp>
        <p:nvSpPr>
          <p:cNvPr id="967" name="Google Shape;967;p20"/>
          <p:cNvSpPr txBox="1"/>
          <p:nvPr/>
        </p:nvSpPr>
        <p:spPr>
          <a:xfrm>
            <a:off x="804672" y="4178808"/>
            <a:ext cx="4965192" cy="566928"/>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40" b="0">
                <a:solidFill>
                  <a:srgbClr val="596F8F"/>
                </a:solidFill>
                <a:latin typeface="Arial"/>
                <a:ea typeface="Arial"/>
                <a:cs typeface="Arial"/>
                <a:sym typeface="Arial"/>
              </a:rPr>
              <a:t>• Modular AWS services simplify testing, deployment and troubleshooting.</a:t>
            </a:r>
            <a:endParaRPr/>
          </a:p>
        </p:txBody>
      </p:sp>
      <p:sp>
        <p:nvSpPr>
          <p:cNvPr id="968" name="Google Shape;968;p20"/>
          <p:cNvSpPr/>
          <p:nvPr/>
        </p:nvSpPr>
        <p:spPr>
          <a:xfrm>
            <a:off x="6291072" y="1655064"/>
            <a:ext cx="5394960" cy="3611880"/>
          </a:xfrm>
          <a:prstGeom prst="roundRect">
            <a:avLst>
              <a:gd name="adj" fmla="val 16667"/>
            </a:avLst>
          </a:prstGeom>
          <a:solidFill>
            <a:srgbClr val="DBE1E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9" name="Google Shape;969;p20"/>
          <p:cNvSpPr/>
          <p:nvPr/>
        </p:nvSpPr>
        <p:spPr>
          <a:xfrm>
            <a:off x="6245352" y="1600200"/>
            <a:ext cx="5394960" cy="3611880"/>
          </a:xfrm>
          <a:prstGeom prst="roundRect">
            <a:avLst>
              <a:gd name="adj" fmla="val 16667"/>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0" name="Google Shape;970;p20"/>
          <p:cNvSpPr/>
          <p:nvPr/>
        </p:nvSpPr>
        <p:spPr>
          <a:xfrm>
            <a:off x="6208776" y="1600200"/>
            <a:ext cx="68580" cy="3611880"/>
          </a:xfrm>
          <a:prstGeom prst="rect">
            <a:avLst/>
          </a:prstGeom>
          <a:solidFill>
            <a:srgbClr val="FF831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1" name="Google Shape;971;p20"/>
          <p:cNvSpPr txBox="1"/>
          <p:nvPr/>
        </p:nvSpPr>
        <p:spPr>
          <a:xfrm>
            <a:off x="6419088" y="1810512"/>
            <a:ext cx="4983480" cy="393192"/>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900" b="1">
                <a:solidFill>
                  <a:srgbClr val="0D2646"/>
                </a:solidFill>
                <a:latin typeface="Arial"/>
                <a:ea typeface="Arial"/>
                <a:cs typeface="Arial"/>
                <a:sym typeface="Arial"/>
              </a:rPr>
              <a:t>Challenges &amp; improvements</a:t>
            </a:r>
            <a:endParaRPr/>
          </a:p>
        </p:txBody>
      </p:sp>
      <p:sp>
        <p:nvSpPr>
          <p:cNvPr id="972" name="Google Shape;972;p20"/>
          <p:cNvSpPr txBox="1"/>
          <p:nvPr/>
        </p:nvSpPr>
        <p:spPr>
          <a:xfrm>
            <a:off x="6428232" y="2313432"/>
            <a:ext cx="4965192" cy="566928"/>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40" b="0">
                <a:solidFill>
                  <a:srgbClr val="596F8F"/>
                </a:solidFill>
                <a:latin typeface="Arial"/>
                <a:ea typeface="Arial"/>
                <a:cs typeface="Arial"/>
                <a:sym typeface="Arial"/>
              </a:rPr>
              <a:t>• Prerequisite text must be translated into accurate, validated rules.</a:t>
            </a:r>
            <a:endParaRPr/>
          </a:p>
        </p:txBody>
      </p:sp>
      <p:sp>
        <p:nvSpPr>
          <p:cNvPr id="973" name="Google Shape;973;p20"/>
          <p:cNvSpPr txBox="1"/>
          <p:nvPr/>
        </p:nvSpPr>
        <p:spPr>
          <a:xfrm>
            <a:off x="6428232" y="2935224"/>
            <a:ext cx="4965192" cy="566928"/>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40" b="0">
                <a:solidFill>
                  <a:srgbClr val="596F8F"/>
                </a:solidFill>
                <a:latin typeface="Arial"/>
                <a:ea typeface="Arial"/>
                <a:cs typeface="Arial"/>
                <a:sym typeface="Arial"/>
              </a:rPr>
              <a:t>• Concurrent prerequisites and section conflicts require careful checks.</a:t>
            </a:r>
            <a:endParaRPr/>
          </a:p>
        </p:txBody>
      </p:sp>
      <p:sp>
        <p:nvSpPr>
          <p:cNvPr id="974" name="Google Shape;974;p20"/>
          <p:cNvSpPr txBox="1"/>
          <p:nvPr/>
        </p:nvSpPr>
        <p:spPr>
          <a:xfrm>
            <a:off x="6428232" y="3557015"/>
            <a:ext cx="4965192" cy="566928"/>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40" b="0">
                <a:solidFill>
                  <a:srgbClr val="596F8F"/>
                </a:solidFill>
                <a:latin typeface="Arial"/>
                <a:ea typeface="Arial"/>
                <a:cs typeface="Arial"/>
                <a:sym typeface="Arial"/>
              </a:rPr>
              <a:t>• Missing or unvalidated catalog data can prevent complete degree plans.</a:t>
            </a:r>
            <a:endParaRPr/>
          </a:p>
        </p:txBody>
      </p:sp>
      <p:sp>
        <p:nvSpPr>
          <p:cNvPr id="975" name="Google Shape;975;p20"/>
          <p:cNvSpPr txBox="1"/>
          <p:nvPr/>
        </p:nvSpPr>
        <p:spPr>
          <a:xfrm>
            <a:off x="6428232" y="4178808"/>
            <a:ext cx="4965192" cy="566928"/>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1340" b="0">
                <a:solidFill>
                  <a:srgbClr val="596F8F"/>
                </a:solidFill>
                <a:latin typeface="Arial"/>
                <a:ea typeface="Arial"/>
                <a:cs typeface="Arial"/>
                <a:sym typeface="Arial"/>
              </a:rPr>
              <a:t>• Diverse student scenarios reveal edge cases before real-world use.</a:t>
            </a:r>
            <a:endParaRPr/>
          </a:p>
        </p:txBody>
      </p:sp>
      <p:sp>
        <p:nvSpPr>
          <p:cNvPr id="976" name="Google Shape;976;p20"/>
          <p:cNvSpPr txBox="1"/>
          <p:nvPr/>
        </p:nvSpPr>
        <p:spPr>
          <a:xfrm>
            <a:off x="512064" y="6519672"/>
            <a:ext cx="6400800" cy="182880"/>
          </a:xfrm>
          <a:prstGeom prst="rect">
            <a:avLst/>
          </a:prstGeom>
          <a:noFill/>
          <a:ln>
            <a:noFill/>
          </a:ln>
        </p:spPr>
        <p:txBody>
          <a:bodyPr spcFirstLastPara="1" wrap="square" lIns="0" tIns="0" rIns="91425" bIns="45700" anchor="t" anchorCtr="0">
            <a:spAutoFit/>
          </a:bodyPr>
          <a:lstStyle/>
          <a:p>
            <a:pPr marL="0" marR="0" lvl="0" indent="0" algn="l" rtl="0">
              <a:spcBef>
                <a:spcPts val="0"/>
              </a:spcBef>
              <a:spcAft>
                <a:spcPts val="0"/>
              </a:spcAft>
              <a:buNone/>
            </a:pPr>
            <a:r>
              <a:rPr lang="en-US" sz="900" b="0">
                <a:solidFill>
                  <a:srgbClr val="596F8F"/>
                </a:solidFill>
                <a:latin typeface="Arial"/>
                <a:ea typeface="Arial"/>
                <a:cs typeface="Arial"/>
                <a:sym typeface="Arial"/>
              </a:rPr>
              <a:t>CSE 4392 / 5320  •  TEAM ASSIGNMENT 2</a:t>
            </a:r>
            <a:endParaRPr/>
          </a:p>
        </p:txBody>
      </p:sp>
      <p:sp>
        <p:nvSpPr>
          <p:cNvPr id="977" name="Google Shape;977;p20"/>
          <p:cNvSpPr/>
          <p:nvPr/>
        </p:nvSpPr>
        <p:spPr>
          <a:xfrm>
            <a:off x="0" y="12546"/>
            <a:ext cx="12191695" cy="118872"/>
          </a:xfrm>
          <a:prstGeom prst="rect">
            <a:avLst/>
          </a:prstGeom>
          <a:solidFill>
            <a:srgbClr val="0D2D5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p21"/>
          <p:cNvSpPr/>
          <p:nvPr/>
        </p:nvSpPr>
        <p:spPr>
          <a:xfrm>
            <a:off x="0" y="0"/>
            <a:ext cx="12191695" cy="6858000"/>
          </a:xfrm>
          <a:prstGeom prst="rect">
            <a:avLst/>
          </a:prstGeom>
          <a:solidFill>
            <a:srgbClr val="F5F8F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3" name="Google Shape;983;p21"/>
          <p:cNvSpPr/>
          <p:nvPr/>
        </p:nvSpPr>
        <p:spPr>
          <a:xfrm>
            <a:off x="-11887" y="9144"/>
            <a:ext cx="128016" cy="6858000"/>
          </a:xfrm>
          <a:prstGeom prst="rect">
            <a:avLst/>
          </a:prstGeom>
          <a:solidFill>
            <a:srgbClr val="0C234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4" name="Google Shape;984;p21"/>
          <p:cNvSpPr txBox="1"/>
          <p:nvPr/>
        </p:nvSpPr>
        <p:spPr>
          <a:xfrm>
            <a:off x="493776" y="228600"/>
            <a:ext cx="7315200" cy="22860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900" b="1">
                <a:solidFill>
                  <a:srgbClr val="1263B4"/>
                </a:solidFill>
                <a:latin typeface="Arial"/>
                <a:ea typeface="Arial"/>
                <a:cs typeface="Arial"/>
                <a:sym typeface="Arial"/>
              </a:rPr>
              <a:t>UTA • TEAM 2 AI ADVISOR</a:t>
            </a:r>
            <a:endParaRPr/>
          </a:p>
        </p:txBody>
      </p:sp>
      <p:sp>
        <p:nvSpPr>
          <p:cNvPr id="985" name="Google Shape;985;p21"/>
          <p:cNvSpPr txBox="1"/>
          <p:nvPr/>
        </p:nvSpPr>
        <p:spPr>
          <a:xfrm>
            <a:off x="493776" y="566928"/>
            <a:ext cx="11155680" cy="54864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2700" b="1">
                <a:solidFill>
                  <a:srgbClr val="0C2340"/>
                </a:solidFill>
                <a:latin typeface="Arial"/>
                <a:ea typeface="Arial"/>
                <a:cs typeface="Arial"/>
                <a:sym typeface="Arial"/>
              </a:rPr>
              <a:t>Conclusions and Future Work</a:t>
            </a:r>
            <a:endParaRPr/>
          </a:p>
        </p:txBody>
      </p:sp>
      <p:sp>
        <p:nvSpPr>
          <p:cNvPr id="986" name="Google Shape;986;p21"/>
          <p:cNvSpPr/>
          <p:nvPr/>
        </p:nvSpPr>
        <p:spPr>
          <a:xfrm>
            <a:off x="493776" y="1234440"/>
            <a:ext cx="11109960" cy="20116"/>
          </a:xfrm>
          <a:prstGeom prst="rect">
            <a:avLst/>
          </a:prstGeom>
          <a:solidFill>
            <a:srgbClr val="DDE6E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7" name="Google Shape;987;p21"/>
          <p:cNvSpPr txBox="1"/>
          <p:nvPr/>
        </p:nvSpPr>
        <p:spPr>
          <a:xfrm>
            <a:off x="502920" y="6528816"/>
            <a:ext cx="7315200" cy="18288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900" b="0">
                <a:solidFill>
                  <a:srgbClr val="64748B"/>
                </a:solidFill>
                <a:latin typeface="Arial"/>
                <a:ea typeface="Arial"/>
                <a:cs typeface="Arial"/>
                <a:sym typeface="Arial"/>
              </a:rPr>
              <a:t>CSE 4392 / 5320  •  TEAM ASSIGNMENT 2</a:t>
            </a:r>
            <a:endParaRPr/>
          </a:p>
        </p:txBody>
      </p:sp>
      <p:sp>
        <p:nvSpPr>
          <p:cNvPr id="988" name="Google Shape;988;p21"/>
          <p:cNvSpPr/>
          <p:nvPr/>
        </p:nvSpPr>
        <p:spPr>
          <a:xfrm>
            <a:off x="612648" y="1554480"/>
            <a:ext cx="10881360" cy="1216152"/>
          </a:xfrm>
          <a:prstGeom prst="roundRect">
            <a:avLst>
              <a:gd name="adj" fmla="val 13000"/>
            </a:avLst>
          </a:prstGeom>
          <a:solidFill>
            <a:srgbClr val="0C234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9" name="Google Shape;989;p21"/>
          <p:cNvSpPr txBox="1"/>
          <p:nvPr/>
        </p:nvSpPr>
        <p:spPr>
          <a:xfrm>
            <a:off x="896112" y="1783080"/>
            <a:ext cx="9875520" cy="411480"/>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2400" b="1">
                <a:solidFill>
                  <a:srgbClr val="FFFFFF"/>
                </a:solidFill>
                <a:latin typeface="Arial"/>
                <a:ea typeface="Arial"/>
                <a:cs typeface="Arial"/>
                <a:sym typeface="Arial"/>
              </a:rPr>
              <a:t>An integrated AI advising prototype</a:t>
            </a:r>
            <a:endParaRPr/>
          </a:p>
        </p:txBody>
      </p:sp>
      <p:sp>
        <p:nvSpPr>
          <p:cNvPr id="990" name="Google Shape;990;p21"/>
          <p:cNvSpPr txBox="1"/>
          <p:nvPr/>
        </p:nvSpPr>
        <p:spPr>
          <a:xfrm>
            <a:off x="914400" y="2267712"/>
            <a:ext cx="9784080" cy="292608"/>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1400" b="0">
                <a:solidFill>
                  <a:srgbClr val="C8DFF4"/>
                </a:solidFill>
                <a:latin typeface="Arial"/>
                <a:ea typeface="Arial"/>
                <a:cs typeface="Arial"/>
                <a:sym typeface="Arial"/>
              </a:rPr>
              <a:t>Natural-language interaction + retrieval + academic rules + cloud deployment</a:t>
            </a:r>
            <a:endParaRPr/>
          </a:p>
        </p:txBody>
      </p:sp>
      <p:sp>
        <p:nvSpPr>
          <p:cNvPr id="991" name="Google Shape;991;p21"/>
          <p:cNvSpPr/>
          <p:nvPr/>
        </p:nvSpPr>
        <p:spPr>
          <a:xfrm>
            <a:off x="612648" y="3072384"/>
            <a:ext cx="5239512" cy="2240280"/>
          </a:xfrm>
          <a:prstGeom prst="roundRect">
            <a:avLst>
              <a:gd name="adj" fmla="val 13000"/>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2" name="Google Shape;992;p21"/>
          <p:cNvSpPr/>
          <p:nvPr/>
        </p:nvSpPr>
        <p:spPr>
          <a:xfrm>
            <a:off x="612648" y="3072384"/>
            <a:ext cx="64008" cy="2240280"/>
          </a:xfrm>
          <a:prstGeom prst="rect">
            <a:avLst/>
          </a:prstGeom>
          <a:solidFill>
            <a:srgbClr val="1263B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3" name="Google Shape;993;p21"/>
          <p:cNvSpPr txBox="1"/>
          <p:nvPr/>
        </p:nvSpPr>
        <p:spPr>
          <a:xfrm>
            <a:off x="813816" y="3246120"/>
            <a:ext cx="4855464" cy="384048"/>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1700" b="1">
                <a:solidFill>
                  <a:srgbClr val="0C2340"/>
                </a:solidFill>
                <a:latin typeface="Arial"/>
                <a:ea typeface="Arial"/>
                <a:cs typeface="Arial"/>
                <a:sym typeface="Arial"/>
              </a:rPr>
              <a:t>Achievements</a:t>
            </a:r>
            <a:endParaRPr/>
          </a:p>
        </p:txBody>
      </p:sp>
      <p:sp>
        <p:nvSpPr>
          <p:cNvPr id="994" name="Google Shape;994;p21"/>
          <p:cNvSpPr txBox="1"/>
          <p:nvPr/>
        </p:nvSpPr>
        <p:spPr>
          <a:xfrm>
            <a:off x="813816" y="3730752"/>
            <a:ext cx="4855464" cy="1481328"/>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1200" b="0">
                <a:solidFill>
                  <a:srgbClr val="64748B"/>
                </a:solidFill>
                <a:latin typeface="Arial"/>
                <a:ea typeface="Arial"/>
                <a:cs typeface="Arial"/>
                <a:sym typeface="Arial"/>
              </a:rPr>
              <a:t>• Working student login and chat interface</a:t>
            </a:r>
            <a:endParaRPr/>
          </a:p>
          <a:p>
            <a:pPr marL="0" marR="0" lvl="0" indent="0" algn="l" rtl="0">
              <a:spcBef>
                <a:spcPts val="400"/>
              </a:spcBef>
              <a:spcAft>
                <a:spcPts val="0"/>
              </a:spcAft>
              <a:buNone/>
            </a:pPr>
            <a:r>
              <a:rPr lang="en-US" sz="1200" b="0">
                <a:solidFill>
                  <a:srgbClr val="64748B"/>
                </a:solidFill>
                <a:latin typeface="Arial"/>
                <a:ea typeface="Arial"/>
                <a:cs typeface="Arial"/>
                <a:sym typeface="Arial"/>
              </a:rPr>
              <a:t>• RAG-based course information</a:t>
            </a:r>
            <a:endParaRPr/>
          </a:p>
          <a:p>
            <a:pPr marL="0" marR="0" lvl="0" indent="0" algn="l" rtl="0">
              <a:spcBef>
                <a:spcPts val="400"/>
              </a:spcBef>
              <a:spcAft>
                <a:spcPts val="0"/>
              </a:spcAft>
              <a:buNone/>
            </a:pPr>
            <a:r>
              <a:rPr lang="en-US" sz="1200" b="0">
                <a:solidFill>
                  <a:srgbClr val="64748B"/>
                </a:solidFill>
                <a:latin typeface="Arial"/>
                <a:ea typeface="Arial"/>
                <a:cs typeface="Arial"/>
                <a:sym typeface="Arial"/>
              </a:rPr>
              <a:t>• Prerequisite checks and degree-plan generation</a:t>
            </a:r>
            <a:endParaRPr/>
          </a:p>
        </p:txBody>
      </p:sp>
      <p:sp>
        <p:nvSpPr>
          <p:cNvPr id="995" name="Google Shape;995;p21"/>
          <p:cNvSpPr/>
          <p:nvPr/>
        </p:nvSpPr>
        <p:spPr>
          <a:xfrm>
            <a:off x="6172200" y="3072384"/>
            <a:ext cx="5321808" cy="2240280"/>
          </a:xfrm>
          <a:prstGeom prst="roundRect">
            <a:avLst>
              <a:gd name="adj" fmla="val 13000"/>
            </a:avLst>
          </a:prstGeom>
          <a:solidFill>
            <a:srgbClr val="FFFFFF"/>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6" name="Google Shape;996;p21"/>
          <p:cNvSpPr/>
          <p:nvPr/>
        </p:nvSpPr>
        <p:spPr>
          <a:xfrm>
            <a:off x="6172200" y="3072384"/>
            <a:ext cx="64008" cy="2240280"/>
          </a:xfrm>
          <a:prstGeom prst="rect">
            <a:avLst/>
          </a:prstGeom>
          <a:solidFill>
            <a:srgbClr val="F58A28"/>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7" name="Google Shape;997;p21"/>
          <p:cNvSpPr txBox="1"/>
          <p:nvPr/>
        </p:nvSpPr>
        <p:spPr>
          <a:xfrm>
            <a:off x="6373368" y="3246120"/>
            <a:ext cx="4937760" cy="384048"/>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1700" b="1">
                <a:solidFill>
                  <a:srgbClr val="0C2340"/>
                </a:solidFill>
                <a:latin typeface="Arial"/>
                <a:ea typeface="Arial"/>
                <a:cs typeface="Arial"/>
                <a:sym typeface="Arial"/>
              </a:rPr>
              <a:t>Next steps</a:t>
            </a:r>
            <a:endParaRPr/>
          </a:p>
        </p:txBody>
      </p:sp>
      <p:sp>
        <p:nvSpPr>
          <p:cNvPr id="998" name="Google Shape;998;p21"/>
          <p:cNvSpPr txBox="1"/>
          <p:nvPr/>
        </p:nvSpPr>
        <p:spPr>
          <a:xfrm>
            <a:off x="6373368" y="3730752"/>
            <a:ext cx="4937760" cy="1481328"/>
          </a:xfrm>
          <a:prstGeom prst="rect">
            <a:avLst/>
          </a:prstGeom>
          <a:noFill/>
          <a:ln>
            <a:noFill/>
          </a:ln>
        </p:spPr>
        <p:txBody>
          <a:bodyPr spcFirstLastPara="1" wrap="square" lIns="0" tIns="13700" rIns="0" bIns="0" anchor="t" anchorCtr="0">
            <a:spAutoFit/>
          </a:bodyPr>
          <a:lstStyle/>
          <a:p>
            <a:pPr marL="0" marR="0" lvl="0" indent="0" algn="l" rtl="0">
              <a:spcBef>
                <a:spcPts val="0"/>
              </a:spcBef>
              <a:spcAft>
                <a:spcPts val="0"/>
              </a:spcAft>
              <a:buNone/>
            </a:pPr>
            <a:r>
              <a:rPr lang="en-US" sz="1200" b="0">
                <a:solidFill>
                  <a:srgbClr val="64748B"/>
                </a:solidFill>
                <a:latin typeface="Arial"/>
                <a:ea typeface="Arial"/>
                <a:cs typeface="Arial"/>
                <a:sym typeface="Arial"/>
              </a:rPr>
              <a:t>• Expand validated catalog and technical electives</a:t>
            </a:r>
            <a:endParaRPr/>
          </a:p>
          <a:p>
            <a:pPr marL="0" marR="0" lvl="0" indent="0" algn="l" rtl="0">
              <a:spcBef>
                <a:spcPts val="400"/>
              </a:spcBef>
              <a:spcAft>
                <a:spcPts val="0"/>
              </a:spcAft>
              <a:buNone/>
            </a:pPr>
            <a:r>
              <a:rPr lang="en-US" sz="1200" b="0">
                <a:solidFill>
                  <a:srgbClr val="64748B"/>
                </a:solidFill>
                <a:latin typeface="Arial"/>
                <a:ea typeface="Arial"/>
                <a:cs typeface="Arial"/>
                <a:sym typeface="Arial"/>
              </a:rPr>
              <a:t>• Improve schedule optimization and plan visualization</a:t>
            </a:r>
            <a:endParaRPr/>
          </a:p>
          <a:p>
            <a:pPr marL="0" marR="0" lvl="0" indent="0" algn="l" rtl="0">
              <a:spcBef>
                <a:spcPts val="400"/>
              </a:spcBef>
              <a:spcAft>
                <a:spcPts val="0"/>
              </a:spcAft>
              <a:buNone/>
            </a:pPr>
            <a:r>
              <a:rPr lang="en-US" sz="1200" b="0">
                <a:solidFill>
                  <a:srgbClr val="64748B"/>
                </a:solidFill>
                <a:latin typeface="Arial"/>
                <a:ea typeface="Arial"/>
                <a:cs typeface="Arial"/>
                <a:sym typeface="Arial"/>
              </a:rPr>
              <a:t>• Add deeper testing and academic-policy coverage</a:t>
            </a:r>
            <a:endParaRPr/>
          </a:p>
        </p:txBody>
      </p:sp>
      <p:sp>
        <p:nvSpPr>
          <p:cNvPr id="999" name="Google Shape;999;p21"/>
          <p:cNvSpPr txBox="1"/>
          <p:nvPr/>
        </p:nvSpPr>
        <p:spPr>
          <a:xfrm>
            <a:off x="658368" y="5879592"/>
            <a:ext cx="10881360" cy="393192"/>
          </a:xfrm>
          <a:prstGeom prst="rect">
            <a:avLst/>
          </a:prstGeom>
          <a:noFill/>
          <a:ln>
            <a:noFill/>
          </a:ln>
        </p:spPr>
        <p:txBody>
          <a:bodyPr spcFirstLastPara="1" wrap="square" lIns="0" tIns="13700" rIns="0" bIns="0" anchor="t" anchorCtr="0">
            <a:spAutoFit/>
          </a:bodyPr>
          <a:lstStyle/>
          <a:p>
            <a:pPr marL="0" marR="0" lvl="0" indent="0" algn="ctr" rtl="0">
              <a:spcBef>
                <a:spcPts val="0"/>
              </a:spcBef>
              <a:spcAft>
                <a:spcPts val="0"/>
              </a:spcAft>
              <a:buNone/>
            </a:pPr>
            <a:r>
              <a:rPr lang="en-US" sz="2100" b="1">
                <a:solidFill>
                  <a:srgbClr val="1263B4"/>
                </a:solidFill>
                <a:latin typeface="Arial"/>
                <a:ea typeface="Arial"/>
                <a:cs typeface="Arial"/>
                <a:sym typeface="Arial"/>
              </a:rPr>
              <a:t>THANK YOU  •  QUESTIONS?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TotalTime>
  <Words>4132</Words>
  <Application>Microsoft Macintosh PowerPoint</Application>
  <PresentationFormat>Widescreen</PresentationFormat>
  <Paragraphs>701</Paragraphs>
  <Slides>27</Slides>
  <Notes>18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27</vt:i4>
      </vt:variant>
    </vt:vector>
  </HeadingPairs>
  <TitlesOfParts>
    <vt:vector size="33" baseType="lpstr">
      <vt:lpstr>Calibri</vt:lpstr>
      <vt:lpstr>Consolas</vt:lpstr>
      <vt:lpstr>Arial</vt:lpstr>
      <vt:lpstr>Play</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Marvin Wellington</cp:lastModifiedBy>
  <cp:revision>18</cp:revision>
  <dcterms:created xsi:type="dcterms:W3CDTF">2013-01-27T09:14:16Z</dcterms:created>
  <dcterms:modified xsi:type="dcterms:W3CDTF">2026-10-25T08:15:18Z</dcterms:modified>
</cp:coreProperties>
</file>